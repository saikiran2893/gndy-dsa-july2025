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1" r:id="rId6"/>
    <p:sldId id="260"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6B13845F-7387-408F-B52A-9FBB0B5265D9}" type="datetimeFigureOut">
              <a:rPr lang="en-IN" smtClean="0"/>
              <a:t>01-09-2024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A4191F-D73F-4C44-9B27-6F22EAE00E7F}" type="slidenum">
              <a:rPr lang="en-IN" smtClean="0"/>
              <a:t>‹#›</a:t>
            </a:fld>
            <a:endParaRPr lang="en-IN"/>
          </a:p>
        </p:txBody>
      </p:sp>
    </p:spTree>
    <p:extLst>
      <p:ext uri="{BB962C8B-B14F-4D97-AF65-F5344CB8AC3E}">
        <p14:creationId xmlns:p14="http://schemas.microsoft.com/office/powerpoint/2010/main" val="3270453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B13845F-7387-408F-B52A-9FBB0B5265D9}" type="datetimeFigureOut">
              <a:rPr lang="en-IN" smtClean="0"/>
              <a:t>01-09-2024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A4191F-D73F-4C44-9B27-6F22EAE00E7F}" type="slidenum">
              <a:rPr lang="en-IN" smtClean="0"/>
              <a:t>‹#›</a:t>
            </a:fld>
            <a:endParaRPr lang="en-IN"/>
          </a:p>
        </p:txBody>
      </p:sp>
    </p:spTree>
    <p:extLst>
      <p:ext uri="{BB962C8B-B14F-4D97-AF65-F5344CB8AC3E}">
        <p14:creationId xmlns:p14="http://schemas.microsoft.com/office/powerpoint/2010/main" val="3738043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B13845F-7387-408F-B52A-9FBB0B5265D9}" type="datetimeFigureOut">
              <a:rPr lang="en-IN" smtClean="0"/>
              <a:t>01-09-2024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A4191F-D73F-4C44-9B27-6F22EAE00E7F}" type="slidenum">
              <a:rPr lang="en-IN" smtClean="0"/>
              <a:t>‹#›</a:t>
            </a:fld>
            <a:endParaRPr lang="en-IN"/>
          </a:p>
        </p:txBody>
      </p:sp>
    </p:spTree>
    <p:extLst>
      <p:ext uri="{BB962C8B-B14F-4D97-AF65-F5344CB8AC3E}">
        <p14:creationId xmlns:p14="http://schemas.microsoft.com/office/powerpoint/2010/main" val="1859112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6B13845F-7387-408F-B52A-9FBB0B5265D9}" type="datetimeFigureOut">
              <a:rPr lang="en-IN" smtClean="0"/>
              <a:t>01-09-2024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A4191F-D73F-4C44-9B27-6F22EAE00E7F}" type="slidenum">
              <a:rPr lang="en-IN" smtClean="0"/>
              <a:t>‹#›</a:t>
            </a:fld>
            <a:endParaRPr lang="en-IN"/>
          </a:p>
        </p:txBody>
      </p:sp>
    </p:spTree>
    <p:extLst>
      <p:ext uri="{BB962C8B-B14F-4D97-AF65-F5344CB8AC3E}">
        <p14:creationId xmlns:p14="http://schemas.microsoft.com/office/powerpoint/2010/main" val="1779166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6B13845F-7387-408F-B52A-9FBB0B5265D9}" type="datetimeFigureOut">
              <a:rPr lang="en-IN" smtClean="0"/>
              <a:t>01-09-2024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4A4191F-D73F-4C44-9B27-6F22EAE00E7F}" type="slidenum">
              <a:rPr lang="en-IN" smtClean="0"/>
              <a:t>‹#›</a:t>
            </a:fld>
            <a:endParaRPr lang="en-IN"/>
          </a:p>
        </p:txBody>
      </p:sp>
    </p:spTree>
    <p:extLst>
      <p:ext uri="{BB962C8B-B14F-4D97-AF65-F5344CB8AC3E}">
        <p14:creationId xmlns:p14="http://schemas.microsoft.com/office/powerpoint/2010/main" val="2338044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6B13845F-7387-408F-B52A-9FBB0B5265D9}" type="datetimeFigureOut">
              <a:rPr lang="en-IN" smtClean="0"/>
              <a:t>01-09-2024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4A4191F-D73F-4C44-9B27-6F22EAE00E7F}" type="slidenum">
              <a:rPr lang="en-IN" smtClean="0"/>
              <a:t>‹#›</a:t>
            </a:fld>
            <a:endParaRPr lang="en-IN"/>
          </a:p>
        </p:txBody>
      </p:sp>
    </p:spTree>
    <p:extLst>
      <p:ext uri="{BB962C8B-B14F-4D97-AF65-F5344CB8AC3E}">
        <p14:creationId xmlns:p14="http://schemas.microsoft.com/office/powerpoint/2010/main" val="3164631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B13845F-7387-408F-B52A-9FBB0B5265D9}" type="datetimeFigureOut">
              <a:rPr lang="en-IN" smtClean="0"/>
              <a:t>01-09-2024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4A4191F-D73F-4C44-9B27-6F22EAE00E7F}" type="slidenum">
              <a:rPr lang="en-IN" smtClean="0"/>
              <a:t>‹#›</a:t>
            </a:fld>
            <a:endParaRPr lang="en-IN"/>
          </a:p>
        </p:txBody>
      </p:sp>
    </p:spTree>
    <p:extLst>
      <p:ext uri="{BB962C8B-B14F-4D97-AF65-F5344CB8AC3E}">
        <p14:creationId xmlns:p14="http://schemas.microsoft.com/office/powerpoint/2010/main" val="2739718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B13845F-7387-408F-B52A-9FBB0B5265D9}" type="datetimeFigureOut">
              <a:rPr lang="en-IN" smtClean="0"/>
              <a:t>01-09-2024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A4191F-D73F-4C44-9B27-6F22EAE00E7F}" type="slidenum">
              <a:rPr lang="en-IN" smtClean="0"/>
              <a:t>‹#›</a:t>
            </a:fld>
            <a:endParaRPr lang="en-IN"/>
          </a:p>
        </p:txBody>
      </p:sp>
    </p:spTree>
    <p:extLst>
      <p:ext uri="{BB962C8B-B14F-4D97-AF65-F5344CB8AC3E}">
        <p14:creationId xmlns:p14="http://schemas.microsoft.com/office/powerpoint/2010/main" val="2808507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B13845F-7387-408F-B52A-9FBB0B5265D9}" type="datetimeFigureOut">
              <a:rPr lang="en-IN" smtClean="0"/>
              <a:t>01-09-2024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A4191F-D73F-4C44-9B27-6F22EAE00E7F}" type="slidenum">
              <a:rPr lang="en-IN" smtClean="0"/>
              <a:t>‹#›</a:t>
            </a:fld>
            <a:endParaRPr lang="en-IN"/>
          </a:p>
        </p:txBody>
      </p:sp>
    </p:spTree>
    <p:extLst>
      <p:ext uri="{BB962C8B-B14F-4D97-AF65-F5344CB8AC3E}">
        <p14:creationId xmlns:p14="http://schemas.microsoft.com/office/powerpoint/2010/main" val="247023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B13845F-7387-408F-B52A-9FBB0B5265D9}" type="datetimeFigureOut">
              <a:rPr lang="en-IN" smtClean="0"/>
              <a:t>01-09-2024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A4191F-D73F-4C44-9B27-6F22EAE00E7F}" type="slidenum">
              <a:rPr lang="en-IN" smtClean="0"/>
              <a:t>‹#›</a:t>
            </a:fld>
            <a:endParaRPr lang="en-IN"/>
          </a:p>
        </p:txBody>
      </p:sp>
    </p:spTree>
    <p:extLst>
      <p:ext uri="{BB962C8B-B14F-4D97-AF65-F5344CB8AC3E}">
        <p14:creationId xmlns:p14="http://schemas.microsoft.com/office/powerpoint/2010/main" val="23191248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B13845F-7387-408F-B52A-9FBB0B5265D9}" type="datetimeFigureOut">
              <a:rPr lang="en-IN" smtClean="0"/>
              <a:t>01-09-2024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A4191F-D73F-4C44-9B27-6F22EAE00E7F}" type="slidenum">
              <a:rPr lang="en-IN" smtClean="0"/>
              <a:t>‹#›</a:t>
            </a:fld>
            <a:endParaRPr lang="en-IN"/>
          </a:p>
        </p:txBody>
      </p:sp>
    </p:spTree>
    <p:extLst>
      <p:ext uri="{BB962C8B-B14F-4D97-AF65-F5344CB8AC3E}">
        <p14:creationId xmlns:p14="http://schemas.microsoft.com/office/powerpoint/2010/main" val="68860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13845F-7387-408F-B52A-9FBB0B5265D9}" type="datetimeFigureOut">
              <a:rPr lang="en-IN" smtClean="0"/>
              <a:t>01-09-2024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A4191F-D73F-4C44-9B27-6F22EAE00E7F}" type="slidenum">
              <a:rPr lang="en-IN" smtClean="0"/>
              <a:t>‹#›</a:t>
            </a:fld>
            <a:endParaRPr lang="en-IN"/>
          </a:p>
        </p:txBody>
      </p:sp>
    </p:spTree>
    <p:extLst>
      <p:ext uri="{BB962C8B-B14F-4D97-AF65-F5344CB8AC3E}">
        <p14:creationId xmlns:p14="http://schemas.microsoft.com/office/powerpoint/2010/main" val="709178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71246" y="2230194"/>
            <a:ext cx="9144000" cy="2387600"/>
          </a:xfrm>
        </p:spPr>
        <p:txBody>
          <a:bodyPr>
            <a:normAutofit/>
          </a:bodyPr>
          <a:lstStyle/>
          <a:p>
            <a:r>
              <a:rPr lang="en-IN" sz="3600" dirty="0" smtClean="0"/>
              <a:t>Recurrent Neural Network</a:t>
            </a:r>
            <a:br>
              <a:rPr lang="en-IN" sz="3600" dirty="0" smtClean="0"/>
            </a:br>
            <a:r>
              <a:rPr lang="en-IN" sz="3600" dirty="0" smtClean="0"/>
              <a:t>Sai Kiran 2024</a:t>
            </a:r>
            <a:br>
              <a:rPr lang="en-IN" sz="3600" dirty="0" smtClean="0"/>
            </a:br>
            <a:endParaRPr lang="en-IN" sz="3600" dirty="0"/>
          </a:p>
        </p:txBody>
      </p:sp>
    </p:spTree>
    <p:extLst>
      <p:ext uri="{BB962C8B-B14F-4D97-AF65-F5344CB8AC3E}">
        <p14:creationId xmlns:p14="http://schemas.microsoft.com/office/powerpoint/2010/main" val="2344036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ANN vs RNN</a:t>
            </a:r>
            <a:endParaRPr lang="en-IN" dirty="0"/>
          </a:p>
        </p:txBody>
      </p:sp>
      <p:sp>
        <p:nvSpPr>
          <p:cNvPr id="3" name="Content Placeholder 2"/>
          <p:cNvSpPr>
            <a:spLocks noGrp="1"/>
          </p:cNvSpPr>
          <p:nvPr>
            <p:ph idx="1"/>
          </p:nvPr>
        </p:nvSpPr>
        <p:spPr/>
        <p:txBody>
          <a:bodyPr>
            <a:normAutofit/>
          </a:bodyPr>
          <a:lstStyle/>
          <a:p>
            <a:r>
              <a:rPr lang="en-IN" sz="1800" dirty="0" smtClean="0"/>
              <a:t>Consider You have Dataset that has text  and o/p and the problem statement your solving is Sentimental Analysis.</a:t>
            </a:r>
          </a:p>
          <a:p>
            <a:r>
              <a:rPr lang="en-IN" sz="1800" dirty="0" smtClean="0"/>
              <a:t>Now , If we solve this using ANN – First step we do is text pre-processing, which converts text to vectors . Consider we are doing BOW , the output of the BOW is sent to ANN , the sequence of vectors is missing which is basically we are missing the contextual and meaning of the sentence is lost.</a:t>
            </a:r>
          </a:p>
          <a:p>
            <a:r>
              <a:rPr lang="en-IN" sz="1800" dirty="0" smtClean="0"/>
              <a:t>Whenever you work on the text data, It is always to have sequence of information, so we will go with RNN where each word is pass during each time frame.</a:t>
            </a:r>
          </a:p>
          <a:p>
            <a:endParaRPr lang="en-IN" sz="1800" dirty="0"/>
          </a:p>
          <a:p>
            <a:pPr marL="0" indent="0">
              <a:buNone/>
            </a:pPr>
            <a:r>
              <a:rPr lang="en-IN" sz="1800" b="1" dirty="0" smtClean="0"/>
              <a:t>Overview</a:t>
            </a:r>
            <a:r>
              <a:rPr lang="en-IN" sz="1800" dirty="0" smtClean="0"/>
              <a:t>:</a:t>
            </a:r>
          </a:p>
          <a:p>
            <a:pPr>
              <a:buFontTx/>
              <a:buChar char="-"/>
            </a:pPr>
            <a:r>
              <a:rPr lang="en-IN" sz="1800" dirty="0" smtClean="0"/>
              <a:t>ANN can’t maintain the meaningful relationship</a:t>
            </a:r>
          </a:p>
          <a:p>
            <a:pPr>
              <a:buFontTx/>
              <a:buChar char="-"/>
            </a:pPr>
            <a:r>
              <a:rPr lang="en-IN" sz="1800" dirty="0" smtClean="0"/>
              <a:t>It can pass the data sequentially in the timestamp</a:t>
            </a:r>
            <a:endParaRPr lang="en-IN" sz="1800" dirty="0"/>
          </a:p>
        </p:txBody>
      </p:sp>
    </p:spTree>
    <p:extLst>
      <p:ext uri="{BB962C8B-B14F-4D97-AF65-F5344CB8AC3E}">
        <p14:creationId xmlns:p14="http://schemas.microsoft.com/office/powerpoint/2010/main" val="159364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3917"/>
            <a:ext cx="10515600" cy="1325563"/>
          </a:xfrm>
        </p:spPr>
        <p:txBody>
          <a:bodyPr/>
          <a:lstStyle/>
          <a:p>
            <a:r>
              <a:rPr lang="en-IN" dirty="0" smtClean="0"/>
              <a:t>RNN</a:t>
            </a:r>
            <a:endParaRPr lang="en-IN" dirty="0"/>
          </a:p>
        </p:txBody>
      </p:sp>
      <p:sp>
        <p:nvSpPr>
          <p:cNvPr id="3" name="Content Placeholder 2"/>
          <p:cNvSpPr>
            <a:spLocks noGrp="1"/>
          </p:cNvSpPr>
          <p:nvPr>
            <p:ph idx="1"/>
          </p:nvPr>
        </p:nvSpPr>
        <p:spPr/>
        <p:txBody>
          <a:bodyPr>
            <a:normAutofit/>
          </a:bodyPr>
          <a:lstStyle/>
          <a:p>
            <a:r>
              <a:rPr lang="en-IN" sz="1800" dirty="0" smtClean="0"/>
              <a:t>In Case of ANN , we will have input layer, Hidden Layer and output layer where we have only neurons in all the layer</a:t>
            </a:r>
          </a:p>
          <a:p>
            <a:r>
              <a:rPr lang="en-IN" sz="1800" dirty="0" smtClean="0"/>
              <a:t>But in Case RNN, We will have same input Layer, Hidden Layer and Output layer but in the hidden layer neurons we will have feedback loop.</a:t>
            </a:r>
          </a:p>
          <a:p>
            <a:r>
              <a:rPr lang="en-IN" sz="1800" dirty="0" smtClean="0"/>
              <a:t>Feedback loop  sent the output from the hidden layer it will be sent back to the particular neuron and all the neuron on that particular layer.</a:t>
            </a:r>
          </a:p>
          <a:p>
            <a:pPr marL="0" indent="0">
              <a:buNone/>
            </a:pPr>
            <a:endParaRPr lang="en-IN" sz="1800" dirty="0"/>
          </a:p>
          <a:p>
            <a:pPr marL="0" indent="0">
              <a:buNone/>
            </a:pPr>
            <a:endParaRPr lang="en-IN" sz="18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49968" y="3742512"/>
            <a:ext cx="3745523" cy="2772565"/>
          </a:xfrm>
          <a:prstGeom prst="rect">
            <a:avLst/>
          </a:prstGeom>
        </p:spPr>
      </p:pic>
    </p:spTree>
    <p:extLst>
      <p:ext uri="{BB962C8B-B14F-4D97-AF65-F5344CB8AC3E}">
        <p14:creationId xmlns:p14="http://schemas.microsoft.com/office/powerpoint/2010/main" val="1515557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319238" cy="777875"/>
          </a:xfrm>
        </p:spPr>
        <p:txBody>
          <a:bodyPr/>
          <a:lstStyle/>
          <a:p>
            <a:r>
              <a:rPr lang="en-IN" dirty="0" smtClean="0"/>
              <a:t>Forward Propagation - RNN</a:t>
            </a:r>
            <a:endParaRPr lang="en-IN" dirty="0"/>
          </a:p>
        </p:txBody>
      </p:sp>
      <p:pic>
        <p:nvPicPr>
          <p:cNvPr id="4" name="Picture 3"/>
          <p:cNvPicPr>
            <a:picLocks noChangeAspect="1"/>
          </p:cNvPicPr>
          <p:nvPr/>
        </p:nvPicPr>
        <p:blipFill>
          <a:blip r:embed="rId2"/>
          <a:stretch>
            <a:fillRect/>
          </a:stretch>
        </p:blipFill>
        <p:spPr>
          <a:xfrm>
            <a:off x="2778369" y="1373962"/>
            <a:ext cx="5897008" cy="5009216"/>
          </a:xfrm>
          <a:prstGeom prst="rect">
            <a:avLst/>
          </a:prstGeom>
        </p:spPr>
      </p:pic>
    </p:spTree>
    <p:extLst>
      <p:ext uri="{BB962C8B-B14F-4D97-AF65-F5344CB8AC3E}">
        <p14:creationId xmlns:p14="http://schemas.microsoft.com/office/powerpoint/2010/main" val="1177174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319238" cy="777875"/>
          </a:xfrm>
        </p:spPr>
        <p:txBody>
          <a:bodyPr/>
          <a:lstStyle/>
          <a:p>
            <a:r>
              <a:rPr lang="en-IN" dirty="0" smtClean="0"/>
              <a:t>Forward Propagation - RNN</a:t>
            </a:r>
            <a:endParaRPr lang="en-IN" dirty="0"/>
          </a:p>
        </p:txBody>
      </p:sp>
      <p:pic>
        <p:nvPicPr>
          <p:cNvPr id="3" name="Picture 2"/>
          <p:cNvPicPr>
            <a:picLocks noChangeAspect="1"/>
          </p:cNvPicPr>
          <p:nvPr/>
        </p:nvPicPr>
        <p:blipFill>
          <a:blip r:embed="rId2"/>
          <a:stretch>
            <a:fillRect/>
          </a:stretch>
        </p:blipFill>
        <p:spPr>
          <a:xfrm>
            <a:off x="2288327" y="1499169"/>
            <a:ext cx="7140559" cy="4861981"/>
          </a:xfrm>
          <a:prstGeom prst="rect">
            <a:avLst/>
          </a:prstGeom>
        </p:spPr>
      </p:pic>
    </p:spTree>
    <p:extLst>
      <p:ext uri="{BB962C8B-B14F-4D97-AF65-F5344CB8AC3E}">
        <p14:creationId xmlns:p14="http://schemas.microsoft.com/office/powerpoint/2010/main" val="3752731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5" y="101356"/>
            <a:ext cx="10319238" cy="777875"/>
          </a:xfrm>
        </p:spPr>
        <p:txBody>
          <a:bodyPr/>
          <a:lstStyle/>
          <a:p>
            <a:r>
              <a:rPr lang="en-IN" dirty="0" smtClean="0"/>
              <a:t>Backward Propagation - RNN</a:t>
            </a:r>
            <a:endParaRPr lang="en-IN" dirty="0"/>
          </a:p>
        </p:txBody>
      </p:sp>
      <p:pic>
        <p:nvPicPr>
          <p:cNvPr id="3" name="Picture 2"/>
          <p:cNvPicPr>
            <a:picLocks noChangeAspect="1"/>
          </p:cNvPicPr>
          <p:nvPr/>
        </p:nvPicPr>
        <p:blipFill>
          <a:blip r:embed="rId2"/>
          <a:stretch>
            <a:fillRect/>
          </a:stretch>
        </p:blipFill>
        <p:spPr>
          <a:xfrm>
            <a:off x="2268416" y="879231"/>
            <a:ext cx="7183315" cy="5685072"/>
          </a:xfrm>
          <a:prstGeom prst="rect">
            <a:avLst/>
          </a:prstGeom>
        </p:spPr>
      </p:pic>
    </p:spTree>
    <p:extLst>
      <p:ext uri="{BB962C8B-B14F-4D97-AF65-F5344CB8AC3E}">
        <p14:creationId xmlns:p14="http://schemas.microsoft.com/office/powerpoint/2010/main" val="3012676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319238" cy="777875"/>
          </a:xfrm>
        </p:spPr>
        <p:txBody>
          <a:bodyPr/>
          <a:lstStyle/>
          <a:p>
            <a:r>
              <a:rPr lang="en-IN" dirty="0" smtClean="0"/>
              <a:t>Backward Propagation - RNN</a:t>
            </a:r>
            <a:endParaRPr lang="en-IN" dirty="0"/>
          </a:p>
        </p:txBody>
      </p:sp>
      <p:pic>
        <p:nvPicPr>
          <p:cNvPr id="4" name="Picture 3"/>
          <p:cNvPicPr>
            <a:picLocks noChangeAspect="1"/>
          </p:cNvPicPr>
          <p:nvPr/>
        </p:nvPicPr>
        <p:blipFill>
          <a:blip r:embed="rId2"/>
          <a:stretch>
            <a:fillRect/>
          </a:stretch>
        </p:blipFill>
        <p:spPr>
          <a:xfrm>
            <a:off x="1454394" y="1143000"/>
            <a:ext cx="9582150" cy="5657850"/>
          </a:xfrm>
          <a:prstGeom prst="rect">
            <a:avLst/>
          </a:prstGeom>
        </p:spPr>
      </p:pic>
    </p:spTree>
    <p:extLst>
      <p:ext uri="{BB962C8B-B14F-4D97-AF65-F5344CB8AC3E}">
        <p14:creationId xmlns:p14="http://schemas.microsoft.com/office/powerpoint/2010/main" val="739974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62" y="74979"/>
            <a:ext cx="10319238" cy="777875"/>
          </a:xfrm>
        </p:spPr>
        <p:txBody>
          <a:bodyPr/>
          <a:lstStyle/>
          <a:p>
            <a:r>
              <a:rPr lang="en-IN" dirty="0" smtClean="0"/>
              <a:t>Backward Propagation - RNN</a:t>
            </a:r>
            <a:endParaRPr lang="en-IN" dirty="0"/>
          </a:p>
        </p:txBody>
      </p:sp>
      <p:pic>
        <p:nvPicPr>
          <p:cNvPr id="3" name="Picture 2"/>
          <p:cNvPicPr>
            <a:picLocks noChangeAspect="1"/>
          </p:cNvPicPr>
          <p:nvPr/>
        </p:nvPicPr>
        <p:blipFill>
          <a:blip r:embed="rId2"/>
          <a:stretch>
            <a:fillRect/>
          </a:stretch>
        </p:blipFill>
        <p:spPr>
          <a:xfrm>
            <a:off x="1872761" y="703698"/>
            <a:ext cx="7850431" cy="6154302"/>
          </a:xfrm>
          <a:prstGeom prst="rect">
            <a:avLst/>
          </a:prstGeom>
        </p:spPr>
      </p:pic>
    </p:spTree>
    <p:extLst>
      <p:ext uri="{BB962C8B-B14F-4D97-AF65-F5344CB8AC3E}">
        <p14:creationId xmlns:p14="http://schemas.microsoft.com/office/powerpoint/2010/main" val="1992781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62" y="74979"/>
            <a:ext cx="10319238" cy="777875"/>
          </a:xfrm>
        </p:spPr>
        <p:txBody>
          <a:bodyPr/>
          <a:lstStyle/>
          <a:p>
            <a:r>
              <a:rPr lang="en-IN" dirty="0" smtClean="0"/>
              <a:t>Problems in RNN</a:t>
            </a:r>
            <a:endParaRPr lang="en-IN" dirty="0"/>
          </a:p>
        </p:txBody>
      </p:sp>
      <p:sp>
        <p:nvSpPr>
          <p:cNvPr id="4" name="TextBox 3"/>
          <p:cNvSpPr txBox="1"/>
          <p:nvPr/>
        </p:nvSpPr>
        <p:spPr>
          <a:xfrm>
            <a:off x="175846" y="923192"/>
            <a:ext cx="11790485" cy="5355312"/>
          </a:xfrm>
          <a:prstGeom prst="rect">
            <a:avLst/>
          </a:prstGeom>
          <a:noFill/>
        </p:spPr>
        <p:txBody>
          <a:bodyPr wrap="square" rtlCol="0">
            <a:spAutoFit/>
          </a:bodyPr>
          <a:lstStyle/>
          <a:p>
            <a:pPr marL="285750" indent="-285750">
              <a:buFontTx/>
              <a:buChar char="-"/>
            </a:pPr>
            <a:r>
              <a:rPr lang="en-IN" dirty="0" smtClean="0"/>
              <a:t>Because we have problems in Simple RNN, we will see on LSTM RNN and GRU RNN.</a:t>
            </a:r>
          </a:p>
          <a:p>
            <a:pPr marL="285750" indent="-285750">
              <a:buFontTx/>
              <a:buChar char="-"/>
            </a:pPr>
            <a:r>
              <a:rPr lang="en-IN" dirty="0" smtClean="0"/>
              <a:t>In ANN, we have a important problem called Vanishing Gradient and in Simple RNN we will face this problem.</a:t>
            </a:r>
          </a:p>
          <a:p>
            <a:pPr marL="285750" indent="-285750">
              <a:buFontTx/>
              <a:buChar char="-"/>
            </a:pPr>
            <a:r>
              <a:rPr lang="en-IN" dirty="0" smtClean="0"/>
              <a:t>Consider in Text Generation use case, Each word is dependant on the previous word and its context.</a:t>
            </a:r>
          </a:p>
          <a:p>
            <a:pPr marL="285750" indent="-285750">
              <a:buFontTx/>
              <a:buChar char="-"/>
            </a:pPr>
            <a:r>
              <a:rPr lang="en-IN" dirty="0" smtClean="0"/>
              <a:t>When Generating any word in the sentence, It depends on the few words in the previous words.</a:t>
            </a:r>
          </a:p>
          <a:p>
            <a:pPr marL="285750" indent="-285750">
              <a:buFontTx/>
              <a:buChar char="-"/>
            </a:pPr>
            <a:r>
              <a:rPr lang="en-IN" dirty="0" smtClean="0"/>
              <a:t>Consider you have very long Sentences, like 16 words or so. When you want to predict the 17</a:t>
            </a:r>
            <a:r>
              <a:rPr lang="en-IN" baseline="30000" dirty="0" smtClean="0"/>
              <a:t>th</a:t>
            </a:r>
            <a:r>
              <a:rPr lang="en-IN" dirty="0" smtClean="0"/>
              <a:t> word. The dependency of the words on 2 ,4, 5 timestamp is difficult to capture in the Simple RNN.</a:t>
            </a:r>
          </a:p>
          <a:p>
            <a:pPr marL="285750" indent="-285750">
              <a:buFontTx/>
              <a:buChar char="-"/>
            </a:pPr>
            <a:endParaRPr lang="en-IN" dirty="0"/>
          </a:p>
          <a:p>
            <a:pPr marL="285750" indent="-285750">
              <a:buFontTx/>
              <a:buChar char="-"/>
            </a:pPr>
            <a:endParaRPr lang="en-IN" dirty="0" smtClean="0"/>
          </a:p>
          <a:p>
            <a:pPr marL="285750" indent="-285750">
              <a:buFontTx/>
              <a:buChar char="-"/>
            </a:pPr>
            <a:r>
              <a:rPr lang="en-IN" dirty="0" smtClean="0"/>
              <a:t>Consider you have 50 words in sentences . When you try to updates the weight for </a:t>
            </a:r>
            <a:r>
              <a:rPr lang="en-IN" dirty="0" err="1" smtClean="0"/>
              <a:t>wh</a:t>
            </a:r>
            <a:r>
              <a:rPr lang="en-IN" dirty="0" smtClean="0"/>
              <a:t>, during the first time stamp the derivative of the value will be ranges 0-0.25 closer to the output and far from the output with be closer to 0 like 0.0001, 0.00025 etc. When you multiply these value the overall result will be 0 or approximate to 0. hence t=1 timestamp weights doesn’t update and hence wont participate in the next word generation. Which Eventually makes the closer words will be having more weightage and the result will be based on that.</a:t>
            </a:r>
          </a:p>
          <a:p>
            <a:pPr marL="285750" indent="-285750">
              <a:buFontTx/>
              <a:buChar char="-"/>
            </a:pPr>
            <a:endParaRPr lang="en-IN" dirty="0"/>
          </a:p>
          <a:p>
            <a:r>
              <a:rPr lang="en-IN" dirty="0" smtClean="0"/>
              <a:t>To overcome,</a:t>
            </a:r>
          </a:p>
          <a:p>
            <a:pPr marL="285750" indent="-285750">
              <a:buFontTx/>
              <a:buChar char="-"/>
            </a:pPr>
            <a:r>
              <a:rPr lang="en-IN" dirty="0" smtClean="0"/>
              <a:t>Use </a:t>
            </a:r>
            <a:r>
              <a:rPr lang="en-IN" dirty="0" err="1" smtClean="0"/>
              <a:t>Relu</a:t>
            </a:r>
            <a:r>
              <a:rPr lang="en-IN" dirty="0" smtClean="0"/>
              <a:t> and Leaky </a:t>
            </a:r>
            <a:r>
              <a:rPr lang="en-IN" dirty="0" err="1" smtClean="0"/>
              <a:t>Relu</a:t>
            </a:r>
            <a:endParaRPr lang="en-IN" dirty="0" smtClean="0"/>
          </a:p>
          <a:p>
            <a:pPr marL="285750" indent="-285750">
              <a:buFontTx/>
              <a:buChar char="-"/>
            </a:pPr>
            <a:r>
              <a:rPr lang="en-IN" dirty="0" smtClean="0"/>
              <a:t>LSTM RNN</a:t>
            </a:r>
          </a:p>
          <a:p>
            <a:pPr marL="285750" indent="-285750">
              <a:buFontTx/>
              <a:buChar char="-"/>
            </a:pPr>
            <a:r>
              <a:rPr lang="en-IN" dirty="0" smtClean="0"/>
              <a:t>GRU RNN</a:t>
            </a:r>
          </a:p>
          <a:p>
            <a:pPr marL="285750" indent="-285750">
              <a:buFontTx/>
              <a:buChar char="-"/>
            </a:pPr>
            <a:endParaRPr lang="en-IN" dirty="0"/>
          </a:p>
        </p:txBody>
      </p:sp>
    </p:spTree>
    <p:extLst>
      <p:ext uri="{BB962C8B-B14F-4D97-AF65-F5344CB8AC3E}">
        <p14:creationId xmlns:p14="http://schemas.microsoft.com/office/powerpoint/2010/main" val="17067513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1218</TotalTime>
  <Words>477</Words>
  <Application>Microsoft Office PowerPoint</Application>
  <PresentationFormat>Widescreen</PresentationFormat>
  <Paragraphs>32</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Recurrent Neural Network Sai Kiran 2024 </vt:lpstr>
      <vt:lpstr>ANN vs RNN</vt:lpstr>
      <vt:lpstr>RNN</vt:lpstr>
      <vt:lpstr>Forward Propagation - RNN</vt:lpstr>
      <vt:lpstr>Forward Propagation - RNN</vt:lpstr>
      <vt:lpstr>Backward Propagation - RNN</vt:lpstr>
      <vt:lpstr>Backward Propagation - RNN</vt:lpstr>
      <vt:lpstr>Backward Propagation - RNN</vt:lpstr>
      <vt:lpstr>Problems in RNN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Recurrent Neural Network Sai Kiran 2024</dc:title>
  <dc:creator>Sai Kiran U</dc:creator>
  <cp:lastModifiedBy>Sai Kiran U</cp:lastModifiedBy>
  <cp:revision>12</cp:revision>
  <dcterms:created xsi:type="dcterms:W3CDTF">2024-08-30T12:12:00Z</dcterms:created>
  <dcterms:modified xsi:type="dcterms:W3CDTF">2024-09-01T12:38:36Z</dcterms:modified>
</cp:coreProperties>
</file>