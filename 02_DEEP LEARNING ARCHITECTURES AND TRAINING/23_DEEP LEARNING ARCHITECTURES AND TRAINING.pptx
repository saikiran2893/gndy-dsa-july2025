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
  <p:sldMasterIdLst>
    <p:sldMasterId id="2147483660" r:id="rId1"/>
  </p:sldMasterIdLst>
  <p:notesMasterIdLst>
    <p:notesMasterId r:id="rId29"/>
  </p:notesMasterIdLst>
  <p:sldIdLst>
    <p:sldId id="256" r:id="rId2"/>
    <p:sldId id="566" r:id="rId3"/>
    <p:sldId id="560" r:id="rId4"/>
    <p:sldId id="583" r:id="rId5"/>
    <p:sldId id="597" r:id="rId6"/>
    <p:sldId id="584" r:id="rId7"/>
    <p:sldId id="598" r:id="rId8"/>
    <p:sldId id="599" r:id="rId9"/>
    <p:sldId id="602" r:id="rId10"/>
    <p:sldId id="603" r:id="rId11"/>
    <p:sldId id="600" r:id="rId12"/>
    <p:sldId id="604" r:id="rId13"/>
    <p:sldId id="606" r:id="rId14"/>
    <p:sldId id="607" r:id="rId15"/>
    <p:sldId id="608" r:id="rId16"/>
    <p:sldId id="589" r:id="rId17"/>
    <p:sldId id="588" r:id="rId18"/>
    <p:sldId id="590" r:id="rId19"/>
    <p:sldId id="591" r:id="rId20"/>
    <p:sldId id="592" r:id="rId21"/>
    <p:sldId id="593" r:id="rId22"/>
    <p:sldId id="594" r:id="rId23"/>
    <p:sldId id="595" r:id="rId24"/>
    <p:sldId id="596" r:id="rId25"/>
    <p:sldId id="580" r:id="rId26"/>
    <p:sldId id="711" r:id="rId27"/>
    <p:sldId id="303"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36" userDrawn="1">
          <p15:clr>
            <a:srgbClr val="A4A3A4"/>
          </p15:clr>
        </p15:guide>
        <p15:guide id="2" pos="393" userDrawn="1">
          <p15:clr>
            <a:srgbClr val="A4A3A4"/>
          </p15:clr>
        </p15:guide>
        <p15:guide id="3" pos="3940" userDrawn="1">
          <p15:clr>
            <a:srgbClr val="A4A3A4"/>
          </p15:clr>
        </p15:guide>
        <p15:guide id="4" orient="horz" pos="102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F50"/>
    <a:srgbClr val="8497B0"/>
    <a:srgbClr val="8FAADC"/>
    <a:srgbClr val="2F5597"/>
    <a:srgbClr val="626CC7"/>
    <a:srgbClr val="323B8D"/>
    <a:srgbClr val="21275D"/>
    <a:srgbClr val="161A3E"/>
    <a:srgbClr val="203864"/>
    <a:srgbClr val="8BB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A73E3B4-57E7-AF92-32D0-3BB17DB5A4B0}" v="1" dt="2024-07-16T07:47:11.94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01" autoAdjust="0"/>
    <p:restoredTop sz="93447" autoAdjust="0"/>
  </p:normalViewPr>
  <p:slideViewPr>
    <p:cSldViewPr snapToGrid="0">
      <p:cViewPr varScale="1">
        <p:scale>
          <a:sx n="104" d="100"/>
          <a:sy n="104" d="100"/>
        </p:scale>
        <p:origin x="216" y="51"/>
      </p:cViewPr>
      <p:guideLst>
        <p:guide orient="horz" pos="436"/>
        <p:guide pos="393"/>
        <p:guide pos="3940"/>
        <p:guide orient="horz" pos="1026"/>
      </p:guideLst>
    </p:cSldViewPr>
  </p:slideViewPr>
  <p:notesTextViewPr>
    <p:cViewPr>
      <p:scale>
        <a:sx n="75" d="100"/>
        <a:sy n="75"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raj Chopade" userId="S::suraj.chopade@bostoninstituteofanalytics.org::dcc44ee8-6a65-4538-a5e1-c87e14ca7a61" providerId="AD" clId="Web-{2A73E3B4-57E7-AF92-32D0-3BB17DB5A4B0}"/>
    <pc:docChg chg="addSld">
      <pc:chgData name="Suraj Chopade" userId="S::suraj.chopade@bostoninstituteofanalytics.org::dcc44ee8-6a65-4538-a5e1-c87e14ca7a61" providerId="AD" clId="Web-{2A73E3B4-57E7-AF92-32D0-3BB17DB5A4B0}" dt="2024-07-16T07:47:11.941" v="0"/>
      <pc:docMkLst>
        <pc:docMk/>
      </pc:docMkLst>
      <pc:sldChg chg="add">
        <pc:chgData name="Suraj Chopade" userId="S::suraj.chopade@bostoninstituteofanalytics.org::dcc44ee8-6a65-4538-a5e1-c87e14ca7a61" providerId="AD" clId="Web-{2A73E3B4-57E7-AF92-32D0-3BB17DB5A4B0}" dt="2024-07-16T07:47:11.941" v="0"/>
        <pc:sldMkLst>
          <pc:docMk/>
          <pc:sldMk cId="228880180" sldId="56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0077D8-B575-4753-B8FD-F5736649C91E}" type="datetimeFigureOut">
              <a:rPr lang="en-IN" smtClean="0"/>
              <a:t>16-07-2024</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FFB008-8E38-46F5-BCB9-8CFEF233CF3A}" type="slidenum">
              <a:rPr lang="en-IN" smtClean="0"/>
              <a:t>‹#›</a:t>
            </a:fld>
            <a:endParaRPr lang="en-IN" dirty="0"/>
          </a:p>
        </p:txBody>
      </p:sp>
    </p:spTree>
    <p:extLst>
      <p:ext uri="{BB962C8B-B14F-4D97-AF65-F5344CB8AC3E}">
        <p14:creationId xmlns:p14="http://schemas.microsoft.com/office/powerpoint/2010/main" val="4034188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localhost:8889/notebooks/Desktop/RNN%2C%20LSTM%20%26%20GRU%20-%20Newyork%20Taxi%20Dataset.ipynb" TargetMode="External"/><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Use </a:t>
            </a:r>
            <a:r>
              <a:rPr lang="en-US" dirty="0" err="1"/>
              <a:t>Jupyter</a:t>
            </a:r>
            <a:r>
              <a:rPr lang="en-US" dirty="0"/>
              <a:t> file for this question - </a:t>
            </a:r>
            <a:r>
              <a:rPr lang="en-US" dirty="0">
                <a:hlinkClick r:id="rId3"/>
              </a:rPr>
              <a:t>RNN, LSTM &amp; GRU - Newyork Taxi Dataset.ipynb</a:t>
            </a:r>
            <a:endParaRPr lang="en-US" dirty="0">
              <a:cs typeface="Calibri"/>
            </a:endParaRPr>
          </a:p>
        </p:txBody>
      </p:sp>
      <p:sp>
        <p:nvSpPr>
          <p:cNvPr id="4" name="Slide Number Placeholder 3"/>
          <p:cNvSpPr>
            <a:spLocks noGrp="1"/>
          </p:cNvSpPr>
          <p:nvPr>
            <p:ph type="sldNum" sz="quarter" idx="5"/>
          </p:nvPr>
        </p:nvSpPr>
        <p:spPr/>
        <p:txBody>
          <a:bodyPr/>
          <a:lstStyle/>
          <a:p>
            <a:fld id="{47FFB008-8E38-46F5-BCB9-8CFEF233CF3A}" type="slidenum">
              <a:rPr lang="en-IN" smtClean="0"/>
              <a:t>24</a:t>
            </a:fld>
            <a:endParaRPr lang="en-IN"/>
          </a:p>
        </p:txBody>
      </p:sp>
    </p:spTree>
    <p:extLst>
      <p:ext uri="{BB962C8B-B14F-4D97-AF65-F5344CB8AC3E}">
        <p14:creationId xmlns:p14="http://schemas.microsoft.com/office/powerpoint/2010/main" val="39516232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1D4C31DA-14CA-CFBA-5089-9BCD0585380D}"/>
              </a:ext>
            </a:extLst>
          </p:cNvPr>
          <p:cNvGrpSpPr/>
          <p:nvPr userDrawn="1"/>
        </p:nvGrpSpPr>
        <p:grpSpPr>
          <a:xfrm>
            <a:off x="-21770" y="0"/>
            <a:ext cx="12213771" cy="6858000"/>
            <a:chOff x="-21770" y="0"/>
            <a:chExt cx="12213771" cy="6858000"/>
          </a:xfrm>
        </p:grpSpPr>
        <p:pic>
          <p:nvPicPr>
            <p:cNvPr id="6" name="Picture 5" descr="Tech Background&quot; Images – Browse 8,227 Stock Photos, Vectors, and Video |  Adobe Stock">
              <a:extLst>
                <a:ext uri="{FF2B5EF4-FFF2-40B4-BE49-F238E27FC236}">
                  <a16:creationId xmlns:a16="http://schemas.microsoft.com/office/drawing/2014/main" id="{912EDB8F-0820-57F6-5CDA-EEB6AC9EF35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97530BAD-0593-FBF1-1D42-9B727191475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017794" y="913775"/>
              <a:ext cx="5159490" cy="1423752"/>
            </a:xfrm>
            <a:prstGeom prst="rect">
              <a:avLst/>
            </a:prstGeom>
          </p:spPr>
        </p:pic>
      </p:grpSp>
    </p:spTree>
    <p:extLst>
      <p:ext uri="{BB962C8B-B14F-4D97-AF65-F5344CB8AC3E}">
        <p14:creationId xmlns:p14="http://schemas.microsoft.com/office/powerpoint/2010/main" val="13311268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Content Placeholder 2"/>
          <p:cNvSpPr>
            <a:spLocks noGrp="1"/>
          </p:cNvSpPr>
          <p:nvPr>
            <p:ph idx="1"/>
          </p:nvPr>
        </p:nvSpPr>
        <p:spPr>
          <a:xfrm>
            <a:off x="678884" y="1675075"/>
            <a:ext cx="1083423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126523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e Thir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55269" y="603666"/>
            <a:ext cx="7057847" cy="5454235"/>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2" name="Title 1"/>
          <p:cNvSpPr>
            <a:spLocks noGrp="1"/>
          </p:cNvSpPr>
          <p:nvPr>
            <p:ph type="title"/>
          </p:nvPr>
        </p:nvSpPr>
        <p:spPr>
          <a:xfrm>
            <a:off x="838202" y="2049670"/>
            <a:ext cx="2743200" cy="2562226"/>
          </a:xfrm>
        </p:spPr>
        <p:txBody>
          <a:bodyPr/>
          <a:lstStyle>
            <a:lvl1pPr>
              <a:defRPr>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361238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7055274"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705527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807720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7" name="Picture 6">
            <a:extLst>
              <a:ext uri="{FF2B5EF4-FFF2-40B4-BE49-F238E27FC236}">
                <a16:creationId xmlns:a16="http://schemas.microsoft.com/office/drawing/2014/main" id="{F13DF77B-C435-B418-C899-54652105D04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40135611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Half &amp; Half">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5107239" cy="612775"/>
          </a:xfrm>
        </p:spPr>
        <p:txBody>
          <a:bodyPr/>
          <a:lstStyle/>
          <a:p>
            <a:r>
              <a:rPr lang="en-US" dirty="0"/>
              <a:t>Click to edit Master title style</a:t>
            </a:r>
          </a:p>
        </p:txBody>
      </p:sp>
      <p:sp>
        <p:nvSpPr>
          <p:cNvPr id="3" name="Content Placeholder 2"/>
          <p:cNvSpPr>
            <a:spLocks noGrp="1"/>
          </p:cNvSpPr>
          <p:nvPr>
            <p:ph idx="1"/>
          </p:nvPr>
        </p:nvSpPr>
        <p:spPr>
          <a:xfrm>
            <a:off x="678881" y="1659836"/>
            <a:ext cx="5107239"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6096000" y="0"/>
            <a:ext cx="60960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4" name="Picture 3">
            <a:extLst>
              <a:ext uri="{FF2B5EF4-FFF2-40B4-BE49-F238E27FC236}">
                <a16:creationId xmlns:a16="http://schemas.microsoft.com/office/drawing/2014/main" id="{4258C05D-B60D-14D1-7105-F6719232542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1852858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ne Third Flow Errow">
    <p:spTree>
      <p:nvGrpSpPr>
        <p:cNvPr id="1" name=""/>
        <p:cNvGrpSpPr/>
        <p:nvPr/>
      </p:nvGrpSpPr>
      <p:grpSpPr>
        <a:xfrm>
          <a:off x="0" y="0"/>
          <a:ext cx="0" cy="0"/>
          <a:chOff x="0" y="0"/>
          <a:chExt cx="0" cy="0"/>
        </a:xfrm>
      </p:grpSpPr>
      <p:sp>
        <p:nvSpPr>
          <p:cNvPr id="2" name="Title 1"/>
          <p:cNvSpPr>
            <a:spLocks noGrp="1"/>
          </p:cNvSpPr>
          <p:nvPr>
            <p:ph type="title"/>
          </p:nvPr>
        </p:nvSpPr>
        <p:spPr>
          <a:xfrm>
            <a:off x="4455269" y="603666"/>
            <a:ext cx="7057847" cy="612775"/>
          </a:xfrm>
        </p:spPr>
        <p:txBody>
          <a:body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Arrow: Pentagon 5">
            <a:extLst>
              <a:ext uri="{FF2B5EF4-FFF2-40B4-BE49-F238E27FC236}">
                <a16:creationId xmlns:a16="http://schemas.microsoft.com/office/drawing/2014/main" id="{360409B4-C617-2A18-6BFD-309E9F59F1A6}"/>
              </a:ext>
            </a:extLst>
          </p:cNvPr>
          <p:cNvSpPr/>
          <p:nvPr userDrawn="1"/>
        </p:nvSpPr>
        <p:spPr>
          <a:xfrm>
            <a:off x="1" y="0"/>
            <a:ext cx="4114800" cy="6858000"/>
          </a:xfrm>
          <a:prstGeom prst="homePlate">
            <a:avLst>
              <a:gd name="adj" fmla="val 16049"/>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678882" y="3122614"/>
            <a:ext cx="2978720"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Tree>
    <p:extLst>
      <p:ext uri="{BB962C8B-B14F-4D97-AF65-F5344CB8AC3E}">
        <p14:creationId xmlns:p14="http://schemas.microsoft.com/office/powerpoint/2010/main" val="5999928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One Thir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38200" y="3122614"/>
            <a:ext cx="2819401"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rgbClr val="1D1B58"/>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BC7368D9-5898-B04D-9CD2-C5A3736BFFA6}"/>
              </a:ext>
            </a:extLst>
          </p:cNvPr>
          <p:cNvSpPr/>
          <p:nvPr userDrawn="1"/>
        </p:nvSpPr>
        <p:spPr>
          <a:xfrm>
            <a:off x="3454417" y="0"/>
            <a:ext cx="8737584" cy="6858000"/>
          </a:xfrm>
          <a:custGeom>
            <a:avLst/>
            <a:gdLst>
              <a:gd name="connsiteX0" fmla="*/ 0 w 9601184"/>
              <a:gd name="connsiteY0" fmla="*/ 0 h 6858000"/>
              <a:gd name="connsiteX1" fmla="*/ 9601184 w 9601184"/>
              <a:gd name="connsiteY1" fmla="*/ 0 h 6858000"/>
              <a:gd name="connsiteX2" fmla="*/ 9601184 w 9601184"/>
              <a:gd name="connsiteY2" fmla="*/ 6858000 h 6858000"/>
              <a:gd name="connsiteX3" fmla="*/ 0 w 9601184"/>
              <a:gd name="connsiteY3" fmla="*/ 6858000 h 6858000"/>
              <a:gd name="connsiteX4" fmla="*/ 660384 w 9601184"/>
              <a:gd name="connsiteY4" fmla="*/ 3429000 h 6858000"/>
              <a:gd name="connsiteX5" fmla="*/ 0 w 9601184"/>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01184" h="6858000">
                <a:moveTo>
                  <a:pt x="0" y="0"/>
                </a:moveTo>
                <a:lnTo>
                  <a:pt x="9601184" y="0"/>
                </a:lnTo>
                <a:lnTo>
                  <a:pt x="9601184" y="6858000"/>
                </a:lnTo>
                <a:lnTo>
                  <a:pt x="0" y="6858000"/>
                </a:lnTo>
                <a:lnTo>
                  <a:pt x="660384"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sp>
        <p:nvSpPr>
          <p:cNvPr id="2" name="Title 1"/>
          <p:cNvSpPr>
            <a:spLocks noGrp="1"/>
          </p:cNvSpPr>
          <p:nvPr>
            <p:ph type="title"/>
          </p:nvPr>
        </p:nvSpPr>
        <p:spPr>
          <a:xfrm>
            <a:off x="4455269" y="603666"/>
            <a:ext cx="7057847" cy="612775"/>
          </a:xfrm>
        </p:spPr>
        <p:txBody>
          <a:bodyPr/>
          <a:lstStyle>
            <a:lvl1pPr>
              <a:defRPr>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a:extLst>
              <a:ext uri="{FF2B5EF4-FFF2-40B4-BE49-F238E27FC236}">
                <a16:creationId xmlns:a16="http://schemas.microsoft.com/office/drawing/2014/main" id="{BC1D7751-B046-E6FF-E802-137A168948C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6455390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6687118"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6687118"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567565" y="3064248"/>
            <a:ext cx="3314556"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D78CF48E-B68F-E9BA-8398-FF8CD727D1A9}"/>
              </a:ext>
            </a:extLst>
          </p:cNvPr>
          <p:cNvSpPr/>
          <p:nvPr userDrawn="1"/>
        </p:nvSpPr>
        <p:spPr>
          <a:xfrm>
            <a:off x="7543800" y="0"/>
            <a:ext cx="4648201" cy="6858000"/>
          </a:xfrm>
          <a:custGeom>
            <a:avLst/>
            <a:gdLst>
              <a:gd name="connsiteX0" fmla="*/ 0 w 3818882"/>
              <a:gd name="connsiteY0" fmla="*/ 0 h 6858000"/>
              <a:gd name="connsiteX1" fmla="*/ 3818882 w 3818882"/>
              <a:gd name="connsiteY1" fmla="*/ 0 h 6858000"/>
              <a:gd name="connsiteX2" fmla="*/ 3818882 w 3818882"/>
              <a:gd name="connsiteY2" fmla="*/ 6858000 h 6858000"/>
              <a:gd name="connsiteX3" fmla="*/ 0 w 3818882"/>
              <a:gd name="connsiteY3" fmla="*/ 6858000 h 6858000"/>
              <a:gd name="connsiteX4" fmla="*/ 796282 w 3818882"/>
              <a:gd name="connsiteY4" fmla="*/ 3429000 h 6858000"/>
              <a:gd name="connsiteX5" fmla="*/ 0 w 3818882"/>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18882" h="6858000">
                <a:moveTo>
                  <a:pt x="0" y="0"/>
                </a:moveTo>
                <a:lnTo>
                  <a:pt x="3818882" y="0"/>
                </a:lnTo>
                <a:lnTo>
                  <a:pt x="3818882" y="6858000"/>
                </a:lnTo>
                <a:lnTo>
                  <a:pt x="0" y="6858000"/>
                </a:lnTo>
                <a:lnTo>
                  <a:pt x="796282"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pic>
        <p:nvPicPr>
          <p:cNvPr id="4" name="Picture 3">
            <a:extLst>
              <a:ext uri="{FF2B5EF4-FFF2-40B4-BE49-F238E27FC236}">
                <a16:creationId xmlns:a16="http://schemas.microsoft.com/office/drawing/2014/main" id="{5BC983E8-29C2-9FD4-5029-201C1DDD5E8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907501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8883" y="1709738"/>
            <a:ext cx="10834234" cy="2852737"/>
          </a:xfrm>
        </p:spPr>
        <p:txBody>
          <a:bodyPr anchor="b"/>
          <a:lstStyle>
            <a:lvl1pPr>
              <a:defRPr sz="6000"/>
            </a:lvl1pPr>
          </a:lstStyle>
          <a:p>
            <a:r>
              <a:rPr lang="en-US" dirty="0"/>
              <a:t>Click to edit Master title style</a:t>
            </a:r>
          </a:p>
        </p:txBody>
      </p:sp>
      <p:sp>
        <p:nvSpPr>
          <p:cNvPr id="3" name="Text Placeholder 2"/>
          <p:cNvSpPr>
            <a:spLocks noGrp="1"/>
          </p:cNvSpPr>
          <p:nvPr>
            <p:ph type="body" idx="1"/>
          </p:nvPr>
        </p:nvSpPr>
        <p:spPr>
          <a:xfrm>
            <a:off x="678883" y="4589464"/>
            <a:ext cx="10834234"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072784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10834233" cy="612775"/>
          </a:xfrm>
        </p:spPr>
        <p:txBody>
          <a:bodyPr/>
          <a:lstStyle/>
          <a:p>
            <a:r>
              <a:rPr lang="en-US" dirty="0"/>
              <a:t>Click to edit Master title style</a:t>
            </a:r>
          </a:p>
        </p:txBody>
      </p:sp>
      <p:sp>
        <p:nvSpPr>
          <p:cNvPr id="3" name="Content Placeholder 2"/>
          <p:cNvSpPr>
            <a:spLocks noGrp="1"/>
          </p:cNvSpPr>
          <p:nvPr>
            <p:ph sz="half" idx="1"/>
          </p:nvPr>
        </p:nvSpPr>
        <p:spPr>
          <a:xfrm>
            <a:off x="678881" y="1659835"/>
            <a:ext cx="5340919"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199" y="1659835"/>
            <a:ext cx="5340917"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99343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10834234" cy="612775"/>
          </a:xfrm>
        </p:spPr>
        <p:txBody>
          <a:bodyPr/>
          <a:lstStyle/>
          <a:p>
            <a:r>
              <a:rPr lang="en-US" dirty="0"/>
              <a:t>Click to edit Master title style</a:t>
            </a:r>
          </a:p>
        </p:txBody>
      </p:sp>
      <p:sp>
        <p:nvSpPr>
          <p:cNvPr id="3" name="Text Placeholder 2"/>
          <p:cNvSpPr>
            <a:spLocks noGrp="1"/>
          </p:cNvSpPr>
          <p:nvPr>
            <p:ph type="body" idx="1"/>
          </p:nvPr>
        </p:nvSpPr>
        <p:spPr>
          <a:xfrm>
            <a:off x="678881" y="1659834"/>
            <a:ext cx="5318693"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78881" y="2505075"/>
            <a:ext cx="5318693"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2" y="1659834"/>
            <a:ext cx="5340914"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2" y="2505075"/>
            <a:ext cx="5340914"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197890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a:t>Click to edit Master title style</a:t>
            </a:r>
          </a:p>
        </p:txBody>
      </p:sp>
    </p:spTree>
    <p:extLst>
      <p:ext uri="{BB962C8B-B14F-4D97-AF65-F5344CB8AC3E}">
        <p14:creationId xmlns:p14="http://schemas.microsoft.com/office/powerpoint/2010/main" val="28312565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55931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4093145" cy="1453734"/>
          </a:xfrm>
        </p:spPr>
        <p:txBody>
          <a:bodyPr anchor="b"/>
          <a:lstStyle>
            <a:lvl1pPr>
              <a:defRPr sz="3200"/>
            </a:lvl1pPr>
          </a:lstStyle>
          <a:p>
            <a:r>
              <a:rPr lang="en-US" dirty="0"/>
              <a:t>Click to edit Master title style</a:t>
            </a:r>
          </a:p>
        </p:txBody>
      </p:sp>
      <p:sp>
        <p:nvSpPr>
          <p:cNvPr id="3" name="Content Placeholder 2"/>
          <p:cNvSpPr>
            <a:spLocks noGrp="1"/>
          </p:cNvSpPr>
          <p:nvPr>
            <p:ph idx="1"/>
          </p:nvPr>
        </p:nvSpPr>
        <p:spPr>
          <a:xfrm>
            <a:off x="5183189" y="1659835"/>
            <a:ext cx="6329928" cy="4201215"/>
          </a:xfrm>
          <a:prstGeom prst="rect">
            <a:avLst/>
          </a:prstGeom>
        </p:spPr>
        <p:txBody>
          <a:bodyPr/>
          <a:lstStyle>
            <a:lvl1pPr>
              <a:defRPr sz="3200">
                <a:solidFill>
                  <a:schemeClr val="bg2">
                    <a:lumMod val="10000"/>
                  </a:schemeClr>
                </a:solidFill>
              </a:defRPr>
            </a:lvl1pPr>
            <a:lvl2pPr>
              <a:defRPr sz="2800">
                <a:solidFill>
                  <a:schemeClr val="bg2">
                    <a:lumMod val="10000"/>
                  </a:schemeClr>
                </a:solidFill>
              </a:defRPr>
            </a:lvl2pPr>
            <a:lvl3pPr>
              <a:defRPr sz="2400">
                <a:solidFill>
                  <a:schemeClr val="bg2">
                    <a:lumMod val="10000"/>
                  </a:schemeClr>
                </a:solidFill>
              </a:defRPr>
            </a:lvl3pPr>
            <a:lvl4pPr>
              <a:defRPr sz="2000">
                <a:solidFill>
                  <a:schemeClr val="bg2">
                    <a:lumMod val="10000"/>
                  </a:schemeClr>
                </a:solidFill>
              </a:defRPr>
            </a:lvl4pPr>
            <a:lvl5pPr>
              <a:defRPr sz="2000">
                <a:solidFill>
                  <a:schemeClr val="bg2">
                    <a:lumMod val="10000"/>
                  </a:schemeClr>
                </a:solidFill>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678881" y="2315183"/>
            <a:ext cx="4093145" cy="3553805"/>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Tree>
    <p:extLst>
      <p:ext uri="{BB962C8B-B14F-4D97-AF65-F5344CB8AC3E}">
        <p14:creationId xmlns:p14="http://schemas.microsoft.com/office/powerpoint/2010/main" val="18283493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Vertical Text Placeholder 2"/>
          <p:cNvSpPr>
            <a:spLocks noGrp="1"/>
          </p:cNvSpPr>
          <p:nvPr>
            <p:ph type="body" orient="vert" idx="1"/>
          </p:nvPr>
        </p:nvSpPr>
        <p:spPr>
          <a:xfrm>
            <a:off x="678884" y="1659834"/>
            <a:ext cx="10834234" cy="4166933"/>
          </a:xfrm>
          <a:prstGeom prst="rect">
            <a:avLst/>
          </a:prstGeom>
        </p:spPr>
        <p:txBody>
          <a:bodyPr vert="eaVert"/>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750536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pic>
        <p:nvPicPr>
          <p:cNvPr id="4" name="Picture 3" descr="Tech Background&quot; Images – Browse 8,227 Stock Photos, Vectors, and Video |  Adobe Stock">
            <a:extLst>
              <a:ext uri="{FF2B5EF4-FFF2-40B4-BE49-F238E27FC236}">
                <a16:creationId xmlns:a16="http://schemas.microsoft.com/office/drawing/2014/main" id="{19625874-6531-A345-C3ED-8BD86E0E300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
        <p:nvSpPr>
          <p:cNvPr id="2" name="Vertical Title 1"/>
          <p:cNvSpPr>
            <a:spLocks noGrp="1"/>
          </p:cNvSpPr>
          <p:nvPr>
            <p:ph type="title" orient="vert" hasCustomPrompt="1"/>
          </p:nvPr>
        </p:nvSpPr>
        <p:spPr>
          <a:xfrm rot="16200000">
            <a:off x="4770665" y="-2959994"/>
            <a:ext cx="2628900" cy="12213771"/>
          </a:xfrm>
        </p:spPr>
        <p:txBody>
          <a:bodyPr vert="eaVert">
            <a:normAutofit/>
          </a:bodyPr>
          <a:lstStyle>
            <a:lvl1pPr algn="ctr">
              <a:defRPr sz="8000">
                <a:solidFill>
                  <a:schemeClr val="bg1"/>
                </a:solidFill>
              </a:defRPr>
            </a:lvl1pPr>
          </a:lstStyle>
          <a:p>
            <a:r>
              <a:rPr lang="en-US" dirty="0"/>
              <a:t>Thank You</a:t>
            </a:r>
          </a:p>
        </p:txBody>
      </p:sp>
    </p:spTree>
    <p:extLst>
      <p:ext uri="{BB962C8B-B14F-4D97-AF65-F5344CB8AC3E}">
        <p14:creationId xmlns:p14="http://schemas.microsoft.com/office/powerpoint/2010/main" val="41674742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78884" y="603666"/>
            <a:ext cx="10834232" cy="612775"/>
          </a:xfrm>
          <a:prstGeom prst="rect">
            <a:avLst/>
          </a:prstGeom>
        </p:spPr>
        <p:txBody>
          <a:bodyPr vert="horz" lIns="0" tIns="0" rIns="0" bIns="0" rtlCol="0" anchor="ctr">
            <a:normAutofit/>
          </a:bodyPr>
          <a:lstStyle/>
          <a:p>
            <a:r>
              <a:rPr lang="en-US" dirty="0"/>
              <a:t>Click to edit Master title style</a:t>
            </a:r>
          </a:p>
        </p:txBody>
      </p:sp>
      <p:sp>
        <p:nvSpPr>
          <p:cNvPr id="3" name="Text Placeholder 2"/>
          <p:cNvSpPr>
            <a:spLocks noGrp="1"/>
          </p:cNvSpPr>
          <p:nvPr>
            <p:ph type="body" idx="1"/>
          </p:nvPr>
        </p:nvSpPr>
        <p:spPr>
          <a:xfrm>
            <a:off x="678884" y="1659835"/>
            <a:ext cx="10834234" cy="439806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052" name="Picture 4" descr="Top Ranked Data Science Institute, Classroom Plus Online Training | Boston  Institute of Analytics">
            <a:extLst>
              <a:ext uri="{FF2B5EF4-FFF2-40B4-BE49-F238E27FC236}">
                <a16:creationId xmlns:a16="http://schemas.microsoft.com/office/drawing/2014/main" id="{D55A4135-B2E5-3A1C-9614-E010D1062B85}"/>
              </a:ext>
            </a:extLst>
          </p:cNvPr>
          <p:cNvPicPr>
            <a:picLocks noChangeAspect="1" noChangeArrowheads="1"/>
          </p:cNvPicPr>
          <p:nvPr userDrawn="1"/>
        </p:nvPicPr>
        <p:blipFill rotWithShape="1">
          <a:blip r:embed="rId18" cstate="print">
            <a:extLst>
              <a:ext uri="{28A0092B-C50C-407E-A947-70E740481C1C}">
                <a14:useLocalDpi xmlns:a14="http://schemas.microsoft.com/office/drawing/2010/main" val="0"/>
              </a:ext>
            </a:extLst>
          </a:blip>
          <a:srcRect l="4000" r="3112"/>
          <a:stretch/>
        </p:blipFill>
        <p:spPr bwMode="auto">
          <a:xfrm>
            <a:off x="9493777" y="6115409"/>
            <a:ext cx="2019339" cy="54891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3665DF22-91AD-CE85-A78A-CF35969DE003}"/>
              </a:ext>
            </a:extLst>
          </p:cNvPr>
          <p:cNvSpPr/>
          <p:nvPr userDrawn="1"/>
        </p:nvSpPr>
        <p:spPr>
          <a:xfrm>
            <a:off x="678883" y="6207305"/>
            <a:ext cx="7474517" cy="3651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sz="1100" b="1" dirty="0">
                <a:solidFill>
                  <a:schemeClr val="bg2">
                    <a:lumMod val="75000"/>
                  </a:schemeClr>
                </a:solidFill>
              </a:rPr>
              <a:t>CONFIDENTIAL</a:t>
            </a:r>
            <a:r>
              <a:rPr lang="en-US" sz="1100" dirty="0">
                <a:solidFill>
                  <a:schemeClr val="bg2">
                    <a:lumMod val="75000"/>
                  </a:schemeClr>
                </a:solidFill>
              </a:rPr>
              <a:t>: The information in this document belongs to Boston Institute of Analytics LLC. Any unauthorized sharing of this material is prohibited and subject to legal action under breach of IP and confidentiality clauses. </a:t>
            </a:r>
          </a:p>
        </p:txBody>
      </p:sp>
    </p:spTree>
    <p:extLst>
      <p:ext uri="{BB962C8B-B14F-4D97-AF65-F5344CB8AC3E}">
        <p14:creationId xmlns:p14="http://schemas.microsoft.com/office/powerpoint/2010/main" val="16281783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2" r:id="rId3"/>
    <p:sldLayoutId id="2147483673" r:id="rId4"/>
    <p:sldLayoutId id="2147483674" r:id="rId5"/>
    <p:sldLayoutId id="2147483675" r:id="rId6"/>
    <p:sldLayoutId id="2147483677" r:id="rId7"/>
    <p:sldLayoutId id="2147483676" r:id="rId8"/>
    <p:sldLayoutId id="2147483663" r:id="rId9"/>
    <p:sldLayoutId id="2147483664" r:id="rId10"/>
    <p:sldLayoutId id="2147483665" r:id="rId11"/>
    <p:sldLayoutId id="2147483666" r:id="rId12"/>
    <p:sldLayoutId id="2147483667" r:id="rId13"/>
    <p:sldLayoutId id="2147483668" r:id="rId14"/>
    <p:sldLayoutId id="2147483670" r:id="rId15"/>
    <p:sldLayoutId id="2147483671" r:id="rId16"/>
  </p:sldLayoutIdLst>
  <p:txStyles>
    <p:titleStyle>
      <a:lvl1pPr algn="l" defTabSz="914400" rtl="0" eaLnBrk="1" latinLnBrk="0" hangingPunct="1">
        <a:lnSpc>
          <a:spcPct val="90000"/>
        </a:lnSpc>
        <a:spcBef>
          <a:spcPct val="0"/>
        </a:spcBef>
        <a:buNone/>
        <a:defRPr sz="3400" b="1" kern="1200">
          <a:solidFill>
            <a:schemeClr val="tx1"/>
          </a:solidFill>
          <a:latin typeface="Calibri" panose="020F050202020403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Calibri" panose="020F05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Calibri" panose="020F05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gi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hyperlink" Target="http://localhost:8889/notebooks/Desktop/RNN%2C%20LSTM%20%26%20GRU%20-%20Newyork%20Taxi%20Dataset.ipynb"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A225F15-9B21-01FF-BD6D-D04F30F7A091}"/>
              </a:ext>
            </a:extLst>
          </p:cNvPr>
          <p:cNvSpPr/>
          <p:nvPr/>
        </p:nvSpPr>
        <p:spPr>
          <a:xfrm>
            <a:off x="1" y="2788290"/>
            <a:ext cx="12192000" cy="81152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latin typeface="Calibri" panose="020F0502020204030204" pitchFamily="34" charset="0"/>
              </a:rPr>
              <a:t>DEEP LEARNING ARCHITECTURES AND TRAINING</a:t>
            </a:r>
          </a:p>
        </p:txBody>
      </p:sp>
    </p:spTree>
    <p:extLst>
      <p:ext uri="{BB962C8B-B14F-4D97-AF65-F5344CB8AC3E}">
        <p14:creationId xmlns:p14="http://schemas.microsoft.com/office/powerpoint/2010/main" val="10243347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9E2F6A-E89F-45D0-4C37-F8D123D863FF}"/>
              </a:ext>
            </a:extLst>
          </p:cNvPr>
          <p:cNvSpPr>
            <a:spLocks noGrp="1"/>
          </p:cNvSpPr>
          <p:nvPr>
            <p:ph type="title"/>
          </p:nvPr>
        </p:nvSpPr>
        <p:spPr/>
        <p:txBody>
          <a:bodyPr/>
          <a:lstStyle/>
          <a:p>
            <a:r>
              <a:rPr lang="en-US" dirty="0">
                <a:latin typeface="Calibri"/>
                <a:cs typeface="Calibri"/>
              </a:rPr>
              <a:t>Trainer Guidelines for Conducting Class</a:t>
            </a:r>
            <a:endParaRPr lang="en-US" dirty="0"/>
          </a:p>
        </p:txBody>
      </p:sp>
      <p:sp>
        <p:nvSpPr>
          <p:cNvPr id="3" name="Content Placeholder 2">
            <a:extLst>
              <a:ext uri="{FF2B5EF4-FFF2-40B4-BE49-F238E27FC236}">
                <a16:creationId xmlns:a16="http://schemas.microsoft.com/office/drawing/2014/main" id="{9CA356E4-99F9-93BD-8697-B5FE13DDA948}"/>
              </a:ext>
            </a:extLst>
          </p:cNvPr>
          <p:cNvSpPr>
            <a:spLocks noGrp="1"/>
          </p:cNvSpPr>
          <p:nvPr>
            <p:ph idx="1"/>
          </p:nvPr>
        </p:nvSpPr>
        <p:spPr/>
        <p:txBody>
          <a:bodyPr vert="horz" lIns="91440" tIns="45720" rIns="91440" bIns="45720" rtlCol="0" anchor="t">
            <a:normAutofit fontScale="77500" lnSpcReduction="20000"/>
          </a:bodyPr>
          <a:lstStyle/>
          <a:p>
            <a:endParaRPr lang="en-US" dirty="0">
              <a:latin typeface="Calibri"/>
              <a:cs typeface="Calibri"/>
            </a:endParaRPr>
          </a:p>
          <a:p>
            <a:r>
              <a:rPr lang="en-US" dirty="0">
                <a:latin typeface="Calibri"/>
                <a:cs typeface="Calibri"/>
              </a:rPr>
              <a:t>Solve questions live by creating </a:t>
            </a:r>
            <a:r>
              <a:rPr lang="en-US" b="1" dirty="0">
                <a:latin typeface="Calibri"/>
                <a:cs typeface="Calibri"/>
              </a:rPr>
              <a:t>new blank files</a:t>
            </a:r>
            <a:r>
              <a:rPr lang="en-US" dirty="0">
                <a:latin typeface="Calibri"/>
                <a:cs typeface="Calibri"/>
              </a:rPr>
              <a:t> (Excel, Python, </a:t>
            </a:r>
            <a:r>
              <a:rPr lang="en-US" err="1">
                <a:latin typeface="Calibri"/>
                <a:cs typeface="Calibri"/>
              </a:rPr>
              <a:t>Jupyter</a:t>
            </a:r>
            <a:r>
              <a:rPr lang="en-US" dirty="0">
                <a:latin typeface="Calibri"/>
                <a:cs typeface="Calibri"/>
              </a:rPr>
              <a:t> notebook, Dashboard) during the session, rather than sharing completed solutions.</a:t>
            </a:r>
            <a:endParaRPr lang="en-US" dirty="0">
              <a:latin typeface="Calibri"/>
              <a:cs typeface="Calibri" panose="020F0502020204030204" pitchFamily="34" charset="0"/>
            </a:endParaRPr>
          </a:p>
          <a:p>
            <a:endParaRPr lang="en-US" dirty="0">
              <a:latin typeface="Calibri"/>
              <a:cs typeface="Calibri"/>
            </a:endParaRPr>
          </a:p>
          <a:p>
            <a:r>
              <a:rPr lang="en-US" dirty="0">
                <a:latin typeface="Calibri"/>
                <a:cs typeface="Calibri"/>
              </a:rPr>
              <a:t>Review teaching materials and solutions beforehand, and prepare additional examples to reinforce learning.</a:t>
            </a:r>
          </a:p>
          <a:p>
            <a:endParaRPr lang="en-US" dirty="0">
              <a:latin typeface="Calibri"/>
              <a:cs typeface="Calibri"/>
            </a:endParaRPr>
          </a:p>
          <a:p>
            <a:r>
              <a:rPr lang="en-US" dirty="0">
                <a:latin typeface="Calibri"/>
                <a:cs typeface="Calibri"/>
              </a:rPr>
              <a:t>Ensure online students can hear you and see the screen clearly at all times.</a:t>
            </a:r>
          </a:p>
          <a:p>
            <a:endParaRPr lang="en-US" dirty="0">
              <a:latin typeface="Calibri"/>
              <a:cs typeface="Calibri"/>
            </a:endParaRPr>
          </a:p>
          <a:p>
            <a:r>
              <a:rPr lang="en-US" dirty="0">
                <a:latin typeface="Calibri"/>
                <a:cs typeface="Calibri"/>
              </a:rPr>
              <a:t>Test your computer and necessary software before class begins.</a:t>
            </a:r>
          </a:p>
          <a:p>
            <a:endParaRPr lang="en-US" dirty="0">
              <a:latin typeface="Calibri"/>
              <a:cs typeface="Calibri"/>
            </a:endParaRPr>
          </a:p>
          <a:p>
            <a:r>
              <a:rPr lang="en-US" dirty="0">
                <a:latin typeface="Calibri"/>
                <a:cs typeface="Calibri"/>
              </a:rPr>
              <a:t>Check with online students every 15-20 minutes to see if they understand the material and have any questions.</a:t>
            </a:r>
            <a:endParaRPr lang="en-US"/>
          </a:p>
        </p:txBody>
      </p:sp>
    </p:spTree>
    <p:extLst>
      <p:ext uri="{BB962C8B-B14F-4D97-AF65-F5344CB8AC3E}">
        <p14:creationId xmlns:p14="http://schemas.microsoft.com/office/powerpoint/2010/main" val="2288801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
            <a:extLst>
              <a:ext uri="{FF2B5EF4-FFF2-40B4-BE49-F238E27FC236}">
                <a16:creationId xmlns:a16="http://schemas.microsoft.com/office/drawing/2014/main" id="{2FDADD92-4E39-7713-520E-D88B1D53A255}"/>
              </a:ext>
            </a:extLst>
          </p:cNvPr>
          <p:cNvSpPr txBox="1">
            <a:spLocks/>
          </p:cNvSpPr>
          <p:nvPr/>
        </p:nvSpPr>
        <p:spPr>
          <a:xfrm>
            <a:off x="653555" y="694267"/>
            <a:ext cx="3979594"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b="1" spc="-30" dirty="0">
                <a:solidFill>
                  <a:schemeClr val="accent1">
                    <a:lumMod val="50000"/>
                  </a:schemeClr>
                </a:solidFill>
                <a:latin typeface="+mn-lt"/>
                <a:cs typeface="Times New Roman"/>
              </a:rPr>
              <a:t>Agenda</a:t>
            </a:r>
          </a:p>
        </p:txBody>
      </p:sp>
      <p:sp>
        <p:nvSpPr>
          <p:cNvPr id="2" name="TextBox 1">
            <a:extLst>
              <a:ext uri="{FF2B5EF4-FFF2-40B4-BE49-F238E27FC236}">
                <a16:creationId xmlns:a16="http://schemas.microsoft.com/office/drawing/2014/main" id="{E401CF50-7ED4-E6A1-4F40-048F35EC4155}"/>
              </a:ext>
            </a:extLst>
          </p:cNvPr>
          <p:cNvSpPr txBox="1"/>
          <p:nvPr/>
        </p:nvSpPr>
        <p:spPr>
          <a:xfrm>
            <a:off x="623888" y="1543237"/>
            <a:ext cx="8592206" cy="462049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nSpc>
                <a:spcPct val="150000"/>
              </a:lnSpc>
              <a:buFont typeface="Arial,Sans-Serif" panose="020B0604020202020204" pitchFamily="34" charset="0"/>
              <a:buChar char="•"/>
            </a:pPr>
            <a:r>
              <a:rPr lang="en-IN" sz="2200" dirty="0">
                <a:solidFill>
                  <a:srgbClr val="374151"/>
                </a:solidFill>
                <a:ea typeface="+mn-lt"/>
                <a:cs typeface="Arial"/>
              </a:rPr>
              <a:t>Recurrent Neural Networks (RNNs)</a:t>
            </a:r>
            <a:endParaRPr lang="en-US" sz="2200" dirty="0">
              <a:solidFill>
                <a:srgbClr val="374151"/>
              </a:solidFill>
              <a:ea typeface="+mn-lt"/>
              <a:cs typeface="Arial"/>
            </a:endParaRPr>
          </a:p>
          <a:p>
            <a:pPr marL="342900" indent="-342900">
              <a:lnSpc>
                <a:spcPct val="150000"/>
              </a:lnSpc>
              <a:buFont typeface="Arial,Sans-Serif" panose="020B0604020202020204" pitchFamily="34" charset="0"/>
              <a:buChar char="•"/>
            </a:pPr>
            <a:r>
              <a:rPr lang="en-IN" sz="2200" dirty="0">
                <a:solidFill>
                  <a:srgbClr val="374151"/>
                </a:solidFill>
                <a:ea typeface="+mn-lt"/>
                <a:cs typeface="Arial"/>
              </a:rPr>
              <a:t>Recurrent Neurons</a:t>
            </a:r>
          </a:p>
          <a:p>
            <a:pPr marL="342900" indent="-342900">
              <a:lnSpc>
                <a:spcPct val="150000"/>
              </a:lnSpc>
              <a:buFont typeface="Arial,Sans-Serif" panose="020B0604020202020204" pitchFamily="34" charset="0"/>
              <a:buChar char="•"/>
            </a:pPr>
            <a:r>
              <a:rPr lang="en-IN" sz="2200" dirty="0">
                <a:solidFill>
                  <a:srgbClr val="374151"/>
                </a:solidFill>
                <a:ea typeface="+mn-lt"/>
                <a:cs typeface="Arial"/>
              </a:rPr>
              <a:t>Vanishing Gradient Problem</a:t>
            </a:r>
          </a:p>
          <a:p>
            <a:pPr marL="342900" indent="-342900">
              <a:lnSpc>
                <a:spcPct val="150000"/>
              </a:lnSpc>
              <a:buFont typeface="Arial,Sans-Serif" panose="020B0604020202020204" pitchFamily="34" charset="0"/>
              <a:buChar char="•"/>
            </a:pPr>
            <a:r>
              <a:rPr lang="en-IN" sz="2200" dirty="0">
                <a:solidFill>
                  <a:srgbClr val="374151"/>
                </a:solidFill>
                <a:ea typeface="+mn-lt"/>
                <a:cs typeface="Arial"/>
              </a:rPr>
              <a:t>LSTM &amp; GRU</a:t>
            </a:r>
          </a:p>
          <a:p>
            <a:pPr marL="342900" indent="-342900">
              <a:lnSpc>
                <a:spcPct val="150000"/>
              </a:lnSpc>
              <a:buFont typeface="Arial,Sans-Serif" panose="020B0604020202020204" pitchFamily="34" charset="0"/>
              <a:buChar char="•"/>
            </a:pPr>
            <a:r>
              <a:rPr lang="en-IN" sz="2200" dirty="0">
                <a:solidFill>
                  <a:srgbClr val="374151"/>
                </a:solidFill>
                <a:ea typeface="Calibri"/>
                <a:cs typeface="Arial"/>
              </a:rPr>
              <a:t>Building &amp; Training RNN</a:t>
            </a:r>
          </a:p>
          <a:p>
            <a:pPr marL="342900" indent="-342900">
              <a:lnSpc>
                <a:spcPct val="150000"/>
              </a:lnSpc>
              <a:buFont typeface="Arial,Sans-Serif" panose="020B0604020202020204" pitchFamily="34" charset="0"/>
              <a:buChar char="•"/>
            </a:pPr>
            <a:r>
              <a:rPr lang="en-IN" sz="2200" dirty="0">
                <a:solidFill>
                  <a:srgbClr val="374151"/>
                </a:solidFill>
                <a:ea typeface="Calibri"/>
                <a:cs typeface="Arial"/>
              </a:rPr>
              <a:t>Overfitting &amp; Regularization techniques</a:t>
            </a:r>
          </a:p>
          <a:p>
            <a:pPr marL="342900" indent="-342900">
              <a:lnSpc>
                <a:spcPct val="150000"/>
              </a:lnSpc>
              <a:buFont typeface="Arial,Sans-Serif" panose="020B0604020202020204" pitchFamily="34" charset="0"/>
              <a:buChar char="•"/>
            </a:pPr>
            <a:r>
              <a:rPr lang="en-IN" sz="2200" dirty="0">
                <a:solidFill>
                  <a:srgbClr val="374151"/>
                </a:solidFill>
                <a:ea typeface="Calibri"/>
                <a:cs typeface="Arial"/>
              </a:rPr>
              <a:t>Dropout &amp; Normalization</a:t>
            </a:r>
          </a:p>
          <a:p>
            <a:pPr marL="342900" indent="-342900">
              <a:lnSpc>
                <a:spcPct val="150000"/>
              </a:lnSpc>
              <a:buFont typeface="Arial,Sans-Serif" panose="020B0604020202020204" pitchFamily="34" charset="0"/>
              <a:buChar char="•"/>
            </a:pPr>
            <a:r>
              <a:rPr lang="en-IN" sz="2200" dirty="0">
                <a:solidFill>
                  <a:srgbClr val="374151"/>
                </a:solidFill>
                <a:ea typeface="Calibri"/>
                <a:cs typeface="Arial"/>
              </a:rPr>
              <a:t>Model Evaluation,  Metrics &amp; Hyperparameter Techniques</a:t>
            </a:r>
          </a:p>
          <a:p>
            <a:pPr marL="342900" indent="-342900">
              <a:lnSpc>
                <a:spcPct val="150000"/>
              </a:lnSpc>
              <a:buFont typeface="Arial,Sans-Serif" panose="020B0604020202020204" pitchFamily="34" charset="0"/>
              <a:buChar char="•"/>
            </a:pPr>
            <a:r>
              <a:rPr lang="en-IN" sz="2200" dirty="0">
                <a:solidFill>
                  <a:srgbClr val="374151"/>
                </a:solidFill>
                <a:ea typeface="Calibri"/>
                <a:cs typeface="Arial"/>
              </a:rPr>
              <a:t>Practical Exercise: RNN, LSTM, GRU</a:t>
            </a:r>
          </a:p>
        </p:txBody>
      </p:sp>
    </p:spTree>
    <p:extLst>
      <p:ext uri="{BB962C8B-B14F-4D97-AF65-F5344CB8AC3E}">
        <p14:creationId xmlns:p14="http://schemas.microsoft.com/office/powerpoint/2010/main" val="7781141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
            <a:extLst>
              <a:ext uri="{FF2B5EF4-FFF2-40B4-BE49-F238E27FC236}">
                <a16:creationId xmlns:a16="http://schemas.microsoft.com/office/drawing/2014/main" id="{2FDADD92-4E39-7713-520E-D88B1D53A255}"/>
              </a:ext>
            </a:extLst>
          </p:cNvPr>
          <p:cNvSpPr txBox="1">
            <a:spLocks/>
          </p:cNvSpPr>
          <p:nvPr/>
        </p:nvSpPr>
        <p:spPr>
          <a:xfrm>
            <a:off x="658224" y="732841"/>
            <a:ext cx="9245276"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b="1" spc="-30" dirty="0">
                <a:solidFill>
                  <a:schemeClr val="accent1">
                    <a:lumMod val="50000"/>
                  </a:schemeClr>
                </a:solidFill>
                <a:latin typeface="+mn-lt"/>
                <a:cs typeface="Times New Roman"/>
              </a:rPr>
              <a:t>Recurrent Neural Networks (RNNs)</a:t>
            </a:r>
            <a:endParaRPr lang="en-US" b="1" spc="-30" dirty="0">
              <a:solidFill>
                <a:schemeClr val="accent1">
                  <a:lumMod val="50000"/>
                </a:schemeClr>
              </a:solidFill>
              <a:latin typeface="+mn-lt"/>
              <a:cs typeface="Times New Roman"/>
            </a:endParaRPr>
          </a:p>
        </p:txBody>
      </p:sp>
      <p:sp>
        <p:nvSpPr>
          <p:cNvPr id="4" name="TextBox 3">
            <a:extLst>
              <a:ext uri="{FF2B5EF4-FFF2-40B4-BE49-F238E27FC236}">
                <a16:creationId xmlns:a16="http://schemas.microsoft.com/office/drawing/2014/main" id="{E3BC2D91-D564-AC43-56B6-80632D333E06}"/>
              </a:ext>
            </a:extLst>
          </p:cNvPr>
          <p:cNvSpPr txBox="1"/>
          <p:nvPr/>
        </p:nvSpPr>
        <p:spPr>
          <a:xfrm>
            <a:off x="609600" y="1628775"/>
            <a:ext cx="10972800" cy="440120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solidFill>
                  <a:srgbClr val="374151"/>
                </a:solidFill>
              </a:rPr>
              <a:t>RNN is a neural network designed for sequential data, featuring recurrent connections that maintain memory.</a:t>
            </a:r>
            <a:endParaRPr lang="en-US" sz="2000" dirty="0">
              <a:cs typeface="Calibri" panose="020F0502020204030204"/>
            </a:endParaRPr>
          </a:p>
          <a:p>
            <a:endParaRPr lang="en-US" sz="2000" dirty="0">
              <a:solidFill>
                <a:srgbClr val="374151"/>
              </a:solidFill>
            </a:endParaRPr>
          </a:p>
          <a:p>
            <a:pPr marL="342900" indent="-342900">
              <a:buFont typeface="Arial" panose="020B0604020202020204" pitchFamily="34" charset="0"/>
              <a:buChar char="•"/>
            </a:pPr>
            <a:r>
              <a:rPr lang="en-US" sz="2000" b="1" dirty="0">
                <a:solidFill>
                  <a:srgbClr val="374151"/>
                </a:solidFill>
              </a:rPr>
              <a:t>Importance of Sequential Data:</a:t>
            </a:r>
            <a:r>
              <a:rPr lang="en-US" sz="2000" dirty="0">
                <a:solidFill>
                  <a:srgbClr val="374151"/>
                </a:solidFill>
              </a:rPr>
              <a:t> RNNs are essential for tasks like time series analysis, natural language processing, and speech recognition where data order matters.</a:t>
            </a:r>
          </a:p>
          <a:p>
            <a:pPr marL="342900" indent="-342900">
              <a:buFont typeface="Arial" panose="020B0604020202020204" pitchFamily="34" charset="0"/>
              <a:buChar char="•"/>
            </a:pPr>
            <a:endParaRPr lang="en-US" sz="2000" dirty="0">
              <a:solidFill>
                <a:srgbClr val="374151"/>
              </a:solidFill>
            </a:endParaRPr>
          </a:p>
          <a:p>
            <a:pPr marL="342900" indent="-342900">
              <a:buFont typeface="Arial" panose="020B0604020202020204" pitchFamily="34" charset="0"/>
              <a:buChar char="•"/>
            </a:pPr>
            <a:r>
              <a:rPr lang="en-US" sz="2000" b="1" dirty="0">
                <a:solidFill>
                  <a:srgbClr val="374151"/>
                </a:solidFill>
              </a:rPr>
              <a:t>Traditional Feedforward Networks:</a:t>
            </a:r>
            <a:r>
              <a:rPr lang="en-US" sz="2000" dirty="0">
                <a:solidFill>
                  <a:srgbClr val="374151"/>
                </a:solidFill>
              </a:rPr>
              <a:t> Standard neural networks (MLPs) lack memory and struggle with sequences due to fixed input-output sizes.</a:t>
            </a:r>
          </a:p>
          <a:p>
            <a:pPr marL="342900" indent="-342900">
              <a:buFont typeface="Arial" panose="020B0604020202020204" pitchFamily="34" charset="0"/>
              <a:buChar char="•"/>
            </a:pPr>
            <a:endParaRPr lang="en-US" sz="2000" dirty="0">
              <a:solidFill>
                <a:srgbClr val="374151"/>
              </a:solidFill>
            </a:endParaRPr>
          </a:p>
          <a:p>
            <a:pPr marL="342900" indent="-342900">
              <a:buFont typeface="Arial" panose="020B0604020202020204" pitchFamily="34" charset="0"/>
              <a:buChar char="•"/>
            </a:pPr>
            <a:r>
              <a:rPr lang="en-US" sz="2000" b="1" dirty="0">
                <a:solidFill>
                  <a:srgbClr val="374151"/>
                </a:solidFill>
              </a:rPr>
              <a:t>Need for Recurrent Connections:</a:t>
            </a:r>
            <a:r>
              <a:rPr lang="en-US" sz="2000" dirty="0">
                <a:solidFill>
                  <a:srgbClr val="374151"/>
                </a:solidFill>
              </a:rPr>
              <a:t> RNNs use loops to pass information from one step to the next, crucial for maintaining context and dependencies in sequential data.</a:t>
            </a:r>
          </a:p>
          <a:p>
            <a:pPr marL="342900" indent="-342900">
              <a:buFont typeface="Arial" panose="020B0604020202020204" pitchFamily="34" charset="0"/>
              <a:buChar char="•"/>
            </a:pPr>
            <a:endParaRPr lang="en-US" sz="2000" dirty="0">
              <a:solidFill>
                <a:srgbClr val="374151"/>
              </a:solidFill>
            </a:endParaRPr>
          </a:p>
          <a:p>
            <a:pPr marL="342900" indent="-342900">
              <a:buFont typeface="Arial" panose="020B0604020202020204" pitchFamily="34" charset="0"/>
              <a:buChar char="•"/>
            </a:pPr>
            <a:r>
              <a:rPr lang="en-US" sz="2000" b="1" dirty="0">
                <a:solidFill>
                  <a:srgbClr val="374151"/>
                </a:solidFill>
              </a:rPr>
              <a:t>Role of Memory in RNN:</a:t>
            </a:r>
            <a:r>
              <a:rPr lang="en-US" sz="2000" dirty="0">
                <a:solidFill>
                  <a:srgbClr val="374151"/>
                </a:solidFill>
              </a:rPr>
              <a:t> RNNs employ internal memory (hidden state) to remember past inputs, enabling them to process sequences effectively.</a:t>
            </a:r>
          </a:p>
        </p:txBody>
      </p:sp>
    </p:spTree>
    <p:extLst>
      <p:ext uri="{BB962C8B-B14F-4D97-AF65-F5344CB8AC3E}">
        <p14:creationId xmlns:p14="http://schemas.microsoft.com/office/powerpoint/2010/main" val="42251740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
            <a:extLst>
              <a:ext uri="{FF2B5EF4-FFF2-40B4-BE49-F238E27FC236}">
                <a16:creationId xmlns:a16="http://schemas.microsoft.com/office/drawing/2014/main" id="{2FDADD92-4E39-7713-520E-D88B1D53A255}"/>
              </a:ext>
            </a:extLst>
          </p:cNvPr>
          <p:cNvSpPr txBox="1">
            <a:spLocks/>
          </p:cNvSpPr>
          <p:nvPr/>
        </p:nvSpPr>
        <p:spPr>
          <a:xfrm>
            <a:off x="658224" y="722372"/>
            <a:ext cx="9245276"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b="1" spc="-30" dirty="0" err="1">
                <a:solidFill>
                  <a:schemeClr val="accent1">
                    <a:lumMod val="50000"/>
                  </a:schemeClr>
                </a:solidFill>
                <a:latin typeface="+mn-lt"/>
                <a:cs typeface="Times New Roman"/>
              </a:rPr>
              <a:t>Cont</a:t>
            </a:r>
            <a:r>
              <a:rPr lang="en-IN" b="1" spc="-30" dirty="0">
                <a:solidFill>
                  <a:schemeClr val="accent1">
                    <a:lumMod val="50000"/>
                  </a:schemeClr>
                </a:solidFill>
                <a:latin typeface="+mn-lt"/>
                <a:cs typeface="Times New Roman"/>
              </a:rPr>
              <a:t>…</a:t>
            </a:r>
            <a:endParaRPr lang="en-US" b="1" spc="-30" dirty="0">
              <a:solidFill>
                <a:schemeClr val="accent1">
                  <a:lumMod val="50000"/>
                </a:schemeClr>
              </a:solidFill>
              <a:latin typeface="+mn-lt"/>
              <a:cs typeface="Times New Roman"/>
            </a:endParaRPr>
          </a:p>
        </p:txBody>
      </p:sp>
      <p:sp>
        <p:nvSpPr>
          <p:cNvPr id="2" name="TextBox 1">
            <a:extLst>
              <a:ext uri="{FF2B5EF4-FFF2-40B4-BE49-F238E27FC236}">
                <a16:creationId xmlns:a16="http://schemas.microsoft.com/office/drawing/2014/main" id="{E401CF50-7ED4-E6A1-4F40-048F35EC4155}"/>
              </a:ext>
            </a:extLst>
          </p:cNvPr>
          <p:cNvSpPr txBox="1"/>
          <p:nvPr/>
        </p:nvSpPr>
        <p:spPr>
          <a:xfrm>
            <a:off x="623888" y="1660634"/>
            <a:ext cx="4729654" cy="31393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200" b="1" dirty="0">
                <a:solidFill>
                  <a:srgbClr val="374151"/>
                </a:solidFill>
                <a:ea typeface="Söhne"/>
                <a:cs typeface="Calibri"/>
              </a:rPr>
              <a:t>Architecture and Components</a:t>
            </a:r>
            <a:r>
              <a:rPr lang="en-US" sz="2200" dirty="0">
                <a:solidFill>
                  <a:srgbClr val="374151"/>
                </a:solidFill>
                <a:ea typeface="Söhne"/>
                <a:cs typeface="Calibri"/>
              </a:rPr>
              <a:t>:</a:t>
            </a:r>
            <a:endParaRPr lang="en-US" dirty="0"/>
          </a:p>
          <a:p>
            <a:endParaRPr lang="en-US" sz="2200" dirty="0">
              <a:solidFill>
                <a:srgbClr val="374151"/>
              </a:solidFill>
              <a:ea typeface="Söhne"/>
              <a:cs typeface="Calibri"/>
            </a:endParaRPr>
          </a:p>
          <a:p>
            <a:pPr marL="800100" lvl="1" indent="-342900">
              <a:buFont typeface="Arial"/>
              <a:buChar char="•"/>
            </a:pPr>
            <a:r>
              <a:rPr lang="en-US" sz="2200" dirty="0">
                <a:solidFill>
                  <a:srgbClr val="374151"/>
                </a:solidFill>
                <a:ea typeface="Söhne"/>
                <a:cs typeface="Calibri"/>
              </a:rPr>
              <a:t>Recurrent Layers: Maintain hidden states for sequential context.</a:t>
            </a:r>
          </a:p>
          <a:p>
            <a:pPr marL="800100" lvl="1" indent="-342900">
              <a:buFont typeface="Arial"/>
              <a:buChar char="•"/>
            </a:pPr>
            <a:r>
              <a:rPr lang="en-US" sz="2200" dirty="0">
                <a:solidFill>
                  <a:srgbClr val="374151"/>
                </a:solidFill>
                <a:ea typeface="Söhne"/>
                <a:cs typeface="Calibri"/>
              </a:rPr>
              <a:t>Input Sequences: Process data sequentially.</a:t>
            </a:r>
          </a:p>
          <a:p>
            <a:pPr marL="800100" lvl="1" indent="-342900">
              <a:buFont typeface="Arial"/>
              <a:buChar char="•"/>
            </a:pPr>
            <a:r>
              <a:rPr lang="en-US" sz="2200" dirty="0">
                <a:solidFill>
                  <a:srgbClr val="374151"/>
                </a:solidFill>
                <a:ea typeface="Söhne"/>
                <a:cs typeface="Calibri"/>
              </a:rPr>
              <a:t>Output Sequences: Can generate sequences as output.</a:t>
            </a:r>
            <a:endParaRPr lang="en-US" sz="2200" dirty="0">
              <a:cs typeface="Calibri"/>
            </a:endParaRPr>
          </a:p>
        </p:txBody>
      </p:sp>
      <p:pic>
        <p:nvPicPr>
          <p:cNvPr id="3" name="Picture 2" descr="Simple Explanation of Recurrent Neural Network (RNN) | by Omar Boufeloussen  | The Startup | Medium">
            <a:extLst>
              <a:ext uri="{FF2B5EF4-FFF2-40B4-BE49-F238E27FC236}">
                <a16:creationId xmlns:a16="http://schemas.microsoft.com/office/drawing/2014/main" id="{859F936D-35A7-99EE-54AA-048CDB32E52C}"/>
              </a:ext>
            </a:extLst>
          </p:cNvPr>
          <p:cNvPicPr>
            <a:picLocks noChangeAspect="1"/>
          </p:cNvPicPr>
          <p:nvPr/>
        </p:nvPicPr>
        <p:blipFill rotWithShape="1">
          <a:blip r:embed="rId2"/>
          <a:srcRect l="6397" r="7036" b="-138"/>
          <a:stretch/>
        </p:blipFill>
        <p:spPr>
          <a:xfrm>
            <a:off x="6006517" y="1489713"/>
            <a:ext cx="4697603" cy="3188901"/>
          </a:xfrm>
          <a:prstGeom prst="rect">
            <a:avLst/>
          </a:prstGeom>
        </p:spPr>
      </p:pic>
    </p:spTree>
    <p:extLst>
      <p:ext uri="{BB962C8B-B14F-4D97-AF65-F5344CB8AC3E}">
        <p14:creationId xmlns:p14="http://schemas.microsoft.com/office/powerpoint/2010/main" val="30686611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401CF50-7ED4-E6A1-4F40-048F35EC4155}"/>
              </a:ext>
            </a:extLst>
          </p:cNvPr>
          <p:cNvSpPr txBox="1"/>
          <p:nvPr/>
        </p:nvSpPr>
        <p:spPr>
          <a:xfrm>
            <a:off x="580865" y="1698722"/>
            <a:ext cx="10620702" cy="38164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200" b="1" dirty="0">
                <a:solidFill>
                  <a:srgbClr val="374151"/>
                </a:solidFill>
                <a:ea typeface="Söhne"/>
                <a:cs typeface="Söhne"/>
              </a:rPr>
              <a:t>Use Cases in Sequential Data Analysis</a:t>
            </a:r>
            <a:r>
              <a:rPr lang="en-US" sz="2200" dirty="0">
                <a:solidFill>
                  <a:srgbClr val="374151"/>
                </a:solidFill>
                <a:ea typeface="Söhne"/>
                <a:cs typeface="Söhne"/>
              </a:rPr>
              <a:t>: </a:t>
            </a:r>
            <a:endParaRPr lang="en-US" dirty="0">
              <a:cs typeface="Calibri" panose="020F0502020204030204"/>
            </a:endParaRPr>
          </a:p>
          <a:p>
            <a:endParaRPr lang="en-US" sz="2200" dirty="0">
              <a:solidFill>
                <a:srgbClr val="374151"/>
              </a:solidFill>
              <a:ea typeface="Söhne"/>
              <a:cs typeface="Söhne"/>
            </a:endParaRPr>
          </a:p>
          <a:p>
            <a:pPr marL="914400" lvl="1" indent="-457200">
              <a:buAutoNum type="arabicPeriod"/>
            </a:pPr>
            <a:r>
              <a:rPr lang="en-US" sz="2200" dirty="0">
                <a:solidFill>
                  <a:srgbClr val="374151"/>
                </a:solidFill>
                <a:ea typeface="Söhne"/>
                <a:cs typeface="Söhne"/>
              </a:rPr>
              <a:t>NLP (Text analysis)</a:t>
            </a:r>
          </a:p>
          <a:p>
            <a:pPr marL="914400" lvl="1" indent="-457200">
              <a:buAutoNum type="arabicPeriod"/>
            </a:pPr>
            <a:r>
              <a:rPr lang="en-US" sz="2200" dirty="0">
                <a:solidFill>
                  <a:srgbClr val="374151"/>
                </a:solidFill>
                <a:ea typeface="Söhne"/>
                <a:cs typeface="Söhne"/>
              </a:rPr>
              <a:t>Time Series Forecasting</a:t>
            </a:r>
          </a:p>
          <a:p>
            <a:pPr marL="914400" lvl="1" indent="-457200">
              <a:buAutoNum type="arabicPeriod"/>
            </a:pPr>
            <a:r>
              <a:rPr lang="en-US" sz="2200" dirty="0">
                <a:solidFill>
                  <a:srgbClr val="374151"/>
                </a:solidFill>
                <a:ea typeface="Söhne"/>
                <a:cs typeface="Söhne"/>
              </a:rPr>
              <a:t>Speech Recognition</a:t>
            </a:r>
          </a:p>
          <a:p>
            <a:pPr marL="914400" lvl="1" indent="-457200">
              <a:buAutoNum type="arabicPeriod"/>
            </a:pPr>
            <a:r>
              <a:rPr lang="en-US" sz="2200" dirty="0">
                <a:solidFill>
                  <a:srgbClr val="374151"/>
                </a:solidFill>
                <a:ea typeface="Söhne"/>
                <a:cs typeface="Söhne"/>
              </a:rPr>
              <a:t>Handwriting Recognition</a:t>
            </a:r>
          </a:p>
          <a:p>
            <a:pPr marL="914400" lvl="1" indent="-457200">
              <a:buAutoNum type="arabicPeriod"/>
            </a:pPr>
            <a:r>
              <a:rPr lang="en-US" sz="2200" dirty="0">
                <a:solidFill>
                  <a:srgbClr val="374151"/>
                </a:solidFill>
                <a:ea typeface="Söhne"/>
                <a:cs typeface="Söhne"/>
              </a:rPr>
              <a:t>Video Analysis</a:t>
            </a:r>
          </a:p>
          <a:p>
            <a:pPr marL="914400" lvl="1" indent="-457200">
              <a:buAutoNum type="arabicPeriod"/>
            </a:pPr>
            <a:r>
              <a:rPr lang="en-US" sz="2200" dirty="0">
                <a:solidFill>
                  <a:srgbClr val="374151"/>
                </a:solidFill>
                <a:ea typeface="Söhne"/>
                <a:cs typeface="Söhne"/>
              </a:rPr>
              <a:t>Music Generation</a:t>
            </a:r>
          </a:p>
          <a:p>
            <a:pPr marL="914400" lvl="1" indent="-457200">
              <a:buAutoNum type="arabicPeriod"/>
            </a:pPr>
            <a:r>
              <a:rPr lang="en-US" sz="2200" dirty="0">
                <a:solidFill>
                  <a:srgbClr val="374151"/>
                </a:solidFill>
                <a:ea typeface="Söhne"/>
                <a:cs typeface="Söhne"/>
              </a:rPr>
              <a:t>Autonomous Systems</a:t>
            </a:r>
          </a:p>
          <a:p>
            <a:pPr marL="914400" lvl="1" indent="-457200">
              <a:buAutoNum type="arabicPeriod"/>
            </a:pPr>
            <a:endParaRPr lang="en-US" sz="2200" dirty="0">
              <a:solidFill>
                <a:srgbClr val="374151"/>
              </a:solidFill>
              <a:ea typeface="Söhne"/>
              <a:cs typeface="Söhne"/>
            </a:endParaRPr>
          </a:p>
          <a:p>
            <a:r>
              <a:rPr lang="en-US" sz="2200" dirty="0">
                <a:solidFill>
                  <a:srgbClr val="374151"/>
                </a:solidFill>
                <a:ea typeface="Söhne"/>
                <a:cs typeface="Söhne"/>
              </a:rPr>
              <a:t>RNNs are crucial for tasks involving temporal relationships and dependencies in data.</a:t>
            </a:r>
            <a:endParaRPr lang="en-US" sz="2200" dirty="0">
              <a:cs typeface="Calibri"/>
            </a:endParaRPr>
          </a:p>
        </p:txBody>
      </p:sp>
      <p:sp>
        <p:nvSpPr>
          <p:cNvPr id="3" name="object 2">
            <a:extLst>
              <a:ext uri="{FF2B5EF4-FFF2-40B4-BE49-F238E27FC236}">
                <a16:creationId xmlns:a16="http://schemas.microsoft.com/office/drawing/2014/main" id="{AA36AB23-2EB1-3625-B000-8C139A5DD1F7}"/>
              </a:ext>
            </a:extLst>
          </p:cNvPr>
          <p:cNvSpPr txBox="1">
            <a:spLocks/>
          </p:cNvSpPr>
          <p:nvPr/>
        </p:nvSpPr>
        <p:spPr>
          <a:xfrm>
            <a:off x="658224" y="722372"/>
            <a:ext cx="9245276"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b="1" spc="-30" dirty="0" err="1">
                <a:solidFill>
                  <a:schemeClr val="accent1">
                    <a:lumMod val="50000"/>
                  </a:schemeClr>
                </a:solidFill>
                <a:latin typeface="+mn-lt"/>
                <a:cs typeface="Times New Roman"/>
              </a:rPr>
              <a:t>Cont</a:t>
            </a:r>
            <a:r>
              <a:rPr lang="en-IN" b="1" spc="-30" dirty="0">
                <a:solidFill>
                  <a:schemeClr val="accent1">
                    <a:lumMod val="50000"/>
                  </a:schemeClr>
                </a:solidFill>
                <a:latin typeface="+mn-lt"/>
                <a:cs typeface="Times New Roman"/>
              </a:rPr>
              <a:t>…</a:t>
            </a:r>
            <a:endParaRPr lang="en-US" b="1" spc="-30" dirty="0">
              <a:solidFill>
                <a:schemeClr val="accent1">
                  <a:lumMod val="50000"/>
                </a:schemeClr>
              </a:solidFill>
              <a:latin typeface="+mn-lt"/>
              <a:cs typeface="Times New Roman"/>
            </a:endParaRPr>
          </a:p>
        </p:txBody>
      </p:sp>
    </p:spTree>
    <p:extLst>
      <p:ext uri="{BB962C8B-B14F-4D97-AF65-F5344CB8AC3E}">
        <p14:creationId xmlns:p14="http://schemas.microsoft.com/office/powerpoint/2010/main" val="259681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
            <a:extLst>
              <a:ext uri="{FF2B5EF4-FFF2-40B4-BE49-F238E27FC236}">
                <a16:creationId xmlns:a16="http://schemas.microsoft.com/office/drawing/2014/main" id="{2FDADD92-4E39-7713-520E-D88B1D53A255}"/>
              </a:ext>
            </a:extLst>
          </p:cNvPr>
          <p:cNvSpPr txBox="1">
            <a:spLocks/>
          </p:cNvSpPr>
          <p:nvPr/>
        </p:nvSpPr>
        <p:spPr>
          <a:xfrm>
            <a:off x="691763" y="782881"/>
            <a:ext cx="5067414"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b="1" spc="-30" dirty="0">
                <a:solidFill>
                  <a:schemeClr val="accent1">
                    <a:lumMod val="50000"/>
                  </a:schemeClr>
                </a:solidFill>
                <a:latin typeface="+mn-lt"/>
                <a:ea typeface="+mj-lt"/>
                <a:cs typeface="Times New Roman"/>
              </a:rPr>
              <a:t>Recurrent Neurons</a:t>
            </a:r>
            <a:endParaRPr lang="en-US" b="1" spc="-30" dirty="0">
              <a:solidFill>
                <a:schemeClr val="accent1">
                  <a:lumMod val="50000"/>
                </a:schemeClr>
              </a:solidFill>
              <a:latin typeface="+mn-lt"/>
              <a:ea typeface="+mj-lt"/>
              <a:cs typeface="Times New Roman"/>
            </a:endParaRPr>
          </a:p>
        </p:txBody>
      </p:sp>
      <p:sp>
        <p:nvSpPr>
          <p:cNvPr id="4" name="TextBox 3">
            <a:extLst>
              <a:ext uri="{FF2B5EF4-FFF2-40B4-BE49-F238E27FC236}">
                <a16:creationId xmlns:a16="http://schemas.microsoft.com/office/drawing/2014/main" id="{DC522827-19CE-F460-0B93-5C61A557CBA1}"/>
              </a:ext>
            </a:extLst>
          </p:cNvPr>
          <p:cNvSpPr txBox="1"/>
          <p:nvPr/>
        </p:nvSpPr>
        <p:spPr>
          <a:xfrm>
            <a:off x="623888" y="1510742"/>
            <a:ext cx="11035861" cy="462049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nSpc>
                <a:spcPct val="150000"/>
              </a:lnSpc>
              <a:buFont typeface="Arial" panose="020B0604020202020204" pitchFamily="34" charset="0"/>
              <a:buChar char="•"/>
            </a:pPr>
            <a:r>
              <a:rPr lang="en-US" sz="2200" b="1" dirty="0"/>
              <a:t>Architecture:</a:t>
            </a:r>
            <a:r>
              <a:rPr lang="en-US" sz="2200" dirty="0"/>
              <a:t> Recurrent neurons are part of RNNs with cyclic connections to maintain hidden states over time.</a:t>
            </a:r>
            <a:endParaRPr lang="en-US" dirty="0">
              <a:cs typeface="Calibri" panose="020F0502020204030204"/>
            </a:endParaRPr>
          </a:p>
          <a:p>
            <a:pPr marL="342900" indent="-342900">
              <a:lnSpc>
                <a:spcPct val="150000"/>
              </a:lnSpc>
              <a:buFont typeface="Arial" panose="020B0604020202020204" pitchFamily="34" charset="0"/>
              <a:buChar char="•"/>
            </a:pPr>
            <a:r>
              <a:rPr lang="en-US" sz="2200" b="1" dirty="0"/>
              <a:t>Hidden State:</a:t>
            </a:r>
            <a:r>
              <a:rPr lang="en-US" sz="2200" dirty="0"/>
              <a:t> Represents memory and context, updated using an activation function applied to input and previous hidden state.</a:t>
            </a:r>
          </a:p>
          <a:p>
            <a:pPr marL="342900" indent="-342900">
              <a:lnSpc>
                <a:spcPct val="150000"/>
              </a:lnSpc>
              <a:buFont typeface="Arial" panose="020B0604020202020204" pitchFamily="34" charset="0"/>
              <a:buChar char="•"/>
            </a:pPr>
            <a:r>
              <a:rPr lang="en-US" sz="2200" b="1" dirty="0"/>
              <a:t>Forward Pass:</a:t>
            </a:r>
            <a:r>
              <a:rPr lang="en-US" sz="2200" dirty="0"/>
              <a:t> In the forward pass, they process input, update the hidden state, and produce an output.</a:t>
            </a:r>
          </a:p>
          <a:p>
            <a:pPr marL="342900" indent="-342900">
              <a:lnSpc>
                <a:spcPct val="150000"/>
              </a:lnSpc>
              <a:buFont typeface="Arial" panose="020B0604020202020204" pitchFamily="34" charset="0"/>
              <a:buChar char="•"/>
            </a:pPr>
            <a:r>
              <a:rPr lang="en-US" sz="2200" b="1" dirty="0"/>
              <a:t>Backward Pass:</a:t>
            </a:r>
            <a:r>
              <a:rPr lang="en-US" sz="2200" dirty="0"/>
              <a:t> During training, gradients are computed for weight updates.</a:t>
            </a:r>
          </a:p>
          <a:p>
            <a:pPr marL="342900" indent="-342900">
              <a:lnSpc>
                <a:spcPct val="150000"/>
              </a:lnSpc>
              <a:buFont typeface="Arial" panose="020B0604020202020204" pitchFamily="34" charset="0"/>
              <a:buChar char="•"/>
            </a:pPr>
            <a:r>
              <a:rPr lang="en-US" sz="2200" b="1" dirty="0"/>
              <a:t>Vanishing and Exploding Gradients:</a:t>
            </a:r>
            <a:r>
              <a:rPr lang="en-US" sz="2200" dirty="0"/>
              <a:t> RNNs can face vanishing (small gradients) and exploding (large gradients) gradient issues, impacting long-term dependencies.</a:t>
            </a:r>
          </a:p>
        </p:txBody>
      </p:sp>
    </p:spTree>
    <p:extLst>
      <p:ext uri="{BB962C8B-B14F-4D97-AF65-F5344CB8AC3E}">
        <p14:creationId xmlns:p14="http://schemas.microsoft.com/office/powerpoint/2010/main" val="1008625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
            <a:extLst>
              <a:ext uri="{FF2B5EF4-FFF2-40B4-BE49-F238E27FC236}">
                <a16:creationId xmlns:a16="http://schemas.microsoft.com/office/drawing/2014/main" id="{2FDADD92-4E39-7713-520E-D88B1D53A255}"/>
              </a:ext>
            </a:extLst>
          </p:cNvPr>
          <p:cNvSpPr txBox="1">
            <a:spLocks/>
          </p:cNvSpPr>
          <p:nvPr/>
        </p:nvSpPr>
        <p:spPr>
          <a:xfrm>
            <a:off x="660858" y="743254"/>
            <a:ext cx="7332393" cy="638573"/>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b="1" spc="-30" dirty="0">
                <a:solidFill>
                  <a:schemeClr val="accent1">
                    <a:lumMod val="50000"/>
                  </a:schemeClr>
                </a:solidFill>
                <a:latin typeface="+mn-lt"/>
                <a:cs typeface="Times New Roman"/>
              </a:rPr>
              <a:t>Vanishing Gradient Problem</a:t>
            </a:r>
            <a:endParaRPr lang="en-US" dirty="0">
              <a:latin typeface="+mn-lt"/>
            </a:endParaRPr>
          </a:p>
        </p:txBody>
      </p:sp>
      <p:sp>
        <p:nvSpPr>
          <p:cNvPr id="5" name="TextBox 4">
            <a:extLst>
              <a:ext uri="{FF2B5EF4-FFF2-40B4-BE49-F238E27FC236}">
                <a16:creationId xmlns:a16="http://schemas.microsoft.com/office/drawing/2014/main" id="{80BCBC76-971A-CFB2-AB28-A6003F490F09}"/>
              </a:ext>
            </a:extLst>
          </p:cNvPr>
          <p:cNvSpPr txBox="1"/>
          <p:nvPr/>
        </p:nvSpPr>
        <p:spPr>
          <a:xfrm>
            <a:off x="562304" y="1544423"/>
            <a:ext cx="11067392" cy="373794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nSpc>
                <a:spcPct val="150000"/>
              </a:lnSpc>
              <a:buFont typeface="Arial"/>
              <a:buChar char="•"/>
            </a:pPr>
            <a:r>
              <a:rPr lang="en-US" sz="2000" dirty="0">
                <a:solidFill>
                  <a:srgbClr val="374151"/>
                </a:solidFill>
              </a:rPr>
              <a:t>Gradients become very small during backpropagation in deep networks, especially in RNNs.</a:t>
            </a:r>
            <a:endParaRPr lang="en-US" sz="1600" dirty="0">
              <a:cs typeface="Calibri" panose="020F0502020204030204"/>
            </a:endParaRPr>
          </a:p>
          <a:p>
            <a:pPr>
              <a:lnSpc>
                <a:spcPct val="150000"/>
              </a:lnSpc>
            </a:pPr>
            <a:r>
              <a:rPr lang="en-US" sz="2000" b="1" dirty="0">
                <a:solidFill>
                  <a:srgbClr val="374151"/>
                </a:solidFill>
              </a:rPr>
              <a:t>Implications:</a:t>
            </a:r>
            <a:r>
              <a:rPr lang="en-US" sz="2000" dirty="0">
                <a:solidFill>
                  <a:srgbClr val="374151"/>
                </a:solidFill>
              </a:rPr>
              <a:t> It hampers RNNs' ability to capture long-term dependencies, limiting their performance.</a:t>
            </a:r>
          </a:p>
          <a:p>
            <a:pPr>
              <a:lnSpc>
                <a:spcPct val="150000"/>
              </a:lnSpc>
            </a:pPr>
            <a:endParaRPr lang="en-US" sz="2000" dirty="0">
              <a:solidFill>
                <a:srgbClr val="374151"/>
              </a:solidFill>
            </a:endParaRPr>
          </a:p>
          <a:p>
            <a:pPr>
              <a:lnSpc>
                <a:spcPct val="150000"/>
              </a:lnSpc>
            </a:pPr>
            <a:r>
              <a:rPr lang="en-US" sz="2000" b="1" dirty="0">
                <a:solidFill>
                  <a:srgbClr val="374151"/>
                </a:solidFill>
              </a:rPr>
              <a:t>Solutions: LSTM and GRU</a:t>
            </a:r>
          </a:p>
          <a:p>
            <a:pPr marL="800100" lvl="1" indent="-342900">
              <a:lnSpc>
                <a:spcPct val="150000"/>
              </a:lnSpc>
              <a:buFont typeface="Arial"/>
              <a:buChar char="•"/>
            </a:pPr>
            <a:r>
              <a:rPr lang="en-US" sz="2000" b="1" dirty="0">
                <a:solidFill>
                  <a:srgbClr val="374151"/>
                </a:solidFill>
              </a:rPr>
              <a:t>LSTM (Long Short-Term Memory):</a:t>
            </a:r>
            <a:r>
              <a:rPr lang="en-US" sz="2000" dirty="0">
                <a:solidFill>
                  <a:srgbClr val="374151"/>
                </a:solidFill>
              </a:rPr>
              <a:t> Uses specialized gates to mitigate vanishing gradients and handle long sequences effectively.</a:t>
            </a:r>
          </a:p>
          <a:p>
            <a:pPr marL="800100" lvl="1" indent="-342900">
              <a:lnSpc>
                <a:spcPct val="150000"/>
              </a:lnSpc>
              <a:buFont typeface="Arial"/>
              <a:buChar char="•"/>
            </a:pPr>
            <a:r>
              <a:rPr lang="en-US" sz="2000" b="1" dirty="0">
                <a:solidFill>
                  <a:srgbClr val="374151"/>
                </a:solidFill>
              </a:rPr>
              <a:t>GRU (Gated Recurrent Unit):</a:t>
            </a:r>
            <a:r>
              <a:rPr lang="en-US" sz="2000" dirty="0">
                <a:solidFill>
                  <a:srgbClr val="374151"/>
                </a:solidFill>
              </a:rPr>
              <a:t> A more compact architecture with reset and update gates, addressing the vanishing gradient problem in a simpler way.</a:t>
            </a:r>
          </a:p>
        </p:txBody>
      </p:sp>
    </p:spTree>
    <p:extLst>
      <p:ext uri="{BB962C8B-B14F-4D97-AF65-F5344CB8AC3E}">
        <p14:creationId xmlns:p14="http://schemas.microsoft.com/office/powerpoint/2010/main" val="28373378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
            <a:extLst>
              <a:ext uri="{FF2B5EF4-FFF2-40B4-BE49-F238E27FC236}">
                <a16:creationId xmlns:a16="http://schemas.microsoft.com/office/drawing/2014/main" id="{2FDADD92-4E39-7713-520E-D88B1D53A255}"/>
              </a:ext>
            </a:extLst>
          </p:cNvPr>
          <p:cNvSpPr txBox="1">
            <a:spLocks/>
          </p:cNvSpPr>
          <p:nvPr/>
        </p:nvSpPr>
        <p:spPr>
          <a:xfrm>
            <a:off x="658881" y="765238"/>
            <a:ext cx="9050833" cy="638573"/>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b="1" spc="-30" dirty="0">
                <a:solidFill>
                  <a:schemeClr val="accent1">
                    <a:lumMod val="50000"/>
                  </a:schemeClr>
                </a:solidFill>
                <a:latin typeface="+mn-lt"/>
                <a:cs typeface="Times New Roman"/>
              </a:rPr>
              <a:t>LSTM (Long Short-Term Memory)</a:t>
            </a:r>
            <a:endParaRPr lang="en-US" dirty="0">
              <a:solidFill>
                <a:schemeClr val="accent1">
                  <a:lumMod val="50000"/>
                </a:schemeClr>
              </a:solidFill>
              <a:latin typeface="+mn-lt"/>
            </a:endParaRPr>
          </a:p>
        </p:txBody>
      </p:sp>
      <p:sp>
        <p:nvSpPr>
          <p:cNvPr id="5" name="TextBox 4">
            <a:extLst>
              <a:ext uri="{FF2B5EF4-FFF2-40B4-BE49-F238E27FC236}">
                <a16:creationId xmlns:a16="http://schemas.microsoft.com/office/drawing/2014/main" id="{80BCBC76-971A-CFB2-AB28-A6003F490F09}"/>
              </a:ext>
            </a:extLst>
          </p:cNvPr>
          <p:cNvSpPr txBox="1"/>
          <p:nvPr/>
        </p:nvSpPr>
        <p:spPr>
          <a:xfrm>
            <a:off x="623888" y="1628775"/>
            <a:ext cx="11067392" cy="419961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nSpc>
                <a:spcPct val="150000"/>
              </a:lnSpc>
              <a:buFont typeface="Arial" panose="020B0604020202020204" pitchFamily="34" charset="0"/>
              <a:buChar char="•"/>
            </a:pPr>
            <a:r>
              <a:rPr lang="en-US" sz="2000" dirty="0">
                <a:solidFill>
                  <a:srgbClr val="374151"/>
                </a:solidFill>
                <a:ea typeface="+mn-lt"/>
                <a:cs typeface="+mn-lt"/>
              </a:rPr>
              <a:t>LSTM is an RNN architecture for handling long sequences and mitigating vanishing gradient problems.</a:t>
            </a:r>
            <a:endParaRPr lang="en-US" sz="2000" dirty="0"/>
          </a:p>
          <a:p>
            <a:pPr marL="342900" indent="-342900">
              <a:lnSpc>
                <a:spcPct val="150000"/>
              </a:lnSpc>
              <a:buFont typeface="Arial" panose="020B0604020202020204" pitchFamily="34" charset="0"/>
              <a:buChar char="•"/>
            </a:pPr>
            <a:endParaRPr lang="en-US" sz="2000" dirty="0">
              <a:solidFill>
                <a:srgbClr val="374151"/>
              </a:solidFill>
              <a:ea typeface="+mn-lt"/>
              <a:cs typeface="+mn-lt"/>
            </a:endParaRPr>
          </a:p>
          <a:p>
            <a:pPr marL="342900" indent="-342900">
              <a:lnSpc>
                <a:spcPct val="150000"/>
              </a:lnSpc>
              <a:buFont typeface="Arial" panose="020B0604020202020204" pitchFamily="34" charset="0"/>
              <a:buChar char="•"/>
            </a:pPr>
            <a:r>
              <a:rPr lang="en-US" sz="2000" b="1" dirty="0">
                <a:solidFill>
                  <a:srgbClr val="374151"/>
                </a:solidFill>
                <a:ea typeface="+mn-lt"/>
                <a:cs typeface="+mn-lt"/>
              </a:rPr>
              <a:t>Long-Term and Short-Term Memory Cells:</a:t>
            </a:r>
            <a:r>
              <a:rPr lang="en-US" sz="2000" dirty="0">
                <a:solidFill>
                  <a:srgbClr val="374151"/>
                </a:solidFill>
                <a:ea typeface="+mn-lt"/>
                <a:cs typeface="+mn-lt"/>
              </a:rPr>
              <a:t> LSTMs have long-term (c) and short-term (h) memory cells for retaining and managing information.</a:t>
            </a:r>
            <a:endParaRPr lang="en-US" sz="2000" dirty="0"/>
          </a:p>
          <a:p>
            <a:pPr marL="342900" indent="-342900">
              <a:lnSpc>
                <a:spcPct val="150000"/>
              </a:lnSpc>
              <a:buFont typeface="Arial" panose="020B0604020202020204" pitchFamily="34" charset="0"/>
              <a:buChar char="•"/>
            </a:pPr>
            <a:endParaRPr lang="en-US" sz="2000" dirty="0">
              <a:solidFill>
                <a:srgbClr val="374151"/>
              </a:solidFill>
              <a:ea typeface="+mn-lt"/>
              <a:cs typeface="+mn-lt"/>
            </a:endParaRPr>
          </a:p>
          <a:p>
            <a:pPr marL="342900" indent="-342900">
              <a:lnSpc>
                <a:spcPct val="150000"/>
              </a:lnSpc>
              <a:buFont typeface="Arial" panose="020B0604020202020204" pitchFamily="34" charset="0"/>
              <a:buChar char="•"/>
            </a:pPr>
            <a:r>
              <a:rPr lang="en-US" sz="2000" b="1" dirty="0">
                <a:solidFill>
                  <a:srgbClr val="374151"/>
                </a:solidFill>
                <a:ea typeface="+mn-lt"/>
                <a:cs typeface="+mn-lt"/>
              </a:rPr>
              <a:t>Gate Mechanisms:</a:t>
            </a:r>
            <a:r>
              <a:rPr lang="en-US" sz="2000" dirty="0">
                <a:solidFill>
                  <a:srgbClr val="374151"/>
                </a:solidFill>
                <a:ea typeface="+mn-lt"/>
                <a:cs typeface="+mn-lt"/>
              </a:rPr>
              <a:t> LSTMs use three gate mechanisms:</a:t>
            </a:r>
            <a:endParaRPr lang="en-US" sz="2000" dirty="0"/>
          </a:p>
          <a:p>
            <a:pPr marL="800100" lvl="1" indent="-342900">
              <a:lnSpc>
                <a:spcPct val="150000"/>
              </a:lnSpc>
              <a:buFont typeface="Arial" panose="020B0604020202020204" pitchFamily="34" charset="0"/>
              <a:buChar char="•"/>
            </a:pPr>
            <a:r>
              <a:rPr lang="en-US" sz="2000" b="1" dirty="0">
                <a:solidFill>
                  <a:srgbClr val="374151"/>
                </a:solidFill>
                <a:ea typeface="+mn-lt"/>
                <a:cs typeface="+mn-lt"/>
              </a:rPr>
              <a:t>Forget Gate:</a:t>
            </a:r>
            <a:r>
              <a:rPr lang="en-US" sz="2000" dirty="0">
                <a:solidFill>
                  <a:srgbClr val="374151"/>
                </a:solidFill>
                <a:ea typeface="+mn-lt"/>
                <a:cs typeface="+mn-lt"/>
              </a:rPr>
              <a:t> Decides what to forget from long-term memory.</a:t>
            </a:r>
            <a:endParaRPr lang="en-US" sz="2000" dirty="0"/>
          </a:p>
          <a:p>
            <a:pPr marL="800100" lvl="1" indent="-342900">
              <a:lnSpc>
                <a:spcPct val="150000"/>
              </a:lnSpc>
              <a:buFont typeface="Arial" panose="020B0604020202020204" pitchFamily="34" charset="0"/>
              <a:buChar char="•"/>
            </a:pPr>
            <a:r>
              <a:rPr lang="en-US" sz="2000" b="1" dirty="0">
                <a:solidFill>
                  <a:srgbClr val="374151"/>
                </a:solidFill>
                <a:ea typeface="+mn-lt"/>
                <a:cs typeface="+mn-lt"/>
              </a:rPr>
              <a:t>Input Gate:</a:t>
            </a:r>
            <a:r>
              <a:rPr lang="en-US" sz="2000" dirty="0">
                <a:solidFill>
                  <a:srgbClr val="374151"/>
                </a:solidFill>
                <a:ea typeface="+mn-lt"/>
                <a:cs typeface="+mn-lt"/>
              </a:rPr>
              <a:t> Determines what to store in long-term memory.</a:t>
            </a:r>
            <a:endParaRPr lang="en-US" sz="2000" dirty="0"/>
          </a:p>
          <a:p>
            <a:pPr marL="800100" lvl="1" indent="-342900">
              <a:lnSpc>
                <a:spcPct val="150000"/>
              </a:lnSpc>
              <a:buFont typeface="Arial" panose="020B0604020202020204" pitchFamily="34" charset="0"/>
              <a:buChar char="•"/>
            </a:pPr>
            <a:r>
              <a:rPr lang="en-US" sz="2000" b="1" dirty="0">
                <a:solidFill>
                  <a:srgbClr val="374151"/>
                </a:solidFill>
                <a:ea typeface="+mn-lt"/>
                <a:cs typeface="+mn-lt"/>
              </a:rPr>
              <a:t>Output Gate:</a:t>
            </a:r>
            <a:r>
              <a:rPr lang="en-US" sz="2000" dirty="0">
                <a:solidFill>
                  <a:srgbClr val="374151"/>
                </a:solidFill>
                <a:ea typeface="+mn-lt"/>
                <a:cs typeface="+mn-lt"/>
              </a:rPr>
              <a:t> Regulates information for short-term memory and output.</a:t>
            </a:r>
            <a:endParaRPr lang="en-US" sz="2000" dirty="0"/>
          </a:p>
        </p:txBody>
      </p:sp>
    </p:spTree>
    <p:extLst>
      <p:ext uri="{BB962C8B-B14F-4D97-AF65-F5344CB8AC3E}">
        <p14:creationId xmlns:p14="http://schemas.microsoft.com/office/powerpoint/2010/main" val="19128533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0BCBC76-971A-CFB2-AB28-A6003F490F09}"/>
              </a:ext>
            </a:extLst>
          </p:cNvPr>
          <p:cNvSpPr txBox="1"/>
          <p:nvPr/>
        </p:nvSpPr>
        <p:spPr>
          <a:xfrm>
            <a:off x="623888" y="1566138"/>
            <a:ext cx="11067392" cy="359470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nSpc>
                <a:spcPct val="150000"/>
              </a:lnSpc>
              <a:buFont typeface="Arial" panose="020B0604020202020204" pitchFamily="34" charset="0"/>
              <a:buChar char="•"/>
            </a:pPr>
            <a:r>
              <a:rPr lang="en-US" sz="2200" b="1" dirty="0">
                <a:solidFill>
                  <a:srgbClr val="374151"/>
                </a:solidFill>
                <a:ea typeface="+mn-lt"/>
                <a:cs typeface="+mn-lt"/>
              </a:rPr>
              <a:t>Update and Reset Gates:</a:t>
            </a:r>
            <a:r>
              <a:rPr lang="en-US" sz="2200" dirty="0">
                <a:solidFill>
                  <a:srgbClr val="374151"/>
                </a:solidFill>
                <a:ea typeface="+mn-lt"/>
                <a:cs typeface="+mn-lt"/>
              </a:rPr>
              <a:t> </a:t>
            </a:r>
            <a:endParaRPr lang="en-US" sz="2200" dirty="0">
              <a:solidFill>
                <a:srgbClr val="000000"/>
              </a:solidFill>
              <a:ea typeface="+mn-lt"/>
              <a:cs typeface="+mn-lt"/>
            </a:endParaRPr>
          </a:p>
          <a:p>
            <a:pPr marL="800100" lvl="1" indent="-342900">
              <a:lnSpc>
                <a:spcPct val="150000"/>
              </a:lnSpc>
              <a:buFont typeface="Arial" panose="020B0604020202020204" pitchFamily="34" charset="0"/>
              <a:buChar char="•"/>
            </a:pPr>
            <a:r>
              <a:rPr lang="en-US" sz="2200" b="1" dirty="0">
                <a:solidFill>
                  <a:srgbClr val="374151"/>
                </a:solidFill>
                <a:ea typeface="+mn-lt"/>
                <a:cs typeface="+mn-lt"/>
              </a:rPr>
              <a:t>Update Gate:</a:t>
            </a:r>
            <a:r>
              <a:rPr lang="en-US" sz="2200" dirty="0">
                <a:solidFill>
                  <a:srgbClr val="374151"/>
                </a:solidFill>
                <a:ea typeface="+mn-lt"/>
                <a:cs typeface="+mn-lt"/>
              </a:rPr>
              <a:t> Controls how much current short-term memory is added to long-term memory.</a:t>
            </a:r>
            <a:endParaRPr lang="en-US" sz="2200" dirty="0">
              <a:ea typeface="+mn-lt"/>
              <a:cs typeface="+mn-lt"/>
            </a:endParaRPr>
          </a:p>
          <a:p>
            <a:pPr marL="800100" lvl="1" indent="-342900">
              <a:lnSpc>
                <a:spcPct val="150000"/>
              </a:lnSpc>
              <a:buFont typeface="Arial" panose="020B0604020202020204" pitchFamily="34" charset="0"/>
              <a:buChar char="•"/>
            </a:pPr>
            <a:r>
              <a:rPr lang="en-US" sz="2200" b="1" dirty="0">
                <a:solidFill>
                  <a:srgbClr val="374151"/>
                </a:solidFill>
                <a:ea typeface="+mn-lt"/>
                <a:cs typeface="+mn-lt"/>
              </a:rPr>
              <a:t>Reset Gate:</a:t>
            </a:r>
            <a:r>
              <a:rPr lang="en-US" sz="2200" dirty="0">
                <a:solidFill>
                  <a:srgbClr val="374151"/>
                </a:solidFill>
                <a:ea typeface="+mn-lt"/>
                <a:cs typeface="+mn-lt"/>
              </a:rPr>
              <a:t> Decides how much of the previous long-term memory to forget.</a:t>
            </a:r>
            <a:endParaRPr lang="en-US" sz="2200" dirty="0">
              <a:ea typeface="+mn-lt"/>
              <a:cs typeface="+mn-lt"/>
            </a:endParaRPr>
          </a:p>
          <a:p>
            <a:pPr marL="800100" lvl="1" indent="-342900">
              <a:lnSpc>
                <a:spcPct val="150000"/>
              </a:lnSpc>
              <a:buFont typeface="Arial" panose="020B0604020202020204" pitchFamily="34" charset="0"/>
              <a:buChar char="•"/>
            </a:pPr>
            <a:endParaRPr lang="en-US" sz="2200" dirty="0">
              <a:solidFill>
                <a:srgbClr val="374151"/>
              </a:solidFill>
              <a:ea typeface="+mn-lt"/>
              <a:cs typeface="+mn-lt"/>
            </a:endParaRPr>
          </a:p>
          <a:p>
            <a:pPr marL="342900" indent="-342900">
              <a:lnSpc>
                <a:spcPct val="150000"/>
              </a:lnSpc>
              <a:buFont typeface="Arial" panose="020B0604020202020204" pitchFamily="34" charset="0"/>
              <a:buChar char="•"/>
            </a:pPr>
            <a:r>
              <a:rPr lang="en-US" sz="2200" b="1" dirty="0">
                <a:solidFill>
                  <a:srgbClr val="374151"/>
                </a:solidFill>
                <a:ea typeface="+mn-lt"/>
                <a:cs typeface="+mn-lt"/>
              </a:rPr>
              <a:t>Equations and Pictorial Representation:</a:t>
            </a:r>
            <a:r>
              <a:rPr lang="en-US" sz="2200" dirty="0">
                <a:solidFill>
                  <a:srgbClr val="374151"/>
                </a:solidFill>
                <a:ea typeface="+mn-lt"/>
                <a:cs typeface="+mn-lt"/>
              </a:rPr>
              <a:t> LSTMs are defined by equations describing information flow, and diagrams illustrate gate and memory cell interactions.</a:t>
            </a:r>
            <a:endParaRPr lang="en-US" sz="2200" dirty="0">
              <a:ea typeface="+mn-lt"/>
              <a:cs typeface="+mn-lt"/>
            </a:endParaRPr>
          </a:p>
        </p:txBody>
      </p:sp>
      <p:sp>
        <p:nvSpPr>
          <p:cNvPr id="2" name="object 2">
            <a:extLst>
              <a:ext uri="{FF2B5EF4-FFF2-40B4-BE49-F238E27FC236}">
                <a16:creationId xmlns:a16="http://schemas.microsoft.com/office/drawing/2014/main" id="{F3749370-1F99-08F7-73A7-ADFAFE32462D}"/>
              </a:ext>
            </a:extLst>
          </p:cNvPr>
          <p:cNvSpPr txBox="1">
            <a:spLocks/>
          </p:cNvSpPr>
          <p:nvPr/>
        </p:nvSpPr>
        <p:spPr>
          <a:xfrm>
            <a:off x="658224" y="722372"/>
            <a:ext cx="9245276"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b="1" spc="-30" dirty="0" err="1">
                <a:solidFill>
                  <a:schemeClr val="accent1">
                    <a:lumMod val="50000"/>
                  </a:schemeClr>
                </a:solidFill>
                <a:latin typeface="+mn-lt"/>
                <a:cs typeface="Times New Roman"/>
              </a:rPr>
              <a:t>Cont</a:t>
            </a:r>
            <a:r>
              <a:rPr lang="en-IN" b="1" spc="-30" dirty="0">
                <a:solidFill>
                  <a:schemeClr val="accent1">
                    <a:lumMod val="50000"/>
                  </a:schemeClr>
                </a:solidFill>
                <a:latin typeface="+mn-lt"/>
                <a:cs typeface="Times New Roman"/>
              </a:rPr>
              <a:t>…</a:t>
            </a:r>
            <a:endParaRPr lang="en-US" b="1" spc="-30" dirty="0">
              <a:solidFill>
                <a:schemeClr val="accent1">
                  <a:lumMod val="50000"/>
                </a:schemeClr>
              </a:solidFill>
              <a:latin typeface="+mn-lt"/>
              <a:cs typeface="Times New Roman"/>
            </a:endParaRPr>
          </a:p>
        </p:txBody>
      </p:sp>
    </p:spTree>
    <p:extLst>
      <p:ext uri="{BB962C8B-B14F-4D97-AF65-F5344CB8AC3E}">
        <p14:creationId xmlns:p14="http://schemas.microsoft.com/office/powerpoint/2010/main" val="15721086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Machines 10 01226 g001">
            <a:extLst>
              <a:ext uri="{FF2B5EF4-FFF2-40B4-BE49-F238E27FC236}">
                <a16:creationId xmlns:a16="http://schemas.microsoft.com/office/drawing/2014/main" id="{1DDE5A78-40BD-A886-BA34-5713E15998E7}"/>
              </a:ext>
            </a:extLst>
          </p:cNvPr>
          <p:cNvPicPr>
            <a:picLocks noChangeAspect="1"/>
          </p:cNvPicPr>
          <p:nvPr/>
        </p:nvPicPr>
        <p:blipFill>
          <a:blip r:embed="rId2"/>
          <a:stretch>
            <a:fillRect/>
          </a:stretch>
        </p:blipFill>
        <p:spPr>
          <a:xfrm>
            <a:off x="1793294" y="1686219"/>
            <a:ext cx="8671067" cy="4090202"/>
          </a:xfrm>
          <a:prstGeom prst="rect">
            <a:avLst/>
          </a:prstGeom>
        </p:spPr>
      </p:pic>
      <p:sp>
        <p:nvSpPr>
          <p:cNvPr id="4" name="object 2">
            <a:extLst>
              <a:ext uri="{FF2B5EF4-FFF2-40B4-BE49-F238E27FC236}">
                <a16:creationId xmlns:a16="http://schemas.microsoft.com/office/drawing/2014/main" id="{961BA37D-BF57-BFD0-4093-006D47AEE308}"/>
              </a:ext>
            </a:extLst>
          </p:cNvPr>
          <p:cNvSpPr txBox="1">
            <a:spLocks/>
          </p:cNvSpPr>
          <p:nvPr/>
        </p:nvSpPr>
        <p:spPr>
          <a:xfrm>
            <a:off x="658224" y="722372"/>
            <a:ext cx="9245276"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b="1" spc="-30" dirty="0" err="1">
                <a:solidFill>
                  <a:schemeClr val="accent1">
                    <a:lumMod val="50000"/>
                  </a:schemeClr>
                </a:solidFill>
                <a:latin typeface="+mn-lt"/>
                <a:cs typeface="Times New Roman"/>
              </a:rPr>
              <a:t>Cont</a:t>
            </a:r>
            <a:r>
              <a:rPr lang="en-IN" b="1" spc="-30" dirty="0">
                <a:solidFill>
                  <a:schemeClr val="accent1">
                    <a:lumMod val="50000"/>
                  </a:schemeClr>
                </a:solidFill>
                <a:latin typeface="+mn-lt"/>
                <a:cs typeface="Times New Roman"/>
              </a:rPr>
              <a:t>…</a:t>
            </a:r>
            <a:endParaRPr lang="en-US" b="1" spc="-30" dirty="0">
              <a:solidFill>
                <a:schemeClr val="accent1">
                  <a:lumMod val="50000"/>
                </a:schemeClr>
              </a:solidFill>
              <a:latin typeface="+mn-lt"/>
              <a:cs typeface="Times New Roman"/>
            </a:endParaRPr>
          </a:p>
        </p:txBody>
      </p:sp>
    </p:spTree>
    <p:extLst>
      <p:ext uri="{BB962C8B-B14F-4D97-AF65-F5344CB8AC3E}">
        <p14:creationId xmlns:p14="http://schemas.microsoft.com/office/powerpoint/2010/main" val="13334895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C79E09F-8698-4A02-FE42-4700AF6171DE}"/>
              </a:ext>
            </a:extLst>
          </p:cNvPr>
          <p:cNvSpPr txBox="1"/>
          <p:nvPr/>
        </p:nvSpPr>
        <p:spPr>
          <a:xfrm>
            <a:off x="623888" y="1705087"/>
            <a:ext cx="11067392" cy="415498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200" b="1" dirty="0">
                <a:ea typeface="+mn-lt"/>
                <a:cs typeface="+mn-lt"/>
              </a:rPr>
              <a:t>Role of Activation Functions:</a:t>
            </a:r>
            <a:endParaRPr lang="en-US" sz="2200" b="1" dirty="0"/>
          </a:p>
          <a:p>
            <a:pPr marL="800100" lvl="1" indent="-342900">
              <a:buFont typeface="Arial" panose="020B0604020202020204" pitchFamily="34" charset="0"/>
              <a:buChar char="•"/>
            </a:pPr>
            <a:r>
              <a:rPr lang="en-US" sz="2200" dirty="0">
                <a:solidFill>
                  <a:srgbClr val="374151"/>
                </a:solidFill>
                <a:ea typeface="+mn-lt"/>
                <a:cs typeface="+mn-lt"/>
              </a:rPr>
              <a:t>Activation functions (e.g., sigmoid and tanh) are used in gates to control the amount of information passed.</a:t>
            </a:r>
            <a:endParaRPr lang="en-US" sz="2200" dirty="0"/>
          </a:p>
          <a:p>
            <a:pPr marL="800100" lvl="1" indent="-342900">
              <a:buFont typeface="Arial" panose="020B0604020202020204" pitchFamily="34" charset="0"/>
              <a:buChar char="•"/>
            </a:pPr>
            <a:r>
              <a:rPr lang="en-US" sz="2200" dirty="0">
                <a:solidFill>
                  <a:srgbClr val="374151"/>
                </a:solidFill>
                <a:ea typeface="+mn-lt"/>
                <a:cs typeface="+mn-lt"/>
              </a:rPr>
              <a:t>They introduce non-linearity, enabling the network to capture complex patterns.</a:t>
            </a:r>
            <a:endParaRPr lang="en-US" sz="2200" dirty="0"/>
          </a:p>
          <a:p>
            <a:pPr marL="342900" indent="-342900">
              <a:buFont typeface="Arial" panose="020B0604020202020204" pitchFamily="34" charset="0"/>
              <a:buChar char="•"/>
            </a:pPr>
            <a:endParaRPr lang="en-US" sz="2200" b="1" dirty="0"/>
          </a:p>
          <a:p>
            <a:r>
              <a:rPr lang="en-US" sz="2200" b="1" dirty="0"/>
              <a:t>Comparison with Traditional RNNs:</a:t>
            </a:r>
            <a:endParaRPr lang="en-US" sz="2200" dirty="0"/>
          </a:p>
          <a:p>
            <a:pPr marL="800100" lvl="2" indent="-342900">
              <a:buFont typeface="Arial" panose="020B0604020202020204" pitchFamily="34" charset="0"/>
              <a:buChar char="•"/>
            </a:pPr>
            <a:r>
              <a:rPr lang="en-US" sz="2200" dirty="0"/>
              <a:t>LSTMs mitigate vanishing gradients and capture long-range dependencies.</a:t>
            </a:r>
          </a:p>
          <a:p>
            <a:pPr marL="800100" lvl="2" indent="-342900">
              <a:buFont typeface="Arial" panose="020B0604020202020204" pitchFamily="34" charset="0"/>
              <a:buChar char="•"/>
            </a:pPr>
            <a:r>
              <a:rPr lang="en-US" sz="2200" dirty="0"/>
              <a:t>Traditional RNNs lack these capabilities.</a:t>
            </a:r>
            <a:endParaRPr lang="en-US" dirty="0">
              <a:cs typeface="Calibri" panose="020F0502020204030204"/>
            </a:endParaRPr>
          </a:p>
          <a:p>
            <a:pPr marL="342900" lvl="1" indent="-342900">
              <a:buFont typeface="Arial" panose="020B0604020202020204" pitchFamily="34" charset="0"/>
              <a:buChar char="•"/>
            </a:pPr>
            <a:endParaRPr lang="en-US" sz="2200" dirty="0"/>
          </a:p>
          <a:p>
            <a:r>
              <a:rPr lang="en-US" sz="2200" b="1" dirty="0"/>
              <a:t>Use Cases for LSTMs:</a:t>
            </a:r>
          </a:p>
          <a:p>
            <a:pPr marL="800100" lvl="2" indent="-342900">
              <a:buFont typeface="Arial" panose="020B0604020202020204" pitchFamily="34" charset="0"/>
              <a:buChar char="•"/>
            </a:pPr>
            <a:r>
              <a:rPr lang="en-US" sz="2200" dirty="0"/>
              <a:t>Natural Language Processing, Speech Recognition, Time Series Analysis, Video Analysis, among others.</a:t>
            </a:r>
          </a:p>
        </p:txBody>
      </p:sp>
      <p:sp>
        <p:nvSpPr>
          <p:cNvPr id="2" name="object 2">
            <a:extLst>
              <a:ext uri="{FF2B5EF4-FFF2-40B4-BE49-F238E27FC236}">
                <a16:creationId xmlns:a16="http://schemas.microsoft.com/office/drawing/2014/main" id="{93361114-388E-BCA0-D739-742B72A5BB37}"/>
              </a:ext>
            </a:extLst>
          </p:cNvPr>
          <p:cNvSpPr txBox="1">
            <a:spLocks/>
          </p:cNvSpPr>
          <p:nvPr/>
        </p:nvSpPr>
        <p:spPr>
          <a:xfrm>
            <a:off x="658224" y="722372"/>
            <a:ext cx="9245276"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b="1" spc="-30" dirty="0" err="1">
                <a:solidFill>
                  <a:schemeClr val="accent1">
                    <a:lumMod val="50000"/>
                  </a:schemeClr>
                </a:solidFill>
                <a:latin typeface="+mn-lt"/>
                <a:cs typeface="Times New Roman"/>
              </a:rPr>
              <a:t>Cont</a:t>
            </a:r>
            <a:r>
              <a:rPr lang="en-IN" b="1" spc="-30" dirty="0">
                <a:solidFill>
                  <a:schemeClr val="accent1">
                    <a:lumMod val="50000"/>
                  </a:schemeClr>
                </a:solidFill>
                <a:latin typeface="+mn-lt"/>
                <a:cs typeface="Times New Roman"/>
              </a:rPr>
              <a:t>…</a:t>
            </a:r>
            <a:endParaRPr lang="en-US" b="1" spc="-30" dirty="0">
              <a:solidFill>
                <a:schemeClr val="accent1">
                  <a:lumMod val="50000"/>
                </a:schemeClr>
              </a:solidFill>
              <a:latin typeface="+mn-lt"/>
              <a:cs typeface="Times New Roman"/>
            </a:endParaRPr>
          </a:p>
        </p:txBody>
      </p:sp>
    </p:spTree>
    <p:extLst>
      <p:ext uri="{BB962C8B-B14F-4D97-AF65-F5344CB8AC3E}">
        <p14:creationId xmlns:p14="http://schemas.microsoft.com/office/powerpoint/2010/main" val="18114131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
            <a:extLst>
              <a:ext uri="{FF2B5EF4-FFF2-40B4-BE49-F238E27FC236}">
                <a16:creationId xmlns:a16="http://schemas.microsoft.com/office/drawing/2014/main" id="{2FDADD92-4E39-7713-520E-D88B1D53A255}"/>
              </a:ext>
            </a:extLst>
          </p:cNvPr>
          <p:cNvSpPr txBox="1">
            <a:spLocks/>
          </p:cNvSpPr>
          <p:nvPr/>
        </p:nvSpPr>
        <p:spPr>
          <a:xfrm>
            <a:off x="623888" y="738292"/>
            <a:ext cx="9050833" cy="638573"/>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b="1" spc="-30" dirty="0">
                <a:solidFill>
                  <a:schemeClr val="accent1">
                    <a:lumMod val="50000"/>
                  </a:schemeClr>
                </a:solidFill>
                <a:latin typeface="+mn-lt"/>
                <a:cs typeface="Times New Roman"/>
              </a:rPr>
              <a:t>GRU(Gated Recurrent Unit)</a:t>
            </a:r>
            <a:endParaRPr lang="en-US" dirty="0">
              <a:solidFill>
                <a:schemeClr val="accent1">
                  <a:lumMod val="50000"/>
                </a:schemeClr>
              </a:solidFill>
              <a:latin typeface="+mn-lt"/>
              <a:ea typeface="Calibri Light" panose="020F0302020204030204"/>
              <a:cs typeface="Calibri Light" panose="020F0302020204030204"/>
            </a:endParaRPr>
          </a:p>
        </p:txBody>
      </p:sp>
      <p:sp>
        <p:nvSpPr>
          <p:cNvPr id="2" name="TextBox 1">
            <a:extLst>
              <a:ext uri="{FF2B5EF4-FFF2-40B4-BE49-F238E27FC236}">
                <a16:creationId xmlns:a16="http://schemas.microsoft.com/office/drawing/2014/main" id="{F7017FD2-25A0-9400-E6ED-C4426A0FA9C5}"/>
              </a:ext>
            </a:extLst>
          </p:cNvPr>
          <p:cNvSpPr txBox="1"/>
          <p:nvPr/>
        </p:nvSpPr>
        <p:spPr>
          <a:xfrm>
            <a:off x="623888" y="1529910"/>
            <a:ext cx="11177153" cy="419961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nSpc>
                <a:spcPct val="150000"/>
              </a:lnSpc>
              <a:buFont typeface="Arial" panose="020B0604020202020204" pitchFamily="34" charset="0"/>
              <a:buChar char="•"/>
            </a:pPr>
            <a:r>
              <a:rPr lang="en-US" sz="2000" dirty="0">
                <a:solidFill>
                  <a:srgbClr val="374151"/>
                </a:solidFill>
              </a:rPr>
              <a:t>GRUs are a variation of RNNs &amp; known for handling sequential data effectively.</a:t>
            </a:r>
            <a:endParaRPr lang="en-US" sz="2000" dirty="0">
              <a:solidFill>
                <a:srgbClr val="000000"/>
              </a:solidFill>
              <a:ea typeface="Calibri" panose="020F0502020204030204"/>
              <a:cs typeface="Calibri" panose="020F0502020204030204"/>
            </a:endParaRPr>
          </a:p>
          <a:p>
            <a:pPr marL="342900" indent="-342900">
              <a:lnSpc>
                <a:spcPct val="150000"/>
              </a:lnSpc>
              <a:buFont typeface="Arial" panose="020B0604020202020204" pitchFamily="34" charset="0"/>
              <a:buChar char="•"/>
            </a:pPr>
            <a:r>
              <a:rPr lang="en-US" sz="2000" dirty="0">
                <a:solidFill>
                  <a:srgbClr val="374151"/>
                </a:solidFill>
                <a:ea typeface="+mn-lt"/>
                <a:cs typeface="+mn-lt"/>
              </a:rPr>
              <a:t>A GRU unit is similar in structure to a long short-term memory (LSTM) cell, another type of RNN cell.</a:t>
            </a:r>
            <a:endParaRPr lang="en-US" sz="2000" dirty="0"/>
          </a:p>
          <a:p>
            <a:pPr marL="342900" indent="-342900">
              <a:lnSpc>
                <a:spcPct val="150000"/>
              </a:lnSpc>
              <a:buFont typeface="Arial" panose="020B0604020202020204" pitchFamily="34" charset="0"/>
              <a:buChar char="•"/>
            </a:pPr>
            <a:r>
              <a:rPr lang="en-US" sz="2000" dirty="0">
                <a:solidFill>
                  <a:srgbClr val="374151"/>
                </a:solidFill>
                <a:ea typeface="+mn-lt"/>
                <a:cs typeface="+mn-lt"/>
              </a:rPr>
              <a:t>GRUs consist of several gates and an internal state that helps the network maintain and update information over time.</a:t>
            </a:r>
            <a:endParaRPr lang="en-US" sz="2000" dirty="0"/>
          </a:p>
          <a:p>
            <a:pPr marL="342900" indent="-342900">
              <a:lnSpc>
                <a:spcPct val="150000"/>
              </a:lnSpc>
              <a:buFont typeface="Arial" panose="020B0604020202020204" pitchFamily="34" charset="0"/>
              <a:buChar char="•"/>
            </a:pPr>
            <a:endParaRPr lang="en-US" sz="2000" dirty="0">
              <a:solidFill>
                <a:srgbClr val="374151"/>
              </a:solidFill>
              <a:ea typeface="Calibri"/>
              <a:cs typeface="Calibri"/>
            </a:endParaRPr>
          </a:p>
          <a:p>
            <a:pPr>
              <a:lnSpc>
                <a:spcPct val="150000"/>
              </a:lnSpc>
            </a:pPr>
            <a:r>
              <a:rPr lang="en-US" sz="2000" b="1" dirty="0">
                <a:solidFill>
                  <a:srgbClr val="374151"/>
                </a:solidFill>
              </a:rPr>
              <a:t>Gates:</a:t>
            </a:r>
          </a:p>
          <a:p>
            <a:pPr marL="342900" indent="-342900">
              <a:lnSpc>
                <a:spcPct val="150000"/>
              </a:lnSpc>
              <a:buFont typeface="Arial" panose="020B0604020202020204" pitchFamily="34" charset="0"/>
              <a:buChar char="•"/>
            </a:pPr>
            <a:r>
              <a:rPr lang="en-US" sz="2000" b="1" dirty="0">
                <a:solidFill>
                  <a:srgbClr val="374151"/>
                </a:solidFill>
                <a:ea typeface="+mn-lt"/>
                <a:cs typeface="+mn-lt"/>
              </a:rPr>
              <a:t>Update Gate (z)</a:t>
            </a:r>
            <a:r>
              <a:rPr lang="en-US" sz="2000" dirty="0">
                <a:solidFill>
                  <a:srgbClr val="374151"/>
                </a:solidFill>
                <a:ea typeface="+mn-lt"/>
                <a:cs typeface="+mn-lt"/>
              </a:rPr>
              <a:t>: Manages what to keep from the previous state.</a:t>
            </a:r>
            <a:endParaRPr lang="en-US" sz="2000" dirty="0"/>
          </a:p>
          <a:p>
            <a:pPr marL="342900" indent="-342900">
              <a:lnSpc>
                <a:spcPct val="150000"/>
              </a:lnSpc>
              <a:buFont typeface="Arial" panose="020B0604020202020204" pitchFamily="34" charset="0"/>
              <a:buChar char="•"/>
            </a:pPr>
            <a:r>
              <a:rPr lang="en-US" sz="2000" b="1" dirty="0">
                <a:solidFill>
                  <a:srgbClr val="374151"/>
                </a:solidFill>
                <a:ea typeface="+mn-lt"/>
                <a:cs typeface="+mn-lt"/>
              </a:rPr>
              <a:t>Reset Gate (r)</a:t>
            </a:r>
            <a:r>
              <a:rPr lang="en-US" sz="2000" dirty="0">
                <a:solidFill>
                  <a:srgbClr val="374151"/>
                </a:solidFill>
                <a:ea typeface="+mn-lt"/>
                <a:cs typeface="+mn-lt"/>
              </a:rPr>
              <a:t>: Handles what to forget from the current state.</a:t>
            </a:r>
            <a:endParaRPr lang="en-US" sz="2000" dirty="0"/>
          </a:p>
          <a:p>
            <a:pPr marL="342900" indent="-342900">
              <a:lnSpc>
                <a:spcPct val="150000"/>
              </a:lnSpc>
              <a:buFont typeface="Arial" panose="020B0604020202020204" pitchFamily="34" charset="0"/>
              <a:buChar char="•"/>
            </a:pPr>
            <a:r>
              <a:rPr lang="en-US" sz="2000" b="1" dirty="0">
                <a:solidFill>
                  <a:srgbClr val="374151"/>
                </a:solidFill>
                <a:ea typeface="+mn-lt"/>
                <a:cs typeface="+mn-lt"/>
              </a:rPr>
              <a:t>New Memory Content</a:t>
            </a:r>
            <a:r>
              <a:rPr lang="en-US" sz="2000" dirty="0">
                <a:solidFill>
                  <a:srgbClr val="374151"/>
                </a:solidFill>
                <a:ea typeface="+mn-lt"/>
                <a:cs typeface="+mn-lt"/>
              </a:rPr>
              <a:t>: Contains information to be incorporated into the memory.</a:t>
            </a:r>
            <a:endParaRPr lang="en-US" sz="2000" dirty="0"/>
          </a:p>
        </p:txBody>
      </p:sp>
    </p:spTree>
    <p:extLst>
      <p:ext uri="{BB962C8B-B14F-4D97-AF65-F5344CB8AC3E}">
        <p14:creationId xmlns:p14="http://schemas.microsoft.com/office/powerpoint/2010/main" val="8590459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7017FD2-25A0-9400-E6ED-C4426A0FA9C5}"/>
              </a:ext>
            </a:extLst>
          </p:cNvPr>
          <p:cNvSpPr txBox="1"/>
          <p:nvPr/>
        </p:nvSpPr>
        <p:spPr>
          <a:xfrm>
            <a:off x="666173" y="1645294"/>
            <a:ext cx="11177153" cy="327628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pPr>
            <a:r>
              <a:rPr lang="en-US" sz="2000" b="1" dirty="0">
                <a:solidFill>
                  <a:srgbClr val="374151"/>
                </a:solidFill>
              </a:rPr>
              <a:t>Operation</a:t>
            </a:r>
            <a:r>
              <a:rPr lang="en-US" sz="2000" b="1" dirty="0">
                <a:solidFill>
                  <a:srgbClr val="374151"/>
                </a:solidFill>
                <a:ea typeface="+mn-lt"/>
                <a:cs typeface="+mn-lt"/>
              </a:rPr>
              <a:t>:</a:t>
            </a:r>
            <a:endParaRPr lang="en-US" sz="2000" b="1" dirty="0">
              <a:solidFill>
                <a:srgbClr val="000000"/>
              </a:solidFill>
              <a:ea typeface="Calibri" panose="020F0502020204030204"/>
              <a:cs typeface="Calibri" panose="020F0502020204030204"/>
            </a:endParaRPr>
          </a:p>
          <a:p>
            <a:pPr marL="342900" indent="-342900">
              <a:lnSpc>
                <a:spcPct val="150000"/>
              </a:lnSpc>
              <a:buFont typeface="Arial" panose="020B0604020202020204" pitchFamily="34" charset="0"/>
              <a:buChar char="•"/>
            </a:pPr>
            <a:r>
              <a:rPr lang="en-US" sz="2000" dirty="0">
                <a:solidFill>
                  <a:srgbClr val="374151"/>
                </a:solidFill>
                <a:ea typeface="+mn-lt"/>
                <a:cs typeface="+mn-lt"/>
              </a:rPr>
              <a:t>At each time step, the GRU unit calculates these gates and updates its internal state and memory.</a:t>
            </a:r>
            <a:endParaRPr lang="en-US" sz="2000" dirty="0"/>
          </a:p>
          <a:p>
            <a:pPr marL="342900" indent="-342900">
              <a:lnSpc>
                <a:spcPct val="150000"/>
              </a:lnSpc>
              <a:buFont typeface="Arial" panose="020B0604020202020204" pitchFamily="34" charset="0"/>
              <a:buChar char="•"/>
            </a:pPr>
            <a:r>
              <a:rPr lang="en-US" sz="2000" dirty="0">
                <a:solidFill>
                  <a:srgbClr val="374151"/>
                </a:solidFill>
                <a:ea typeface="Calibri"/>
                <a:cs typeface="Calibri"/>
              </a:rPr>
              <a:t>The update gate </a:t>
            </a:r>
            <a:r>
              <a:rPr lang="en-US" sz="2000" dirty="0">
                <a:solidFill>
                  <a:srgbClr val="374151"/>
                </a:solidFill>
                <a:ea typeface="+mn-lt"/>
                <a:cs typeface="+mn-lt"/>
              </a:rPr>
              <a:t>(z) determines how much of the previous state to keep and how much of the new candidate state to add.</a:t>
            </a:r>
            <a:endParaRPr lang="en-US" sz="2000" dirty="0"/>
          </a:p>
          <a:p>
            <a:pPr marL="342900" indent="-342900">
              <a:lnSpc>
                <a:spcPct val="150000"/>
              </a:lnSpc>
              <a:buFont typeface="Arial" panose="020B0604020202020204" pitchFamily="34" charset="0"/>
              <a:buChar char="•"/>
            </a:pPr>
            <a:r>
              <a:rPr lang="en-US" sz="2000" dirty="0">
                <a:solidFill>
                  <a:srgbClr val="374151"/>
                </a:solidFill>
                <a:ea typeface="+mn-lt"/>
                <a:cs typeface="+mn-lt"/>
              </a:rPr>
              <a:t>The reset gate (r) decides which parts of the current state to forget.</a:t>
            </a:r>
            <a:endParaRPr lang="en-US" sz="2000" dirty="0"/>
          </a:p>
          <a:p>
            <a:pPr marL="342900" indent="-342900">
              <a:lnSpc>
                <a:spcPct val="150000"/>
              </a:lnSpc>
              <a:buFont typeface="Arial" panose="020B0604020202020204" pitchFamily="34" charset="0"/>
              <a:buChar char="•"/>
            </a:pPr>
            <a:r>
              <a:rPr lang="en-US" sz="2000" dirty="0">
                <a:solidFill>
                  <a:srgbClr val="374151"/>
                </a:solidFill>
                <a:ea typeface="+mn-lt"/>
                <a:cs typeface="+mn-lt"/>
              </a:rPr>
              <a:t>The new memory content is then combined with the previous state to form the updated state.</a:t>
            </a:r>
            <a:endParaRPr lang="en-US" sz="2000" dirty="0"/>
          </a:p>
          <a:p>
            <a:pPr marL="342900" indent="-342900">
              <a:lnSpc>
                <a:spcPct val="150000"/>
              </a:lnSpc>
              <a:buFont typeface="Arial" panose="020B0604020202020204" pitchFamily="34" charset="0"/>
              <a:buChar char="•"/>
            </a:pPr>
            <a:endParaRPr lang="en-US" sz="2000" dirty="0">
              <a:solidFill>
                <a:srgbClr val="374151"/>
              </a:solidFill>
            </a:endParaRPr>
          </a:p>
        </p:txBody>
      </p:sp>
      <p:sp>
        <p:nvSpPr>
          <p:cNvPr id="4" name="object 2">
            <a:extLst>
              <a:ext uri="{FF2B5EF4-FFF2-40B4-BE49-F238E27FC236}">
                <a16:creationId xmlns:a16="http://schemas.microsoft.com/office/drawing/2014/main" id="{F7F3F320-036D-B9A8-2FBD-356093B69526}"/>
              </a:ext>
            </a:extLst>
          </p:cNvPr>
          <p:cNvSpPr txBox="1">
            <a:spLocks/>
          </p:cNvSpPr>
          <p:nvPr/>
        </p:nvSpPr>
        <p:spPr>
          <a:xfrm>
            <a:off x="658224" y="722372"/>
            <a:ext cx="9245276"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b="1" spc="-30" dirty="0" err="1">
                <a:solidFill>
                  <a:schemeClr val="accent1">
                    <a:lumMod val="50000"/>
                  </a:schemeClr>
                </a:solidFill>
                <a:latin typeface="+mn-lt"/>
                <a:cs typeface="Times New Roman"/>
              </a:rPr>
              <a:t>Cont</a:t>
            </a:r>
            <a:r>
              <a:rPr lang="en-IN" b="1" spc="-30" dirty="0">
                <a:solidFill>
                  <a:schemeClr val="accent1">
                    <a:lumMod val="50000"/>
                  </a:schemeClr>
                </a:solidFill>
                <a:latin typeface="+mn-lt"/>
                <a:cs typeface="Times New Roman"/>
              </a:rPr>
              <a:t>…</a:t>
            </a:r>
            <a:endParaRPr lang="en-US" b="1" spc="-30" dirty="0">
              <a:solidFill>
                <a:schemeClr val="accent1">
                  <a:lumMod val="50000"/>
                </a:schemeClr>
              </a:solidFill>
              <a:latin typeface="+mn-lt"/>
              <a:cs typeface="Times New Roman"/>
            </a:endParaRPr>
          </a:p>
        </p:txBody>
      </p:sp>
    </p:spTree>
    <p:extLst>
      <p:ext uri="{BB962C8B-B14F-4D97-AF65-F5344CB8AC3E}">
        <p14:creationId xmlns:p14="http://schemas.microsoft.com/office/powerpoint/2010/main" val="29387638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Energies | Free Full-Text | An Improved Gated Recurrent Unit Network Model  for State-of-Charge Estimation of Lithium-Ion Battery">
            <a:extLst>
              <a:ext uri="{FF2B5EF4-FFF2-40B4-BE49-F238E27FC236}">
                <a16:creationId xmlns:a16="http://schemas.microsoft.com/office/drawing/2014/main" id="{BD33ADD0-38FA-E4D2-34E5-52CAD71FD992}"/>
              </a:ext>
            </a:extLst>
          </p:cNvPr>
          <p:cNvPicPr>
            <a:picLocks noChangeAspect="1"/>
          </p:cNvPicPr>
          <p:nvPr/>
        </p:nvPicPr>
        <p:blipFill>
          <a:blip r:embed="rId2"/>
          <a:stretch>
            <a:fillRect/>
          </a:stretch>
        </p:blipFill>
        <p:spPr>
          <a:xfrm>
            <a:off x="2297903" y="1763663"/>
            <a:ext cx="7268110" cy="3935315"/>
          </a:xfrm>
          <a:prstGeom prst="rect">
            <a:avLst/>
          </a:prstGeom>
        </p:spPr>
      </p:pic>
      <p:sp>
        <p:nvSpPr>
          <p:cNvPr id="2" name="object 2">
            <a:extLst>
              <a:ext uri="{FF2B5EF4-FFF2-40B4-BE49-F238E27FC236}">
                <a16:creationId xmlns:a16="http://schemas.microsoft.com/office/drawing/2014/main" id="{5C219E5E-FBF7-0521-EB54-85532BCE53EC}"/>
              </a:ext>
            </a:extLst>
          </p:cNvPr>
          <p:cNvSpPr txBox="1">
            <a:spLocks/>
          </p:cNvSpPr>
          <p:nvPr/>
        </p:nvSpPr>
        <p:spPr>
          <a:xfrm>
            <a:off x="658224" y="722372"/>
            <a:ext cx="9245276"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b="1" spc="-30" dirty="0" err="1">
                <a:solidFill>
                  <a:schemeClr val="accent1">
                    <a:lumMod val="50000"/>
                  </a:schemeClr>
                </a:solidFill>
                <a:latin typeface="+mn-lt"/>
                <a:cs typeface="Times New Roman"/>
              </a:rPr>
              <a:t>Cont</a:t>
            </a:r>
            <a:r>
              <a:rPr lang="en-IN" b="1" spc="-30" dirty="0">
                <a:solidFill>
                  <a:schemeClr val="accent1">
                    <a:lumMod val="50000"/>
                  </a:schemeClr>
                </a:solidFill>
                <a:latin typeface="+mn-lt"/>
                <a:cs typeface="Times New Roman"/>
              </a:rPr>
              <a:t>…</a:t>
            </a:r>
            <a:endParaRPr lang="en-US" b="1" spc="-30" dirty="0">
              <a:solidFill>
                <a:schemeClr val="accent1">
                  <a:lumMod val="50000"/>
                </a:schemeClr>
              </a:solidFill>
              <a:latin typeface="+mn-lt"/>
              <a:cs typeface="Times New Roman"/>
            </a:endParaRPr>
          </a:p>
        </p:txBody>
      </p:sp>
    </p:spTree>
    <p:extLst>
      <p:ext uri="{BB962C8B-B14F-4D97-AF65-F5344CB8AC3E}">
        <p14:creationId xmlns:p14="http://schemas.microsoft.com/office/powerpoint/2010/main" val="42728821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
            <a:extLst>
              <a:ext uri="{FF2B5EF4-FFF2-40B4-BE49-F238E27FC236}">
                <a16:creationId xmlns:a16="http://schemas.microsoft.com/office/drawing/2014/main" id="{2FDADD92-4E39-7713-520E-D88B1D53A255}"/>
              </a:ext>
            </a:extLst>
          </p:cNvPr>
          <p:cNvSpPr txBox="1">
            <a:spLocks/>
          </p:cNvSpPr>
          <p:nvPr/>
        </p:nvSpPr>
        <p:spPr>
          <a:xfrm>
            <a:off x="623888" y="692150"/>
            <a:ext cx="7920973"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b="1" spc="-30" dirty="0">
                <a:solidFill>
                  <a:schemeClr val="accent1">
                    <a:lumMod val="50000"/>
                  </a:schemeClr>
                </a:solidFill>
                <a:latin typeface="+mn-lt"/>
                <a:cs typeface="Times New Roman"/>
              </a:rPr>
              <a:t>Building and Training an RNN</a:t>
            </a:r>
            <a:endParaRPr lang="en-US" b="1" spc="-30" dirty="0">
              <a:solidFill>
                <a:schemeClr val="accent1">
                  <a:lumMod val="50000"/>
                </a:schemeClr>
              </a:solidFill>
              <a:latin typeface="+mn-lt"/>
              <a:cs typeface="Times New Roman"/>
            </a:endParaRPr>
          </a:p>
        </p:txBody>
      </p:sp>
      <p:sp>
        <p:nvSpPr>
          <p:cNvPr id="2" name="TextBox 1">
            <a:extLst>
              <a:ext uri="{FF2B5EF4-FFF2-40B4-BE49-F238E27FC236}">
                <a16:creationId xmlns:a16="http://schemas.microsoft.com/office/drawing/2014/main" id="{E401CF50-7ED4-E6A1-4F40-048F35EC4155}"/>
              </a:ext>
            </a:extLst>
          </p:cNvPr>
          <p:cNvSpPr txBox="1"/>
          <p:nvPr/>
        </p:nvSpPr>
        <p:spPr>
          <a:xfrm>
            <a:off x="623888" y="1555485"/>
            <a:ext cx="10620702" cy="419961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57200" indent="-457200">
              <a:lnSpc>
                <a:spcPct val="150000"/>
              </a:lnSpc>
              <a:buAutoNum type="arabicPeriod"/>
            </a:pPr>
            <a:r>
              <a:rPr lang="en-US" sz="2000" b="1" dirty="0">
                <a:solidFill>
                  <a:srgbClr val="374151"/>
                </a:solidFill>
                <a:ea typeface="Söhne"/>
                <a:cs typeface="Söhne"/>
              </a:rPr>
              <a:t>Data Preparation</a:t>
            </a:r>
            <a:r>
              <a:rPr lang="en-US" sz="2000" dirty="0">
                <a:solidFill>
                  <a:srgbClr val="374151"/>
                </a:solidFill>
                <a:ea typeface="Söhne"/>
                <a:cs typeface="Söhne"/>
              </a:rPr>
              <a:t>: Choose a sequential dataset, split into training and testing sets.</a:t>
            </a:r>
            <a:endParaRPr lang="en-US" sz="2000" dirty="0">
              <a:cs typeface="Calibri" panose="020F0502020204030204"/>
            </a:endParaRPr>
          </a:p>
          <a:p>
            <a:pPr marL="457200" indent="-457200">
              <a:lnSpc>
                <a:spcPct val="150000"/>
              </a:lnSpc>
              <a:buAutoNum type="arabicPeriod"/>
            </a:pPr>
            <a:r>
              <a:rPr lang="en-US" sz="2000" b="1" dirty="0">
                <a:solidFill>
                  <a:srgbClr val="374151"/>
                </a:solidFill>
                <a:ea typeface="Söhne"/>
                <a:cs typeface="Söhne"/>
              </a:rPr>
              <a:t>Model Architecture</a:t>
            </a:r>
            <a:r>
              <a:rPr lang="en-US" sz="2000" dirty="0">
                <a:solidFill>
                  <a:srgbClr val="374151"/>
                </a:solidFill>
                <a:ea typeface="Söhne"/>
                <a:cs typeface="Söhne"/>
              </a:rPr>
              <a:t>: Design RNN with recurrent layers and output layer.</a:t>
            </a:r>
          </a:p>
          <a:p>
            <a:pPr marL="457200" indent="-457200">
              <a:lnSpc>
                <a:spcPct val="150000"/>
              </a:lnSpc>
              <a:buAutoNum type="arabicPeriod"/>
            </a:pPr>
            <a:r>
              <a:rPr lang="en-US" sz="2000" b="1" dirty="0">
                <a:solidFill>
                  <a:srgbClr val="374151"/>
                </a:solidFill>
                <a:ea typeface="Söhne"/>
                <a:cs typeface="Söhne"/>
              </a:rPr>
              <a:t>Recurrent Layers</a:t>
            </a:r>
            <a:r>
              <a:rPr lang="en-US" sz="2000" dirty="0">
                <a:solidFill>
                  <a:srgbClr val="374151"/>
                </a:solidFill>
                <a:ea typeface="Söhne"/>
                <a:cs typeface="Söhne"/>
              </a:rPr>
              <a:t>: Capture sequential dependencies.</a:t>
            </a:r>
          </a:p>
          <a:p>
            <a:pPr marL="457200" indent="-457200">
              <a:lnSpc>
                <a:spcPct val="150000"/>
              </a:lnSpc>
              <a:buAutoNum type="arabicPeriod"/>
            </a:pPr>
            <a:r>
              <a:rPr lang="en-US" sz="2000" b="1" dirty="0">
                <a:solidFill>
                  <a:srgbClr val="374151"/>
                </a:solidFill>
                <a:ea typeface="Söhne"/>
                <a:cs typeface="Söhne"/>
              </a:rPr>
              <a:t>Input Sequences</a:t>
            </a:r>
            <a:r>
              <a:rPr lang="en-US" sz="2000" dirty="0">
                <a:solidFill>
                  <a:srgbClr val="374151"/>
                </a:solidFill>
                <a:ea typeface="Söhne"/>
                <a:cs typeface="Söhne"/>
              </a:rPr>
              <a:t>: Format input sequences.</a:t>
            </a:r>
          </a:p>
          <a:p>
            <a:pPr marL="457200" indent="-457200">
              <a:lnSpc>
                <a:spcPct val="150000"/>
              </a:lnSpc>
              <a:buAutoNum type="arabicPeriod"/>
            </a:pPr>
            <a:r>
              <a:rPr lang="en-US" sz="2000" b="1" dirty="0">
                <a:solidFill>
                  <a:srgbClr val="374151"/>
                </a:solidFill>
                <a:ea typeface="Söhne"/>
                <a:cs typeface="Söhne"/>
              </a:rPr>
              <a:t>Output Layer</a:t>
            </a:r>
            <a:r>
              <a:rPr lang="en-US" sz="2000" dirty="0">
                <a:solidFill>
                  <a:srgbClr val="374151"/>
                </a:solidFill>
                <a:ea typeface="Söhne"/>
                <a:cs typeface="Söhne"/>
              </a:rPr>
              <a:t>: Configure for regression or classification.</a:t>
            </a:r>
          </a:p>
          <a:p>
            <a:pPr marL="457200" indent="-457200">
              <a:lnSpc>
                <a:spcPct val="150000"/>
              </a:lnSpc>
              <a:buAutoNum type="arabicPeriod"/>
            </a:pPr>
            <a:r>
              <a:rPr lang="en-US" sz="2000" b="1" dirty="0">
                <a:solidFill>
                  <a:srgbClr val="374151"/>
                </a:solidFill>
                <a:ea typeface="Söhne"/>
                <a:cs typeface="Söhne"/>
              </a:rPr>
              <a:t>Compilation</a:t>
            </a:r>
            <a:r>
              <a:rPr lang="en-US" sz="2000" dirty="0">
                <a:solidFill>
                  <a:srgbClr val="374151"/>
                </a:solidFill>
                <a:ea typeface="Söhne"/>
                <a:cs typeface="Söhne"/>
              </a:rPr>
              <a:t>: Specify loss, optimizer, and metrics.</a:t>
            </a:r>
          </a:p>
          <a:p>
            <a:pPr marL="457200" indent="-457200">
              <a:lnSpc>
                <a:spcPct val="150000"/>
              </a:lnSpc>
              <a:buAutoNum type="arabicPeriod"/>
            </a:pPr>
            <a:r>
              <a:rPr lang="en-US" sz="2000" b="1" dirty="0">
                <a:solidFill>
                  <a:srgbClr val="374151"/>
                </a:solidFill>
                <a:ea typeface="Söhne"/>
                <a:cs typeface="Söhne"/>
              </a:rPr>
              <a:t>Training</a:t>
            </a:r>
            <a:r>
              <a:rPr lang="en-US" sz="2000" dirty="0">
                <a:solidFill>
                  <a:srgbClr val="374151"/>
                </a:solidFill>
                <a:ea typeface="Söhne"/>
                <a:cs typeface="Söhne"/>
              </a:rPr>
              <a:t>: Train using the fit method with epochs and batch size.</a:t>
            </a:r>
          </a:p>
          <a:p>
            <a:pPr marL="457200" indent="-457200">
              <a:lnSpc>
                <a:spcPct val="150000"/>
              </a:lnSpc>
              <a:buAutoNum type="arabicPeriod"/>
            </a:pPr>
            <a:r>
              <a:rPr lang="en-US" sz="2000" b="1" dirty="0">
                <a:solidFill>
                  <a:srgbClr val="374151"/>
                </a:solidFill>
                <a:ea typeface="Söhne"/>
                <a:cs typeface="Söhne"/>
              </a:rPr>
              <a:t>Evaluation</a:t>
            </a:r>
            <a:r>
              <a:rPr lang="en-US" sz="2000" dirty="0">
                <a:solidFill>
                  <a:srgbClr val="374151"/>
                </a:solidFill>
                <a:ea typeface="Söhne"/>
                <a:cs typeface="Söhne"/>
              </a:rPr>
              <a:t>: Assess performance on the test dataset.</a:t>
            </a:r>
          </a:p>
          <a:p>
            <a:pPr marL="457200" indent="-457200">
              <a:lnSpc>
                <a:spcPct val="150000"/>
              </a:lnSpc>
              <a:buAutoNum type="arabicPeriod"/>
            </a:pPr>
            <a:r>
              <a:rPr lang="en-US" sz="2000" b="1" dirty="0">
                <a:solidFill>
                  <a:srgbClr val="374151"/>
                </a:solidFill>
                <a:ea typeface="Söhne"/>
                <a:cs typeface="Söhne"/>
              </a:rPr>
              <a:t>Fine-Tuning</a:t>
            </a:r>
            <a:r>
              <a:rPr lang="en-US" sz="2000" dirty="0">
                <a:solidFill>
                  <a:srgbClr val="374151"/>
                </a:solidFill>
                <a:ea typeface="Söhne"/>
                <a:cs typeface="Söhne"/>
              </a:rPr>
              <a:t>: Optionally optimize hyperparameters and architecture.</a:t>
            </a:r>
            <a:endParaRPr lang="en-US" sz="2000" dirty="0">
              <a:cs typeface="Calibri"/>
            </a:endParaRPr>
          </a:p>
        </p:txBody>
      </p:sp>
    </p:spTree>
    <p:extLst>
      <p:ext uri="{BB962C8B-B14F-4D97-AF65-F5344CB8AC3E}">
        <p14:creationId xmlns:p14="http://schemas.microsoft.com/office/powerpoint/2010/main" val="12967710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
            <a:extLst>
              <a:ext uri="{FF2B5EF4-FFF2-40B4-BE49-F238E27FC236}">
                <a16:creationId xmlns:a16="http://schemas.microsoft.com/office/drawing/2014/main" id="{2FDADD92-4E39-7713-520E-D88B1D53A255}"/>
              </a:ext>
            </a:extLst>
          </p:cNvPr>
          <p:cNvSpPr txBox="1">
            <a:spLocks/>
          </p:cNvSpPr>
          <p:nvPr/>
        </p:nvSpPr>
        <p:spPr>
          <a:xfrm>
            <a:off x="629907" y="778594"/>
            <a:ext cx="10932185"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b="1" spc="-30" dirty="0">
                <a:solidFill>
                  <a:schemeClr val="accent1">
                    <a:lumMod val="50000"/>
                  </a:schemeClr>
                </a:solidFill>
                <a:latin typeface="+mn-lt"/>
                <a:cs typeface="Times New Roman"/>
              </a:rPr>
              <a:t>Overfitting and Regularization Techniques</a:t>
            </a:r>
            <a:endParaRPr lang="en-US" b="1" spc="-30" dirty="0">
              <a:solidFill>
                <a:schemeClr val="accent1">
                  <a:lumMod val="50000"/>
                </a:schemeClr>
              </a:solidFill>
              <a:latin typeface="+mn-lt"/>
              <a:cs typeface="Times New Roman"/>
            </a:endParaRPr>
          </a:p>
        </p:txBody>
      </p:sp>
      <p:sp>
        <p:nvSpPr>
          <p:cNvPr id="2" name="TextBox 1">
            <a:extLst>
              <a:ext uri="{FF2B5EF4-FFF2-40B4-BE49-F238E27FC236}">
                <a16:creationId xmlns:a16="http://schemas.microsoft.com/office/drawing/2014/main" id="{E401CF50-7ED4-E6A1-4F40-048F35EC4155}"/>
              </a:ext>
            </a:extLst>
          </p:cNvPr>
          <p:cNvSpPr txBox="1"/>
          <p:nvPr/>
        </p:nvSpPr>
        <p:spPr>
          <a:xfrm>
            <a:off x="581203" y="1572984"/>
            <a:ext cx="10442025" cy="466127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pPr>
            <a:r>
              <a:rPr lang="en-US" sz="2000" b="1" dirty="0">
                <a:solidFill>
                  <a:srgbClr val="374151"/>
                </a:solidFill>
                <a:ea typeface="Söhne"/>
                <a:cs typeface="Söhne"/>
              </a:rPr>
              <a:t>Understanding Overfitting</a:t>
            </a:r>
            <a:r>
              <a:rPr lang="en-US" sz="2000" dirty="0">
                <a:solidFill>
                  <a:srgbClr val="374151"/>
                </a:solidFill>
                <a:ea typeface="Söhne"/>
                <a:cs typeface="Söhne"/>
              </a:rPr>
              <a:t>:</a:t>
            </a:r>
            <a:endParaRPr lang="en-US" sz="2000" dirty="0">
              <a:cs typeface="Calibri" panose="020F0502020204030204"/>
            </a:endParaRPr>
          </a:p>
          <a:p>
            <a:pPr marL="914400" lvl="1" indent="-457200">
              <a:lnSpc>
                <a:spcPct val="150000"/>
              </a:lnSpc>
              <a:buFont typeface="Arial"/>
              <a:buChar char="•"/>
            </a:pPr>
            <a:r>
              <a:rPr lang="en-US" sz="2000" dirty="0">
                <a:solidFill>
                  <a:srgbClr val="374151"/>
                </a:solidFill>
                <a:ea typeface="Söhne"/>
                <a:cs typeface="Söhne"/>
              </a:rPr>
              <a:t>Model fits training data too closely, capturing noise.</a:t>
            </a:r>
          </a:p>
          <a:p>
            <a:pPr>
              <a:lnSpc>
                <a:spcPct val="150000"/>
              </a:lnSpc>
            </a:pPr>
            <a:r>
              <a:rPr lang="en-US" sz="2000" b="1" dirty="0">
                <a:solidFill>
                  <a:srgbClr val="374151"/>
                </a:solidFill>
                <a:ea typeface="+mn-lt"/>
                <a:cs typeface="Arial"/>
              </a:rPr>
              <a:t>Preventing Overfitting</a:t>
            </a:r>
            <a:r>
              <a:rPr lang="en-US" sz="2000" dirty="0">
                <a:solidFill>
                  <a:srgbClr val="374151"/>
                </a:solidFill>
                <a:ea typeface="+mn-lt"/>
                <a:cs typeface="Arial"/>
              </a:rPr>
              <a:t>:</a:t>
            </a:r>
          </a:p>
          <a:p>
            <a:pPr marL="914400" lvl="1" indent="-457200">
              <a:lnSpc>
                <a:spcPct val="150000"/>
              </a:lnSpc>
              <a:buAutoNum type="arabicPeriod"/>
            </a:pPr>
            <a:r>
              <a:rPr lang="en-US" sz="2000" b="1" dirty="0">
                <a:solidFill>
                  <a:srgbClr val="374151"/>
                </a:solidFill>
                <a:ea typeface="+mn-lt"/>
                <a:cs typeface="Arial"/>
              </a:rPr>
              <a:t>Validation Data</a:t>
            </a:r>
            <a:r>
              <a:rPr lang="en-US" sz="2000" dirty="0">
                <a:solidFill>
                  <a:srgbClr val="374151"/>
                </a:solidFill>
                <a:ea typeface="+mn-lt"/>
                <a:cs typeface="Arial"/>
              </a:rPr>
              <a:t>: Monitor performance on separate validation data.</a:t>
            </a:r>
          </a:p>
          <a:p>
            <a:pPr marL="914400" lvl="1" indent="-457200">
              <a:lnSpc>
                <a:spcPct val="150000"/>
              </a:lnSpc>
              <a:buAutoNum type="arabicPeriod"/>
            </a:pPr>
            <a:r>
              <a:rPr lang="en-US" sz="2000" b="1" dirty="0">
                <a:solidFill>
                  <a:srgbClr val="374151"/>
                </a:solidFill>
                <a:ea typeface="+mn-lt"/>
                <a:cs typeface="Arial"/>
              </a:rPr>
              <a:t>Early Stopping</a:t>
            </a:r>
            <a:r>
              <a:rPr lang="en-US" sz="2000" dirty="0">
                <a:solidFill>
                  <a:srgbClr val="374151"/>
                </a:solidFill>
                <a:ea typeface="+mn-lt"/>
                <a:cs typeface="Arial"/>
              </a:rPr>
              <a:t>: Halt training when validation performance declines.</a:t>
            </a:r>
          </a:p>
          <a:p>
            <a:pPr marL="914400" lvl="1" indent="-457200">
              <a:lnSpc>
                <a:spcPct val="150000"/>
              </a:lnSpc>
              <a:buAutoNum type="arabicPeriod"/>
            </a:pPr>
            <a:r>
              <a:rPr lang="en-US" sz="2000" b="1" dirty="0">
                <a:solidFill>
                  <a:srgbClr val="374151"/>
                </a:solidFill>
                <a:ea typeface="+mn-lt"/>
                <a:cs typeface="Arial"/>
              </a:rPr>
              <a:t>Regularization</a:t>
            </a:r>
            <a:r>
              <a:rPr lang="en-US" sz="2000" dirty="0">
                <a:solidFill>
                  <a:srgbClr val="374151"/>
                </a:solidFill>
                <a:ea typeface="+mn-lt"/>
                <a:cs typeface="Arial"/>
              </a:rPr>
              <a:t>: Add complexity penalties (L1, L2).</a:t>
            </a:r>
          </a:p>
          <a:p>
            <a:pPr marL="914400" lvl="1" indent="-457200">
              <a:lnSpc>
                <a:spcPct val="150000"/>
              </a:lnSpc>
              <a:buAutoNum type="arabicPeriod"/>
            </a:pPr>
            <a:r>
              <a:rPr lang="en-US" sz="2000" b="1" dirty="0">
                <a:solidFill>
                  <a:srgbClr val="374151"/>
                </a:solidFill>
                <a:ea typeface="+mn-lt"/>
                <a:cs typeface="Arial"/>
              </a:rPr>
              <a:t>Dropout</a:t>
            </a:r>
            <a:r>
              <a:rPr lang="en-US" sz="2000" dirty="0">
                <a:solidFill>
                  <a:srgbClr val="374151"/>
                </a:solidFill>
                <a:ea typeface="+mn-lt"/>
                <a:cs typeface="Arial"/>
              </a:rPr>
              <a:t>: Randomly deactivate neurons.</a:t>
            </a:r>
          </a:p>
          <a:p>
            <a:pPr marL="914400" lvl="1" indent="-457200">
              <a:lnSpc>
                <a:spcPct val="150000"/>
              </a:lnSpc>
              <a:buAutoNum type="arabicPeriod"/>
            </a:pPr>
            <a:r>
              <a:rPr lang="en-US" sz="2000" b="1" dirty="0">
                <a:solidFill>
                  <a:srgbClr val="374151"/>
                </a:solidFill>
                <a:ea typeface="+mn-lt"/>
                <a:cs typeface="Arial"/>
              </a:rPr>
              <a:t>Data Augmentation</a:t>
            </a:r>
            <a:r>
              <a:rPr lang="en-US" sz="2000" dirty="0">
                <a:solidFill>
                  <a:srgbClr val="374151"/>
                </a:solidFill>
                <a:ea typeface="+mn-lt"/>
                <a:cs typeface="Arial"/>
              </a:rPr>
              <a:t>: Increase training data.</a:t>
            </a:r>
          </a:p>
          <a:p>
            <a:pPr marL="914400" lvl="1" indent="-457200">
              <a:lnSpc>
                <a:spcPct val="150000"/>
              </a:lnSpc>
              <a:buAutoNum type="arabicPeriod"/>
            </a:pPr>
            <a:r>
              <a:rPr lang="en-US" sz="2000" b="1" dirty="0">
                <a:solidFill>
                  <a:srgbClr val="374151"/>
                </a:solidFill>
                <a:ea typeface="+mn-lt"/>
                <a:cs typeface="Arial"/>
              </a:rPr>
              <a:t>Reducing Model Complexity</a:t>
            </a:r>
            <a:r>
              <a:rPr lang="en-US" sz="2000" dirty="0">
                <a:solidFill>
                  <a:srgbClr val="374151"/>
                </a:solidFill>
                <a:ea typeface="+mn-lt"/>
                <a:cs typeface="Arial"/>
              </a:rPr>
              <a:t>: Use simpler architecture.</a:t>
            </a:r>
          </a:p>
          <a:p>
            <a:pPr>
              <a:lnSpc>
                <a:spcPct val="150000"/>
              </a:lnSpc>
            </a:pPr>
            <a:r>
              <a:rPr lang="en-US" sz="2000" dirty="0">
                <a:solidFill>
                  <a:srgbClr val="374151"/>
                </a:solidFill>
                <a:ea typeface="+mn-lt"/>
                <a:cs typeface="+mn-lt"/>
              </a:rPr>
              <a:t>These techniques mitigate overfitting and enhance model generalization</a:t>
            </a:r>
            <a:endParaRPr lang="en-US" sz="2000" dirty="0">
              <a:solidFill>
                <a:srgbClr val="000000"/>
              </a:solidFill>
              <a:ea typeface="Söhne"/>
              <a:cs typeface="Calibri"/>
            </a:endParaRPr>
          </a:p>
        </p:txBody>
      </p:sp>
    </p:spTree>
    <p:extLst>
      <p:ext uri="{BB962C8B-B14F-4D97-AF65-F5344CB8AC3E}">
        <p14:creationId xmlns:p14="http://schemas.microsoft.com/office/powerpoint/2010/main" val="205671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phic 2" descr="Overfitting - MATLAB &amp; Simulink">
            <a:extLst>
              <a:ext uri="{FF2B5EF4-FFF2-40B4-BE49-F238E27FC236}">
                <a16:creationId xmlns:a16="http://schemas.microsoft.com/office/drawing/2014/main" id="{3435F206-D238-6D77-239A-91BC5D51309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916885" y="1743187"/>
            <a:ext cx="8044210" cy="4258217"/>
          </a:xfrm>
          <a:prstGeom prst="rect">
            <a:avLst/>
          </a:prstGeom>
        </p:spPr>
      </p:pic>
      <p:sp>
        <p:nvSpPr>
          <p:cNvPr id="2" name="object 2">
            <a:extLst>
              <a:ext uri="{FF2B5EF4-FFF2-40B4-BE49-F238E27FC236}">
                <a16:creationId xmlns:a16="http://schemas.microsoft.com/office/drawing/2014/main" id="{FE2CC0BC-C75D-CD83-E858-04716D856F4F}"/>
              </a:ext>
            </a:extLst>
          </p:cNvPr>
          <p:cNvSpPr txBox="1">
            <a:spLocks/>
          </p:cNvSpPr>
          <p:nvPr/>
        </p:nvSpPr>
        <p:spPr>
          <a:xfrm>
            <a:off x="658224" y="722372"/>
            <a:ext cx="9245276"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b="1" spc="-30" dirty="0" err="1">
                <a:solidFill>
                  <a:schemeClr val="accent1">
                    <a:lumMod val="50000"/>
                  </a:schemeClr>
                </a:solidFill>
                <a:latin typeface="+mn-lt"/>
                <a:cs typeface="Times New Roman"/>
              </a:rPr>
              <a:t>Cont</a:t>
            </a:r>
            <a:r>
              <a:rPr lang="en-IN" b="1" spc="-30" dirty="0">
                <a:solidFill>
                  <a:schemeClr val="accent1">
                    <a:lumMod val="50000"/>
                  </a:schemeClr>
                </a:solidFill>
                <a:latin typeface="+mn-lt"/>
                <a:cs typeface="Times New Roman"/>
              </a:rPr>
              <a:t>…</a:t>
            </a:r>
            <a:endParaRPr lang="en-US" b="1" spc="-30" dirty="0">
              <a:solidFill>
                <a:schemeClr val="accent1">
                  <a:lumMod val="50000"/>
                </a:schemeClr>
              </a:solidFill>
              <a:latin typeface="+mn-lt"/>
              <a:cs typeface="Times New Roman"/>
            </a:endParaRPr>
          </a:p>
        </p:txBody>
      </p:sp>
    </p:spTree>
    <p:extLst>
      <p:ext uri="{BB962C8B-B14F-4D97-AF65-F5344CB8AC3E}">
        <p14:creationId xmlns:p14="http://schemas.microsoft.com/office/powerpoint/2010/main" val="39334353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
            <a:extLst>
              <a:ext uri="{FF2B5EF4-FFF2-40B4-BE49-F238E27FC236}">
                <a16:creationId xmlns:a16="http://schemas.microsoft.com/office/drawing/2014/main" id="{2FDADD92-4E39-7713-520E-D88B1D53A255}"/>
              </a:ext>
            </a:extLst>
          </p:cNvPr>
          <p:cNvSpPr txBox="1">
            <a:spLocks/>
          </p:cNvSpPr>
          <p:nvPr/>
        </p:nvSpPr>
        <p:spPr>
          <a:xfrm>
            <a:off x="659172" y="758400"/>
            <a:ext cx="8803841"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b="1" spc="-30" dirty="0">
                <a:solidFill>
                  <a:schemeClr val="accent1">
                    <a:lumMod val="50000"/>
                  </a:schemeClr>
                </a:solidFill>
                <a:latin typeface="+mn-lt"/>
                <a:cs typeface="Times New Roman"/>
              </a:rPr>
              <a:t>Dropout and Batch Normalization</a:t>
            </a:r>
            <a:endParaRPr lang="en-US" b="1" spc="-30" dirty="0">
              <a:solidFill>
                <a:schemeClr val="accent1">
                  <a:lumMod val="50000"/>
                </a:schemeClr>
              </a:solidFill>
              <a:latin typeface="+mn-lt"/>
              <a:cs typeface="Times New Roman"/>
            </a:endParaRPr>
          </a:p>
        </p:txBody>
      </p:sp>
      <p:sp>
        <p:nvSpPr>
          <p:cNvPr id="2" name="TextBox 1">
            <a:extLst>
              <a:ext uri="{FF2B5EF4-FFF2-40B4-BE49-F238E27FC236}">
                <a16:creationId xmlns:a16="http://schemas.microsoft.com/office/drawing/2014/main" id="{BDF04A46-F335-DB66-76CE-DF6AD011AFC1}"/>
              </a:ext>
            </a:extLst>
          </p:cNvPr>
          <p:cNvSpPr txBox="1"/>
          <p:nvPr/>
        </p:nvSpPr>
        <p:spPr>
          <a:xfrm>
            <a:off x="623888" y="1628775"/>
            <a:ext cx="9561443" cy="4112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57200" indent="-457200">
              <a:lnSpc>
                <a:spcPct val="150000"/>
              </a:lnSpc>
              <a:buAutoNum type="arabicPeriod"/>
            </a:pPr>
            <a:r>
              <a:rPr lang="en-US" sz="2200" b="1" dirty="0">
                <a:solidFill>
                  <a:srgbClr val="374151"/>
                </a:solidFill>
              </a:rPr>
              <a:t>Dropout</a:t>
            </a:r>
            <a:r>
              <a:rPr lang="en-US" sz="2200" dirty="0">
                <a:solidFill>
                  <a:srgbClr val="374151"/>
                </a:solidFill>
              </a:rPr>
              <a:t>:</a:t>
            </a:r>
            <a:endParaRPr lang="en-US" dirty="0">
              <a:cs typeface="Calibri" panose="020F0502020204030204"/>
            </a:endParaRPr>
          </a:p>
          <a:p>
            <a:pPr lvl="2" indent="-457200">
              <a:lnSpc>
                <a:spcPct val="150000"/>
              </a:lnSpc>
              <a:buFont typeface="Arial"/>
              <a:buChar char="•"/>
            </a:pPr>
            <a:r>
              <a:rPr lang="en-US" sz="2200" dirty="0">
                <a:solidFill>
                  <a:srgbClr val="374151"/>
                </a:solidFill>
              </a:rPr>
              <a:t>Randomly deactivates neurons during training.</a:t>
            </a:r>
          </a:p>
          <a:p>
            <a:pPr lvl="2" indent="-457200">
              <a:lnSpc>
                <a:spcPct val="150000"/>
              </a:lnSpc>
              <a:buFont typeface="Arial"/>
              <a:buChar char="•"/>
            </a:pPr>
            <a:r>
              <a:rPr lang="en-US" sz="2200" dirty="0">
                <a:solidFill>
                  <a:srgbClr val="374151"/>
                </a:solidFill>
              </a:rPr>
              <a:t>Adds noise and redundancy to the network.</a:t>
            </a:r>
          </a:p>
          <a:p>
            <a:pPr lvl="2" indent="-457200">
              <a:lnSpc>
                <a:spcPct val="150000"/>
              </a:lnSpc>
              <a:buFont typeface="Arial"/>
              <a:buChar char="•"/>
            </a:pPr>
            <a:endParaRPr lang="en-US" sz="2200" dirty="0">
              <a:solidFill>
                <a:srgbClr val="374151"/>
              </a:solidFill>
            </a:endParaRPr>
          </a:p>
          <a:p>
            <a:pPr marL="457200" indent="-457200">
              <a:lnSpc>
                <a:spcPct val="150000"/>
              </a:lnSpc>
              <a:buAutoNum type="arabicPeriod"/>
            </a:pPr>
            <a:r>
              <a:rPr lang="en-US" sz="2200" b="1" dirty="0">
                <a:solidFill>
                  <a:srgbClr val="374151"/>
                </a:solidFill>
              </a:rPr>
              <a:t>Batch Normalization</a:t>
            </a:r>
            <a:r>
              <a:rPr lang="en-US" sz="2200" dirty="0">
                <a:solidFill>
                  <a:srgbClr val="374151"/>
                </a:solidFill>
              </a:rPr>
              <a:t>:</a:t>
            </a:r>
          </a:p>
          <a:p>
            <a:pPr lvl="2" indent="-457200">
              <a:lnSpc>
                <a:spcPct val="150000"/>
              </a:lnSpc>
              <a:buFont typeface="Arial"/>
              <a:buChar char="•"/>
            </a:pPr>
            <a:r>
              <a:rPr lang="en-US" sz="2200" dirty="0">
                <a:solidFill>
                  <a:srgbClr val="374151"/>
                </a:solidFill>
              </a:rPr>
              <a:t>Normalizes neuron activations with mean zero and standard deviation one.</a:t>
            </a:r>
          </a:p>
          <a:p>
            <a:pPr lvl="2" indent="-457200">
              <a:lnSpc>
                <a:spcPct val="150000"/>
              </a:lnSpc>
              <a:buFont typeface="Arial"/>
              <a:buChar char="•"/>
            </a:pPr>
            <a:r>
              <a:rPr lang="en-US" sz="2200" dirty="0">
                <a:solidFill>
                  <a:srgbClr val="374151"/>
                </a:solidFill>
              </a:rPr>
              <a:t>Applied per batch of data.</a:t>
            </a:r>
          </a:p>
        </p:txBody>
      </p:sp>
    </p:spTree>
    <p:extLst>
      <p:ext uri="{BB962C8B-B14F-4D97-AF65-F5344CB8AC3E}">
        <p14:creationId xmlns:p14="http://schemas.microsoft.com/office/powerpoint/2010/main" val="22417837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DF04A46-F335-DB66-76CE-DF6AD011AFC1}"/>
              </a:ext>
            </a:extLst>
          </p:cNvPr>
          <p:cNvSpPr txBox="1"/>
          <p:nvPr/>
        </p:nvSpPr>
        <p:spPr>
          <a:xfrm>
            <a:off x="599661" y="1584794"/>
            <a:ext cx="10992677" cy="420884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pPr>
            <a:r>
              <a:rPr lang="en-US" sz="2000" b="1" dirty="0">
                <a:solidFill>
                  <a:srgbClr val="374151"/>
                </a:solidFill>
                <a:ea typeface="Söhne"/>
                <a:cs typeface="Söhne"/>
              </a:rPr>
              <a:t>How Prevent Overfitting</a:t>
            </a:r>
            <a:r>
              <a:rPr lang="en-US" sz="2000" dirty="0">
                <a:solidFill>
                  <a:srgbClr val="374151"/>
                </a:solidFill>
                <a:ea typeface="Söhne"/>
                <a:cs typeface="Söhne"/>
              </a:rPr>
              <a:t>:</a:t>
            </a:r>
            <a:endParaRPr lang="en-US" sz="2000" dirty="0">
              <a:cs typeface="Calibri" panose="020F0502020204030204"/>
            </a:endParaRPr>
          </a:p>
          <a:p>
            <a:pPr marL="800100" lvl="1" indent="-342900">
              <a:lnSpc>
                <a:spcPct val="150000"/>
              </a:lnSpc>
              <a:buFont typeface="Arial"/>
              <a:buChar char="•"/>
            </a:pPr>
            <a:endParaRPr lang="en-US" sz="2000" dirty="0">
              <a:solidFill>
                <a:srgbClr val="374151"/>
              </a:solidFill>
              <a:ea typeface="Söhne"/>
              <a:cs typeface="Söhne"/>
            </a:endParaRPr>
          </a:p>
          <a:p>
            <a:pPr marL="800100" lvl="1" indent="-342900">
              <a:lnSpc>
                <a:spcPct val="150000"/>
              </a:lnSpc>
              <a:buFont typeface="Arial"/>
              <a:buChar char="•"/>
            </a:pPr>
            <a:r>
              <a:rPr lang="en-US" sz="2000" b="1" dirty="0">
                <a:solidFill>
                  <a:srgbClr val="374151"/>
                </a:solidFill>
                <a:ea typeface="Söhne"/>
                <a:cs typeface="Söhne"/>
              </a:rPr>
              <a:t>Dropout</a:t>
            </a:r>
            <a:r>
              <a:rPr lang="en-US" sz="2000" dirty="0">
                <a:solidFill>
                  <a:srgbClr val="374151"/>
                </a:solidFill>
                <a:ea typeface="Söhne"/>
                <a:cs typeface="Söhne"/>
              </a:rPr>
              <a:t>:</a:t>
            </a:r>
          </a:p>
          <a:p>
            <a:pPr marL="1257300" lvl="3" indent="-342900">
              <a:lnSpc>
                <a:spcPct val="150000"/>
              </a:lnSpc>
              <a:buFont typeface="Arial"/>
              <a:buChar char="•"/>
            </a:pPr>
            <a:r>
              <a:rPr lang="en-US" sz="2000" dirty="0">
                <a:solidFill>
                  <a:srgbClr val="374151"/>
                </a:solidFill>
                <a:ea typeface="Söhne"/>
                <a:cs typeface="Söhne"/>
              </a:rPr>
              <a:t>Discourages reliance on specific neurons.</a:t>
            </a:r>
          </a:p>
          <a:p>
            <a:pPr marL="1257300" lvl="3" indent="-342900">
              <a:lnSpc>
                <a:spcPct val="150000"/>
              </a:lnSpc>
              <a:buFont typeface="Arial"/>
              <a:buChar char="•"/>
            </a:pPr>
            <a:r>
              <a:rPr lang="en-US" sz="2000" dirty="0">
                <a:solidFill>
                  <a:srgbClr val="374151"/>
                </a:solidFill>
                <a:ea typeface="Söhne"/>
                <a:cs typeface="Söhne"/>
              </a:rPr>
              <a:t>Promotes the learning of more robust features.</a:t>
            </a:r>
            <a:endParaRPr lang="en-US" sz="2000" dirty="0">
              <a:cs typeface="Calibri" panose="020F0502020204030204"/>
            </a:endParaRPr>
          </a:p>
          <a:p>
            <a:pPr marL="800100" lvl="1" indent="-342900">
              <a:lnSpc>
                <a:spcPct val="150000"/>
              </a:lnSpc>
              <a:buFont typeface="Arial"/>
              <a:buChar char="•"/>
            </a:pPr>
            <a:r>
              <a:rPr lang="en-US" sz="2000" b="1" dirty="0">
                <a:solidFill>
                  <a:srgbClr val="374151"/>
                </a:solidFill>
                <a:ea typeface="Söhne"/>
                <a:cs typeface="Söhne"/>
              </a:rPr>
              <a:t>Batch Normalization</a:t>
            </a:r>
            <a:r>
              <a:rPr lang="en-US" sz="2000" dirty="0">
                <a:solidFill>
                  <a:srgbClr val="374151"/>
                </a:solidFill>
                <a:ea typeface="Söhne"/>
                <a:cs typeface="Söhne"/>
              </a:rPr>
              <a:t>:</a:t>
            </a:r>
          </a:p>
          <a:p>
            <a:pPr marL="1257300" lvl="3" indent="-342900">
              <a:lnSpc>
                <a:spcPct val="150000"/>
              </a:lnSpc>
              <a:buFont typeface="Arial"/>
              <a:buChar char="•"/>
            </a:pPr>
            <a:r>
              <a:rPr lang="en-US" sz="2000" dirty="0">
                <a:solidFill>
                  <a:srgbClr val="374151"/>
                </a:solidFill>
                <a:ea typeface="Söhne"/>
                <a:cs typeface="Söhne"/>
              </a:rPr>
              <a:t>Reduces internal covariate shift.</a:t>
            </a:r>
          </a:p>
          <a:p>
            <a:pPr marL="1257300" lvl="3" indent="-342900">
              <a:lnSpc>
                <a:spcPct val="150000"/>
              </a:lnSpc>
              <a:buFont typeface="Arial"/>
              <a:buChar char="•"/>
            </a:pPr>
            <a:r>
              <a:rPr lang="en-US" sz="2000" dirty="0">
                <a:solidFill>
                  <a:srgbClr val="374151"/>
                </a:solidFill>
                <a:ea typeface="Söhne"/>
                <a:cs typeface="Söhne"/>
              </a:rPr>
              <a:t>Ensures network stability during training.</a:t>
            </a:r>
            <a:endParaRPr lang="en-US" sz="2000" dirty="0">
              <a:cs typeface="Calibri" panose="020F0502020204030204"/>
            </a:endParaRPr>
          </a:p>
          <a:p>
            <a:pPr marL="1257300" lvl="3" indent="-342900">
              <a:lnSpc>
                <a:spcPct val="150000"/>
              </a:lnSpc>
              <a:buFont typeface="Arial"/>
              <a:buChar char="•"/>
            </a:pPr>
            <a:r>
              <a:rPr lang="en-US" sz="2000" dirty="0">
                <a:solidFill>
                  <a:srgbClr val="374151"/>
                </a:solidFill>
                <a:ea typeface="Söhne"/>
                <a:cs typeface="Söhne"/>
              </a:rPr>
              <a:t>Prevents overfitting by avoiding over-reliance on certain scales or biases.</a:t>
            </a:r>
            <a:endParaRPr lang="en-US" sz="2000" dirty="0">
              <a:solidFill>
                <a:srgbClr val="374151"/>
              </a:solidFill>
            </a:endParaRPr>
          </a:p>
        </p:txBody>
      </p:sp>
      <p:sp>
        <p:nvSpPr>
          <p:cNvPr id="3" name="object 2">
            <a:extLst>
              <a:ext uri="{FF2B5EF4-FFF2-40B4-BE49-F238E27FC236}">
                <a16:creationId xmlns:a16="http://schemas.microsoft.com/office/drawing/2014/main" id="{A1DB3228-791F-48B5-8D7F-BDB2961FCA45}"/>
              </a:ext>
            </a:extLst>
          </p:cNvPr>
          <p:cNvSpPr txBox="1">
            <a:spLocks/>
          </p:cNvSpPr>
          <p:nvPr/>
        </p:nvSpPr>
        <p:spPr>
          <a:xfrm>
            <a:off x="658224" y="722372"/>
            <a:ext cx="9245276"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b="1" spc="-30" dirty="0" err="1">
                <a:solidFill>
                  <a:schemeClr val="accent1">
                    <a:lumMod val="50000"/>
                  </a:schemeClr>
                </a:solidFill>
                <a:latin typeface="+mn-lt"/>
                <a:cs typeface="Times New Roman"/>
              </a:rPr>
              <a:t>Cont</a:t>
            </a:r>
            <a:r>
              <a:rPr lang="en-IN" b="1" spc="-30" dirty="0">
                <a:solidFill>
                  <a:schemeClr val="accent1">
                    <a:lumMod val="50000"/>
                  </a:schemeClr>
                </a:solidFill>
                <a:latin typeface="+mn-lt"/>
                <a:cs typeface="Times New Roman"/>
              </a:rPr>
              <a:t>…</a:t>
            </a:r>
            <a:endParaRPr lang="en-US" b="1" spc="-30" dirty="0">
              <a:solidFill>
                <a:schemeClr val="accent1">
                  <a:lumMod val="50000"/>
                </a:schemeClr>
              </a:solidFill>
              <a:latin typeface="+mn-lt"/>
              <a:cs typeface="Times New Roman"/>
            </a:endParaRPr>
          </a:p>
        </p:txBody>
      </p:sp>
    </p:spTree>
    <p:extLst>
      <p:ext uri="{BB962C8B-B14F-4D97-AF65-F5344CB8AC3E}">
        <p14:creationId xmlns:p14="http://schemas.microsoft.com/office/powerpoint/2010/main" val="26098971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diagram of a network&#10;&#10;Description automatically generated">
            <a:extLst>
              <a:ext uri="{FF2B5EF4-FFF2-40B4-BE49-F238E27FC236}">
                <a16:creationId xmlns:a16="http://schemas.microsoft.com/office/drawing/2014/main" id="{D3E6E660-A4F3-D609-CFF5-FF7A9E95929D}"/>
              </a:ext>
            </a:extLst>
          </p:cNvPr>
          <p:cNvPicPr>
            <a:picLocks noChangeAspect="1"/>
          </p:cNvPicPr>
          <p:nvPr/>
        </p:nvPicPr>
        <p:blipFill>
          <a:blip r:embed="rId2"/>
          <a:stretch>
            <a:fillRect/>
          </a:stretch>
        </p:blipFill>
        <p:spPr>
          <a:xfrm>
            <a:off x="2673210" y="1430323"/>
            <a:ext cx="6724549" cy="4468891"/>
          </a:xfrm>
          <a:prstGeom prst="rect">
            <a:avLst/>
          </a:prstGeom>
        </p:spPr>
      </p:pic>
      <p:sp>
        <p:nvSpPr>
          <p:cNvPr id="2" name="object 2">
            <a:extLst>
              <a:ext uri="{FF2B5EF4-FFF2-40B4-BE49-F238E27FC236}">
                <a16:creationId xmlns:a16="http://schemas.microsoft.com/office/drawing/2014/main" id="{8DECA8DD-66EC-8B87-32EF-83806C37E565}"/>
              </a:ext>
            </a:extLst>
          </p:cNvPr>
          <p:cNvSpPr txBox="1">
            <a:spLocks/>
          </p:cNvSpPr>
          <p:nvPr/>
        </p:nvSpPr>
        <p:spPr>
          <a:xfrm>
            <a:off x="658224" y="722372"/>
            <a:ext cx="9245276"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b="1" spc="-30" dirty="0" err="1">
                <a:solidFill>
                  <a:schemeClr val="accent1">
                    <a:lumMod val="50000"/>
                  </a:schemeClr>
                </a:solidFill>
                <a:latin typeface="+mn-lt"/>
                <a:cs typeface="Times New Roman"/>
              </a:rPr>
              <a:t>Cont</a:t>
            </a:r>
            <a:r>
              <a:rPr lang="en-IN" b="1" spc="-30" dirty="0">
                <a:solidFill>
                  <a:schemeClr val="accent1">
                    <a:lumMod val="50000"/>
                  </a:schemeClr>
                </a:solidFill>
                <a:latin typeface="+mn-lt"/>
                <a:cs typeface="Times New Roman"/>
              </a:rPr>
              <a:t>…</a:t>
            </a:r>
            <a:endParaRPr lang="en-US" b="1" spc="-30" dirty="0">
              <a:solidFill>
                <a:schemeClr val="accent1">
                  <a:lumMod val="50000"/>
                </a:schemeClr>
              </a:solidFill>
              <a:latin typeface="+mn-lt"/>
              <a:cs typeface="Times New Roman"/>
            </a:endParaRPr>
          </a:p>
        </p:txBody>
      </p:sp>
    </p:spTree>
    <p:extLst>
      <p:ext uri="{BB962C8B-B14F-4D97-AF65-F5344CB8AC3E}">
        <p14:creationId xmlns:p14="http://schemas.microsoft.com/office/powerpoint/2010/main" val="7984487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line graph with orange squares and green arrow&#10;&#10;Description automatically generated">
            <a:extLst>
              <a:ext uri="{FF2B5EF4-FFF2-40B4-BE49-F238E27FC236}">
                <a16:creationId xmlns:a16="http://schemas.microsoft.com/office/drawing/2014/main" id="{168C9572-88F4-0A83-4258-0623EA65B9AB}"/>
              </a:ext>
            </a:extLst>
          </p:cNvPr>
          <p:cNvPicPr>
            <a:picLocks noChangeAspect="1"/>
          </p:cNvPicPr>
          <p:nvPr/>
        </p:nvPicPr>
        <p:blipFill>
          <a:blip r:embed="rId2"/>
          <a:stretch>
            <a:fillRect/>
          </a:stretch>
        </p:blipFill>
        <p:spPr>
          <a:xfrm>
            <a:off x="873853" y="2549849"/>
            <a:ext cx="5659819" cy="3085395"/>
          </a:xfrm>
          <a:prstGeom prst="rect">
            <a:avLst/>
          </a:prstGeom>
        </p:spPr>
      </p:pic>
      <p:pic>
        <p:nvPicPr>
          <p:cNvPr id="4" name="Picture 3" descr="reasons2">
            <a:extLst>
              <a:ext uri="{FF2B5EF4-FFF2-40B4-BE49-F238E27FC236}">
                <a16:creationId xmlns:a16="http://schemas.microsoft.com/office/drawing/2014/main" id="{55752DB7-3734-9EBC-067E-42914314E71A}"/>
              </a:ext>
            </a:extLst>
          </p:cNvPr>
          <p:cNvPicPr>
            <a:picLocks noChangeAspect="1"/>
          </p:cNvPicPr>
          <p:nvPr/>
        </p:nvPicPr>
        <p:blipFill>
          <a:blip r:embed="rId3"/>
          <a:stretch>
            <a:fillRect/>
          </a:stretch>
        </p:blipFill>
        <p:spPr>
          <a:xfrm>
            <a:off x="8098365" y="1485511"/>
            <a:ext cx="3263462" cy="4615609"/>
          </a:xfrm>
          <a:prstGeom prst="rect">
            <a:avLst/>
          </a:prstGeom>
        </p:spPr>
      </p:pic>
      <p:sp>
        <p:nvSpPr>
          <p:cNvPr id="5" name="TextBox 4">
            <a:extLst>
              <a:ext uri="{FF2B5EF4-FFF2-40B4-BE49-F238E27FC236}">
                <a16:creationId xmlns:a16="http://schemas.microsoft.com/office/drawing/2014/main" id="{7E107DCB-33D7-A78A-A23E-18544A359CC5}"/>
              </a:ext>
            </a:extLst>
          </p:cNvPr>
          <p:cNvSpPr txBox="1"/>
          <p:nvPr/>
        </p:nvSpPr>
        <p:spPr>
          <a:xfrm>
            <a:off x="8308572" y="1115806"/>
            <a:ext cx="283779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rgbClr val="1B2437"/>
                </a:solidFill>
              </a:rPr>
              <a:t>Reasons for Underfitting</a:t>
            </a:r>
          </a:p>
        </p:txBody>
      </p:sp>
      <p:sp>
        <p:nvSpPr>
          <p:cNvPr id="6" name="TextBox 5">
            <a:extLst>
              <a:ext uri="{FF2B5EF4-FFF2-40B4-BE49-F238E27FC236}">
                <a16:creationId xmlns:a16="http://schemas.microsoft.com/office/drawing/2014/main" id="{0801D63B-FE07-13C6-B41A-10653E0045ED}"/>
              </a:ext>
            </a:extLst>
          </p:cNvPr>
          <p:cNvSpPr txBox="1"/>
          <p:nvPr/>
        </p:nvSpPr>
        <p:spPr>
          <a:xfrm>
            <a:off x="1893550" y="1771019"/>
            <a:ext cx="326346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solidFill>
                  <a:srgbClr val="1B2437"/>
                </a:solidFill>
                <a:ea typeface="Roboto Slab"/>
                <a:cs typeface="Roboto Slab"/>
              </a:rPr>
              <a:t>Underfitting – House Prices</a:t>
            </a:r>
          </a:p>
        </p:txBody>
      </p:sp>
      <p:sp>
        <p:nvSpPr>
          <p:cNvPr id="3" name="TextBox 2">
            <a:extLst>
              <a:ext uri="{FF2B5EF4-FFF2-40B4-BE49-F238E27FC236}">
                <a16:creationId xmlns:a16="http://schemas.microsoft.com/office/drawing/2014/main" id="{AF032670-4572-B36D-7301-88DB33826992}"/>
              </a:ext>
            </a:extLst>
          </p:cNvPr>
          <p:cNvSpPr txBox="1"/>
          <p:nvPr/>
        </p:nvSpPr>
        <p:spPr>
          <a:xfrm>
            <a:off x="609600" y="1740242"/>
            <a:ext cx="2386852" cy="43088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200" b="1" dirty="0">
                <a:solidFill>
                  <a:srgbClr val="FF0000"/>
                </a:solidFill>
                <a:ea typeface="Calibri"/>
                <a:cs typeface="Calibri"/>
              </a:rPr>
              <a:t>Example</a:t>
            </a:r>
            <a:endParaRPr lang="en-US" sz="2200" b="1" dirty="0">
              <a:solidFill>
                <a:srgbClr val="FF0000"/>
              </a:solidFill>
            </a:endParaRPr>
          </a:p>
        </p:txBody>
      </p:sp>
      <p:sp>
        <p:nvSpPr>
          <p:cNvPr id="7" name="object 2">
            <a:extLst>
              <a:ext uri="{FF2B5EF4-FFF2-40B4-BE49-F238E27FC236}">
                <a16:creationId xmlns:a16="http://schemas.microsoft.com/office/drawing/2014/main" id="{F103DBE8-C256-9034-DC18-13B6280E25CE}"/>
              </a:ext>
            </a:extLst>
          </p:cNvPr>
          <p:cNvSpPr txBox="1">
            <a:spLocks/>
          </p:cNvSpPr>
          <p:nvPr/>
        </p:nvSpPr>
        <p:spPr>
          <a:xfrm>
            <a:off x="658224" y="722372"/>
            <a:ext cx="9245276"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b="1" spc="-30" dirty="0" err="1">
                <a:solidFill>
                  <a:schemeClr val="accent1">
                    <a:lumMod val="50000"/>
                  </a:schemeClr>
                </a:solidFill>
                <a:latin typeface="+mn-lt"/>
                <a:cs typeface="Times New Roman"/>
              </a:rPr>
              <a:t>Cont</a:t>
            </a:r>
            <a:r>
              <a:rPr lang="en-IN" b="1" spc="-30" dirty="0">
                <a:solidFill>
                  <a:schemeClr val="accent1">
                    <a:lumMod val="50000"/>
                  </a:schemeClr>
                </a:solidFill>
                <a:latin typeface="+mn-lt"/>
                <a:cs typeface="Times New Roman"/>
              </a:rPr>
              <a:t>…</a:t>
            </a:r>
            <a:endParaRPr lang="en-US" b="1" spc="-30" dirty="0">
              <a:solidFill>
                <a:schemeClr val="accent1">
                  <a:lumMod val="50000"/>
                </a:schemeClr>
              </a:solidFill>
              <a:latin typeface="+mn-lt"/>
              <a:cs typeface="Times New Roman"/>
            </a:endParaRPr>
          </a:p>
        </p:txBody>
      </p:sp>
    </p:spTree>
    <p:extLst>
      <p:ext uri="{BB962C8B-B14F-4D97-AF65-F5344CB8AC3E}">
        <p14:creationId xmlns:p14="http://schemas.microsoft.com/office/powerpoint/2010/main" val="18654622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
            <a:extLst>
              <a:ext uri="{FF2B5EF4-FFF2-40B4-BE49-F238E27FC236}">
                <a16:creationId xmlns:a16="http://schemas.microsoft.com/office/drawing/2014/main" id="{2FDADD92-4E39-7713-520E-D88B1D53A255}"/>
              </a:ext>
            </a:extLst>
          </p:cNvPr>
          <p:cNvSpPr txBox="1">
            <a:spLocks/>
          </p:cNvSpPr>
          <p:nvPr/>
        </p:nvSpPr>
        <p:spPr>
          <a:xfrm>
            <a:off x="671369" y="733137"/>
            <a:ext cx="7810614"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b="1" spc="-30" dirty="0">
                <a:solidFill>
                  <a:schemeClr val="accent1">
                    <a:lumMod val="50000"/>
                  </a:schemeClr>
                </a:solidFill>
                <a:latin typeface="+mn-lt"/>
                <a:cs typeface="Times New Roman"/>
              </a:rPr>
              <a:t>Model Evaluation and Metrics</a:t>
            </a:r>
            <a:endParaRPr lang="en-US" b="1" spc="-30" dirty="0">
              <a:solidFill>
                <a:schemeClr val="accent1">
                  <a:lumMod val="50000"/>
                </a:schemeClr>
              </a:solidFill>
              <a:latin typeface="+mn-lt"/>
              <a:cs typeface="Times New Roman"/>
            </a:endParaRPr>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3" name="TextBox 2">
            <a:extLst>
              <a:ext uri="{FF2B5EF4-FFF2-40B4-BE49-F238E27FC236}">
                <a16:creationId xmlns:a16="http://schemas.microsoft.com/office/drawing/2014/main" id="{167BA64A-39CB-F2E7-1606-A25055FEDF1E}"/>
              </a:ext>
            </a:extLst>
          </p:cNvPr>
          <p:cNvSpPr txBox="1"/>
          <p:nvPr/>
        </p:nvSpPr>
        <p:spPr>
          <a:xfrm>
            <a:off x="623888" y="1625267"/>
            <a:ext cx="10349947" cy="4112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57200" indent="-457200">
              <a:lnSpc>
                <a:spcPct val="150000"/>
              </a:lnSpc>
              <a:buAutoNum type="arabicPeriod"/>
            </a:pPr>
            <a:r>
              <a:rPr lang="en-US" sz="2200" b="1" dirty="0">
                <a:solidFill>
                  <a:srgbClr val="374151"/>
                </a:solidFill>
              </a:rPr>
              <a:t>Accuracy</a:t>
            </a:r>
            <a:r>
              <a:rPr lang="en-US" sz="2200" dirty="0">
                <a:solidFill>
                  <a:srgbClr val="374151"/>
                </a:solidFill>
              </a:rPr>
              <a:t>: Proportion of correct predictions.</a:t>
            </a:r>
            <a:endParaRPr lang="en-US" dirty="0">
              <a:cs typeface="Calibri" panose="020F0502020204030204"/>
            </a:endParaRPr>
          </a:p>
          <a:p>
            <a:pPr marL="457200" indent="-457200">
              <a:lnSpc>
                <a:spcPct val="150000"/>
              </a:lnSpc>
              <a:buAutoNum type="arabicPeriod"/>
            </a:pPr>
            <a:r>
              <a:rPr lang="en-US" sz="2200" b="1" dirty="0">
                <a:solidFill>
                  <a:srgbClr val="374151"/>
                </a:solidFill>
              </a:rPr>
              <a:t>Precision</a:t>
            </a:r>
            <a:r>
              <a:rPr lang="en-US" sz="2200" dirty="0">
                <a:solidFill>
                  <a:srgbClr val="374151"/>
                </a:solidFill>
              </a:rPr>
              <a:t>: Fraction of true positives among positive predictions.</a:t>
            </a:r>
          </a:p>
          <a:p>
            <a:pPr marL="457200" indent="-457200">
              <a:lnSpc>
                <a:spcPct val="150000"/>
              </a:lnSpc>
              <a:buAutoNum type="arabicPeriod"/>
            </a:pPr>
            <a:r>
              <a:rPr lang="en-US" sz="2200" b="1" dirty="0">
                <a:solidFill>
                  <a:srgbClr val="374151"/>
                </a:solidFill>
              </a:rPr>
              <a:t>Recall (Sensitivity)</a:t>
            </a:r>
            <a:r>
              <a:rPr lang="en-US" sz="2200" dirty="0">
                <a:solidFill>
                  <a:srgbClr val="374151"/>
                </a:solidFill>
              </a:rPr>
              <a:t>: Fraction of true positives among actual positives.</a:t>
            </a:r>
          </a:p>
          <a:p>
            <a:pPr marL="457200" indent="-457200">
              <a:lnSpc>
                <a:spcPct val="150000"/>
              </a:lnSpc>
              <a:buAutoNum type="arabicPeriod"/>
            </a:pPr>
            <a:r>
              <a:rPr lang="en-US" sz="2200" b="1" dirty="0">
                <a:solidFill>
                  <a:srgbClr val="374151"/>
                </a:solidFill>
              </a:rPr>
              <a:t>F1 Score</a:t>
            </a:r>
            <a:r>
              <a:rPr lang="en-US" sz="2200" dirty="0">
                <a:solidFill>
                  <a:srgbClr val="374151"/>
                </a:solidFill>
              </a:rPr>
              <a:t>: Harmonic mean of precision and recall.</a:t>
            </a:r>
          </a:p>
          <a:p>
            <a:pPr marL="457200" indent="-457200">
              <a:lnSpc>
                <a:spcPct val="150000"/>
              </a:lnSpc>
              <a:buAutoNum type="arabicPeriod"/>
            </a:pPr>
            <a:r>
              <a:rPr lang="en-US" sz="2200" b="1" dirty="0">
                <a:solidFill>
                  <a:srgbClr val="374151"/>
                </a:solidFill>
              </a:rPr>
              <a:t>Specificity</a:t>
            </a:r>
            <a:r>
              <a:rPr lang="en-US" sz="2200" dirty="0">
                <a:solidFill>
                  <a:srgbClr val="374151"/>
                </a:solidFill>
              </a:rPr>
              <a:t>: Proportion of true negatives among actual negatives.</a:t>
            </a:r>
          </a:p>
          <a:p>
            <a:pPr marL="457200" indent="-457200">
              <a:lnSpc>
                <a:spcPct val="150000"/>
              </a:lnSpc>
              <a:buAutoNum type="arabicPeriod"/>
            </a:pPr>
            <a:r>
              <a:rPr lang="en-US" sz="2200" b="1" dirty="0">
                <a:solidFill>
                  <a:srgbClr val="374151"/>
                </a:solidFill>
              </a:rPr>
              <a:t>AUC-ROC</a:t>
            </a:r>
            <a:r>
              <a:rPr lang="en-US" sz="2200" dirty="0">
                <a:solidFill>
                  <a:srgbClr val="374151"/>
                </a:solidFill>
              </a:rPr>
              <a:t>: Measures model performance across different thresholds.</a:t>
            </a:r>
          </a:p>
          <a:p>
            <a:pPr marL="457200" indent="-457200">
              <a:lnSpc>
                <a:spcPct val="150000"/>
              </a:lnSpc>
              <a:buAutoNum type="arabicPeriod"/>
            </a:pPr>
            <a:r>
              <a:rPr lang="en-US" sz="2200" b="1" dirty="0">
                <a:solidFill>
                  <a:srgbClr val="374151"/>
                </a:solidFill>
              </a:rPr>
              <a:t>MAE (Mean Absolute Error)</a:t>
            </a:r>
            <a:r>
              <a:rPr lang="en-US" sz="2200" dirty="0">
                <a:solidFill>
                  <a:srgbClr val="374151"/>
                </a:solidFill>
              </a:rPr>
              <a:t>: Average absolute difference for regression.</a:t>
            </a:r>
          </a:p>
          <a:p>
            <a:pPr marL="457200" indent="-457200">
              <a:lnSpc>
                <a:spcPct val="150000"/>
              </a:lnSpc>
              <a:buAutoNum type="arabicPeriod"/>
            </a:pPr>
            <a:r>
              <a:rPr lang="en-US" sz="2200" b="1" dirty="0">
                <a:solidFill>
                  <a:srgbClr val="374151"/>
                </a:solidFill>
              </a:rPr>
              <a:t>MSE (Mean Squared Error)</a:t>
            </a:r>
            <a:r>
              <a:rPr lang="en-US" sz="2200" dirty="0">
                <a:solidFill>
                  <a:srgbClr val="374151"/>
                </a:solidFill>
              </a:rPr>
              <a:t>: Average squared difference for regression</a:t>
            </a:r>
          </a:p>
        </p:txBody>
      </p:sp>
    </p:spTree>
    <p:extLst>
      <p:ext uri="{BB962C8B-B14F-4D97-AF65-F5344CB8AC3E}">
        <p14:creationId xmlns:p14="http://schemas.microsoft.com/office/powerpoint/2010/main" val="108302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2">
            <a:extLst>
              <a:ext uri="{FF2B5EF4-FFF2-40B4-BE49-F238E27FC236}">
                <a16:creationId xmlns:a16="http://schemas.microsoft.com/office/drawing/2014/main" id="{2FDADD92-4E39-7713-520E-D88B1D53A255}"/>
              </a:ext>
            </a:extLst>
          </p:cNvPr>
          <p:cNvSpPr txBox="1">
            <a:spLocks/>
          </p:cNvSpPr>
          <p:nvPr/>
        </p:nvSpPr>
        <p:spPr>
          <a:xfrm>
            <a:off x="658881" y="784090"/>
            <a:ext cx="6312890"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b="1" spc="-30" dirty="0">
                <a:solidFill>
                  <a:schemeClr val="accent1">
                    <a:lumMod val="50000"/>
                  </a:schemeClr>
                </a:solidFill>
                <a:latin typeface="+mn-lt"/>
                <a:cs typeface="Times New Roman"/>
              </a:rPr>
              <a:t>Hyperparameter Tuning</a:t>
            </a:r>
            <a:endParaRPr lang="en-US" b="1" spc="-30" dirty="0">
              <a:solidFill>
                <a:schemeClr val="accent1">
                  <a:lumMod val="50000"/>
                </a:schemeClr>
              </a:solidFill>
              <a:latin typeface="+mn-lt"/>
              <a:cs typeface="Times New Roman"/>
            </a:endParaRPr>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3" name="TextBox 2">
            <a:extLst>
              <a:ext uri="{FF2B5EF4-FFF2-40B4-BE49-F238E27FC236}">
                <a16:creationId xmlns:a16="http://schemas.microsoft.com/office/drawing/2014/main" id="{167BA64A-39CB-F2E7-1606-A25055FEDF1E}"/>
              </a:ext>
            </a:extLst>
          </p:cNvPr>
          <p:cNvSpPr txBox="1"/>
          <p:nvPr/>
        </p:nvSpPr>
        <p:spPr>
          <a:xfrm>
            <a:off x="623888" y="1544423"/>
            <a:ext cx="10349947" cy="466127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pPr>
            <a:r>
              <a:rPr lang="en-US" sz="2000" b="1" dirty="0">
                <a:solidFill>
                  <a:srgbClr val="374151"/>
                </a:solidFill>
                <a:ea typeface="Söhne"/>
                <a:cs typeface="Söhne"/>
              </a:rPr>
              <a:t>Overview of Hyperparameters</a:t>
            </a:r>
            <a:r>
              <a:rPr lang="en-US" sz="2000" dirty="0">
                <a:solidFill>
                  <a:srgbClr val="374151"/>
                </a:solidFill>
                <a:ea typeface="Söhne"/>
                <a:cs typeface="Söhne"/>
              </a:rPr>
              <a:t>:</a:t>
            </a:r>
            <a:endParaRPr lang="en-US" sz="1600" dirty="0">
              <a:cs typeface="Calibri" panose="020F0502020204030204"/>
            </a:endParaRPr>
          </a:p>
          <a:p>
            <a:pPr marL="800100" lvl="1" indent="-342900">
              <a:lnSpc>
                <a:spcPct val="150000"/>
              </a:lnSpc>
              <a:buFont typeface="Arial"/>
              <a:buChar char="•"/>
            </a:pPr>
            <a:r>
              <a:rPr lang="en-US" sz="2000" dirty="0">
                <a:solidFill>
                  <a:srgbClr val="374151"/>
                </a:solidFill>
                <a:ea typeface="Söhne"/>
                <a:cs typeface="Söhne"/>
              </a:rPr>
              <a:t>Control model settings and configurations.</a:t>
            </a:r>
          </a:p>
          <a:p>
            <a:pPr marL="800100" lvl="1" indent="-342900">
              <a:lnSpc>
                <a:spcPct val="150000"/>
              </a:lnSpc>
              <a:buFont typeface="Arial"/>
              <a:buChar char="•"/>
            </a:pPr>
            <a:r>
              <a:rPr lang="en-US" sz="2000" dirty="0">
                <a:solidFill>
                  <a:srgbClr val="374151"/>
                </a:solidFill>
                <a:ea typeface="Söhne"/>
                <a:cs typeface="Söhne"/>
              </a:rPr>
              <a:t>Examples: learning rate, batch size, model complexity.</a:t>
            </a:r>
          </a:p>
          <a:p>
            <a:pPr>
              <a:lnSpc>
                <a:spcPct val="150000"/>
              </a:lnSpc>
            </a:pPr>
            <a:r>
              <a:rPr lang="en-US" sz="2000" b="1" dirty="0">
                <a:solidFill>
                  <a:srgbClr val="374151"/>
                </a:solidFill>
                <a:ea typeface="Söhne"/>
                <a:cs typeface="Söhne"/>
              </a:rPr>
              <a:t>Techniques for Hyperparameter Optimization</a:t>
            </a:r>
            <a:r>
              <a:rPr lang="en-US" sz="2000" dirty="0">
                <a:solidFill>
                  <a:srgbClr val="374151"/>
                </a:solidFill>
                <a:ea typeface="Söhne"/>
                <a:cs typeface="Söhne"/>
              </a:rPr>
              <a:t>:</a:t>
            </a:r>
          </a:p>
          <a:p>
            <a:pPr marL="914400" lvl="1" indent="-457200">
              <a:lnSpc>
                <a:spcPct val="150000"/>
              </a:lnSpc>
              <a:buAutoNum type="arabicPeriod"/>
            </a:pPr>
            <a:r>
              <a:rPr lang="en-US" sz="2000" b="1" dirty="0">
                <a:solidFill>
                  <a:srgbClr val="374151"/>
                </a:solidFill>
                <a:ea typeface="Söhne"/>
                <a:cs typeface="Söhne"/>
              </a:rPr>
              <a:t>Grid Search</a:t>
            </a:r>
            <a:r>
              <a:rPr lang="en-US" sz="2000" dirty="0">
                <a:solidFill>
                  <a:srgbClr val="374151"/>
                </a:solidFill>
                <a:ea typeface="Söhne"/>
                <a:cs typeface="Söhne"/>
              </a:rPr>
              <a:t>: Systematic exploration of predefined values.</a:t>
            </a:r>
          </a:p>
          <a:p>
            <a:pPr marL="914400" lvl="1" indent="-457200">
              <a:lnSpc>
                <a:spcPct val="150000"/>
              </a:lnSpc>
              <a:buAutoNum type="arabicPeriod"/>
            </a:pPr>
            <a:r>
              <a:rPr lang="en-US" sz="2000" b="1" dirty="0">
                <a:solidFill>
                  <a:srgbClr val="374151"/>
                </a:solidFill>
                <a:ea typeface="Söhne"/>
                <a:cs typeface="Söhne"/>
              </a:rPr>
              <a:t>Random Search</a:t>
            </a:r>
            <a:r>
              <a:rPr lang="en-US" sz="2000" dirty="0">
                <a:solidFill>
                  <a:srgbClr val="374151"/>
                </a:solidFill>
                <a:ea typeface="Söhne"/>
                <a:cs typeface="Söhne"/>
              </a:rPr>
              <a:t>: Random sampling from hyperparameter space.</a:t>
            </a:r>
          </a:p>
          <a:p>
            <a:pPr marL="914400" lvl="1" indent="-457200">
              <a:lnSpc>
                <a:spcPct val="150000"/>
              </a:lnSpc>
              <a:buAutoNum type="arabicPeriod"/>
            </a:pPr>
            <a:r>
              <a:rPr lang="en-US" sz="2000" b="1" dirty="0">
                <a:solidFill>
                  <a:srgbClr val="374151"/>
                </a:solidFill>
                <a:ea typeface="Söhne"/>
                <a:cs typeface="Söhne"/>
              </a:rPr>
              <a:t>Bayesian Optimization</a:t>
            </a:r>
            <a:r>
              <a:rPr lang="en-US" sz="2000" dirty="0">
                <a:solidFill>
                  <a:srgbClr val="374151"/>
                </a:solidFill>
                <a:ea typeface="Söhne"/>
                <a:cs typeface="Söhne"/>
              </a:rPr>
              <a:t>: Probabilistic modeling to predict good settings.</a:t>
            </a:r>
          </a:p>
          <a:p>
            <a:pPr marL="914400" lvl="1" indent="-457200">
              <a:lnSpc>
                <a:spcPct val="150000"/>
              </a:lnSpc>
              <a:buAutoNum type="arabicPeriod"/>
            </a:pPr>
            <a:r>
              <a:rPr lang="en-US" sz="2000" b="1" dirty="0">
                <a:solidFill>
                  <a:srgbClr val="374151"/>
                </a:solidFill>
                <a:ea typeface="Söhne"/>
                <a:cs typeface="Söhne"/>
              </a:rPr>
              <a:t>Genetic Algorithms</a:t>
            </a:r>
            <a:r>
              <a:rPr lang="en-US" sz="2000" dirty="0">
                <a:solidFill>
                  <a:srgbClr val="374151"/>
                </a:solidFill>
                <a:ea typeface="Söhne"/>
                <a:cs typeface="Söhne"/>
              </a:rPr>
              <a:t>: Evolution-inspired optimization.</a:t>
            </a:r>
          </a:p>
          <a:p>
            <a:pPr marL="914400" lvl="1" indent="-457200">
              <a:lnSpc>
                <a:spcPct val="150000"/>
              </a:lnSpc>
              <a:buAutoNum type="arabicPeriod"/>
            </a:pPr>
            <a:r>
              <a:rPr lang="en-US" sz="2000" b="1" dirty="0" err="1">
                <a:solidFill>
                  <a:srgbClr val="374151"/>
                </a:solidFill>
                <a:ea typeface="Söhne"/>
                <a:cs typeface="Söhne"/>
              </a:rPr>
              <a:t>AutoML</a:t>
            </a:r>
            <a:r>
              <a:rPr lang="en-US" sz="2000" dirty="0">
                <a:solidFill>
                  <a:srgbClr val="374151"/>
                </a:solidFill>
                <a:ea typeface="Söhne"/>
                <a:cs typeface="Söhne"/>
              </a:rPr>
              <a:t>: Automated hyperparameter tuning.</a:t>
            </a:r>
          </a:p>
          <a:p>
            <a:pPr marL="914400" lvl="1" indent="-457200">
              <a:lnSpc>
                <a:spcPct val="150000"/>
              </a:lnSpc>
              <a:buAutoNum type="arabicPeriod"/>
            </a:pPr>
            <a:r>
              <a:rPr lang="en-US" sz="2000" b="1" dirty="0">
                <a:solidFill>
                  <a:srgbClr val="374151"/>
                </a:solidFill>
                <a:ea typeface="Söhne"/>
                <a:cs typeface="Söhne"/>
              </a:rPr>
              <a:t>Hyperband</a:t>
            </a:r>
            <a:r>
              <a:rPr lang="en-US" sz="2000" dirty="0">
                <a:solidFill>
                  <a:srgbClr val="374151"/>
                </a:solidFill>
                <a:ea typeface="Söhne"/>
                <a:cs typeface="Söhne"/>
              </a:rPr>
              <a:t>: Adaptive allocation of resources for efficient tuning.</a:t>
            </a:r>
            <a:endParaRPr lang="en-US" sz="2000" dirty="0">
              <a:solidFill>
                <a:srgbClr val="374151"/>
              </a:solidFill>
            </a:endParaRPr>
          </a:p>
        </p:txBody>
      </p:sp>
    </p:spTree>
    <p:extLst>
      <p:ext uri="{BB962C8B-B14F-4D97-AF65-F5344CB8AC3E}">
        <p14:creationId xmlns:p14="http://schemas.microsoft.com/office/powerpoint/2010/main" val="21790014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03500" y="6101120"/>
            <a:ext cx="2026112" cy="571630"/>
          </a:xfrm>
          <a:prstGeom prst="rect">
            <a:avLst/>
          </a:prstGeom>
        </p:spPr>
      </p:pic>
      <p:sp>
        <p:nvSpPr>
          <p:cNvPr id="5" name="object 2">
            <a:extLst>
              <a:ext uri="{FF2B5EF4-FFF2-40B4-BE49-F238E27FC236}">
                <a16:creationId xmlns:a16="http://schemas.microsoft.com/office/drawing/2014/main" id="{9D03BB2D-CD52-503A-B59A-F9D3014F1AB4}"/>
              </a:ext>
            </a:extLst>
          </p:cNvPr>
          <p:cNvSpPr txBox="1">
            <a:spLocks/>
          </p:cNvSpPr>
          <p:nvPr/>
        </p:nvSpPr>
        <p:spPr>
          <a:xfrm>
            <a:off x="623888" y="692150"/>
            <a:ext cx="7588961" cy="63914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spcBef>
                <a:spcPts val="100"/>
              </a:spcBef>
            </a:pPr>
            <a:r>
              <a:rPr lang="en-IN" b="1" spc="-30" dirty="0">
                <a:solidFill>
                  <a:schemeClr val="accent1">
                    <a:lumMod val="50000"/>
                  </a:schemeClr>
                </a:solidFill>
                <a:latin typeface="+mn-lt"/>
                <a:cs typeface="Times New Roman"/>
              </a:rPr>
              <a:t>Hands-on: RNN, LSTM, GRU</a:t>
            </a:r>
          </a:p>
        </p:txBody>
      </p:sp>
      <p:sp>
        <p:nvSpPr>
          <p:cNvPr id="4" name="TextBox 3">
            <a:extLst>
              <a:ext uri="{FF2B5EF4-FFF2-40B4-BE49-F238E27FC236}">
                <a16:creationId xmlns:a16="http://schemas.microsoft.com/office/drawing/2014/main" id="{90737A08-D137-FB38-9F03-F4B79E763FA7}"/>
              </a:ext>
            </a:extLst>
          </p:cNvPr>
          <p:cNvSpPr txBox="1"/>
          <p:nvPr/>
        </p:nvSpPr>
        <p:spPr>
          <a:xfrm>
            <a:off x="623888" y="1621697"/>
            <a:ext cx="10720551" cy="17081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pPr>
            <a:r>
              <a:rPr lang="en-US" sz="2400" b="1" dirty="0">
                <a:solidFill>
                  <a:srgbClr val="374151"/>
                </a:solidFill>
                <a:ea typeface="+mn-lt"/>
                <a:cs typeface="+mn-lt"/>
              </a:rPr>
              <a:t>Dataset: </a:t>
            </a:r>
            <a:r>
              <a:rPr lang="en-US" sz="2400" b="1" dirty="0">
                <a:solidFill>
                  <a:srgbClr val="FF0000"/>
                </a:solidFill>
                <a:ea typeface="+mn-lt"/>
                <a:cs typeface="+mn-lt"/>
              </a:rPr>
              <a:t>New York Taxi Dataset</a:t>
            </a:r>
            <a:endParaRPr lang="en-US" sz="2400" b="1" dirty="0">
              <a:solidFill>
                <a:srgbClr val="FF0000"/>
              </a:solidFill>
              <a:ea typeface="Calibri"/>
              <a:cs typeface="Calibri"/>
            </a:endParaRPr>
          </a:p>
          <a:p>
            <a:pPr>
              <a:lnSpc>
                <a:spcPct val="150000"/>
              </a:lnSpc>
            </a:pPr>
            <a:endParaRPr lang="en-US" sz="2400" b="1" dirty="0">
              <a:solidFill>
                <a:srgbClr val="FF0000"/>
              </a:solidFill>
              <a:ea typeface="Calibri"/>
              <a:cs typeface="Calibri"/>
            </a:endParaRPr>
          </a:p>
          <a:p>
            <a:pPr lvl="1">
              <a:lnSpc>
                <a:spcPct val="150000"/>
              </a:lnSpc>
            </a:pPr>
            <a:r>
              <a:rPr lang="en-US" sz="2400" b="1" dirty="0">
                <a:cs typeface="Calibri"/>
              </a:rPr>
              <a:t>Make RNN, LSTM &amp; GRU Model &amp; Evaluate it.</a:t>
            </a:r>
          </a:p>
        </p:txBody>
      </p:sp>
      <p:sp>
        <p:nvSpPr>
          <p:cNvPr id="3" name="TextBox 2">
            <a:extLst>
              <a:ext uri="{FF2B5EF4-FFF2-40B4-BE49-F238E27FC236}">
                <a16:creationId xmlns:a16="http://schemas.microsoft.com/office/drawing/2014/main" id="{3277BFB8-F11B-9E6F-756E-FCD2EEBB5262}"/>
              </a:ext>
            </a:extLst>
          </p:cNvPr>
          <p:cNvSpPr txBox="1"/>
          <p:nvPr/>
        </p:nvSpPr>
        <p:spPr>
          <a:xfrm>
            <a:off x="577748" y="5731788"/>
            <a:ext cx="8637558" cy="369332"/>
          </a:xfrm>
          <a:prstGeom prst="rect">
            <a:avLst/>
          </a:prstGeom>
          <a:noFill/>
        </p:spPr>
        <p:txBody>
          <a:bodyPr wrap="square">
            <a:spAutoFit/>
          </a:bodyPr>
          <a:lstStyle/>
          <a:p>
            <a:r>
              <a:rPr lang="en-US" dirty="0"/>
              <a:t>Note:- Use </a:t>
            </a:r>
            <a:r>
              <a:rPr lang="en-US" dirty="0" err="1"/>
              <a:t>Jupyter</a:t>
            </a:r>
            <a:r>
              <a:rPr lang="en-US" dirty="0"/>
              <a:t> file for this question - </a:t>
            </a:r>
            <a:r>
              <a:rPr lang="en-US" dirty="0">
                <a:hlinkClick r:id="rId4"/>
              </a:rPr>
              <a:t>RNN, LSTM &amp; GRU - </a:t>
            </a:r>
            <a:r>
              <a:rPr lang="en-US" dirty="0" err="1">
                <a:hlinkClick r:id="rId4"/>
              </a:rPr>
              <a:t>Newyork</a:t>
            </a:r>
            <a:r>
              <a:rPr lang="en-US" dirty="0">
                <a:hlinkClick r:id="rId4"/>
              </a:rPr>
              <a:t> Taxi </a:t>
            </a:r>
            <a:r>
              <a:rPr lang="en-US" dirty="0" err="1">
                <a:hlinkClick r:id="rId4"/>
              </a:rPr>
              <a:t>Dataset.ipynb</a:t>
            </a:r>
            <a:endParaRPr lang="en-US" dirty="0">
              <a:cs typeface="Calibri"/>
            </a:endParaRPr>
          </a:p>
        </p:txBody>
      </p:sp>
    </p:spTree>
    <p:extLst>
      <p:ext uri="{BB962C8B-B14F-4D97-AF65-F5344CB8AC3E}">
        <p14:creationId xmlns:p14="http://schemas.microsoft.com/office/powerpoint/2010/main" val="296332254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F80C857-4384-387E-D3B0-A675AA2C932C}"/>
              </a:ext>
            </a:extLst>
          </p:cNvPr>
          <p:cNvSpPr>
            <a:spLocks noGrp="1"/>
          </p:cNvSpPr>
          <p:nvPr>
            <p:ph type="title"/>
          </p:nvPr>
        </p:nvSpPr>
        <p:spPr/>
        <p:txBody>
          <a:bodyPr>
            <a:normAutofit/>
          </a:bodyPr>
          <a:lstStyle/>
          <a:p>
            <a:br>
              <a:rPr lang="en-IN" dirty="0"/>
            </a:br>
            <a:r>
              <a:rPr lang="en-IN" dirty="0"/>
              <a:t>Questions ?</a:t>
            </a:r>
          </a:p>
        </p:txBody>
      </p:sp>
    </p:spTree>
    <p:extLst>
      <p:ext uri="{BB962C8B-B14F-4D97-AF65-F5344CB8AC3E}">
        <p14:creationId xmlns:p14="http://schemas.microsoft.com/office/powerpoint/2010/main" val="117386209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1DBBFEC-17D0-1D96-6CDC-0E5B94EF077B}"/>
              </a:ext>
            </a:extLst>
          </p:cNvPr>
          <p:cNvSpPr/>
          <p:nvPr/>
        </p:nvSpPr>
        <p:spPr>
          <a:xfrm>
            <a:off x="0" y="2091872"/>
            <a:ext cx="12192000" cy="17653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00" b="1" dirty="0">
                <a:latin typeface="Calibri" panose="020F0502020204030204" pitchFamily="34" charset="0"/>
              </a:rPr>
              <a:t>Thank You!</a:t>
            </a:r>
            <a:endParaRPr lang="en-IN" sz="6600" b="1" dirty="0">
              <a:latin typeface="Calibri" panose="020F0502020204030204" pitchFamily="34" charset="0"/>
            </a:endParaRPr>
          </a:p>
        </p:txBody>
      </p:sp>
    </p:spTree>
    <p:extLst>
      <p:ext uri="{BB962C8B-B14F-4D97-AF65-F5344CB8AC3E}">
        <p14:creationId xmlns:p14="http://schemas.microsoft.com/office/powerpoint/2010/main" val="2438371579"/>
      </p:ext>
    </p:extLst>
  </p:cSld>
  <p:clrMapOvr>
    <a:masterClrMapping/>
  </p:clrMapOvr>
</p:sld>
</file>

<file path=ppt/theme/theme1.xml><?xml version="1.0" encoding="utf-8"?>
<a:theme xmlns:a="http://schemas.openxmlformats.org/drawingml/2006/main" name="BIA Template">
  <a:themeElements>
    <a:clrScheme name="Custom 4">
      <a:dk1>
        <a:srgbClr val="161A3E"/>
      </a:dk1>
      <a:lt1>
        <a:sysClr val="window" lastClr="FFFFFF"/>
      </a:lt1>
      <a:dk2>
        <a:srgbClr val="44546A"/>
      </a:dk2>
      <a:lt2>
        <a:srgbClr val="E7E6E6"/>
      </a:lt2>
      <a:accent1>
        <a:srgbClr val="4472C4"/>
      </a:accent1>
      <a:accent2>
        <a:srgbClr val="ED7D31"/>
      </a:accent2>
      <a:accent3>
        <a:srgbClr val="44546A"/>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6963</TotalTime>
  <Words>1361</Words>
  <Application>Microsoft Office PowerPoint</Application>
  <PresentationFormat>Widescreen</PresentationFormat>
  <Paragraphs>169</Paragraphs>
  <Slides>27</Slides>
  <Notes>1</Notes>
  <HiddenSlides>0</HiddenSlides>
  <MMClips>0</MMClips>
  <ScaleCrop>false</ScaleCrop>
  <HeadingPairs>
    <vt:vector size="4" baseType="variant">
      <vt:variant>
        <vt:lpstr>Theme</vt:lpstr>
      </vt:variant>
      <vt:variant>
        <vt:i4>1</vt:i4>
      </vt:variant>
      <vt:variant>
        <vt:lpstr>Slide Titles</vt:lpstr>
      </vt:variant>
      <vt:variant>
        <vt:i4>27</vt:i4>
      </vt:variant>
    </vt:vector>
  </HeadingPairs>
  <TitlesOfParts>
    <vt:vector size="28" baseType="lpstr">
      <vt:lpstr>BIA Template</vt:lpstr>
      <vt:lpstr>PowerPoint Presentation</vt:lpstr>
      <vt:lpstr>Trainer Guidelines for Conducting Class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Questions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Aayush Shah</dc:creator>
  <cp:lastModifiedBy>Suraj Chopade</cp:lastModifiedBy>
  <cp:revision>2254</cp:revision>
  <cp:lastPrinted>2024-05-02T09:10:15Z</cp:lastPrinted>
  <dcterms:created xsi:type="dcterms:W3CDTF">2020-12-23T13:36:00Z</dcterms:created>
  <dcterms:modified xsi:type="dcterms:W3CDTF">2024-07-16T07:47:13Z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0B547D39C558497AB25C6414A889D07D</vt:lpwstr>
  </property>
  <property fmtid="{D5CDD505-2E9C-101B-9397-08002B2CF9AE}" pid="3" name="KSOProductBuildVer">
    <vt:lpwstr>1033-11.2.0.11306</vt:lpwstr>
  </property>
</Properties>
</file>