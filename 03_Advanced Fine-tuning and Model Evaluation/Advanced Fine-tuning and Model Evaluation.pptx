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4"/>
  </p:sldMasterIdLst>
  <p:notesMasterIdLst>
    <p:notesMasterId r:id="rId23"/>
  </p:notesMasterIdLst>
  <p:sldIdLst>
    <p:sldId id="256" r:id="rId5"/>
    <p:sldId id="566" r:id="rId6"/>
    <p:sldId id="674" r:id="rId7"/>
    <p:sldId id="587" r:id="rId8"/>
    <p:sldId id="695" r:id="rId9"/>
    <p:sldId id="697" r:id="rId10"/>
    <p:sldId id="698" r:id="rId11"/>
    <p:sldId id="699" r:id="rId12"/>
    <p:sldId id="705" r:id="rId13"/>
    <p:sldId id="700" r:id="rId14"/>
    <p:sldId id="706" r:id="rId15"/>
    <p:sldId id="701" r:id="rId16"/>
    <p:sldId id="702" r:id="rId17"/>
    <p:sldId id="703" r:id="rId18"/>
    <p:sldId id="707" r:id="rId19"/>
    <p:sldId id="708" r:id="rId20"/>
    <p:sldId id="694" r:id="rId21"/>
    <p:sldId id="30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BCFF"/>
    <a:srgbClr val="060912"/>
    <a:srgbClr val="323B8D"/>
    <a:srgbClr val="2F5597"/>
    <a:srgbClr val="011422"/>
    <a:srgbClr val="5B9BD5"/>
    <a:srgbClr val="333F50"/>
    <a:srgbClr val="9DC3E6"/>
    <a:srgbClr val="161A3E"/>
    <a:srgbClr val="1A16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8D7143-823F-3D4D-AC89-F3AB2BA811E5}" v="1" dt="2024-07-16T07:50:04.7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01" autoAdjust="0"/>
    <p:restoredTop sz="94364" autoAdjust="0"/>
  </p:normalViewPr>
  <p:slideViewPr>
    <p:cSldViewPr snapToGrid="0">
      <p:cViewPr varScale="1">
        <p:scale>
          <a:sx n="71" d="100"/>
          <a:sy n="71" d="100"/>
        </p:scale>
        <p:origin x="392" y="28"/>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 Chopade" userId="S::suraj.chopade@bostoninstituteofanalytics.org::dcc44ee8-6a65-4538-a5e1-c87e14ca7a61" providerId="AD" clId="Web-{48A5C58E-D4C7-1463-15BE-5654DF0DFDD2}"/>
    <pc:docChg chg="modSld">
      <pc:chgData name="Suraj Chopade" userId="S::suraj.chopade@bostoninstituteofanalytics.org::dcc44ee8-6a65-4538-a5e1-c87e14ca7a61" providerId="AD" clId="Web-{48A5C58E-D4C7-1463-15BE-5654DF0DFDD2}" dt="2024-02-26T09:31:59.846" v="1" actId="14100"/>
      <pc:docMkLst>
        <pc:docMk/>
      </pc:docMkLst>
      <pc:sldChg chg="modSp">
        <pc:chgData name="Suraj Chopade" userId="S::suraj.chopade@bostoninstituteofanalytics.org::dcc44ee8-6a65-4538-a5e1-c87e14ca7a61" providerId="AD" clId="Web-{48A5C58E-D4C7-1463-15BE-5654DF0DFDD2}" dt="2024-02-26T09:31:59.846" v="1" actId="14100"/>
        <pc:sldMkLst>
          <pc:docMk/>
          <pc:sldMk cId="2272459462" sldId="674"/>
        </pc:sldMkLst>
        <pc:spChg chg="mod">
          <ac:chgData name="Suraj Chopade" userId="S::suraj.chopade@bostoninstituteofanalytics.org::dcc44ee8-6a65-4538-a5e1-c87e14ca7a61" providerId="AD" clId="Web-{48A5C58E-D4C7-1463-15BE-5654DF0DFDD2}" dt="2024-02-26T09:31:59.846" v="1" actId="14100"/>
          <ac:spMkLst>
            <pc:docMk/>
            <pc:sldMk cId="2272459462" sldId="674"/>
            <ac:spMk id="5" creationId="{A9AAC721-0665-1382-22BD-DF794AA9B8D6}"/>
          </ac:spMkLst>
        </pc:spChg>
      </pc:sldChg>
    </pc:docChg>
  </pc:docChgLst>
  <pc:docChgLst>
    <pc:chgData name="Suraj Chopade" userId="S::suraj.chopade@bostoninstituteofanalytics.org::dcc44ee8-6a65-4538-a5e1-c87e14ca7a61" providerId="AD" clId="Web-{B2D31EA2-298F-2C8D-547B-5B15BC96D8CF}"/>
    <pc:docChg chg="modSld">
      <pc:chgData name="Suraj Chopade" userId="S::suraj.chopade@bostoninstituteofanalytics.org::dcc44ee8-6a65-4538-a5e1-c87e14ca7a61" providerId="AD" clId="Web-{B2D31EA2-298F-2C8D-547B-5B15BC96D8CF}" dt="2024-03-28T09:56:40.492" v="0" actId="20577"/>
      <pc:docMkLst>
        <pc:docMk/>
      </pc:docMkLst>
      <pc:sldChg chg="modSp">
        <pc:chgData name="Suraj Chopade" userId="S::suraj.chopade@bostoninstituteofanalytics.org::dcc44ee8-6a65-4538-a5e1-c87e14ca7a61" providerId="AD" clId="Web-{B2D31EA2-298F-2C8D-547B-5B15BC96D8CF}" dt="2024-03-28T09:56:40.492" v="0" actId="20577"/>
        <pc:sldMkLst>
          <pc:docMk/>
          <pc:sldMk cId="87802437" sldId="694"/>
        </pc:sldMkLst>
        <pc:spChg chg="mod">
          <ac:chgData name="Suraj Chopade" userId="S::suraj.chopade@bostoninstituteofanalytics.org::dcc44ee8-6a65-4538-a5e1-c87e14ca7a61" providerId="AD" clId="Web-{B2D31EA2-298F-2C8D-547B-5B15BC96D8CF}" dt="2024-03-28T09:56:40.492" v="0" actId="20577"/>
          <ac:spMkLst>
            <pc:docMk/>
            <pc:sldMk cId="87802437" sldId="694"/>
            <ac:spMk id="3" creationId="{CB071890-575E-F98C-E2A4-BC2D1C459837}"/>
          </ac:spMkLst>
        </pc:spChg>
      </pc:sldChg>
    </pc:docChg>
  </pc:docChgLst>
  <pc:docChgLst>
    <pc:chgData name="Suraj Chopade" userId="S::suraj.chopade@bostoninstituteofanalytics.org::dcc44ee8-6a65-4538-a5e1-c87e14ca7a61" providerId="AD" clId="Web-{1FB5D5D5-27F5-3B19-550F-45039E405B63}"/>
    <pc:docChg chg="modSld">
      <pc:chgData name="Suraj Chopade" userId="S::suraj.chopade@bostoninstituteofanalytics.org::dcc44ee8-6a65-4538-a5e1-c87e14ca7a61" providerId="AD" clId="Web-{1FB5D5D5-27F5-3B19-550F-45039E405B63}" dt="2024-01-22T06:26:02.175" v="0"/>
      <pc:docMkLst>
        <pc:docMk/>
      </pc:docMkLst>
      <pc:sldChg chg="modSp">
        <pc:chgData name="Suraj Chopade" userId="S::suraj.chopade@bostoninstituteofanalytics.org::dcc44ee8-6a65-4538-a5e1-c87e14ca7a61" providerId="AD" clId="Web-{1FB5D5D5-27F5-3B19-550F-45039E405B63}" dt="2024-01-22T06:26:02.175" v="0"/>
        <pc:sldMkLst>
          <pc:docMk/>
          <pc:sldMk cId="1024334718" sldId="256"/>
        </pc:sldMkLst>
        <pc:spChg chg="mod">
          <ac:chgData name="Suraj Chopade" userId="S::suraj.chopade@bostoninstituteofanalytics.org::dcc44ee8-6a65-4538-a5e1-c87e14ca7a61" providerId="AD" clId="Web-{1FB5D5D5-27F5-3B19-550F-45039E405B63}" dt="2024-01-22T06:26:02.175" v="0"/>
          <ac:spMkLst>
            <pc:docMk/>
            <pc:sldMk cId="1024334718" sldId="256"/>
            <ac:spMk id="2" creationId="{1A225F15-9B21-01FF-BD6D-D04F30F7A091}"/>
          </ac:spMkLst>
        </pc:spChg>
      </pc:sldChg>
    </pc:docChg>
  </pc:docChgLst>
  <pc:docChgLst>
    <pc:chgData name="Suraj Chopade" userId="S::suraj.chopade@bostoninstituteofanalytics.org::dcc44ee8-6a65-4538-a5e1-c87e14ca7a61" providerId="AD" clId="Web-{0D02321A-9234-2212-0653-40E9FA99388F}"/>
    <pc:docChg chg="modSld">
      <pc:chgData name="Suraj Chopade" userId="S::suraj.chopade@bostoninstituteofanalytics.org::dcc44ee8-6a65-4538-a5e1-c87e14ca7a61" providerId="AD" clId="Web-{0D02321A-9234-2212-0653-40E9FA99388F}" dt="2024-03-28T09:56:01.247" v="2" actId="20577"/>
      <pc:docMkLst>
        <pc:docMk/>
      </pc:docMkLst>
      <pc:sldChg chg="modSp">
        <pc:chgData name="Suraj Chopade" userId="S::suraj.chopade@bostoninstituteofanalytics.org::dcc44ee8-6a65-4538-a5e1-c87e14ca7a61" providerId="AD" clId="Web-{0D02321A-9234-2212-0653-40E9FA99388F}" dt="2024-03-28T09:56:01.247" v="2" actId="20577"/>
        <pc:sldMkLst>
          <pc:docMk/>
          <pc:sldMk cId="87802437" sldId="694"/>
        </pc:sldMkLst>
        <pc:spChg chg="mod">
          <ac:chgData name="Suraj Chopade" userId="S::suraj.chopade@bostoninstituteofanalytics.org::dcc44ee8-6a65-4538-a5e1-c87e14ca7a61" providerId="AD" clId="Web-{0D02321A-9234-2212-0653-40E9FA99388F}" dt="2024-03-28T09:56:01.247" v="2" actId="20577"/>
          <ac:spMkLst>
            <pc:docMk/>
            <pc:sldMk cId="87802437" sldId="694"/>
            <ac:spMk id="3" creationId="{CB071890-575E-F98C-E2A4-BC2D1C459837}"/>
          </ac:spMkLst>
        </pc:spChg>
      </pc:sldChg>
    </pc:docChg>
  </pc:docChgLst>
  <pc:docChgLst>
    <pc:chgData name="Suraj Chopade" userId="S::suraj.chopade@bostoninstituteofanalytics.org::dcc44ee8-6a65-4538-a5e1-c87e14ca7a61" providerId="AD" clId="Web-{F70A3BA7-959B-0157-0C72-B92CC2DE849E}"/>
    <pc:docChg chg="modSld">
      <pc:chgData name="Suraj Chopade" userId="S::suraj.chopade@bostoninstituteofanalytics.org::dcc44ee8-6a65-4538-a5e1-c87e14ca7a61" providerId="AD" clId="Web-{F70A3BA7-959B-0157-0C72-B92CC2DE849E}" dt="2024-03-28T09:55:20.434" v="95" actId="20577"/>
      <pc:docMkLst>
        <pc:docMk/>
      </pc:docMkLst>
      <pc:sldChg chg="modSp">
        <pc:chgData name="Suraj Chopade" userId="S::suraj.chopade@bostoninstituteofanalytics.org::dcc44ee8-6a65-4538-a5e1-c87e14ca7a61" providerId="AD" clId="Web-{F70A3BA7-959B-0157-0C72-B92CC2DE849E}" dt="2024-03-28T09:55:20.434" v="95" actId="20577"/>
        <pc:sldMkLst>
          <pc:docMk/>
          <pc:sldMk cId="87802437" sldId="694"/>
        </pc:sldMkLst>
        <pc:spChg chg="mod">
          <ac:chgData name="Suraj Chopade" userId="S::suraj.chopade@bostoninstituteofanalytics.org::dcc44ee8-6a65-4538-a5e1-c87e14ca7a61" providerId="AD" clId="Web-{F70A3BA7-959B-0157-0C72-B92CC2DE849E}" dt="2024-03-28T09:55:20.434" v="95" actId="20577"/>
          <ac:spMkLst>
            <pc:docMk/>
            <pc:sldMk cId="87802437" sldId="694"/>
            <ac:spMk id="3" creationId="{CB071890-575E-F98C-E2A4-BC2D1C459837}"/>
          </ac:spMkLst>
        </pc:spChg>
      </pc:sldChg>
    </pc:docChg>
  </pc:docChgLst>
  <pc:docChgLst>
    <pc:chgData name="Suraj Chopade" userId="S::suraj.chopade@bostoninstituteofanalytics.org::dcc44ee8-6a65-4538-a5e1-c87e14ca7a61" providerId="AD" clId="Web-{908D7143-823F-3D4D-AC89-F3AB2BA811E5}"/>
    <pc:docChg chg="addSld">
      <pc:chgData name="Suraj Chopade" userId="S::suraj.chopade@bostoninstituteofanalytics.org::dcc44ee8-6a65-4538-a5e1-c87e14ca7a61" providerId="AD" clId="Web-{908D7143-823F-3D4D-AC89-F3AB2BA811E5}" dt="2024-07-16T07:50:04.789" v="0"/>
      <pc:docMkLst>
        <pc:docMk/>
      </pc:docMkLst>
      <pc:sldChg chg="add">
        <pc:chgData name="Suraj Chopade" userId="S::suraj.chopade@bostoninstituteofanalytics.org::dcc44ee8-6a65-4538-a5e1-c87e14ca7a61" providerId="AD" clId="Web-{908D7143-823F-3D4D-AC89-F3AB2BA811E5}" dt="2024-07-16T07:50:04.789" v="0"/>
        <pc:sldMkLst>
          <pc:docMk/>
          <pc:sldMk cId="228880180" sldId="566"/>
        </pc:sldMkLst>
      </pc:sldChg>
    </pc:docChg>
  </pc:docChgLst>
  <pc:docChgLst>
    <pc:chgData name="Suraj Chopade" userId="S::suraj.chopade@bostoninstituteofanalytics.org::dcc44ee8-6a65-4538-a5e1-c87e14ca7a61" providerId="AD" clId="Web-{6BC81350-A479-0FA2-17C8-32E35375044A}"/>
    <pc:docChg chg="modSld">
      <pc:chgData name="Suraj Chopade" userId="S::suraj.chopade@bostoninstituteofanalytics.org::dcc44ee8-6a65-4538-a5e1-c87e14ca7a61" providerId="AD" clId="Web-{6BC81350-A479-0FA2-17C8-32E35375044A}" dt="2024-01-17T11:01:18.955" v="20" actId="1076"/>
      <pc:docMkLst>
        <pc:docMk/>
      </pc:docMkLst>
      <pc:sldChg chg="modSp">
        <pc:chgData name="Suraj Chopade" userId="S::suraj.chopade@bostoninstituteofanalytics.org::dcc44ee8-6a65-4538-a5e1-c87e14ca7a61" providerId="AD" clId="Web-{6BC81350-A479-0FA2-17C8-32E35375044A}" dt="2024-01-17T09:16:24.787" v="7" actId="1076"/>
        <pc:sldMkLst>
          <pc:docMk/>
          <pc:sldMk cId="3124510775" sldId="587"/>
        </pc:sldMkLst>
        <pc:spChg chg="mod">
          <ac:chgData name="Suraj Chopade" userId="S::suraj.chopade@bostoninstituteofanalytics.org::dcc44ee8-6a65-4538-a5e1-c87e14ca7a61" providerId="AD" clId="Web-{6BC81350-A479-0FA2-17C8-32E35375044A}" dt="2024-01-17T09:16:03.927" v="5"/>
          <ac:spMkLst>
            <pc:docMk/>
            <pc:sldMk cId="3124510775" sldId="587"/>
            <ac:spMk id="4" creationId="{C5BA2E58-FEC9-D54D-ACC0-E7CEEF5F42E4}"/>
          </ac:spMkLst>
        </pc:spChg>
        <pc:spChg chg="mod">
          <ac:chgData name="Suraj Chopade" userId="S::suraj.chopade@bostoninstituteofanalytics.org::dcc44ee8-6a65-4538-a5e1-c87e14ca7a61" providerId="AD" clId="Web-{6BC81350-A479-0FA2-17C8-32E35375044A}" dt="2024-01-17T09:16:24.787" v="7" actId="1076"/>
          <ac:spMkLst>
            <pc:docMk/>
            <pc:sldMk cId="3124510775" sldId="587"/>
            <ac:spMk id="5" creationId="{AFD65E8A-8191-8F57-DAF1-09FDF14FDAFA}"/>
          </ac:spMkLst>
        </pc:spChg>
      </pc:sldChg>
      <pc:sldChg chg="modSp">
        <pc:chgData name="Suraj Chopade" userId="S::suraj.chopade@bostoninstituteofanalytics.org::dcc44ee8-6a65-4538-a5e1-c87e14ca7a61" providerId="AD" clId="Web-{6BC81350-A479-0FA2-17C8-32E35375044A}" dt="2024-01-17T09:16:32.522" v="8"/>
        <pc:sldMkLst>
          <pc:docMk/>
          <pc:sldMk cId="94448172" sldId="695"/>
        </pc:sldMkLst>
        <pc:spChg chg="mod">
          <ac:chgData name="Suraj Chopade" userId="S::suraj.chopade@bostoninstituteofanalytics.org::dcc44ee8-6a65-4538-a5e1-c87e14ca7a61" providerId="AD" clId="Web-{6BC81350-A479-0FA2-17C8-32E35375044A}" dt="2024-01-17T09:16:32.522" v="8"/>
          <ac:spMkLst>
            <pc:docMk/>
            <pc:sldMk cId="94448172" sldId="695"/>
            <ac:spMk id="5" creationId="{AFD65E8A-8191-8F57-DAF1-09FDF14FDAFA}"/>
          </ac:spMkLst>
        </pc:spChg>
      </pc:sldChg>
      <pc:sldChg chg="modSp">
        <pc:chgData name="Suraj Chopade" userId="S::suraj.chopade@bostoninstituteofanalytics.org::dcc44ee8-6a65-4538-a5e1-c87e14ca7a61" providerId="AD" clId="Web-{6BC81350-A479-0FA2-17C8-32E35375044A}" dt="2024-01-17T09:16:48.944" v="14" actId="1076"/>
        <pc:sldMkLst>
          <pc:docMk/>
          <pc:sldMk cId="1298177897" sldId="697"/>
        </pc:sldMkLst>
        <pc:spChg chg="mod">
          <ac:chgData name="Suraj Chopade" userId="S::suraj.chopade@bostoninstituteofanalytics.org::dcc44ee8-6a65-4538-a5e1-c87e14ca7a61" providerId="AD" clId="Web-{6BC81350-A479-0FA2-17C8-32E35375044A}" dt="2024-01-17T09:16:48.944" v="14" actId="1076"/>
          <ac:spMkLst>
            <pc:docMk/>
            <pc:sldMk cId="1298177897" sldId="697"/>
            <ac:spMk id="5" creationId="{AFD65E8A-8191-8F57-DAF1-09FDF14FDAFA}"/>
          </ac:spMkLst>
        </pc:spChg>
        <pc:spChg chg="mod">
          <ac:chgData name="Suraj Chopade" userId="S::suraj.chopade@bostoninstituteofanalytics.org::dcc44ee8-6a65-4538-a5e1-c87e14ca7a61" providerId="AD" clId="Web-{6BC81350-A479-0FA2-17C8-32E35375044A}" dt="2024-01-17T09:16:44.912" v="12" actId="1076"/>
          <ac:spMkLst>
            <pc:docMk/>
            <pc:sldMk cId="1298177897" sldId="697"/>
            <ac:spMk id="6" creationId="{212039B1-E6E7-15CD-4055-55EBDA4566B4}"/>
          </ac:spMkLst>
        </pc:spChg>
      </pc:sldChg>
      <pc:sldChg chg="modSp">
        <pc:chgData name="Suraj Chopade" userId="S::suraj.chopade@bostoninstituteofanalytics.org::dcc44ee8-6a65-4538-a5e1-c87e14ca7a61" providerId="AD" clId="Web-{6BC81350-A479-0FA2-17C8-32E35375044A}" dt="2024-01-17T08:57:04.922" v="4"/>
        <pc:sldMkLst>
          <pc:docMk/>
          <pc:sldMk cId="1802460900" sldId="701"/>
        </pc:sldMkLst>
        <pc:spChg chg="mod">
          <ac:chgData name="Suraj Chopade" userId="S::suraj.chopade@bostoninstituteofanalytics.org::dcc44ee8-6a65-4538-a5e1-c87e14ca7a61" providerId="AD" clId="Web-{6BC81350-A479-0FA2-17C8-32E35375044A}" dt="2024-01-17T08:57:04.922" v="4"/>
          <ac:spMkLst>
            <pc:docMk/>
            <pc:sldMk cId="1802460900" sldId="701"/>
            <ac:spMk id="6" creationId="{212039B1-E6E7-15CD-4055-55EBDA4566B4}"/>
          </ac:spMkLst>
        </pc:spChg>
      </pc:sldChg>
      <pc:sldChg chg="modSp">
        <pc:chgData name="Suraj Chopade" userId="S::suraj.chopade@bostoninstituteofanalytics.org::dcc44ee8-6a65-4538-a5e1-c87e14ca7a61" providerId="AD" clId="Web-{6BC81350-A479-0FA2-17C8-32E35375044A}" dt="2024-01-17T08:56:56.734" v="3"/>
        <pc:sldMkLst>
          <pc:docMk/>
          <pc:sldMk cId="251482306" sldId="702"/>
        </pc:sldMkLst>
        <pc:spChg chg="mod">
          <ac:chgData name="Suraj Chopade" userId="S::suraj.chopade@bostoninstituteofanalytics.org::dcc44ee8-6a65-4538-a5e1-c87e14ca7a61" providerId="AD" clId="Web-{6BC81350-A479-0FA2-17C8-32E35375044A}" dt="2024-01-17T08:56:56.718" v="2"/>
          <ac:spMkLst>
            <pc:docMk/>
            <pc:sldMk cId="251482306" sldId="702"/>
            <ac:spMk id="5" creationId="{AFD65E8A-8191-8F57-DAF1-09FDF14FDAFA}"/>
          </ac:spMkLst>
        </pc:spChg>
        <pc:spChg chg="mod">
          <ac:chgData name="Suraj Chopade" userId="S::suraj.chopade@bostoninstituteofanalytics.org::dcc44ee8-6a65-4538-a5e1-c87e14ca7a61" providerId="AD" clId="Web-{6BC81350-A479-0FA2-17C8-32E35375044A}" dt="2024-01-17T08:56:56.734" v="3"/>
          <ac:spMkLst>
            <pc:docMk/>
            <pc:sldMk cId="251482306" sldId="702"/>
            <ac:spMk id="6" creationId="{212039B1-E6E7-15CD-4055-55EBDA4566B4}"/>
          </ac:spMkLst>
        </pc:spChg>
      </pc:sldChg>
      <pc:sldChg chg="modSp">
        <pc:chgData name="Suraj Chopade" userId="S::suraj.chopade@bostoninstituteofanalytics.org::dcc44ee8-6a65-4538-a5e1-c87e14ca7a61" providerId="AD" clId="Web-{6BC81350-A479-0FA2-17C8-32E35375044A}" dt="2024-01-17T08:56:50.593" v="1"/>
        <pc:sldMkLst>
          <pc:docMk/>
          <pc:sldMk cId="3729561312" sldId="703"/>
        </pc:sldMkLst>
        <pc:spChg chg="mod">
          <ac:chgData name="Suraj Chopade" userId="S::suraj.chopade@bostoninstituteofanalytics.org::dcc44ee8-6a65-4538-a5e1-c87e14ca7a61" providerId="AD" clId="Web-{6BC81350-A479-0FA2-17C8-32E35375044A}" dt="2024-01-17T08:56:50.578" v="0"/>
          <ac:spMkLst>
            <pc:docMk/>
            <pc:sldMk cId="3729561312" sldId="703"/>
            <ac:spMk id="5" creationId="{AFD65E8A-8191-8F57-DAF1-09FDF14FDAFA}"/>
          </ac:spMkLst>
        </pc:spChg>
        <pc:spChg chg="mod">
          <ac:chgData name="Suraj Chopade" userId="S::suraj.chopade@bostoninstituteofanalytics.org::dcc44ee8-6a65-4538-a5e1-c87e14ca7a61" providerId="AD" clId="Web-{6BC81350-A479-0FA2-17C8-32E35375044A}" dt="2024-01-17T08:56:50.593" v="1"/>
          <ac:spMkLst>
            <pc:docMk/>
            <pc:sldMk cId="3729561312" sldId="703"/>
            <ac:spMk id="6" creationId="{212039B1-E6E7-15CD-4055-55EBDA4566B4}"/>
          </ac:spMkLst>
        </pc:spChg>
      </pc:sldChg>
      <pc:sldChg chg="modSp">
        <pc:chgData name="Suraj Chopade" userId="S::suraj.chopade@bostoninstituteofanalytics.org::dcc44ee8-6a65-4538-a5e1-c87e14ca7a61" providerId="AD" clId="Web-{6BC81350-A479-0FA2-17C8-32E35375044A}" dt="2024-01-17T11:01:08.643" v="17" actId="1076"/>
        <pc:sldMkLst>
          <pc:docMk/>
          <pc:sldMk cId="2328412058" sldId="707"/>
        </pc:sldMkLst>
        <pc:spChg chg="mod">
          <ac:chgData name="Suraj Chopade" userId="S::suraj.chopade@bostoninstituteofanalytics.org::dcc44ee8-6a65-4538-a5e1-c87e14ca7a61" providerId="AD" clId="Web-{6BC81350-A479-0FA2-17C8-32E35375044A}" dt="2024-01-17T11:01:08.643" v="17" actId="1076"/>
          <ac:spMkLst>
            <pc:docMk/>
            <pc:sldMk cId="2328412058" sldId="707"/>
            <ac:spMk id="5" creationId="{AFD65E8A-8191-8F57-DAF1-09FDF14FDAFA}"/>
          </ac:spMkLst>
        </pc:spChg>
        <pc:spChg chg="mod">
          <ac:chgData name="Suraj Chopade" userId="S::suraj.chopade@bostoninstituteofanalytics.org::dcc44ee8-6a65-4538-a5e1-c87e14ca7a61" providerId="AD" clId="Web-{6BC81350-A479-0FA2-17C8-32E35375044A}" dt="2024-01-17T11:01:05.064" v="16"/>
          <ac:spMkLst>
            <pc:docMk/>
            <pc:sldMk cId="2328412058" sldId="707"/>
            <ac:spMk id="6" creationId="{212039B1-E6E7-15CD-4055-55EBDA4566B4}"/>
          </ac:spMkLst>
        </pc:spChg>
      </pc:sldChg>
      <pc:sldChg chg="modSp">
        <pc:chgData name="Suraj Chopade" userId="S::suraj.chopade@bostoninstituteofanalytics.org::dcc44ee8-6a65-4538-a5e1-c87e14ca7a61" providerId="AD" clId="Web-{6BC81350-A479-0FA2-17C8-32E35375044A}" dt="2024-01-17T11:01:18.955" v="20" actId="1076"/>
        <pc:sldMkLst>
          <pc:docMk/>
          <pc:sldMk cId="2927813087" sldId="708"/>
        </pc:sldMkLst>
        <pc:spChg chg="mod">
          <ac:chgData name="Suraj Chopade" userId="S::suraj.chopade@bostoninstituteofanalytics.org::dcc44ee8-6a65-4538-a5e1-c87e14ca7a61" providerId="AD" clId="Web-{6BC81350-A479-0FA2-17C8-32E35375044A}" dt="2024-01-17T11:01:18.955" v="20" actId="1076"/>
          <ac:spMkLst>
            <pc:docMk/>
            <pc:sldMk cId="2927813087" sldId="708"/>
            <ac:spMk id="5" creationId="{AFD65E8A-8191-8F57-DAF1-09FDF14FDAFA}"/>
          </ac:spMkLst>
        </pc:spChg>
        <pc:spChg chg="mod">
          <ac:chgData name="Suraj Chopade" userId="S::suraj.chopade@bostoninstituteofanalytics.org::dcc44ee8-6a65-4538-a5e1-c87e14ca7a61" providerId="AD" clId="Web-{6BC81350-A479-0FA2-17C8-32E35375044A}" dt="2024-01-17T11:01:13.471" v="19"/>
          <ac:spMkLst>
            <pc:docMk/>
            <pc:sldMk cId="2927813087" sldId="708"/>
            <ac:spMk id="6" creationId="{212039B1-E6E7-15CD-4055-55EBDA4566B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16-07-2024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3</a:t>
            </a:fld>
            <a:endParaRPr lang="en-IN" dirty="0"/>
          </a:p>
        </p:txBody>
      </p:sp>
    </p:spTree>
    <p:extLst>
      <p:ext uri="{BB962C8B-B14F-4D97-AF65-F5344CB8AC3E}">
        <p14:creationId xmlns:p14="http://schemas.microsoft.com/office/powerpoint/2010/main" val="4069918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4</a:t>
            </a:fld>
            <a:endParaRPr lang="en-IN" dirty="0"/>
          </a:p>
        </p:txBody>
      </p:sp>
    </p:spTree>
    <p:extLst>
      <p:ext uri="{BB962C8B-B14F-4D97-AF65-F5344CB8AC3E}">
        <p14:creationId xmlns:p14="http://schemas.microsoft.com/office/powerpoint/2010/main" val="1371599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5</a:t>
            </a:fld>
            <a:endParaRPr lang="en-IN" dirty="0"/>
          </a:p>
        </p:txBody>
      </p:sp>
    </p:spTree>
    <p:extLst>
      <p:ext uri="{BB962C8B-B14F-4D97-AF65-F5344CB8AC3E}">
        <p14:creationId xmlns:p14="http://schemas.microsoft.com/office/powerpoint/2010/main" val="1432094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3198369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3499144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8</a:t>
            </a:fld>
            <a:endParaRPr lang="en-IN" dirty="0"/>
          </a:p>
        </p:txBody>
      </p:sp>
    </p:spTree>
    <p:extLst>
      <p:ext uri="{BB962C8B-B14F-4D97-AF65-F5344CB8AC3E}">
        <p14:creationId xmlns:p14="http://schemas.microsoft.com/office/powerpoint/2010/main" val="711707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9</a:t>
            </a:fld>
            <a:endParaRPr lang="en-IN" dirty="0"/>
          </a:p>
        </p:txBody>
      </p:sp>
    </p:spTree>
    <p:extLst>
      <p:ext uri="{BB962C8B-B14F-4D97-AF65-F5344CB8AC3E}">
        <p14:creationId xmlns:p14="http://schemas.microsoft.com/office/powerpoint/2010/main" val="1514374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10</a:t>
            </a:fld>
            <a:endParaRPr lang="en-IN" dirty="0"/>
          </a:p>
        </p:txBody>
      </p:sp>
    </p:spTree>
    <p:extLst>
      <p:ext uri="{BB962C8B-B14F-4D97-AF65-F5344CB8AC3E}">
        <p14:creationId xmlns:p14="http://schemas.microsoft.com/office/powerpoint/2010/main" val="3585639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dirty="0"/>
          </a:p>
        </p:txBody>
      </p:sp>
    </p:spTree>
    <p:extLst>
      <p:ext uri="{BB962C8B-B14F-4D97-AF65-F5344CB8AC3E}">
        <p14:creationId xmlns:p14="http://schemas.microsoft.com/office/powerpoint/2010/main" val="1419720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12</a:t>
            </a:fld>
            <a:endParaRPr lang="en-IN" dirty="0"/>
          </a:p>
        </p:txBody>
      </p:sp>
    </p:spTree>
    <p:extLst>
      <p:ext uri="{BB962C8B-B14F-4D97-AF65-F5344CB8AC3E}">
        <p14:creationId xmlns:p14="http://schemas.microsoft.com/office/powerpoint/2010/main" val="167806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13</a:t>
            </a:fld>
            <a:endParaRPr lang="en-IN" dirty="0"/>
          </a:p>
        </p:txBody>
      </p:sp>
    </p:spTree>
    <p:extLst>
      <p:ext uri="{BB962C8B-B14F-4D97-AF65-F5344CB8AC3E}">
        <p14:creationId xmlns:p14="http://schemas.microsoft.com/office/powerpoint/2010/main" val="2162926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14</a:t>
            </a:fld>
            <a:endParaRPr lang="en-IN" dirty="0"/>
          </a:p>
        </p:txBody>
      </p:sp>
    </p:spTree>
    <p:extLst>
      <p:ext uri="{BB962C8B-B14F-4D97-AF65-F5344CB8AC3E}">
        <p14:creationId xmlns:p14="http://schemas.microsoft.com/office/powerpoint/2010/main" val="38318477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15</a:t>
            </a:fld>
            <a:endParaRPr lang="en-IN" dirty="0"/>
          </a:p>
        </p:txBody>
      </p:sp>
    </p:spTree>
    <p:extLst>
      <p:ext uri="{BB962C8B-B14F-4D97-AF65-F5344CB8AC3E}">
        <p14:creationId xmlns:p14="http://schemas.microsoft.com/office/powerpoint/2010/main" val="22093497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Use .</a:t>
            </a:r>
            <a:r>
              <a:rPr lang="en-IN" b="1" dirty="0" err="1"/>
              <a:t>ipynb</a:t>
            </a:r>
            <a:r>
              <a:rPr lang="en-IN" b="1" dirty="0"/>
              <a:t> File for this exercise (in Google </a:t>
            </a:r>
            <a:r>
              <a:rPr lang="en-IN" b="1" dirty="0" err="1"/>
              <a:t>Colab</a:t>
            </a:r>
            <a:r>
              <a:rPr lang="en-IN" b="1" dirty="0"/>
              <a:t>)</a:t>
            </a:r>
          </a:p>
        </p:txBody>
      </p:sp>
      <p:sp>
        <p:nvSpPr>
          <p:cNvPr id="4" name="Slide Number Placeholder 3"/>
          <p:cNvSpPr>
            <a:spLocks noGrp="1"/>
          </p:cNvSpPr>
          <p:nvPr>
            <p:ph type="sldNum" sz="quarter" idx="5"/>
          </p:nvPr>
        </p:nvSpPr>
        <p:spPr/>
        <p:txBody>
          <a:bodyPr/>
          <a:lstStyle/>
          <a:p>
            <a:fld id="{47FFB008-8E38-46F5-BCB9-8CFEF233CF3A}" type="slidenum">
              <a:rPr lang="en-IN" smtClean="0"/>
              <a:t>16</a:t>
            </a:fld>
            <a:endParaRPr lang="en-IN" dirty="0"/>
          </a:p>
        </p:txBody>
      </p:sp>
    </p:spTree>
    <p:extLst>
      <p:ext uri="{BB962C8B-B14F-4D97-AF65-F5344CB8AC3E}">
        <p14:creationId xmlns:p14="http://schemas.microsoft.com/office/powerpoint/2010/main" val="35879725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kaggle.com/code/paultimothymooney/fine-tune-flan-t5-with-peft-lora-deeplearning-ai" TargetMode="External"/><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a:ea typeface="Calibri"/>
                <a:cs typeface="Calibri"/>
              </a:rPr>
              <a:t>Advanced Fine-tuning and Model Evaluation</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2F6A-E89F-45D0-4C37-F8D123D863FF}"/>
              </a:ext>
            </a:extLst>
          </p:cNvPr>
          <p:cNvSpPr>
            <a:spLocks noGrp="1"/>
          </p:cNvSpPr>
          <p:nvPr>
            <p:ph type="title"/>
          </p:nvPr>
        </p:nvSpPr>
        <p:spPr/>
        <p:txBody>
          <a:bodyPr/>
          <a:lstStyle/>
          <a:p>
            <a:r>
              <a:rPr lang="en-US" dirty="0">
                <a:latin typeface="Calibri"/>
                <a:cs typeface="Calibri"/>
              </a:rPr>
              <a:t>Trainer Guidelines for Conducting Class</a:t>
            </a:r>
            <a:endParaRPr lang="en-US" dirty="0"/>
          </a:p>
        </p:txBody>
      </p:sp>
      <p:sp>
        <p:nvSpPr>
          <p:cNvPr id="3" name="Content Placeholder 2">
            <a:extLst>
              <a:ext uri="{FF2B5EF4-FFF2-40B4-BE49-F238E27FC236}">
                <a16:creationId xmlns:a16="http://schemas.microsoft.com/office/drawing/2014/main" id="{9CA356E4-99F9-93BD-8697-B5FE13DDA948}"/>
              </a:ext>
            </a:extLst>
          </p:cNvPr>
          <p:cNvSpPr>
            <a:spLocks noGrp="1"/>
          </p:cNvSpPr>
          <p:nvPr>
            <p:ph idx="1"/>
          </p:nvPr>
        </p:nvSpPr>
        <p:spPr/>
        <p:txBody>
          <a:bodyPr vert="horz" lIns="91440" tIns="45720" rIns="91440" bIns="45720" rtlCol="0" anchor="t">
            <a:normAutofit fontScale="77500" lnSpcReduction="20000"/>
          </a:bodyPr>
          <a:lstStyle/>
          <a:p>
            <a:endParaRPr lang="en-US" dirty="0">
              <a:latin typeface="Calibri"/>
              <a:cs typeface="Calibri"/>
            </a:endParaRPr>
          </a:p>
          <a:p>
            <a:r>
              <a:rPr lang="en-US" dirty="0">
                <a:latin typeface="Calibri"/>
                <a:cs typeface="Calibri"/>
              </a:rPr>
              <a:t>Solve questions live by creating </a:t>
            </a:r>
            <a:r>
              <a:rPr lang="en-US" b="1" dirty="0">
                <a:latin typeface="Calibri"/>
                <a:cs typeface="Calibri"/>
              </a:rPr>
              <a:t>new blank files</a:t>
            </a:r>
            <a:r>
              <a:rPr lang="en-US" dirty="0">
                <a:latin typeface="Calibri"/>
                <a:cs typeface="Calibri"/>
              </a:rPr>
              <a:t> (Excel, Python, </a:t>
            </a:r>
            <a:r>
              <a:rPr lang="en-US" err="1">
                <a:latin typeface="Calibri"/>
                <a:cs typeface="Calibri"/>
              </a:rPr>
              <a:t>Jupyter</a:t>
            </a:r>
            <a:r>
              <a:rPr lang="en-US" dirty="0">
                <a:latin typeface="Calibri"/>
                <a:cs typeface="Calibri"/>
              </a:rPr>
              <a:t> notebook, Dashboard) during the session, rather than sharing completed solutions.</a:t>
            </a:r>
            <a:endParaRPr lang="en-US" dirty="0">
              <a:latin typeface="Calibri"/>
              <a:cs typeface="Calibri" panose="020F0502020204030204" pitchFamily="34" charset="0"/>
            </a:endParaRPr>
          </a:p>
          <a:p>
            <a:endParaRPr lang="en-US" dirty="0">
              <a:latin typeface="Calibri"/>
              <a:cs typeface="Calibri"/>
            </a:endParaRPr>
          </a:p>
          <a:p>
            <a:r>
              <a:rPr lang="en-US" dirty="0">
                <a:latin typeface="Calibri"/>
                <a:cs typeface="Calibri"/>
              </a:rPr>
              <a:t>Review teaching materials and solutions beforehand, and prepare additional examples to reinforce learning.</a:t>
            </a:r>
          </a:p>
          <a:p>
            <a:endParaRPr lang="en-US" dirty="0">
              <a:latin typeface="Calibri"/>
              <a:cs typeface="Calibri"/>
            </a:endParaRPr>
          </a:p>
          <a:p>
            <a:r>
              <a:rPr lang="en-US" dirty="0">
                <a:latin typeface="Calibri"/>
                <a:cs typeface="Calibri"/>
              </a:rPr>
              <a:t>Ensure online students can hear you and see the screen clearly at all times.</a:t>
            </a:r>
          </a:p>
          <a:p>
            <a:endParaRPr lang="en-US" dirty="0">
              <a:latin typeface="Calibri"/>
              <a:cs typeface="Calibri"/>
            </a:endParaRPr>
          </a:p>
          <a:p>
            <a:r>
              <a:rPr lang="en-US" dirty="0">
                <a:latin typeface="Calibri"/>
                <a:cs typeface="Calibri"/>
              </a:rPr>
              <a:t>Test your computer and necessary software before class begins.</a:t>
            </a:r>
          </a:p>
          <a:p>
            <a:endParaRPr lang="en-US" dirty="0">
              <a:latin typeface="Calibri"/>
              <a:cs typeface="Calibri"/>
            </a:endParaRPr>
          </a:p>
          <a:p>
            <a:r>
              <a:rPr lang="en-US" dirty="0">
                <a:latin typeface="Calibri"/>
                <a:cs typeface="Calibri"/>
              </a:rPr>
              <a:t>Check with online students every 15-20 minutes to see if they understand the material and have any questions.</a:t>
            </a:r>
            <a:endParaRPr lang="en-US"/>
          </a:p>
        </p:txBody>
      </p:sp>
    </p:spTree>
    <p:extLst>
      <p:ext uri="{BB962C8B-B14F-4D97-AF65-F5344CB8AC3E}">
        <p14:creationId xmlns:p14="http://schemas.microsoft.com/office/powerpoint/2010/main" val="228880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Agenda</a:t>
            </a:r>
          </a:p>
        </p:txBody>
      </p:sp>
      <p:sp>
        <p:nvSpPr>
          <p:cNvPr id="5" name="Content Placeholder 2">
            <a:extLst>
              <a:ext uri="{FF2B5EF4-FFF2-40B4-BE49-F238E27FC236}">
                <a16:creationId xmlns:a16="http://schemas.microsoft.com/office/drawing/2014/main" id="{A9AAC721-0665-1382-22BD-DF794AA9B8D6}"/>
              </a:ext>
            </a:extLst>
          </p:cNvPr>
          <p:cNvSpPr txBox="1">
            <a:spLocks/>
          </p:cNvSpPr>
          <p:nvPr/>
        </p:nvSpPr>
        <p:spPr>
          <a:xfrm>
            <a:off x="679450" y="1405768"/>
            <a:ext cx="10833100" cy="3825874"/>
          </a:xfrm>
          <a:prstGeom prst="rect">
            <a:avLst/>
          </a:prstGeom>
        </p:spPr>
        <p:txBody>
          <a:bodyPr vert="horz" lIns="0" tIns="0" rIns="0" bIns="0" numCol="2" spcCol="720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374151"/>
                </a:solidFill>
                <a:latin typeface="+mn-lt"/>
              </a:rPr>
              <a:t>Overview of Advanced Fine-tuning Techniques</a:t>
            </a:r>
          </a:p>
          <a:p>
            <a:r>
              <a:rPr lang="en-US" sz="2400" dirty="0">
                <a:solidFill>
                  <a:srgbClr val="374151"/>
                </a:solidFill>
                <a:latin typeface="+mn-lt"/>
              </a:rPr>
              <a:t>Prompt Engineering and its Impact on Generated Text</a:t>
            </a:r>
          </a:p>
          <a:p>
            <a:r>
              <a:rPr lang="en-US" sz="2400" dirty="0">
                <a:solidFill>
                  <a:srgbClr val="374151"/>
                </a:solidFill>
                <a:latin typeface="+mn-lt"/>
              </a:rPr>
              <a:t>Exploring Techniques: Beam Search and Nucleus Sampling</a:t>
            </a:r>
          </a:p>
          <a:p>
            <a:r>
              <a:rPr lang="en-US" sz="2400" dirty="0">
                <a:solidFill>
                  <a:srgbClr val="374151"/>
                </a:solidFill>
                <a:latin typeface="+mn-lt"/>
              </a:rPr>
              <a:t>Conditional Text Generation based on Specific Contexts</a:t>
            </a:r>
          </a:p>
          <a:p>
            <a:r>
              <a:rPr lang="en-US" sz="2400" dirty="0">
                <a:solidFill>
                  <a:srgbClr val="374151"/>
                </a:solidFill>
                <a:latin typeface="+mn-lt"/>
              </a:rPr>
              <a:t>Text-to-Speech and Speech-to-Text Integration with Hugging Face</a:t>
            </a:r>
          </a:p>
          <a:p>
            <a:r>
              <a:rPr lang="en-US" sz="2400" dirty="0">
                <a:solidFill>
                  <a:srgbClr val="374151"/>
                </a:solidFill>
                <a:latin typeface="+mn-lt"/>
              </a:rPr>
              <a:t>Model Evaluation Techniques</a:t>
            </a:r>
          </a:p>
          <a:p>
            <a:r>
              <a:rPr lang="en-US" sz="2400" dirty="0">
                <a:solidFill>
                  <a:srgbClr val="374151"/>
                </a:solidFill>
                <a:latin typeface="+mn-lt"/>
              </a:rPr>
              <a:t>Going beyond BLEU and ROUGE: Exploring Advanced Metrics</a:t>
            </a:r>
          </a:p>
          <a:p>
            <a:r>
              <a:rPr lang="en-US" sz="2400" dirty="0">
                <a:solidFill>
                  <a:srgbClr val="374151"/>
                </a:solidFill>
                <a:latin typeface="+mn-lt"/>
              </a:rPr>
              <a:t>Qualitative Analysis of Generated Text and Summarization Outputs</a:t>
            </a:r>
          </a:p>
          <a:p>
            <a:r>
              <a:rPr lang="en-US" sz="2400" dirty="0">
                <a:solidFill>
                  <a:srgbClr val="374151"/>
                </a:solidFill>
                <a:latin typeface="+mn-lt"/>
              </a:rPr>
              <a:t>Understanding the Importance of Human Evaluation in Generative Models</a:t>
            </a:r>
          </a:p>
          <a:p>
            <a:r>
              <a:rPr lang="en-US" sz="2400" dirty="0">
                <a:solidFill>
                  <a:srgbClr val="374151"/>
                </a:solidFill>
                <a:latin typeface="+mn-lt"/>
              </a:rPr>
              <a:t>Hands-on Session: Fine-tuning with Advanced Techniques and Text-to-Speech/Speech-to-Text</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pPr algn="l"/>
            <a:r>
              <a:rPr lang="en-IN" dirty="0">
                <a:latin typeface="Calibri"/>
                <a:cs typeface="Calibri"/>
              </a:rPr>
              <a:t>Fine-tuning for Precision</a:t>
            </a:r>
            <a:endParaRPr lang="en-US" dirty="0">
              <a:latin typeface="Calibri"/>
              <a:cs typeface="Calibri"/>
            </a:endParaRPr>
          </a:p>
        </p:txBody>
      </p:sp>
      <p:sp>
        <p:nvSpPr>
          <p:cNvPr id="5" name="TextBox 4">
            <a:extLst>
              <a:ext uri="{FF2B5EF4-FFF2-40B4-BE49-F238E27FC236}">
                <a16:creationId xmlns:a16="http://schemas.microsoft.com/office/drawing/2014/main" id="{AFD65E8A-8191-8F57-DAF1-09FDF14FDAFA}"/>
              </a:ext>
            </a:extLst>
          </p:cNvPr>
          <p:cNvSpPr txBox="1"/>
          <p:nvPr/>
        </p:nvSpPr>
        <p:spPr>
          <a:xfrm>
            <a:off x="680979" y="1384322"/>
            <a:ext cx="10949010" cy="4154984"/>
          </a:xfrm>
          <a:prstGeom prst="rect">
            <a:avLst/>
          </a:prstGeom>
          <a:noFill/>
        </p:spPr>
        <p:txBody>
          <a:bodyPr wrap="square">
            <a:spAutoFit/>
          </a:bodyPr>
          <a:lstStyle/>
          <a:p>
            <a:pPr marL="342900" indent="-342900" algn="l">
              <a:buFont typeface="+mj-lt"/>
              <a:buAutoNum type="arabicPeriod"/>
            </a:pPr>
            <a:r>
              <a:rPr lang="en-US" sz="2200" b="1" i="0" dirty="0">
                <a:solidFill>
                  <a:srgbClr val="374151"/>
                </a:solidFill>
                <a:effectLst/>
                <a:latin typeface="Calibri"/>
                <a:cs typeface="Calibri"/>
              </a:rPr>
              <a:t>Recap of Basic Fine-tuning:</a:t>
            </a:r>
            <a:endParaRPr lang="en-US" sz="2200" b="0" i="0" dirty="0">
              <a:solidFill>
                <a:srgbClr val="374151"/>
              </a:solidFill>
              <a:effectLst/>
              <a:latin typeface="Calibri"/>
              <a:cs typeface="Calibri"/>
            </a:endParaRPr>
          </a:p>
          <a:p>
            <a:pPr marL="800100" lvl="1" indent="-342900" algn="l">
              <a:buFont typeface="+mj-lt"/>
              <a:buAutoNum type="arabicPeriod"/>
            </a:pPr>
            <a:r>
              <a:rPr lang="en-US" sz="2200" b="0" i="0" dirty="0">
                <a:solidFill>
                  <a:srgbClr val="374151"/>
                </a:solidFill>
                <a:effectLst/>
                <a:latin typeface="Calibri"/>
                <a:cs typeface="Calibri"/>
              </a:rPr>
              <a:t>Brief overview of adjusting pre-trained models.</a:t>
            </a:r>
          </a:p>
          <a:p>
            <a:pPr marL="800100" lvl="1" indent="-342900" algn="l">
              <a:buFont typeface="+mj-lt"/>
              <a:buAutoNum type="arabicPeriod"/>
            </a:pPr>
            <a:r>
              <a:rPr lang="en-US" sz="2200" b="0" i="0" dirty="0">
                <a:solidFill>
                  <a:srgbClr val="374151"/>
                </a:solidFill>
                <a:effectLst/>
                <a:latin typeface="Calibri"/>
                <a:cs typeface="Calibri"/>
              </a:rPr>
              <a:t>Bridge between general-purpose and specialized applications.</a:t>
            </a:r>
          </a:p>
          <a:p>
            <a:pPr marL="342900" indent="-342900" algn="l">
              <a:buFont typeface="+mj-lt"/>
              <a:buAutoNum type="arabicPeriod"/>
            </a:pPr>
            <a:r>
              <a:rPr lang="en-US" sz="2200" b="1" i="0" dirty="0">
                <a:solidFill>
                  <a:srgbClr val="374151"/>
                </a:solidFill>
                <a:effectLst/>
                <a:latin typeface="Calibri"/>
                <a:cs typeface="Calibri"/>
              </a:rPr>
              <a:t>Deep Dive into Advanced Techniques:</a:t>
            </a:r>
            <a:endParaRPr lang="en-US" sz="2200" b="0" i="0" dirty="0">
              <a:solidFill>
                <a:srgbClr val="374151"/>
              </a:solidFill>
              <a:effectLst/>
              <a:latin typeface="Calibri"/>
              <a:cs typeface="Calibri"/>
            </a:endParaRPr>
          </a:p>
          <a:p>
            <a:pPr marL="800100" lvl="1" indent="-342900" algn="l">
              <a:buFont typeface="+mj-lt"/>
              <a:buAutoNum type="arabicPeriod"/>
            </a:pPr>
            <a:r>
              <a:rPr lang="en-US" sz="2200" b="0" i="0" dirty="0">
                <a:solidFill>
                  <a:srgbClr val="374151"/>
                </a:solidFill>
                <a:effectLst/>
                <a:latin typeface="Calibri"/>
                <a:cs typeface="Calibri"/>
              </a:rPr>
              <a:t>Beyond parameter adjustments for refined model behavior.</a:t>
            </a:r>
          </a:p>
          <a:p>
            <a:pPr marL="800100" lvl="1" indent="-342900" algn="l">
              <a:buFont typeface="+mj-lt"/>
              <a:buAutoNum type="arabicPeriod"/>
            </a:pPr>
            <a:r>
              <a:rPr lang="en-US" sz="2200" b="0" i="0" dirty="0">
                <a:solidFill>
                  <a:srgbClr val="374151"/>
                </a:solidFill>
                <a:effectLst/>
                <a:latin typeface="Calibri"/>
                <a:cs typeface="Calibri"/>
              </a:rPr>
              <a:t>Enhancing precision in generative model outputs.</a:t>
            </a:r>
          </a:p>
          <a:p>
            <a:pPr marL="342900" indent="-342900" algn="l">
              <a:buFont typeface="+mj-lt"/>
              <a:buAutoNum type="arabicPeriod"/>
            </a:pPr>
            <a:r>
              <a:rPr lang="en-US" sz="2200" b="1" i="0" dirty="0">
                <a:solidFill>
                  <a:srgbClr val="374151"/>
                </a:solidFill>
                <a:effectLst/>
                <a:latin typeface="Calibri"/>
                <a:cs typeface="Calibri"/>
              </a:rPr>
              <a:t>Prompt Engineering Impact:</a:t>
            </a:r>
            <a:endParaRPr lang="en-US" sz="2200" b="0" i="0" dirty="0">
              <a:solidFill>
                <a:srgbClr val="374151"/>
              </a:solidFill>
              <a:effectLst/>
              <a:latin typeface="Calibri"/>
              <a:cs typeface="Calibri"/>
            </a:endParaRPr>
          </a:p>
          <a:p>
            <a:pPr marL="800100" lvl="1" indent="-342900" algn="l">
              <a:buFont typeface="+mj-lt"/>
              <a:buAutoNum type="arabicPeriod"/>
            </a:pPr>
            <a:r>
              <a:rPr lang="en-US" sz="2200" b="0" i="0" dirty="0">
                <a:solidFill>
                  <a:srgbClr val="374151"/>
                </a:solidFill>
                <a:effectLst/>
                <a:latin typeface="Calibri"/>
                <a:cs typeface="Calibri"/>
              </a:rPr>
              <a:t>Crafting input prompts for influence.</a:t>
            </a:r>
          </a:p>
          <a:p>
            <a:pPr marL="800100" lvl="1" indent="-342900" algn="l">
              <a:buFont typeface="+mj-lt"/>
              <a:buAutoNum type="arabicPeriod"/>
            </a:pPr>
            <a:r>
              <a:rPr lang="en-US" sz="2200" b="0" i="0" dirty="0">
                <a:solidFill>
                  <a:srgbClr val="374151"/>
                </a:solidFill>
                <a:effectLst/>
                <a:latin typeface="Calibri"/>
                <a:cs typeface="Calibri"/>
              </a:rPr>
              <a:t>Significant impact on generated text quality.</a:t>
            </a:r>
          </a:p>
          <a:p>
            <a:pPr marL="342900" indent="-342900" algn="l">
              <a:buFont typeface="+mj-lt"/>
              <a:buAutoNum type="arabicPeriod"/>
            </a:pPr>
            <a:r>
              <a:rPr lang="en-US" sz="2200" b="1" i="0" dirty="0">
                <a:solidFill>
                  <a:srgbClr val="374151"/>
                </a:solidFill>
                <a:effectLst/>
                <a:latin typeface="Calibri"/>
                <a:cs typeface="Calibri"/>
              </a:rPr>
              <a:t>Exploration of Techniques:</a:t>
            </a:r>
            <a:endParaRPr lang="en-US" sz="2200" b="0" i="0" dirty="0">
              <a:solidFill>
                <a:srgbClr val="374151"/>
              </a:solidFill>
              <a:effectLst/>
              <a:latin typeface="Calibri"/>
              <a:cs typeface="Calibri"/>
            </a:endParaRPr>
          </a:p>
          <a:p>
            <a:pPr marL="800100" lvl="1" indent="-342900" algn="l">
              <a:buFont typeface="+mj-lt"/>
              <a:buAutoNum type="arabicPeriod"/>
            </a:pPr>
            <a:r>
              <a:rPr lang="en-US" sz="2200" b="0" i="0" dirty="0">
                <a:solidFill>
                  <a:srgbClr val="374151"/>
                </a:solidFill>
                <a:effectLst/>
                <a:latin typeface="Calibri"/>
                <a:cs typeface="Calibri"/>
              </a:rPr>
              <a:t>Beam Search and Nucleus Sampling.</a:t>
            </a:r>
          </a:p>
          <a:p>
            <a:pPr marL="800100" lvl="1" indent="-342900" algn="l">
              <a:buFont typeface="+mj-lt"/>
              <a:buAutoNum type="arabicPeriod"/>
            </a:pPr>
            <a:r>
              <a:rPr lang="en-US" sz="2200" b="0" i="0" dirty="0">
                <a:solidFill>
                  <a:srgbClr val="374151"/>
                </a:solidFill>
                <a:effectLst/>
                <a:latin typeface="Calibri"/>
                <a:cs typeface="Calibri"/>
              </a:rPr>
              <a:t>Improving coherence and context relevance.</a:t>
            </a:r>
          </a:p>
        </p:txBody>
      </p:sp>
    </p:spTree>
    <p:extLst>
      <p:ext uri="{BB962C8B-B14F-4D97-AF65-F5344CB8AC3E}">
        <p14:creationId xmlns:p14="http://schemas.microsoft.com/office/powerpoint/2010/main" val="3124510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5" y="1384322"/>
            <a:ext cx="10949010" cy="4093428"/>
          </a:xfrm>
          <a:prstGeom prst="rect">
            <a:avLst/>
          </a:prstGeom>
          <a:noFill/>
        </p:spPr>
        <p:txBody>
          <a:bodyPr wrap="square">
            <a:spAutoFit/>
          </a:bodyPr>
          <a:lstStyle/>
          <a:p>
            <a:pPr algn="l"/>
            <a:r>
              <a:rPr lang="en-US" sz="2000" b="0" i="0" dirty="0">
                <a:solidFill>
                  <a:srgbClr val="374151"/>
                </a:solidFill>
                <a:effectLst/>
                <a:latin typeface="Calibri"/>
                <a:cs typeface="Calibri"/>
              </a:rPr>
              <a:t>Conditional Text Generation involves using pre-trained language models to generate text based on specified conditions or context.</a:t>
            </a:r>
          </a:p>
          <a:p>
            <a:pPr algn="l"/>
            <a:endParaRPr lang="en-US" sz="2000" b="0" i="0" dirty="0">
              <a:solidFill>
                <a:srgbClr val="374151"/>
              </a:solidFill>
              <a:effectLst/>
              <a:latin typeface="Calibri"/>
              <a:cs typeface="Calibri"/>
            </a:endParaRPr>
          </a:p>
          <a:p>
            <a:pPr marL="342900" indent="-342900" algn="l">
              <a:buFont typeface="Arial" panose="020B0604020202020204" pitchFamily="34" charset="0"/>
              <a:buChar char="•"/>
            </a:pPr>
            <a:r>
              <a:rPr lang="en-US" sz="2000" b="1" i="0" dirty="0">
                <a:solidFill>
                  <a:srgbClr val="374151"/>
                </a:solidFill>
                <a:effectLst/>
                <a:latin typeface="Calibri"/>
                <a:cs typeface="Calibri"/>
              </a:rPr>
              <a:t>Input:</a:t>
            </a:r>
            <a:r>
              <a:rPr lang="en-US" sz="2000" b="0" i="0" dirty="0">
                <a:solidFill>
                  <a:srgbClr val="374151"/>
                </a:solidFill>
                <a:effectLst/>
                <a:latin typeface="Calibri"/>
                <a:cs typeface="Calibri"/>
              </a:rPr>
              <a:t> Conditions can be prompts, context, or specific information guiding the generation process.</a:t>
            </a:r>
          </a:p>
          <a:p>
            <a:pPr marL="342900" indent="-342900" algn="l">
              <a:buFont typeface="Arial" panose="020B0604020202020204" pitchFamily="34" charset="0"/>
              <a:buChar char="•"/>
            </a:pPr>
            <a:endParaRPr lang="en-US" sz="2000" b="0" i="0" dirty="0">
              <a:solidFill>
                <a:srgbClr val="374151"/>
              </a:solidFill>
              <a:effectLst/>
              <a:latin typeface="Calibri"/>
              <a:cs typeface="Calibri"/>
            </a:endParaRPr>
          </a:p>
          <a:p>
            <a:pPr marL="342900" indent="-342900" algn="l">
              <a:buFont typeface="Arial" panose="020B0604020202020204" pitchFamily="34" charset="0"/>
              <a:buChar char="•"/>
            </a:pPr>
            <a:r>
              <a:rPr lang="en-US" sz="2000" b="1" i="0" dirty="0">
                <a:solidFill>
                  <a:srgbClr val="374151"/>
                </a:solidFill>
                <a:effectLst/>
                <a:latin typeface="Calibri"/>
                <a:cs typeface="Calibri"/>
              </a:rPr>
              <a:t>Models:</a:t>
            </a:r>
            <a:r>
              <a:rPr lang="en-US" sz="2000" b="0" i="0" dirty="0">
                <a:solidFill>
                  <a:srgbClr val="374151"/>
                </a:solidFill>
                <a:effectLst/>
                <a:latin typeface="Calibri"/>
                <a:cs typeface="Calibri"/>
              </a:rPr>
              <a:t> Utilizes pre-trained language models like GPT-3, GPT-2, or T5.</a:t>
            </a:r>
          </a:p>
          <a:p>
            <a:pPr marL="342900" indent="-342900" algn="l">
              <a:buFont typeface="Arial" panose="020B0604020202020204" pitchFamily="34" charset="0"/>
              <a:buChar char="•"/>
            </a:pPr>
            <a:endParaRPr lang="en-US" sz="2000" b="0" i="0" dirty="0">
              <a:solidFill>
                <a:srgbClr val="374151"/>
              </a:solidFill>
              <a:effectLst/>
              <a:latin typeface="Calibri"/>
              <a:cs typeface="Calibri"/>
            </a:endParaRPr>
          </a:p>
          <a:p>
            <a:pPr marL="342900" indent="-342900" algn="l">
              <a:buFont typeface="Arial" panose="020B0604020202020204" pitchFamily="34" charset="0"/>
              <a:buChar char="•"/>
            </a:pPr>
            <a:r>
              <a:rPr lang="en-US" sz="2000" b="1" i="0" dirty="0">
                <a:solidFill>
                  <a:srgbClr val="374151"/>
                </a:solidFill>
                <a:effectLst/>
                <a:latin typeface="Calibri"/>
                <a:cs typeface="Calibri"/>
              </a:rPr>
              <a:t>Output:</a:t>
            </a:r>
            <a:r>
              <a:rPr lang="en-US" sz="2000" b="0" i="0" dirty="0">
                <a:solidFill>
                  <a:srgbClr val="374151"/>
                </a:solidFill>
                <a:effectLst/>
                <a:latin typeface="Calibri"/>
                <a:cs typeface="Calibri"/>
              </a:rPr>
              <a:t> Generates coherent text aligned with the given conditions.</a:t>
            </a:r>
          </a:p>
          <a:p>
            <a:pPr marL="342900" indent="-342900" algn="l">
              <a:buFont typeface="Arial" panose="020B0604020202020204" pitchFamily="34" charset="0"/>
              <a:buChar char="•"/>
            </a:pPr>
            <a:endParaRPr lang="en-US" sz="2000" b="0" i="0" dirty="0">
              <a:solidFill>
                <a:srgbClr val="374151"/>
              </a:solidFill>
              <a:effectLst/>
              <a:latin typeface="Calibri"/>
              <a:cs typeface="Calibri"/>
            </a:endParaRPr>
          </a:p>
          <a:p>
            <a:pPr marL="342900" indent="-342900" algn="l">
              <a:buFont typeface="Arial" panose="020B0604020202020204" pitchFamily="34" charset="0"/>
              <a:buChar char="•"/>
            </a:pPr>
            <a:r>
              <a:rPr lang="en-US" sz="2000" b="1" i="0" dirty="0">
                <a:solidFill>
                  <a:srgbClr val="374151"/>
                </a:solidFill>
                <a:effectLst/>
                <a:latin typeface="Calibri"/>
                <a:cs typeface="Calibri"/>
              </a:rPr>
              <a:t>Applications:</a:t>
            </a:r>
            <a:r>
              <a:rPr lang="en-US" sz="2000" b="0" i="0" dirty="0">
                <a:solidFill>
                  <a:srgbClr val="374151"/>
                </a:solidFill>
                <a:effectLst/>
                <a:latin typeface="Calibri"/>
                <a:cs typeface="Calibri"/>
              </a:rPr>
              <a:t> Used for content creation, translation, chatbots, and code generation.</a:t>
            </a:r>
          </a:p>
          <a:p>
            <a:pPr marL="342900" indent="-342900" algn="l">
              <a:buFont typeface="Arial" panose="020B0604020202020204" pitchFamily="34" charset="0"/>
              <a:buChar char="•"/>
            </a:pPr>
            <a:endParaRPr lang="en-US" sz="2000" b="0" i="0" dirty="0">
              <a:solidFill>
                <a:srgbClr val="374151"/>
              </a:solidFill>
              <a:effectLst/>
              <a:latin typeface="Calibri"/>
              <a:cs typeface="Calibri"/>
            </a:endParaRPr>
          </a:p>
          <a:p>
            <a:pPr marL="342900" indent="-342900" algn="l">
              <a:buFont typeface="Arial" panose="020B0604020202020204" pitchFamily="34" charset="0"/>
              <a:buChar char="•"/>
            </a:pPr>
            <a:r>
              <a:rPr lang="en-US" sz="2000" b="1" i="0" dirty="0">
                <a:solidFill>
                  <a:srgbClr val="374151"/>
                </a:solidFill>
                <a:effectLst/>
                <a:latin typeface="Calibri"/>
                <a:cs typeface="Calibri"/>
              </a:rPr>
              <a:t>Improvements:</a:t>
            </a:r>
            <a:r>
              <a:rPr lang="en-US" sz="2000" b="0" i="0" dirty="0">
                <a:solidFill>
                  <a:srgbClr val="374151"/>
                </a:solidFill>
                <a:effectLst/>
                <a:latin typeface="Calibri"/>
                <a:cs typeface="Calibri"/>
              </a:rPr>
              <a:t> Ongoing research aims to enhance models for better context understanding and nuanced text generation.</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dirty="0">
                <a:latin typeface="+mn-lt"/>
              </a:rPr>
              <a:t>Conditional Text Generation</a:t>
            </a:r>
          </a:p>
        </p:txBody>
      </p:sp>
    </p:spTree>
    <p:extLst>
      <p:ext uri="{BB962C8B-B14F-4D97-AF65-F5344CB8AC3E}">
        <p14:creationId xmlns:p14="http://schemas.microsoft.com/office/powerpoint/2010/main" val="94448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680976" y="1384322"/>
            <a:ext cx="10949010" cy="3139321"/>
          </a:xfrm>
          <a:prstGeom prst="rect">
            <a:avLst/>
          </a:prstGeom>
          <a:noFill/>
        </p:spPr>
        <p:txBody>
          <a:bodyPr wrap="square">
            <a:spAutoFit/>
          </a:bodyPr>
          <a:lstStyle/>
          <a:p>
            <a:pPr marL="342900" indent="-342900" algn="l">
              <a:buFont typeface="+mj-lt"/>
              <a:buAutoNum type="arabicPeriod"/>
            </a:pPr>
            <a:r>
              <a:rPr lang="en-US" b="1" i="0" dirty="0">
                <a:solidFill>
                  <a:srgbClr val="374151"/>
                </a:solidFill>
                <a:effectLst/>
                <a:latin typeface="Calibri"/>
                <a:cs typeface="Calibri"/>
              </a:rPr>
              <a:t>Advancements in Conditional Text Generation:</a:t>
            </a:r>
            <a:endParaRPr lang="en-US" b="0" i="0" dirty="0">
              <a:solidFill>
                <a:srgbClr val="374151"/>
              </a:solidFill>
              <a:effectLst/>
              <a:latin typeface="Calibri"/>
              <a:cs typeface="Calibri"/>
            </a:endParaRPr>
          </a:p>
          <a:p>
            <a:pPr marL="800100" lvl="1" indent="-342900" algn="l">
              <a:buFont typeface="+mj-lt"/>
              <a:buAutoNum type="arabicPeriod"/>
            </a:pPr>
            <a:r>
              <a:rPr lang="en-US" b="0" i="0" dirty="0">
                <a:solidFill>
                  <a:srgbClr val="374151"/>
                </a:solidFill>
                <a:effectLst/>
                <a:latin typeface="Calibri"/>
                <a:cs typeface="Calibri"/>
              </a:rPr>
              <a:t>Overview of the latest developments in generating text based on specific conditions.</a:t>
            </a:r>
          </a:p>
          <a:p>
            <a:pPr marL="800100" lvl="1" indent="-342900" algn="l">
              <a:buFont typeface="+mj-lt"/>
              <a:buAutoNum type="arabicPeriod"/>
            </a:pPr>
            <a:r>
              <a:rPr lang="en-US" b="0" i="0" dirty="0">
                <a:solidFill>
                  <a:srgbClr val="374151"/>
                </a:solidFill>
                <a:effectLst/>
                <a:latin typeface="Calibri"/>
                <a:cs typeface="Calibri"/>
              </a:rPr>
              <a:t>Exploration of advancements that enhance contextual understanding and output quality.</a:t>
            </a:r>
          </a:p>
          <a:p>
            <a:pPr marL="800100" lvl="1" indent="-342900" algn="l">
              <a:buFont typeface="+mj-lt"/>
              <a:buAutoNum type="arabicPeriod"/>
            </a:pPr>
            <a:endParaRPr lang="en-US" b="0" i="0" dirty="0">
              <a:solidFill>
                <a:srgbClr val="374151"/>
              </a:solidFill>
              <a:effectLst/>
              <a:latin typeface="Calibri"/>
              <a:cs typeface="Calibri"/>
            </a:endParaRPr>
          </a:p>
          <a:p>
            <a:pPr marL="342900" indent="-342900" algn="l">
              <a:buFont typeface="+mj-lt"/>
              <a:buAutoNum type="arabicPeriod"/>
            </a:pPr>
            <a:r>
              <a:rPr lang="en-US" b="1" i="0" dirty="0">
                <a:solidFill>
                  <a:srgbClr val="374151"/>
                </a:solidFill>
                <a:effectLst/>
                <a:latin typeface="Calibri"/>
                <a:cs typeface="Calibri"/>
              </a:rPr>
              <a:t>Practical Examples of Conditional Text Generation:</a:t>
            </a:r>
            <a:endParaRPr lang="en-US" b="0" i="0" dirty="0">
              <a:solidFill>
                <a:srgbClr val="374151"/>
              </a:solidFill>
              <a:effectLst/>
              <a:latin typeface="Calibri"/>
              <a:cs typeface="Calibri"/>
            </a:endParaRPr>
          </a:p>
          <a:p>
            <a:pPr marL="800100" lvl="1" indent="-342900" algn="l">
              <a:buFont typeface="+mj-lt"/>
              <a:buAutoNum type="arabicPeriod"/>
            </a:pPr>
            <a:r>
              <a:rPr lang="en-US" b="0" i="0" dirty="0">
                <a:solidFill>
                  <a:srgbClr val="374151"/>
                </a:solidFill>
                <a:effectLst/>
                <a:latin typeface="Calibri"/>
                <a:cs typeface="Calibri"/>
              </a:rPr>
              <a:t>Showcase of real-world applications demonstrating the power of context.</a:t>
            </a:r>
          </a:p>
          <a:p>
            <a:pPr marL="800100" lvl="1" indent="-342900" algn="l">
              <a:buFont typeface="+mj-lt"/>
              <a:buAutoNum type="arabicPeriod"/>
            </a:pPr>
            <a:r>
              <a:rPr lang="en-US" b="0" i="0" dirty="0">
                <a:solidFill>
                  <a:srgbClr val="374151"/>
                </a:solidFill>
                <a:effectLst/>
                <a:latin typeface="Calibri"/>
                <a:cs typeface="Calibri"/>
              </a:rPr>
              <a:t>Highlighting how conditions influence and shape the generated text in diverse scenarios.</a:t>
            </a:r>
          </a:p>
          <a:p>
            <a:pPr marL="800100" lvl="1" indent="-342900" algn="l">
              <a:buFont typeface="+mj-lt"/>
              <a:buAutoNum type="arabicPeriod"/>
            </a:pPr>
            <a:endParaRPr lang="en-US" dirty="0">
              <a:solidFill>
                <a:srgbClr val="374151"/>
              </a:solidFill>
              <a:latin typeface="Calibri"/>
              <a:cs typeface="Calibri"/>
            </a:endParaRPr>
          </a:p>
          <a:p>
            <a:pPr marL="800100" lvl="1" indent="-342900" algn="l">
              <a:buFont typeface="+mj-lt"/>
              <a:buAutoNum type="arabicPeriod"/>
            </a:pPr>
            <a:endParaRPr lang="en-US" dirty="0">
              <a:solidFill>
                <a:srgbClr val="374151"/>
              </a:solidFill>
              <a:latin typeface="Calibri"/>
              <a:cs typeface="Calibri"/>
            </a:endParaRPr>
          </a:p>
          <a:p>
            <a:pPr marL="800100" lvl="1" indent="-342900" algn="l">
              <a:buFont typeface="+mj-lt"/>
              <a:buAutoNum type="arabicPeriod"/>
            </a:pPr>
            <a:endParaRPr lang="en-US" dirty="0">
              <a:solidFill>
                <a:srgbClr val="374151"/>
              </a:solidFill>
              <a:latin typeface="Calibri"/>
              <a:cs typeface="Calibri"/>
            </a:endParaRPr>
          </a:p>
          <a:p>
            <a:pPr lvl="1" algn="l"/>
            <a:r>
              <a:rPr lang="en-US" dirty="0">
                <a:solidFill>
                  <a:srgbClr val="374151"/>
                </a:solidFill>
                <a:latin typeface="Calibri"/>
                <a:cs typeface="Calibri"/>
              </a:rPr>
              <a:t>Let’s use GPT2 Model to see how conditional text generation modifies the output</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dirty="0">
                <a:latin typeface="+mn-lt"/>
              </a:rPr>
              <a:t>Cont…</a:t>
            </a:r>
          </a:p>
        </p:txBody>
      </p:sp>
    </p:spTree>
    <p:extLst>
      <p:ext uri="{BB962C8B-B14F-4D97-AF65-F5344CB8AC3E}">
        <p14:creationId xmlns:p14="http://schemas.microsoft.com/office/powerpoint/2010/main" val="1298177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621493" y="1237577"/>
            <a:ext cx="10736789" cy="4093428"/>
          </a:xfrm>
          <a:prstGeom prst="rect">
            <a:avLst/>
          </a:prstGeom>
          <a:noFill/>
        </p:spPr>
        <p:txBody>
          <a:bodyPr wrap="square">
            <a:spAutoFit/>
          </a:bodyPr>
          <a:lstStyle/>
          <a:p>
            <a:pPr algn="l"/>
            <a:r>
              <a:rPr lang="en-IN" sz="2000" b="1" i="0" dirty="0">
                <a:effectLst/>
              </a:rPr>
              <a:t>1. Speech-to-Text (STT) Integration:</a:t>
            </a:r>
          </a:p>
          <a:p>
            <a:pPr algn="l"/>
            <a:endParaRPr lang="en-IN" sz="2000" b="1" dirty="0"/>
          </a:p>
          <a:p>
            <a:pPr lvl="1"/>
            <a:r>
              <a:rPr kumimoji="0" lang="en-US" altLang="en-US" sz="2000" b="0" i="1" u="none" strike="noStrike" cap="none" normalizeH="0" baseline="0" dirty="0">
                <a:ln>
                  <a:noFill/>
                </a:ln>
                <a:solidFill>
                  <a:srgbClr val="374151"/>
                </a:solidFill>
                <a:effectLst/>
              </a:rPr>
              <a:t>Speech Recognition Library (</a:t>
            </a:r>
            <a:r>
              <a:rPr kumimoji="0" lang="en-US" altLang="en-US" sz="2000" b="1" i="1" u="none" strike="noStrike" cap="none" normalizeH="0" baseline="0" dirty="0" err="1">
                <a:ln>
                  <a:noFill/>
                </a:ln>
                <a:solidFill>
                  <a:srgbClr val="374151"/>
                </a:solidFill>
                <a:effectLst/>
              </a:rPr>
              <a:t>speech_recognition</a:t>
            </a:r>
            <a:r>
              <a:rPr kumimoji="0" lang="en-US" altLang="en-US" sz="2000" b="0" i="1" u="none" strike="noStrike" cap="none" normalizeH="0" baseline="0" dirty="0">
                <a:ln>
                  <a:noFill/>
                </a:ln>
                <a:solidFill>
                  <a:srgbClr val="374151"/>
                </a:solidFill>
                <a:effectLst/>
              </a:rPr>
              <a:t>):</a:t>
            </a:r>
            <a:endParaRPr kumimoji="0" lang="en-US" altLang="en-US" sz="800" b="0" i="0" u="none" strike="noStrike" cap="none" normalizeH="0" baseline="0" dirty="0">
              <a:ln>
                <a:noFill/>
              </a:ln>
              <a:solidFill>
                <a:schemeClr val="tx1"/>
              </a:solidFill>
              <a:effectLst/>
            </a:endParaRPr>
          </a:p>
          <a:p>
            <a:pPr lvl="1"/>
            <a:endParaRPr lang="en-IN" sz="2000" b="1" dirty="0">
              <a:solidFill>
                <a:srgbClr val="1F1F1F"/>
              </a:solidFill>
            </a:endParaRPr>
          </a:p>
          <a:p>
            <a:pPr lvl="1" eaLnBrk="0" fontAlgn="base" hangingPunct="0">
              <a:spcBef>
                <a:spcPct val="0"/>
              </a:spcBef>
              <a:spcAft>
                <a:spcPct val="0"/>
              </a:spcAft>
            </a:pPr>
            <a:r>
              <a:rPr kumimoji="0" lang="en-US" altLang="en-US" sz="2000" b="1" i="0" u="none" strike="noStrike" cap="none" normalizeH="0" baseline="0" dirty="0">
                <a:ln>
                  <a:noFill/>
                </a:ln>
                <a:solidFill>
                  <a:srgbClr val="374151"/>
                </a:solidFill>
                <a:effectLst/>
              </a:rPr>
              <a:t>Library Overview:</a:t>
            </a:r>
            <a:endParaRPr kumimoji="0" lang="en-US" altLang="en-US" sz="800" b="0" i="0" u="none" strike="noStrike" cap="none" normalizeH="0" baseline="0" dirty="0">
              <a:ln>
                <a:noFill/>
              </a:ln>
              <a:solidFill>
                <a:schemeClr val="tx1"/>
              </a:solidFill>
              <a:effectLst/>
            </a:endParaRPr>
          </a:p>
          <a:p>
            <a:pPr marL="1257300" lvl="2" indent="-342900" eaLnBrk="0" fontAlgn="base" hangingPunct="0">
              <a:spcBef>
                <a:spcPct val="0"/>
              </a:spcBef>
              <a:spcAft>
                <a:spcPct val="0"/>
              </a:spcAft>
              <a:buFont typeface="Arial" panose="020B0604020202020204" pitchFamily="34" charset="0"/>
              <a:buChar char="•"/>
            </a:pPr>
            <a:r>
              <a:rPr kumimoji="0" lang="en-US" altLang="en-US" sz="2000" b="1" i="0" u="none" strike="noStrike" cap="none" normalizeH="0" baseline="0" dirty="0" err="1">
                <a:ln>
                  <a:noFill/>
                </a:ln>
                <a:solidFill>
                  <a:srgbClr val="374151"/>
                </a:solidFill>
                <a:effectLst/>
              </a:rPr>
              <a:t>speech_recognition</a:t>
            </a:r>
            <a:r>
              <a:rPr kumimoji="0" lang="en-US" altLang="en-US" sz="2000" b="0" i="0" u="none" strike="noStrike" cap="none" normalizeH="0" baseline="0" dirty="0">
                <a:ln>
                  <a:noFill/>
                </a:ln>
                <a:solidFill>
                  <a:srgbClr val="374151"/>
                </a:solidFill>
                <a:effectLst/>
              </a:rPr>
              <a:t> is a Python library that provides easy-to-use functions for integrating speech recognition capabilities.</a:t>
            </a:r>
          </a:p>
          <a:p>
            <a:pPr marL="1257300" lvl="2"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rgbClr val="374151"/>
                </a:solidFill>
                <a:effectLst/>
              </a:rPr>
              <a:t>It supports multiple APIs, including Google Web Speech API, Sphinx, Wit.ai, and more.</a:t>
            </a:r>
            <a:endParaRPr lang="en-US" sz="2000" b="0" i="0" dirty="0">
              <a:solidFill>
                <a:srgbClr val="1F1F1F"/>
              </a:solidFill>
              <a:effectLst/>
            </a:endParaRPr>
          </a:p>
          <a:p>
            <a:pPr lvl="1"/>
            <a:endParaRPr lang="en-US" sz="2000" dirty="0">
              <a:solidFill>
                <a:srgbClr val="1F1F1F"/>
              </a:solidFill>
            </a:endParaRPr>
          </a:p>
          <a:p>
            <a:pPr lvl="1"/>
            <a:r>
              <a:rPr lang="en-IN" sz="2000" b="1" i="0" dirty="0">
                <a:effectLst/>
              </a:rPr>
              <a:t>Installation</a:t>
            </a:r>
            <a:r>
              <a:rPr lang="en-US" sz="2000" b="1" i="0" dirty="0">
                <a:solidFill>
                  <a:srgbClr val="1F1F1F"/>
                </a:solidFill>
                <a:effectLst/>
              </a:rPr>
              <a:t>:</a:t>
            </a:r>
          </a:p>
          <a:p>
            <a:pPr lvl="1"/>
            <a:r>
              <a:rPr lang="en-US" sz="2000" dirty="0">
                <a:solidFill>
                  <a:srgbClr val="1F1F1F"/>
                </a:solidFill>
              </a:rPr>
              <a:t>! pip install </a:t>
            </a:r>
            <a:r>
              <a:rPr lang="en-US" sz="2000" dirty="0" err="1">
                <a:solidFill>
                  <a:srgbClr val="1F1F1F"/>
                </a:solidFill>
              </a:rPr>
              <a:t>SpeechRecognition</a:t>
            </a:r>
            <a:endParaRPr lang="en-US" sz="2000" dirty="0">
              <a:solidFill>
                <a:srgbClr val="1F1F1F"/>
              </a:solidFill>
            </a:endParaRPr>
          </a:p>
          <a:p>
            <a:pPr lvl="1"/>
            <a:endParaRPr lang="en-US" sz="2000" b="1" i="0" dirty="0">
              <a:solidFill>
                <a:srgbClr val="1F1F1F"/>
              </a:solidFill>
              <a:effectLst/>
            </a:endParaRPr>
          </a:p>
          <a:p>
            <a:pPr lvl="1"/>
            <a:endParaRPr lang="en-US" sz="2000" b="1" i="0" dirty="0">
              <a:solidFill>
                <a:srgbClr val="1F1F1F"/>
              </a:solidFill>
              <a:effectLst/>
            </a:endParaRP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normAutofit/>
          </a:bodyPr>
          <a:lstStyle/>
          <a:p>
            <a:r>
              <a:rPr lang="en-IN" b="1" i="0" dirty="0">
                <a:effectLst/>
                <a:latin typeface="Söhne"/>
              </a:rPr>
              <a:t>Multimodal Integration </a:t>
            </a:r>
            <a:r>
              <a:rPr lang="en-IN" b="0" i="0" dirty="0">
                <a:effectLst/>
                <a:latin typeface="Söhne"/>
              </a:rPr>
              <a:t>(</a:t>
            </a:r>
            <a:r>
              <a:rPr lang="en-IN" b="0" i="1" dirty="0">
                <a:solidFill>
                  <a:srgbClr val="374151"/>
                </a:solidFill>
                <a:effectLst/>
                <a:latin typeface="Söhne"/>
              </a:rPr>
              <a:t>Beyond Text: Integrating Speech)</a:t>
            </a:r>
            <a:endParaRPr lang="en-IN" dirty="0">
              <a:latin typeface="+mn-lt"/>
            </a:endParaRPr>
          </a:p>
        </p:txBody>
      </p:sp>
    </p:spTree>
    <p:extLst>
      <p:ext uri="{BB962C8B-B14F-4D97-AF65-F5344CB8AC3E}">
        <p14:creationId xmlns:p14="http://schemas.microsoft.com/office/powerpoint/2010/main" val="2928041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normAutofit/>
          </a:bodyPr>
          <a:lstStyle/>
          <a:p>
            <a:r>
              <a:rPr lang="en-IN" dirty="0">
                <a:latin typeface="+mn-lt"/>
              </a:rPr>
              <a:t>Cont..</a:t>
            </a:r>
          </a:p>
        </p:txBody>
      </p:sp>
      <p:sp>
        <p:nvSpPr>
          <p:cNvPr id="4" name="Content Placeholder 2">
            <a:extLst>
              <a:ext uri="{FF2B5EF4-FFF2-40B4-BE49-F238E27FC236}">
                <a16:creationId xmlns:a16="http://schemas.microsoft.com/office/drawing/2014/main" id="{A2D8BF8A-0715-203B-7861-CAF8BD9CD783}"/>
              </a:ext>
            </a:extLst>
          </p:cNvPr>
          <p:cNvSpPr>
            <a:spLocks noGrp="1"/>
          </p:cNvSpPr>
          <p:nvPr>
            <p:ph sz="half" idx="1"/>
          </p:nvPr>
        </p:nvSpPr>
        <p:spPr>
          <a:xfrm>
            <a:off x="678881" y="1337106"/>
            <a:ext cx="10679402" cy="4597530"/>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74151"/>
                </a:solidFill>
                <a:effectLst/>
                <a:latin typeface="+mn-lt"/>
              </a:rPr>
              <a:t>Basic Usage:</a:t>
            </a:r>
            <a:endParaRPr kumimoji="0" lang="en-US" altLang="en-US" sz="2000" b="0" i="0" u="none" strike="noStrike" cap="none" normalizeH="0" baseline="0" dirty="0">
              <a:ln>
                <a:noFill/>
              </a:ln>
              <a:solidFill>
                <a:schemeClr val="tx1"/>
              </a:solidFill>
              <a:effectLst/>
              <a:latin typeface="+mn-lt"/>
            </a:endParaRP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rgbClr val="374151"/>
                </a:solidFill>
                <a:effectLst/>
                <a:latin typeface="+mn-lt"/>
              </a:rPr>
              <a:t>Initialize the </a:t>
            </a:r>
            <a:r>
              <a:rPr kumimoji="0" lang="en-US" altLang="en-US" sz="2000" b="1" i="0" u="none" strike="noStrike" cap="none" normalizeH="0" baseline="0" dirty="0">
                <a:ln>
                  <a:noFill/>
                </a:ln>
                <a:solidFill>
                  <a:srgbClr val="374151"/>
                </a:solidFill>
                <a:effectLst/>
                <a:latin typeface="+mn-lt"/>
              </a:rPr>
              <a:t>Recognizer</a:t>
            </a:r>
            <a:r>
              <a:rPr kumimoji="0" lang="en-US" altLang="en-US" sz="2000" b="0" i="0" u="none" strike="noStrike" cap="none" normalizeH="0" baseline="0" dirty="0">
                <a:ln>
                  <a:noFill/>
                </a:ln>
                <a:solidFill>
                  <a:srgbClr val="374151"/>
                </a:solidFill>
                <a:effectLst/>
                <a:latin typeface="+mn-lt"/>
              </a:rPr>
              <a:t> class.</a:t>
            </a: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rgbClr val="374151"/>
                </a:solidFill>
                <a:effectLst/>
                <a:latin typeface="+mn-lt"/>
              </a:rPr>
              <a:t>Use a context manager (</a:t>
            </a:r>
            <a:r>
              <a:rPr kumimoji="0" lang="en-US" altLang="en-US" sz="2000" b="1" i="0" u="none" strike="noStrike" cap="none" normalizeH="0" baseline="0" dirty="0">
                <a:ln>
                  <a:noFill/>
                </a:ln>
                <a:solidFill>
                  <a:srgbClr val="374151"/>
                </a:solidFill>
                <a:effectLst/>
                <a:latin typeface="+mn-lt"/>
              </a:rPr>
              <a:t>with</a:t>
            </a:r>
            <a:r>
              <a:rPr kumimoji="0" lang="en-US" altLang="en-US" sz="2000" b="0" i="0" u="none" strike="noStrike" cap="none" normalizeH="0" baseline="0" dirty="0">
                <a:ln>
                  <a:noFill/>
                </a:ln>
                <a:solidFill>
                  <a:srgbClr val="374151"/>
                </a:solidFill>
                <a:effectLst/>
                <a:latin typeface="+mn-lt"/>
              </a:rPr>
              <a:t> statement) to capture audio from the microphone.</a:t>
            </a: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rgbClr val="374151"/>
                </a:solidFill>
                <a:effectLst/>
                <a:latin typeface="+mn-lt"/>
              </a:rPr>
              <a:t>Apply the </a:t>
            </a:r>
            <a:r>
              <a:rPr kumimoji="0" lang="en-US" altLang="en-US" sz="2000" b="1" i="0" u="none" strike="noStrike" cap="none" normalizeH="0" baseline="0" dirty="0" err="1">
                <a:ln>
                  <a:noFill/>
                </a:ln>
                <a:solidFill>
                  <a:srgbClr val="374151"/>
                </a:solidFill>
                <a:effectLst/>
                <a:latin typeface="+mn-lt"/>
              </a:rPr>
              <a:t>recognize_google</a:t>
            </a:r>
            <a:r>
              <a:rPr kumimoji="0" lang="en-US" altLang="en-US" sz="2000" b="0" i="0" u="none" strike="noStrike" cap="none" normalizeH="0" baseline="0" dirty="0">
                <a:ln>
                  <a:noFill/>
                </a:ln>
                <a:solidFill>
                  <a:srgbClr val="374151"/>
                </a:solidFill>
                <a:effectLst/>
                <a:latin typeface="+mn-lt"/>
              </a:rPr>
              <a:t> method to transcribe the speech.</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rgbClr val="374151"/>
              </a:solidFill>
              <a:effectLst/>
              <a:latin typeface="+mn-lt"/>
            </a:endParaRPr>
          </a:p>
          <a:p>
            <a:pPr marL="457200" lvl="1" indent="0" eaLnBrk="0" fontAlgn="base" hangingPunct="0">
              <a:lnSpc>
                <a:spcPct val="100000"/>
              </a:lnSpc>
              <a:spcBef>
                <a:spcPct val="0"/>
              </a:spcBef>
              <a:spcAft>
                <a:spcPct val="0"/>
              </a:spcAft>
              <a:buNone/>
            </a:pPr>
            <a:r>
              <a:rPr lang="en-US" altLang="en-US" sz="2000" dirty="0">
                <a:solidFill>
                  <a:srgbClr val="374151"/>
                </a:solidFill>
                <a:latin typeface="+mn-lt"/>
              </a:rPr>
              <a:t>import </a:t>
            </a:r>
            <a:r>
              <a:rPr lang="en-US" altLang="en-US" sz="2000" dirty="0" err="1">
                <a:solidFill>
                  <a:srgbClr val="374151"/>
                </a:solidFill>
                <a:latin typeface="+mn-lt"/>
              </a:rPr>
              <a:t>speech_recognition</a:t>
            </a:r>
            <a:r>
              <a:rPr lang="en-US" altLang="en-US" sz="2000" dirty="0">
                <a:solidFill>
                  <a:srgbClr val="374151"/>
                </a:solidFill>
                <a:latin typeface="+mn-lt"/>
              </a:rPr>
              <a:t> as </a:t>
            </a:r>
            <a:r>
              <a:rPr lang="en-US" altLang="en-US" sz="2000" dirty="0" err="1">
                <a:solidFill>
                  <a:srgbClr val="374151"/>
                </a:solidFill>
                <a:latin typeface="+mn-lt"/>
              </a:rPr>
              <a:t>sr</a:t>
            </a:r>
            <a:endParaRPr lang="en-US" altLang="en-US" sz="2000" dirty="0">
              <a:solidFill>
                <a:srgbClr val="374151"/>
              </a:solidFill>
              <a:latin typeface="+mn-lt"/>
            </a:endParaRPr>
          </a:p>
          <a:p>
            <a:pPr marL="457200" lvl="1" indent="0" eaLnBrk="0" fontAlgn="base" hangingPunct="0">
              <a:lnSpc>
                <a:spcPct val="100000"/>
              </a:lnSpc>
              <a:spcBef>
                <a:spcPct val="0"/>
              </a:spcBef>
              <a:spcAft>
                <a:spcPct val="0"/>
              </a:spcAft>
              <a:buNone/>
            </a:pPr>
            <a:endParaRPr lang="en-US" altLang="en-US" sz="2000" dirty="0">
              <a:solidFill>
                <a:srgbClr val="374151"/>
              </a:solidFill>
              <a:latin typeface="+mn-lt"/>
            </a:endParaRPr>
          </a:p>
          <a:p>
            <a:pPr marL="457200" lvl="1" indent="0" eaLnBrk="0" fontAlgn="base" hangingPunct="0">
              <a:lnSpc>
                <a:spcPct val="100000"/>
              </a:lnSpc>
              <a:spcBef>
                <a:spcPct val="0"/>
              </a:spcBef>
              <a:spcAft>
                <a:spcPct val="0"/>
              </a:spcAft>
              <a:buNone/>
            </a:pPr>
            <a:r>
              <a:rPr lang="en-US" altLang="en-US" sz="2000" dirty="0">
                <a:solidFill>
                  <a:srgbClr val="374151"/>
                </a:solidFill>
                <a:latin typeface="+mn-lt"/>
              </a:rPr>
              <a:t>recognizer = </a:t>
            </a:r>
            <a:r>
              <a:rPr lang="en-US" altLang="en-US" sz="2000" dirty="0" err="1">
                <a:solidFill>
                  <a:srgbClr val="374151"/>
                </a:solidFill>
                <a:latin typeface="+mn-lt"/>
              </a:rPr>
              <a:t>sr.Recognizer</a:t>
            </a:r>
            <a:r>
              <a:rPr lang="en-US" altLang="en-US" sz="2000" dirty="0">
                <a:solidFill>
                  <a:srgbClr val="374151"/>
                </a:solidFill>
                <a:latin typeface="+mn-lt"/>
              </a:rPr>
              <a:t>()</a:t>
            </a:r>
          </a:p>
          <a:p>
            <a:pPr marL="457200" lvl="1" indent="0" eaLnBrk="0" fontAlgn="base" hangingPunct="0">
              <a:lnSpc>
                <a:spcPct val="100000"/>
              </a:lnSpc>
              <a:spcBef>
                <a:spcPct val="0"/>
              </a:spcBef>
              <a:spcAft>
                <a:spcPct val="0"/>
              </a:spcAft>
              <a:buNone/>
            </a:pPr>
            <a:endParaRPr lang="en-US" altLang="en-US" sz="2000" dirty="0">
              <a:solidFill>
                <a:srgbClr val="374151"/>
              </a:solidFill>
              <a:latin typeface="+mn-lt"/>
            </a:endParaRPr>
          </a:p>
          <a:p>
            <a:pPr marL="457200" lvl="1" indent="0" eaLnBrk="0" fontAlgn="base" hangingPunct="0">
              <a:lnSpc>
                <a:spcPct val="100000"/>
              </a:lnSpc>
              <a:spcBef>
                <a:spcPct val="0"/>
              </a:spcBef>
              <a:spcAft>
                <a:spcPct val="0"/>
              </a:spcAft>
              <a:buNone/>
            </a:pPr>
            <a:r>
              <a:rPr lang="en-US" altLang="en-US" sz="2000" dirty="0">
                <a:solidFill>
                  <a:srgbClr val="374151"/>
                </a:solidFill>
                <a:latin typeface="+mn-lt"/>
              </a:rPr>
              <a:t>with </a:t>
            </a:r>
            <a:r>
              <a:rPr lang="en-US" altLang="en-US" sz="2000" dirty="0" err="1">
                <a:solidFill>
                  <a:srgbClr val="374151"/>
                </a:solidFill>
                <a:latin typeface="+mn-lt"/>
              </a:rPr>
              <a:t>sr.Microphone</a:t>
            </a:r>
            <a:r>
              <a:rPr lang="en-US" altLang="en-US" sz="2000" dirty="0">
                <a:solidFill>
                  <a:srgbClr val="374151"/>
                </a:solidFill>
                <a:latin typeface="+mn-lt"/>
              </a:rPr>
              <a:t>() as source:</a:t>
            </a:r>
          </a:p>
          <a:p>
            <a:pPr marL="457200" lvl="1" indent="0" eaLnBrk="0" fontAlgn="base" hangingPunct="0">
              <a:lnSpc>
                <a:spcPct val="100000"/>
              </a:lnSpc>
              <a:spcBef>
                <a:spcPct val="0"/>
              </a:spcBef>
              <a:spcAft>
                <a:spcPct val="0"/>
              </a:spcAft>
              <a:buNone/>
            </a:pPr>
            <a:r>
              <a:rPr lang="en-US" altLang="en-US" sz="2000" dirty="0">
                <a:solidFill>
                  <a:srgbClr val="374151"/>
                </a:solidFill>
                <a:latin typeface="+mn-lt"/>
              </a:rPr>
              <a:t>    print("Say something:")</a:t>
            </a:r>
          </a:p>
          <a:p>
            <a:pPr marL="457200" lvl="1" indent="0" eaLnBrk="0" fontAlgn="base" hangingPunct="0">
              <a:lnSpc>
                <a:spcPct val="100000"/>
              </a:lnSpc>
              <a:spcBef>
                <a:spcPct val="0"/>
              </a:spcBef>
              <a:spcAft>
                <a:spcPct val="0"/>
              </a:spcAft>
              <a:buNone/>
            </a:pPr>
            <a:r>
              <a:rPr lang="en-US" altLang="en-US" sz="2000" dirty="0">
                <a:solidFill>
                  <a:srgbClr val="374151"/>
                </a:solidFill>
                <a:latin typeface="+mn-lt"/>
              </a:rPr>
              <a:t>    </a:t>
            </a:r>
            <a:r>
              <a:rPr lang="en-US" altLang="en-US" sz="2000" dirty="0" err="1">
                <a:solidFill>
                  <a:srgbClr val="374151"/>
                </a:solidFill>
                <a:latin typeface="+mn-lt"/>
              </a:rPr>
              <a:t>audio_data</a:t>
            </a:r>
            <a:r>
              <a:rPr lang="en-US" altLang="en-US" sz="2000" dirty="0">
                <a:solidFill>
                  <a:srgbClr val="374151"/>
                </a:solidFill>
                <a:latin typeface="+mn-lt"/>
              </a:rPr>
              <a:t> = </a:t>
            </a:r>
            <a:r>
              <a:rPr lang="en-US" altLang="en-US" sz="2000" dirty="0" err="1">
                <a:solidFill>
                  <a:srgbClr val="374151"/>
                </a:solidFill>
                <a:latin typeface="+mn-lt"/>
              </a:rPr>
              <a:t>recognizer.listen</a:t>
            </a:r>
            <a:r>
              <a:rPr lang="en-US" altLang="en-US" sz="2000" dirty="0">
                <a:solidFill>
                  <a:srgbClr val="374151"/>
                </a:solidFill>
                <a:latin typeface="+mn-lt"/>
              </a:rPr>
              <a:t>(source)</a:t>
            </a:r>
          </a:p>
          <a:p>
            <a:pPr marL="457200" lvl="1" indent="0" eaLnBrk="0" fontAlgn="base" hangingPunct="0">
              <a:lnSpc>
                <a:spcPct val="100000"/>
              </a:lnSpc>
              <a:spcBef>
                <a:spcPct val="0"/>
              </a:spcBef>
              <a:spcAft>
                <a:spcPct val="0"/>
              </a:spcAft>
              <a:buNone/>
            </a:pPr>
            <a:r>
              <a:rPr lang="en-US" altLang="en-US" sz="2000" dirty="0">
                <a:solidFill>
                  <a:srgbClr val="374151"/>
                </a:solidFill>
                <a:latin typeface="+mn-lt"/>
              </a:rPr>
              <a:t>    text = </a:t>
            </a:r>
            <a:r>
              <a:rPr lang="en-US" altLang="en-US" sz="2000" dirty="0" err="1">
                <a:solidFill>
                  <a:srgbClr val="374151"/>
                </a:solidFill>
                <a:latin typeface="+mn-lt"/>
              </a:rPr>
              <a:t>recognizer.recognize_google</a:t>
            </a:r>
            <a:r>
              <a:rPr lang="en-US" altLang="en-US" sz="2000" dirty="0">
                <a:solidFill>
                  <a:srgbClr val="374151"/>
                </a:solidFill>
                <a:latin typeface="+mn-lt"/>
              </a:rPr>
              <a:t>(</a:t>
            </a:r>
            <a:r>
              <a:rPr lang="en-US" altLang="en-US" sz="2000" dirty="0" err="1">
                <a:solidFill>
                  <a:srgbClr val="374151"/>
                </a:solidFill>
                <a:latin typeface="+mn-lt"/>
              </a:rPr>
              <a:t>audio_data</a:t>
            </a:r>
            <a:r>
              <a:rPr lang="en-US" altLang="en-US" sz="2000" dirty="0">
                <a:solidFill>
                  <a:srgbClr val="374151"/>
                </a:solidFill>
                <a:latin typeface="+mn-lt"/>
              </a:rPr>
              <a:t>)</a:t>
            </a:r>
          </a:p>
          <a:p>
            <a:pPr marL="457200" lvl="1" indent="0" eaLnBrk="0" fontAlgn="base" hangingPunct="0">
              <a:lnSpc>
                <a:spcPct val="100000"/>
              </a:lnSpc>
              <a:spcBef>
                <a:spcPct val="0"/>
              </a:spcBef>
              <a:spcAft>
                <a:spcPct val="0"/>
              </a:spcAft>
              <a:buNone/>
            </a:pPr>
            <a:r>
              <a:rPr lang="en-US" altLang="en-US" sz="2000" dirty="0">
                <a:solidFill>
                  <a:srgbClr val="374151"/>
                </a:solidFill>
                <a:latin typeface="+mn-lt"/>
              </a:rPr>
              <a:t>    print("You said:", text)</a:t>
            </a:r>
          </a:p>
          <a:p>
            <a:endParaRPr lang="en-IN" sz="2000" dirty="0">
              <a:latin typeface="+mn-lt"/>
            </a:endParaRPr>
          </a:p>
        </p:txBody>
      </p:sp>
    </p:spTree>
    <p:extLst>
      <p:ext uri="{BB962C8B-B14F-4D97-AF65-F5344CB8AC3E}">
        <p14:creationId xmlns:p14="http://schemas.microsoft.com/office/powerpoint/2010/main" val="1933941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normAutofit/>
          </a:bodyPr>
          <a:lstStyle/>
          <a:p>
            <a:r>
              <a:rPr lang="en-IN" dirty="0">
                <a:latin typeface="+mn-lt"/>
              </a:rPr>
              <a:t>Cont..</a:t>
            </a:r>
          </a:p>
        </p:txBody>
      </p:sp>
      <p:sp>
        <p:nvSpPr>
          <p:cNvPr id="3" name="Content Placeholder 2">
            <a:extLst>
              <a:ext uri="{FF2B5EF4-FFF2-40B4-BE49-F238E27FC236}">
                <a16:creationId xmlns:a16="http://schemas.microsoft.com/office/drawing/2014/main" id="{A61DF361-8386-031F-0CEF-C4A1C8C080C0}"/>
              </a:ext>
            </a:extLst>
          </p:cNvPr>
          <p:cNvSpPr>
            <a:spLocks noGrp="1"/>
          </p:cNvSpPr>
          <p:nvPr>
            <p:ph idx="1"/>
          </p:nvPr>
        </p:nvSpPr>
        <p:spPr>
          <a:xfrm>
            <a:off x="678881" y="1450957"/>
            <a:ext cx="10834234" cy="4398066"/>
          </a:xfrm>
        </p:spPr>
        <p:txBody>
          <a:bodyPr>
            <a:normAutofit/>
          </a:bodyPr>
          <a:lstStyle/>
          <a:p>
            <a:pPr marL="0" indent="0" algn="l">
              <a:buNone/>
            </a:pPr>
            <a:r>
              <a:rPr lang="en-US" sz="2000" b="1" i="0" dirty="0">
                <a:solidFill>
                  <a:srgbClr val="374151"/>
                </a:solidFill>
                <a:effectLst/>
                <a:latin typeface="+mn-lt"/>
              </a:rPr>
              <a:t>Customization:</a:t>
            </a:r>
            <a:endParaRPr lang="en-US" sz="2000" b="0" i="0" dirty="0">
              <a:solidFill>
                <a:srgbClr val="374151"/>
              </a:solidFill>
              <a:effectLst/>
              <a:latin typeface="+mn-lt"/>
            </a:endParaRPr>
          </a:p>
          <a:p>
            <a:pPr marL="457200" lvl="1" indent="0">
              <a:buNone/>
            </a:pPr>
            <a:r>
              <a:rPr lang="en-US" sz="2000" dirty="0">
                <a:latin typeface="+mn-lt"/>
              </a:rPr>
              <a:t># Example with custom parameters</a:t>
            </a:r>
          </a:p>
          <a:p>
            <a:pPr marL="457200" lvl="1" indent="0">
              <a:buNone/>
            </a:pPr>
            <a:r>
              <a:rPr lang="en-US" sz="2000" dirty="0" err="1">
                <a:latin typeface="+mn-lt"/>
              </a:rPr>
              <a:t>audio_data</a:t>
            </a:r>
            <a:r>
              <a:rPr lang="en-US" sz="2000" dirty="0">
                <a:latin typeface="+mn-lt"/>
              </a:rPr>
              <a:t> = </a:t>
            </a:r>
            <a:r>
              <a:rPr lang="en-US" sz="2000" dirty="0" err="1">
                <a:latin typeface="+mn-lt"/>
              </a:rPr>
              <a:t>recognizer.listen</a:t>
            </a:r>
            <a:r>
              <a:rPr lang="en-US" sz="2000" dirty="0">
                <a:latin typeface="+mn-lt"/>
              </a:rPr>
              <a:t>(source, timeout=5, </a:t>
            </a:r>
            <a:r>
              <a:rPr lang="en-US" sz="2000" dirty="0" err="1">
                <a:latin typeface="+mn-lt"/>
              </a:rPr>
              <a:t>phrase_time_limit</a:t>
            </a:r>
            <a:r>
              <a:rPr lang="en-US" sz="2000" dirty="0">
                <a:latin typeface="+mn-lt"/>
              </a:rPr>
              <a:t>=3)</a:t>
            </a:r>
          </a:p>
          <a:p>
            <a:pPr marL="0" indent="0">
              <a:buNone/>
            </a:pPr>
            <a:endParaRPr lang="en-IN" sz="2000" dirty="0">
              <a:latin typeface="+mn-lt"/>
            </a:endParaRPr>
          </a:p>
          <a:p>
            <a:pPr marL="0" indent="0" algn="l">
              <a:buNone/>
            </a:pPr>
            <a:r>
              <a:rPr lang="en-US" sz="2000" b="1" i="0" dirty="0">
                <a:solidFill>
                  <a:srgbClr val="374151"/>
                </a:solidFill>
                <a:effectLst/>
                <a:latin typeface="+mn-lt"/>
              </a:rPr>
              <a:t>Error Handling:</a:t>
            </a:r>
            <a:endParaRPr lang="en-US" sz="2000" b="0" i="0" dirty="0">
              <a:solidFill>
                <a:srgbClr val="374151"/>
              </a:solidFill>
              <a:effectLst/>
              <a:latin typeface="+mn-lt"/>
            </a:endParaRPr>
          </a:p>
          <a:p>
            <a:pPr marL="457200" lvl="1" indent="0">
              <a:buNone/>
            </a:pPr>
            <a:r>
              <a:rPr lang="en-IN" sz="2000" dirty="0">
                <a:latin typeface="+mn-lt"/>
              </a:rPr>
              <a:t>try:</a:t>
            </a:r>
          </a:p>
          <a:p>
            <a:pPr marL="457200" lvl="1" indent="0">
              <a:buNone/>
            </a:pPr>
            <a:r>
              <a:rPr lang="en-IN" sz="2000" dirty="0">
                <a:latin typeface="+mn-lt"/>
              </a:rPr>
              <a:t>    # Speech recognition code</a:t>
            </a:r>
          </a:p>
          <a:p>
            <a:pPr marL="457200" lvl="1" indent="0">
              <a:buNone/>
            </a:pPr>
            <a:r>
              <a:rPr lang="en-IN" sz="2000" dirty="0">
                <a:latin typeface="+mn-lt"/>
              </a:rPr>
              <a:t>except </a:t>
            </a:r>
            <a:r>
              <a:rPr lang="en-IN" sz="2000" dirty="0" err="1">
                <a:latin typeface="+mn-lt"/>
              </a:rPr>
              <a:t>sr.UnknownValueError</a:t>
            </a:r>
            <a:r>
              <a:rPr lang="en-IN" sz="2000" dirty="0">
                <a:latin typeface="+mn-lt"/>
              </a:rPr>
              <a:t>:</a:t>
            </a:r>
          </a:p>
          <a:p>
            <a:pPr marL="457200" lvl="1" indent="0">
              <a:buNone/>
            </a:pPr>
            <a:r>
              <a:rPr lang="en-IN" sz="2000" dirty="0">
                <a:latin typeface="+mn-lt"/>
              </a:rPr>
              <a:t>    print("Speech Recognition could not understand audio")</a:t>
            </a:r>
          </a:p>
          <a:p>
            <a:pPr marL="457200" lvl="1" indent="0">
              <a:buNone/>
            </a:pPr>
            <a:r>
              <a:rPr lang="en-IN" sz="2000" dirty="0">
                <a:latin typeface="+mn-lt"/>
              </a:rPr>
              <a:t>except </a:t>
            </a:r>
            <a:r>
              <a:rPr lang="en-IN" sz="2000" dirty="0" err="1">
                <a:latin typeface="+mn-lt"/>
              </a:rPr>
              <a:t>sr.RequestError</a:t>
            </a:r>
            <a:r>
              <a:rPr lang="en-IN" sz="2000" dirty="0">
                <a:latin typeface="+mn-lt"/>
              </a:rPr>
              <a:t> as e:</a:t>
            </a:r>
          </a:p>
          <a:p>
            <a:pPr marL="457200" lvl="1" indent="0">
              <a:buNone/>
            </a:pPr>
            <a:r>
              <a:rPr lang="en-IN" sz="2000" dirty="0">
                <a:latin typeface="+mn-lt"/>
              </a:rPr>
              <a:t>    print(</a:t>
            </a:r>
            <a:r>
              <a:rPr lang="en-IN" sz="2000" dirty="0" err="1">
                <a:latin typeface="+mn-lt"/>
              </a:rPr>
              <a:t>f"Could</a:t>
            </a:r>
            <a:r>
              <a:rPr lang="en-IN" sz="2000" dirty="0">
                <a:latin typeface="+mn-lt"/>
              </a:rPr>
              <a:t> not request results from Google Speech Recognition service; {e}")</a:t>
            </a:r>
          </a:p>
          <a:p>
            <a:pPr marL="0" indent="0">
              <a:buNone/>
            </a:pPr>
            <a:endParaRPr lang="en-IN" sz="2000" dirty="0">
              <a:latin typeface="+mn-lt"/>
            </a:endParaRPr>
          </a:p>
          <a:p>
            <a:endParaRPr lang="en-IN" sz="2000" dirty="0"/>
          </a:p>
        </p:txBody>
      </p:sp>
    </p:spTree>
    <p:extLst>
      <p:ext uri="{BB962C8B-B14F-4D97-AF65-F5344CB8AC3E}">
        <p14:creationId xmlns:p14="http://schemas.microsoft.com/office/powerpoint/2010/main" val="2226999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621495" y="1255507"/>
            <a:ext cx="5398305" cy="443198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74151"/>
                </a:solidFill>
                <a:effectLst/>
              </a:rPr>
              <a:t>2. Text-to-Speech (TTS) Integration: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lvl="1" eaLnBrk="0" fontAlgn="base" hangingPunct="0">
              <a:spcBef>
                <a:spcPct val="0"/>
              </a:spcBef>
              <a:spcAft>
                <a:spcPct val="0"/>
              </a:spcAft>
            </a:pPr>
            <a:r>
              <a:rPr kumimoji="0" lang="en-US" altLang="en-US" sz="2000" b="0" i="1" u="none" strike="noStrike" cap="none" normalizeH="0" baseline="0" dirty="0" err="1">
                <a:ln>
                  <a:noFill/>
                </a:ln>
                <a:solidFill>
                  <a:srgbClr val="374151"/>
                </a:solidFill>
                <a:effectLst/>
              </a:rPr>
              <a:t>gTTS</a:t>
            </a:r>
            <a:r>
              <a:rPr kumimoji="0" lang="en-US" altLang="en-US" sz="2000" b="0" i="1" u="none" strike="noStrike" cap="none" normalizeH="0" baseline="0" dirty="0">
                <a:ln>
                  <a:noFill/>
                </a:ln>
                <a:solidFill>
                  <a:srgbClr val="374151"/>
                </a:solidFill>
                <a:effectLst/>
              </a:rPr>
              <a:t> (Google Text-to-Speech) Library:</a:t>
            </a:r>
          </a:p>
          <a:p>
            <a:pPr lvl="1"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endParaRPr>
          </a:p>
          <a:p>
            <a:pPr lvl="1" eaLnBrk="0" fontAlgn="base" hangingPunct="0">
              <a:spcBef>
                <a:spcPct val="0"/>
              </a:spcBef>
              <a:spcAft>
                <a:spcPct val="0"/>
              </a:spcAft>
            </a:pPr>
            <a:r>
              <a:rPr kumimoji="0" lang="en-US" altLang="en-US" sz="2000" b="1" i="0" u="none" strike="noStrike" cap="none" normalizeH="0" baseline="0" dirty="0">
                <a:ln>
                  <a:noFill/>
                </a:ln>
                <a:solidFill>
                  <a:srgbClr val="374151"/>
                </a:solidFill>
                <a:effectLst/>
              </a:rPr>
              <a:t>Library Overview:</a:t>
            </a:r>
            <a:endParaRPr kumimoji="0" lang="en-US" altLang="en-US" sz="2000" b="0" i="0" u="none" strike="noStrike" cap="none" normalizeH="0" baseline="0" dirty="0">
              <a:ln>
                <a:noFill/>
              </a:ln>
              <a:solidFill>
                <a:srgbClr val="374151"/>
              </a:solidFill>
              <a:effectLst/>
            </a:endParaRPr>
          </a:p>
          <a:p>
            <a:pPr marL="1257300" lvl="2" indent="-342900" eaLnBrk="0" fontAlgn="base" hangingPunct="0">
              <a:spcBef>
                <a:spcPct val="0"/>
              </a:spcBef>
              <a:spcAft>
                <a:spcPct val="0"/>
              </a:spcAft>
              <a:buFont typeface="Arial" panose="020B0604020202020204" pitchFamily="34" charset="0"/>
              <a:buChar char="•"/>
            </a:pPr>
            <a:r>
              <a:rPr kumimoji="0" lang="en-US" altLang="en-US" sz="2000" b="1" i="0" u="none" strike="noStrike" cap="none" normalizeH="0" baseline="0" dirty="0" err="1">
                <a:ln>
                  <a:noFill/>
                </a:ln>
                <a:solidFill>
                  <a:srgbClr val="374151"/>
                </a:solidFill>
                <a:effectLst/>
              </a:rPr>
              <a:t>gTTS</a:t>
            </a:r>
            <a:r>
              <a:rPr kumimoji="0" lang="en-US" altLang="en-US" sz="2000" b="0" i="0" u="none" strike="noStrike" cap="none" normalizeH="0" baseline="0" dirty="0">
                <a:ln>
                  <a:noFill/>
                </a:ln>
                <a:solidFill>
                  <a:srgbClr val="374151"/>
                </a:solidFill>
                <a:effectLst/>
              </a:rPr>
              <a:t> is a Python library that interfaces with Google Translate Text-to-Speech API.</a:t>
            </a:r>
          </a:p>
          <a:p>
            <a:pPr marL="1257300" lvl="2"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rgbClr val="374151"/>
                </a:solidFill>
                <a:effectLst/>
              </a:rPr>
              <a:t>Allows the conversion of text into spoken words.</a:t>
            </a:r>
          </a:p>
          <a:p>
            <a:pPr marL="1257300" lvl="2" indent="-342900" eaLnBrk="0" fontAlgn="base" hangingPunct="0">
              <a:spcBef>
                <a:spcPct val="0"/>
              </a:spcBef>
              <a:spcAft>
                <a:spcPct val="0"/>
              </a:spcAft>
              <a:buFont typeface="Arial" panose="020B0604020202020204" pitchFamily="34" charset="0"/>
              <a:buChar char="•"/>
            </a:pPr>
            <a:endParaRPr kumimoji="0" lang="en-US" altLang="en-US" sz="2000" b="0" i="0" u="none" strike="noStrike" cap="none" normalizeH="0" baseline="0" dirty="0">
              <a:ln>
                <a:noFill/>
              </a:ln>
              <a:solidFill>
                <a:srgbClr val="374151"/>
              </a:solidFill>
              <a:effectLst/>
            </a:endParaRPr>
          </a:p>
          <a:p>
            <a:pPr lvl="1" eaLnBrk="0" fontAlgn="base" hangingPunct="0">
              <a:spcBef>
                <a:spcPct val="0"/>
              </a:spcBef>
              <a:spcAft>
                <a:spcPct val="0"/>
              </a:spcAft>
            </a:pPr>
            <a:r>
              <a:rPr kumimoji="0" lang="en-US" altLang="en-US" sz="2000" b="1" i="0" u="none" strike="noStrike" cap="none" normalizeH="0" baseline="0" dirty="0">
                <a:ln>
                  <a:noFill/>
                </a:ln>
                <a:solidFill>
                  <a:srgbClr val="374151"/>
                </a:solidFill>
                <a:effectLst/>
              </a:rPr>
              <a:t>Installation:</a:t>
            </a:r>
          </a:p>
          <a:p>
            <a:pPr lvl="2" eaLnBrk="0" fontAlgn="base" hangingPunct="0">
              <a:spcBef>
                <a:spcPct val="0"/>
              </a:spcBef>
              <a:spcAft>
                <a:spcPct val="0"/>
              </a:spcAft>
            </a:pPr>
            <a:r>
              <a:rPr kumimoji="0" lang="en-US" altLang="en-US" sz="2000" i="0" u="none" strike="noStrike" cap="none" normalizeH="0" baseline="0" dirty="0">
                <a:ln>
                  <a:noFill/>
                </a:ln>
                <a:solidFill>
                  <a:srgbClr val="374151"/>
                </a:solidFill>
                <a:effectLst/>
              </a:rPr>
              <a:t>!pip install </a:t>
            </a:r>
            <a:r>
              <a:rPr kumimoji="0" lang="en-US" altLang="en-US" sz="2000" i="0" u="none" strike="noStrike" cap="none" normalizeH="0" baseline="0" dirty="0" err="1">
                <a:ln>
                  <a:noFill/>
                </a:ln>
                <a:solidFill>
                  <a:srgbClr val="374151"/>
                </a:solidFill>
                <a:effectLst/>
              </a:rPr>
              <a:t>gtts</a:t>
            </a:r>
            <a:endParaRPr kumimoji="0" lang="en-US" altLang="en-US" sz="2000" i="0" u="none" strike="noStrike" cap="none" normalizeH="0" baseline="0" dirty="0">
              <a:ln>
                <a:noFill/>
              </a:ln>
              <a:solidFill>
                <a:srgbClr val="374151"/>
              </a:solidFill>
              <a:effectLst/>
            </a:endParaRPr>
          </a:p>
          <a:p>
            <a:pPr algn="l"/>
            <a:endParaRPr lang="en-US" sz="2200" b="0" i="0" dirty="0">
              <a:solidFill>
                <a:srgbClr val="1F1F1F"/>
              </a:solidFill>
              <a:effectLst/>
              <a:latin typeface="Google Sans"/>
            </a:endParaRP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normAutofit/>
          </a:bodyPr>
          <a:lstStyle/>
          <a:p>
            <a:r>
              <a:rPr lang="en-IN" dirty="0">
                <a:latin typeface="+mn-lt"/>
              </a:rPr>
              <a:t>Cont..</a:t>
            </a:r>
          </a:p>
        </p:txBody>
      </p:sp>
      <p:sp>
        <p:nvSpPr>
          <p:cNvPr id="7" name="TextBox 6">
            <a:extLst>
              <a:ext uri="{FF2B5EF4-FFF2-40B4-BE49-F238E27FC236}">
                <a16:creationId xmlns:a16="http://schemas.microsoft.com/office/drawing/2014/main" id="{3AE3AC30-1C3D-36A4-96BB-F718862A9E23}"/>
              </a:ext>
            </a:extLst>
          </p:cNvPr>
          <p:cNvSpPr txBox="1"/>
          <p:nvPr/>
        </p:nvSpPr>
        <p:spPr>
          <a:xfrm>
            <a:off x="6217025" y="1255507"/>
            <a:ext cx="5353480" cy="378565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74151"/>
                </a:solidFill>
                <a:effectLst/>
              </a:rPr>
              <a:t>Basic Usage:</a:t>
            </a:r>
            <a:endParaRPr kumimoji="0" lang="en-US" altLang="en-US" sz="2000" b="0" i="0" u="none" strike="noStrike" cap="none" normalizeH="0" baseline="0" dirty="0">
              <a:ln>
                <a:noFill/>
              </a:ln>
              <a:solidFill>
                <a:schemeClr val="tx1"/>
              </a:solidFill>
              <a:effectLst/>
            </a:endParaRP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rgbClr val="374151"/>
                </a:solidFill>
                <a:effectLst/>
              </a:rPr>
              <a:t>Create a </a:t>
            </a:r>
            <a:r>
              <a:rPr kumimoji="0" lang="en-US" altLang="en-US" sz="2000" b="1" i="0" u="none" strike="noStrike" cap="none" normalizeH="0" baseline="0" dirty="0" err="1">
                <a:ln>
                  <a:noFill/>
                </a:ln>
                <a:solidFill>
                  <a:srgbClr val="374151"/>
                </a:solidFill>
                <a:effectLst/>
              </a:rPr>
              <a:t>gTTS</a:t>
            </a:r>
            <a:r>
              <a:rPr kumimoji="0" lang="en-US" altLang="en-US" sz="2000" b="0" i="0" u="none" strike="noStrike" cap="none" normalizeH="0" baseline="0" dirty="0">
                <a:ln>
                  <a:noFill/>
                </a:ln>
                <a:solidFill>
                  <a:srgbClr val="374151"/>
                </a:solidFill>
                <a:effectLst/>
              </a:rPr>
              <a:t> object by passing the text and language.</a:t>
            </a: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rgbClr val="374151"/>
                </a:solidFill>
                <a:effectLst/>
              </a:rPr>
              <a:t>Save the generated audio file for playback.</a:t>
            </a:r>
          </a:p>
          <a:p>
            <a:pPr marL="800100" lvl="1" indent="-342900" eaLnBrk="0" fontAlgn="base" hangingPunct="0">
              <a:spcBef>
                <a:spcPct val="0"/>
              </a:spcBef>
              <a:spcAft>
                <a:spcPct val="0"/>
              </a:spcAft>
              <a:buFont typeface="Arial" panose="020B0604020202020204" pitchFamily="34" charset="0"/>
              <a:buChar char="•"/>
            </a:pPr>
            <a:endParaRPr kumimoji="0" lang="en-US" altLang="en-US" sz="2000" b="0" i="0" u="none" strike="noStrike" cap="none" normalizeH="0" baseline="0" dirty="0">
              <a:ln>
                <a:noFill/>
              </a:ln>
              <a:solidFill>
                <a:srgbClr val="374151"/>
              </a:solidFill>
              <a:effectLst/>
            </a:endParaRPr>
          </a:p>
          <a:p>
            <a:pPr lvl="1" eaLnBrk="0" fontAlgn="base" hangingPunct="0">
              <a:spcBef>
                <a:spcPct val="0"/>
              </a:spcBef>
              <a:spcAft>
                <a:spcPct val="0"/>
              </a:spcAft>
            </a:pPr>
            <a:r>
              <a:rPr kumimoji="0" lang="en-US" altLang="en-US" sz="2000" b="0" i="0" u="none" strike="noStrike" cap="none" normalizeH="0" baseline="0" dirty="0">
                <a:ln>
                  <a:noFill/>
                </a:ln>
                <a:solidFill>
                  <a:schemeClr val="tx1"/>
                </a:solidFill>
                <a:effectLst/>
              </a:rPr>
              <a:t>from </a:t>
            </a:r>
            <a:r>
              <a:rPr kumimoji="0" lang="en-US" altLang="en-US" sz="2000" b="0" i="0" u="none" strike="noStrike" cap="none" normalizeH="0" baseline="0" dirty="0" err="1">
                <a:ln>
                  <a:noFill/>
                </a:ln>
                <a:solidFill>
                  <a:schemeClr val="tx1"/>
                </a:solidFill>
                <a:effectLst/>
              </a:rPr>
              <a:t>gtts</a:t>
            </a:r>
            <a:r>
              <a:rPr kumimoji="0" lang="en-US" altLang="en-US" sz="2000" b="0" i="0" u="none" strike="noStrike" cap="none" normalizeH="0" baseline="0" dirty="0">
                <a:ln>
                  <a:noFill/>
                </a:ln>
                <a:solidFill>
                  <a:schemeClr val="tx1"/>
                </a:solidFill>
                <a:effectLst/>
              </a:rPr>
              <a:t> import </a:t>
            </a:r>
            <a:r>
              <a:rPr kumimoji="0" lang="en-US" altLang="en-US" sz="2000" b="0" i="0" u="none" strike="noStrike" cap="none" normalizeH="0" baseline="0" dirty="0" err="1">
                <a:ln>
                  <a:noFill/>
                </a:ln>
                <a:solidFill>
                  <a:schemeClr val="tx1"/>
                </a:solidFill>
                <a:effectLst/>
              </a:rPr>
              <a:t>gTTS</a:t>
            </a:r>
            <a:endParaRPr kumimoji="0" lang="en-US" altLang="en-US" sz="2000" b="0" i="0" u="none" strike="noStrike" cap="none" normalizeH="0" baseline="0" dirty="0">
              <a:ln>
                <a:noFill/>
              </a:ln>
              <a:solidFill>
                <a:schemeClr val="tx1"/>
              </a:solidFill>
              <a:effectLst/>
            </a:endParaRPr>
          </a:p>
          <a:p>
            <a:pPr lvl="1"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endParaRPr>
          </a:p>
          <a:p>
            <a:pPr lvl="1" eaLnBrk="0" fontAlgn="base" hangingPunct="0">
              <a:spcBef>
                <a:spcPct val="0"/>
              </a:spcBef>
              <a:spcAft>
                <a:spcPct val="0"/>
              </a:spcAft>
            </a:pPr>
            <a:r>
              <a:rPr kumimoji="0" lang="en-US" altLang="en-US" sz="2000" b="0" i="0" u="none" strike="noStrike" cap="none" normalizeH="0" baseline="0" dirty="0">
                <a:ln>
                  <a:noFill/>
                </a:ln>
                <a:solidFill>
                  <a:schemeClr val="tx1"/>
                </a:solidFill>
                <a:effectLst/>
              </a:rPr>
              <a:t>text = "Hello, this is a test."</a:t>
            </a:r>
          </a:p>
          <a:p>
            <a:pPr lvl="1" eaLnBrk="0" fontAlgn="base" hangingPunct="0">
              <a:spcBef>
                <a:spcPct val="0"/>
              </a:spcBef>
              <a:spcAft>
                <a:spcPct val="0"/>
              </a:spcAft>
            </a:pPr>
            <a:r>
              <a:rPr kumimoji="0" lang="en-US" altLang="en-US" sz="2000" b="0" i="0" u="none" strike="noStrike" cap="none" normalizeH="0" baseline="0" dirty="0" err="1">
                <a:ln>
                  <a:noFill/>
                </a:ln>
                <a:solidFill>
                  <a:schemeClr val="tx1"/>
                </a:solidFill>
                <a:effectLst/>
              </a:rPr>
              <a:t>tts</a:t>
            </a:r>
            <a:r>
              <a:rPr kumimoji="0" lang="en-US" altLang="en-US" sz="2000" b="0" i="0" u="none" strike="noStrike" cap="none" normalizeH="0" baseline="0" dirty="0">
                <a:ln>
                  <a:noFill/>
                </a:ln>
                <a:solidFill>
                  <a:schemeClr val="tx1"/>
                </a:solidFill>
                <a:effectLst/>
              </a:rPr>
              <a:t> = </a:t>
            </a:r>
            <a:r>
              <a:rPr kumimoji="0" lang="en-US" altLang="en-US" sz="2000" b="0" i="0" u="none" strike="noStrike" cap="none" normalizeH="0" baseline="0" dirty="0" err="1">
                <a:ln>
                  <a:noFill/>
                </a:ln>
                <a:solidFill>
                  <a:schemeClr val="tx1"/>
                </a:solidFill>
                <a:effectLst/>
              </a:rPr>
              <a:t>gTTS</a:t>
            </a:r>
            <a:r>
              <a:rPr kumimoji="0" lang="en-US" altLang="en-US" sz="2000" b="0" i="0" u="none" strike="noStrike" cap="none" normalizeH="0" baseline="0" dirty="0">
                <a:ln>
                  <a:noFill/>
                </a:ln>
                <a:solidFill>
                  <a:schemeClr val="tx1"/>
                </a:solidFill>
                <a:effectLst/>
              </a:rPr>
              <a:t>(text=text, lang="</a:t>
            </a:r>
            <a:r>
              <a:rPr kumimoji="0" lang="en-US" altLang="en-US" sz="2000" b="0" i="0" u="none" strike="noStrike" cap="none" normalizeH="0" baseline="0" dirty="0" err="1">
                <a:ln>
                  <a:noFill/>
                </a:ln>
                <a:solidFill>
                  <a:schemeClr val="tx1"/>
                </a:solidFill>
                <a:effectLst/>
              </a:rPr>
              <a:t>en</a:t>
            </a:r>
            <a:r>
              <a:rPr kumimoji="0" lang="en-US" altLang="en-US" sz="2000" b="0" i="0" u="none" strike="noStrike" cap="none" normalizeH="0" baseline="0" dirty="0">
                <a:ln>
                  <a:noFill/>
                </a:ln>
                <a:solidFill>
                  <a:schemeClr val="tx1"/>
                </a:solidFill>
                <a:effectLst/>
              </a:rPr>
              <a:t>")</a:t>
            </a:r>
          </a:p>
          <a:p>
            <a:pPr lvl="1" eaLnBrk="0" fontAlgn="base" hangingPunct="0">
              <a:spcBef>
                <a:spcPct val="0"/>
              </a:spcBef>
              <a:spcAft>
                <a:spcPct val="0"/>
              </a:spcAft>
            </a:pPr>
            <a:r>
              <a:rPr kumimoji="0" lang="en-US" altLang="en-US" sz="2000" b="0" i="0" u="none" strike="noStrike" cap="none" normalizeH="0" baseline="0" dirty="0" err="1">
                <a:ln>
                  <a:noFill/>
                </a:ln>
                <a:solidFill>
                  <a:schemeClr val="tx1"/>
                </a:solidFill>
                <a:effectLst/>
              </a:rPr>
              <a:t>tts.save</a:t>
            </a:r>
            <a:r>
              <a:rPr kumimoji="0" lang="en-US" altLang="en-US" sz="2000" b="0" i="0" u="none" strike="noStrike" cap="none" normalizeH="0" baseline="0" dirty="0">
                <a:ln>
                  <a:noFill/>
                </a:ln>
                <a:solidFill>
                  <a:schemeClr val="tx1"/>
                </a:solidFill>
                <a:effectLst/>
              </a:rPr>
              <a:t>("output.mp3")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116816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621495" y="1277919"/>
            <a:ext cx="10949010" cy="40934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74151"/>
                </a:solidFill>
                <a:effectLst/>
              </a:rPr>
              <a:t>Language and Output Control:</a:t>
            </a:r>
            <a:endParaRPr kumimoji="0" lang="en-US" altLang="en-US" sz="2000" b="0" i="0" u="none" strike="noStrike" cap="none" normalizeH="0" baseline="0" dirty="0">
              <a:ln>
                <a:noFill/>
              </a:ln>
              <a:solidFill>
                <a:schemeClr val="tx1"/>
              </a:solidFill>
              <a:effectLst/>
            </a:endParaRP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rgbClr val="374151"/>
                </a:solidFill>
                <a:effectLst/>
              </a:rPr>
              <a:t>Specify the target language (</a:t>
            </a:r>
            <a:r>
              <a:rPr kumimoji="0" lang="en-US" altLang="en-US" sz="2000" b="1" i="0" u="none" strike="noStrike" cap="none" normalizeH="0" baseline="0" dirty="0">
                <a:ln>
                  <a:noFill/>
                </a:ln>
                <a:solidFill>
                  <a:srgbClr val="374151"/>
                </a:solidFill>
                <a:effectLst/>
              </a:rPr>
              <a:t>lang</a:t>
            </a:r>
            <a:r>
              <a:rPr kumimoji="0" lang="en-US" altLang="en-US" sz="2000" b="0" i="0" u="none" strike="noStrike" cap="none" normalizeH="0" baseline="0" dirty="0">
                <a:ln>
                  <a:noFill/>
                </a:ln>
                <a:solidFill>
                  <a:srgbClr val="374151"/>
                </a:solidFill>
                <a:effectLst/>
              </a:rPr>
              <a:t>) and adjust speech speed (</a:t>
            </a:r>
            <a:r>
              <a:rPr kumimoji="0" lang="en-US" altLang="en-US" sz="2000" b="1" i="0" u="none" strike="noStrike" cap="none" normalizeH="0" baseline="0" dirty="0">
                <a:ln>
                  <a:noFill/>
                </a:ln>
                <a:solidFill>
                  <a:srgbClr val="374151"/>
                </a:solidFill>
                <a:effectLst/>
              </a:rPr>
              <a:t>speed</a:t>
            </a:r>
            <a:r>
              <a:rPr kumimoji="0" lang="en-US" altLang="en-US" sz="2000" b="0" i="0" u="none" strike="noStrike" cap="none" normalizeH="0" baseline="0" dirty="0">
                <a:ln>
                  <a:noFill/>
                </a:ln>
                <a:solidFill>
                  <a:srgbClr val="374151"/>
                </a:solidFill>
                <a:effectLst/>
              </a:rPr>
              <a:t>).</a:t>
            </a: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rgbClr val="374151"/>
                </a:solidFill>
                <a:effectLst/>
              </a:rPr>
              <a:t>Choose the desired audio output format (e.g., mp3).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lvl="1" eaLnBrk="0" fontAlgn="base" hangingPunct="0">
              <a:spcBef>
                <a:spcPct val="0"/>
              </a:spcBef>
              <a:spcAft>
                <a:spcPct val="0"/>
              </a:spcAft>
            </a:pPr>
            <a:r>
              <a:rPr kumimoji="0" lang="en-US" altLang="en-US" sz="2000" b="0" i="0" u="none" strike="noStrike" cap="none" normalizeH="0" baseline="0" dirty="0">
                <a:ln>
                  <a:noFill/>
                </a:ln>
                <a:solidFill>
                  <a:schemeClr val="tx1"/>
                </a:solidFill>
                <a:effectLst/>
              </a:rPr>
              <a:t># Example with language and speed adjustments</a:t>
            </a:r>
          </a:p>
          <a:p>
            <a:pPr lvl="1" eaLnBrk="0" fontAlgn="base" hangingPunct="0">
              <a:spcBef>
                <a:spcPct val="0"/>
              </a:spcBef>
              <a:spcAft>
                <a:spcPct val="0"/>
              </a:spcAft>
            </a:pPr>
            <a:r>
              <a:rPr kumimoji="0" lang="en-US" altLang="en-US" sz="2000" b="0" i="0" u="none" strike="noStrike" cap="none" normalizeH="0" baseline="0" dirty="0" err="1">
                <a:ln>
                  <a:noFill/>
                </a:ln>
                <a:solidFill>
                  <a:schemeClr val="tx1"/>
                </a:solidFill>
                <a:effectLst/>
              </a:rPr>
              <a:t>tts</a:t>
            </a:r>
            <a:r>
              <a:rPr kumimoji="0" lang="en-US" altLang="en-US" sz="2000" b="0" i="0" u="none" strike="noStrike" cap="none" normalizeH="0" baseline="0" dirty="0">
                <a:ln>
                  <a:noFill/>
                </a:ln>
                <a:solidFill>
                  <a:schemeClr val="tx1"/>
                </a:solidFill>
                <a:effectLst/>
              </a:rPr>
              <a:t> = </a:t>
            </a:r>
            <a:r>
              <a:rPr kumimoji="0" lang="en-US" altLang="en-US" sz="2000" b="0" i="0" u="none" strike="noStrike" cap="none" normalizeH="0" baseline="0" dirty="0" err="1">
                <a:ln>
                  <a:noFill/>
                </a:ln>
                <a:solidFill>
                  <a:schemeClr val="tx1"/>
                </a:solidFill>
                <a:effectLst/>
              </a:rPr>
              <a:t>gTTS</a:t>
            </a:r>
            <a:r>
              <a:rPr kumimoji="0" lang="en-US" altLang="en-US" sz="2000" b="0" i="0" u="none" strike="noStrike" cap="none" normalizeH="0" baseline="0" dirty="0">
                <a:ln>
                  <a:noFill/>
                </a:ln>
                <a:solidFill>
                  <a:schemeClr val="tx1"/>
                </a:solidFill>
                <a:effectLst/>
              </a:rPr>
              <a:t>(text="Bonjour", lang="</a:t>
            </a:r>
            <a:r>
              <a:rPr kumimoji="0" lang="en-US" altLang="en-US" sz="2000" b="0" i="0" u="none" strike="noStrike" cap="none" normalizeH="0" baseline="0" dirty="0" err="1">
                <a:ln>
                  <a:noFill/>
                </a:ln>
                <a:solidFill>
                  <a:schemeClr val="tx1"/>
                </a:solidFill>
                <a:effectLst/>
              </a:rPr>
              <a:t>fr</a:t>
            </a:r>
            <a:r>
              <a:rPr kumimoji="0" lang="en-US" altLang="en-US" sz="2000" b="0" i="0" u="none" strike="noStrike" cap="none" normalizeH="0" baseline="0" dirty="0">
                <a:ln>
                  <a:noFill/>
                </a:ln>
                <a:solidFill>
                  <a:schemeClr val="tx1"/>
                </a:solidFill>
                <a:effectLst/>
              </a:rPr>
              <a:t>", slow=True)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74151"/>
                </a:solidFill>
                <a:effectLst/>
              </a:rPr>
              <a:t>Playback:</a:t>
            </a:r>
            <a:endParaRPr kumimoji="0" lang="en-US" altLang="en-US" sz="2000" b="0" i="0" u="none" strike="noStrike" cap="none" normalizeH="0" baseline="0" dirty="0">
              <a:ln>
                <a:noFill/>
              </a:ln>
              <a:solidFill>
                <a:schemeClr val="tx1"/>
              </a:solidFill>
              <a:effectLst/>
            </a:endParaRPr>
          </a:p>
          <a:p>
            <a:pPr lvl="1" eaLnBrk="0" fontAlgn="base" hangingPunct="0">
              <a:spcBef>
                <a:spcPct val="0"/>
              </a:spcBef>
              <a:spcAft>
                <a:spcPct val="0"/>
              </a:spcAft>
            </a:pPr>
            <a:r>
              <a:rPr kumimoji="0" lang="en-US" altLang="en-US" sz="2000" b="0" i="0" u="none" strike="noStrike" cap="none" normalizeH="0" baseline="0" dirty="0">
                <a:ln>
                  <a:noFill/>
                </a:ln>
                <a:solidFill>
                  <a:srgbClr val="374151"/>
                </a:solidFill>
                <a:effectLst/>
              </a:rPr>
              <a:t>Utilize an external player (e.g., </a:t>
            </a:r>
            <a:r>
              <a:rPr kumimoji="0" lang="en-US" altLang="en-US" sz="2000" b="1" i="0" u="none" strike="noStrike" cap="none" normalizeH="0" baseline="0" dirty="0" err="1">
                <a:ln>
                  <a:noFill/>
                </a:ln>
                <a:solidFill>
                  <a:srgbClr val="374151"/>
                </a:solidFill>
                <a:effectLst/>
              </a:rPr>
              <a:t>os.system</a:t>
            </a:r>
            <a:r>
              <a:rPr kumimoji="0" lang="en-US" altLang="en-US" sz="2000" b="1" i="0" u="none" strike="noStrike" cap="none" normalizeH="0" baseline="0" dirty="0">
                <a:ln>
                  <a:noFill/>
                </a:ln>
                <a:solidFill>
                  <a:srgbClr val="374151"/>
                </a:solidFill>
                <a:effectLst/>
              </a:rPr>
              <a:t>("start output.mp3")</a:t>
            </a:r>
            <a:r>
              <a:rPr kumimoji="0" lang="en-US" altLang="en-US" sz="2000" b="0" i="0" u="none" strike="noStrike" cap="none" normalizeH="0" baseline="0" dirty="0">
                <a:ln>
                  <a:noFill/>
                </a:ln>
                <a:solidFill>
                  <a:srgbClr val="374151"/>
                </a:solidFill>
                <a:effectLst/>
              </a:rPr>
              <a:t>) or any suitable audio player for playback.</a:t>
            </a:r>
          </a:p>
          <a:p>
            <a:pPr lvl="1"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endParaRPr>
          </a:p>
          <a:p>
            <a:pPr lvl="1" eaLnBrk="0" fontAlgn="base" hangingPunct="0">
              <a:spcBef>
                <a:spcPct val="0"/>
              </a:spcBef>
              <a:spcAft>
                <a:spcPct val="0"/>
              </a:spcAft>
            </a:pPr>
            <a:r>
              <a:rPr kumimoji="0" lang="en-US" altLang="en-US" sz="2000" b="0" i="0" u="none" strike="noStrike" cap="none" normalizeH="0" baseline="0" dirty="0">
                <a:ln>
                  <a:noFill/>
                </a:ln>
                <a:solidFill>
                  <a:schemeClr val="tx1"/>
                </a:solidFill>
                <a:effectLst/>
              </a:rPr>
              <a:t>import </a:t>
            </a:r>
            <a:r>
              <a:rPr kumimoji="0" lang="en-US" altLang="en-US" sz="2000" b="0" i="0" u="none" strike="noStrike" cap="none" normalizeH="0" baseline="0" dirty="0" err="1">
                <a:ln>
                  <a:noFill/>
                </a:ln>
                <a:solidFill>
                  <a:schemeClr val="tx1"/>
                </a:solidFill>
                <a:effectLst/>
              </a:rPr>
              <a:t>os</a:t>
            </a:r>
            <a:endParaRPr kumimoji="0" lang="en-US" altLang="en-US" sz="2000" b="0" i="0" u="none" strike="noStrike" cap="none" normalizeH="0" baseline="0" dirty="0">
              <a:ln>
                <a:noFill/>
              </a:ln>
              <a:solidFill>
                <a:schemeClr val="tx1"/>
              </a:solidFill>
              <a:effectLst/>
            </a:endParaRPr>
          </a:p>
          <a:p>
            <a:pPr lvl="1" eaLnBrk="0" fontAlgn="base" hangingPunct="0">
              <a:spcBef>
                <a:spcPct val="0"/>
              </a:spcBef>
              <a:spcAft>
                <a:spcPct val="0"/>
              </a:spcAft>
            </a:pPr>
            <a:r>
              <a:rPr kumimoji="0" lang="en-US" altLang="en-US" sz="2000" b="0" i="0" u="none" strike="noStrike" cap="none" normalizeH="0" baseline="0" dirty="0" err="1">
                <a:ln>
                  <a:noFill/>
                </a:ln>
                <a:solidFill>
                  <a:schemeClr val="tx1"/>
                </a:solidFill>
                <a:effectLst/>
              </a:rPr>
              <a:t>os.system</a:t>
            </a:r>
            <a:r>
              <a:rPr kumimoji="0" lang="en-US" altLang="en-US" sz="2000" b="0" i="0" u="none" strike="noStrike" cap="none" normalizeH="0" baseline="0" dirty="0">
                <a:ln>
                  <a:noFill/>
                </a:ln>
                <a:solidFill>
                  <a:schemeClr val="tx1"/>
                </a:solidFill>
                <a:effectLst/>
              </a:rPr>
              <a:t>("start output.mp3")</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normAutofit/>
          </a:bodyPr>
          <a:lstStyle/>
          <a:p>
            <a:r>
              <a:rPr lang="en-IN" dirty="0">
                <a:latin typeface="+mn-lt"/>
              </a:rPr>
              <a:t>Cont..</a:t>
            </a:r>
          </a:p>
        </p:txBody>
      </p:sp>
    </p:spTree>
    <p:extLst>
      <p:ext uri="{BB962C8B-B14F-4D97-AF65-F5344CB8AC3E}">
        <p14:creationId xmlns:p14="http://schemas.microsoft.com/office/powerpoint/2010/main" val="3019101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621493" y="1381012"/>
            <a:ext cx="10949010" cy="2246769"/>
          </a:xfrm>
          <a:prstGeom prst="rect">
            <a:avLst/>
          </a:prstGeom>
          <a:noFill/>
        </p:spPr>
        <p:txBody>
          <a:bodyPr wrap="square">
            <a:spAutoFit/>
          </a:bodyPr>
          <a:lstStyle/>
          <a:p>
            <a:pPr algn="l"/>
            <a:r>
              <a:rPr lang="en-US" sz="2000" b="0" i="0" dirty="0">
                <a:solidFill>
                  <a:srgbClr val="1F1F1F"/>
                </a:solidFill>
                <a:effectLst/>
              </a:rPr>
              <a:t>Moving Beyond the Usual Suspects: While BLEU and ROUGE have served us well, their limitations are becoming increasingly apparent. We can do better!</a:t>
            </a:r>
          </a:p>
          <a:p>
            <a:pPr algn="l"/>
            <a:endParaRPr lang="en-US" sz="2000" b="0" i="0" dirty="0">
              <a:solidFill>
                <a:srgbClr val="1F1F1F"/>
              </a:solidFill>
              <a:effectLst/>
            </a:endParaRPr>
          </a:p>
          <a:p>
            <a:pPr algn="l"/>
            <a:r>
              <a:rPr lang="en-US" sz="2000" b="0" i="0" dirty="0">
                <a:solidFill>
                  <a:srgbClr val="1F1F1F"/>
                </a:solidFill>
                <a:effectLst/>
              </a:rPr>
              <a:t>Metrics for Every Mission: Dive into a diverse toolkit of advanced metrics tailored to different tasks:</a:t>
            </a:r>
          </a:p>
          <a:p>
            <a:pPr marL="742950" lvl="1" indent="-285750" algn="l">
              <a:buFont typeface="Arial" panose="020B0604020202020204" pitchFamily="34" charset="0"/>
              <a:buChar char="•"/>
            </a:pPr>
            <a:r>
              <a:rPr lang="en-US" sz="2000" b="0" i="0" dirty="0">
                <a:solidFill>
                  <a:srgbClr val="1F1F1F"/>
                </a:solidFill>
                <a:effectLst/>
              </a:rPr>
              <a:t>For fluency and grammatical correctness: METEOR, F1-score</a:t>
            </a:r>
          </a:p>
          <a:p>
            <a:pPr marL="742950" lvl="1" indent="-285750" algn="l">
              <a:buFont typeface="Arial" panose="020B0604020202020204" pitchFamily="34" charset="0"/>
              <a:buChar char="•"/>
            </a:pPr>
            <a:r>
              <a:rPr lang="en-US" sz="2000" b="0" i="0" dirty="0">
                <a:solidFill>
                  <a:srgbClr val="1F1F1F"/>
                </a:solidFill>
                <a:effectLst/>
              </a:rPr>
              <a:t>For semantic similarity and factual accuracy: </a:t>
            </a:r>
            <a:r>
              <a:rPr lang="en-US" sz="2000" b="0" i="0" dirty="0" err="1">
                <a:solidFill>
                  <a:srgbClr val="1F1F1F"/>
                </a:solidFill>
                <a:effectLst/>
              </a:rPr>
              <a:t>BERTScore</a:t>
            </a:r>
            <a:r>
              <a:rPr lang="en-US" sz="2000" b="0" i="0" dirty="0">
                <a:solidFill>
                  <a:srgbClr val="1F1F1F"/>
                </a:solidFill>
                <a:effectLst/>
              </a:rPr>
              <a:t>, </a:t>
            </a:r>
            <a:r>
              <a:rPr lang="en-US" sz="2000" b="0" i="0" dirty="0" err="1">
                <a:solidFill>
                  <a:srgbClr val="1F1F1F"/>
                </a:solidFill>
                <a:effectLst/>
              </a:rPr>
              <a:t>Tfidf</a:t>
            </a:r>
            <a:r>
              <a:rPr lang="en-US" sz="2000" b="0" i="0" dirty="0">
                <a:solidFill>
                  <a:srgbClr val="1F1F1F"/>
                </a:solidFill>
                <a:effectLst/>
              </a:rPr>
              <a:t> cosine similarity</a:t>
            </a:r>
          </a:p>
          <a:p>
            <a:pPr marL="742950" lvl="1" indent="-285750" algn="l">
              <a:buFont typeface="Arial" panose="020B0604020202020204" pitchFamily="34" charset="0"/>
              <a:buChar char="•"/>
            </a:pPr>
            <a:r>
              <a:rPr lang="en-US" sz="2000" b="0" i="0" dirty="0">
                <a:solidFill>
                  <a:srgbClr val="1F1F1F"/>
                </a:solidFill>
                <a:effectLst/>
              </a:rPr>
              <a:t>For creative text generation: Human Evaluation, Diversity and Coherence Scores</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normAutofit/>
          </a:bodyPr>
          <a:lstStyle/>
          <a:p>
            <a:r>
              <a:rPr lang="en-IN" sz="3100" dirty="0">
                <a:latin typeface="Calibri"/>
                <a:cs typeface="Calibri"/>
              </a:rPr>
              <a:t>Advanced Model Evaluation Techniques </a:t>
            </a:r>
          </a:p>
        </p:txBody>
      </p:sp>
    </p:spTree>
    <p:extLst>
      <p:ext uri="{BB962C8B-B14F-4D97-AF65-F5344CB8AC3E}">
        <p14:creationId xmlns:p14="http://schemas.microsoft.com/office/powerpoint/2010/main" val="1802460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621493" y="1237577"/>
            <a:ext cx="10949010" cy="4493538"/>
          </a:xfrm>
          <a:prstGeom prst="rect">
            <a:avLst/>
          </a:prstGeom>
          <a:noFill/>
        </p:spPr>
        <p:txBody>
          <a:bodyPr wrap="square">
            <a:spAutoFit/>
          </a:bodyPr>
          <a:lstStyle/>
          <a:p>
            <a:pPr algn="l"/>
            <a:r>
              <a:rPr lang="en-US" sz="2200" b="1" i="0" dirty="0">
                <a:solidFill>
                  <a:srgbClr val="1F1F1F"/>
                </a:solidFill>
                <a:effectLst/>
                <a:latin typeface="Calibri"/>
                <a:cs typeface="Calibri"/>
              </a:rPr>
              <a:t>PEFT:</a:t>
            </a:r>
          </a:p>
          <a:p>
            <a:pPr marL="800100" lvl="1" indent="-342900">
              <a:buFont typeface="Arial" panose="020B0604020202020204" pitchFamily="34" charset="0"/>
              <a:buChar char="•"/>
            </a:pPr>
            <a:r>
              <a:rPr lang="en-US" sz="2200" b="1" i="0" dirty="0">
                <a:solidFill>
                  <a:srgbClr val="1F1F1F"/>
                </a:solidFill>
                <a:effectLst/>
                <a:latin typeface="Calibri"/>
                <a:cs typeface="Calibri"/>
              </a:rPr>
              <a:t>PEFT (Parameter-Efficient Fine-Tuning)</a:t>
            </a:r>
            <a:r>
              <a:rPr lang="en-US" sz="2200" b="0" i="0" dirty="0">
                <a:solidFill>
                  <a:srgbClr val="1F1F1F"/>
                </a:solidFill>
                <a:effectLst/>
                <a:latin typeface="Calibri"/>
                <a:cs typeface="Calibri"/>
              </a:rPr>
              <a:t> is a library and methodology for fine-tuning large language models (LLMs) efficiently. </a:t>
            </a:r>
          </a:p>
          <a:p>
            <a:pPr marL="800100" lvl="1" indent="-342900">
              <a:buFont typeface="Arial" panose="020B0604020202020204" pitchFamily="34" charset="0"/>
              <a:buChar char="•"/>
            </a:pPr>
            <a:r>
              <a:rPr lang="en-US" sz="2200" b="0" i="0" dirty="0">
                <a:solidFill>
                  <a:srgbClr val="1F1F1F"/>
                </a:solidFill>
                <a:effectLst/>
                <a:latin typeface="Calibri"/>
                <a:cs typeface="Calibri"/>
              </a:rPr>
              <a:t>Instead of adjusting all the LLM's parameters, PEFT uses smaller, task-specific modules injected into the model's layers. </a:t>
            </a:r>
          </a:p>
          <a:p>
            <a:pPr marL="800100" lvl="1" indent="-342900">
              <a:buFont typeface="Arial" panose="020B0604020202020204" pitchFamily="34" charset="0"/>
              <a:buChar char="•"/>
            </a:pPr>
            <a:r>
              <a:rPr lang="en-US" sz="2200" b="0" i="0" dirty="0">
                <a:solidFill>
                  <a:srgbClr val="1F1F1F"/>
                </a:solidFill>
                <a:effectLst/>
                <a:latin typeface="Calibri"/>
                <a:cs typeface="Calibri"/>
              </a:rPr>
              <a:t>This reduces the computational cost and memory footprint of fine-tuning, making it ideal for smaller datasets or resource-constrained environments.</a:t>
            </a:r>
          </a:p>
          <a:p>
            <a:pPr algn="l"/>
            <a:endParaRPr lang="en-US" sz="2200" b="0" i="0" dirty="0">
              <a:solidFill>
                <a:srgbClr val="1F1F1F"/>
              </a:solidFill>
              <a:effectLst/>
              <a:latin typeface="Calibri"/>
              <a:cs typeface="Calibri"/>
            </a:endParaRPr>
          </a:p>
          <a:p>
            <a:pPr algn="l"/>
            <a:r>
              <a:rPr lang="en-US" sz="2200" b="1" dirty="0" err="1">
                <a:solidFill>
                  <a:srgbClr val="1F1F1F"/>
                </a:solidFill>
                <a:latin typeface="Calibri"/>
                <a:cs typeface="Calibri"/>
              </a:rPr>
              <a:t>LoRA</a:t>
            </a:r>
            <a:r>
              <a:rPr lang="en-US" sz="2200" b="1" dirty="0">
                <a:solidFill>
                  <a:srgbClr val="1F1F1F"/>
                </a:solidFill>
                <a:latin typeface="Calibri"/>
                <a:cs typeface="Calibri"/>
              </a:rPr>
              <a:t>:</a:t>
            </a:r>
            <a:endParaRPr lang="en-US" sz="2200" b="1" i="0" dirty="0">
              <a:solidFill>
                <a:srgbClr val="1F1F1F"/>
              </a:solidFill>
              <a:effectLst/>
              <a:latin typeface="Calibri"/>
              <a:cs typeface="Calibri"/>
            </a:endParaRPr>
          </a:p>
          <a:p>
            <a:pPr marL="800100" lvl="1" indent="-342900">
              <a:buFont typeface="Arial" panose="020B0604020202020204" pitchFamily="34" charset="0"/>
              <a:buChar char="•"/>
            </a:pPr>
            <a:r>
              <a:rPr lang="en-US" sz="2200" b="1" i="0" dirty="0" err="1">
                <a:solidFill>
                  <a:srgbClr val="1F1F1F"/>
                </a:solidFill>
                <a:effectLst/>
                <a:latin typeface="Calibri"/>
                <a:cs typeface="Calibri"/>
              </a:rPr>
              <a:t>LoRA</a:t>
            </a:r>
            <a:r>
              <a:rPr lang="en-US" sz="2200" b="1" i="0" dirty="0">
                <a:solidFill>
                  <a:srgbClr val="1F1F1F"/>
                </a:solidFill>
                <a:effectLst/>
                <a:latin typeface="Calibri"/>
                <a:cs typeface="Calibri"/>
              </a:rPr>
              <a:t> (Low-Rank Adapter) </a:t>
            </a:r>
            <a:r>
              <a:rPr lang="en-US" sz="2200" b="0" i="0" dirty="0">
                <a:solidFill>
                  <a:srgbClr val="1F1F1F"/>
                </a:solidFill>
                <a:effectLst/>
                <a:latin typeface="Calibri"/>
                <a:cs typeface="Calibri"/>
              </a:rPr>
              <a:t>is a specific technique used within PEFT. </a:t>
            </a:r>
          </a:p>
          <a:p>
            <a:pPr marL="800100" lvl="1" indent="-342900">
              <a:buFont typeface="Arial" panose="020B0604020202020204" pitchFamily="34" charset="0"/>
              <a:buChar char="•"/>
            </a:pPr>
            <a:r>
              <a:rPr lang="en-US" sz="2200" b="0" i="0" dirty="0">
                <a:solidFill>
                  <a:srgbClr val="1F1F1F"/>
                </a:solidFill>
                <a:effectLst/>
                <a:latin typeface="Calibri"/>
                <a:cs typeface="Calibri"/>
              </a:rPr>
              <a:t>It introduces low-rank matrices into each layer of the LLM, allowing it to adapt to new tasks while preserving the knowledge learned from the pre-trained model. This means you can achieve good performance with fewer parameters than traditional fine-tuning.</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normAutofit/>
          </a:bodyPr>
          <a:lstStyle/>
          <a:p>
            <a:r>
              <a:rPr lang="en-IN" b="1" i="0" dirty="0">
                <a:effectLst/>
                <a:latin typeface="Calibri"/>
                <a:cs typeface="Calibri"/>
              </a:rPr>
              <a:t>Cont…</a:t>
            </a:r>
            <a:endParaRPr lang="en-IN" dirty="0">
              <a:latin typeface="Calibri"/>
              <a:cs typeface="Calibri"/>
            </a:endParaRPr>
          </a:p>
        </p:txBody>
      </p:sp>
    </p:spTree>
    <p:extLst>
      <p:ext uri="{BB962C8B-B14F-4D97-AF65-F5344CB8AC3E}">
        <p14:creationId xmlns:p14="http://schemas.microsoft.com/office/powerpoint/2010/main" val="251482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621493" y="1237577"/>
            <a:ext cx="10949010" cy="2123658"/>
          </a:xfrm>
          <a:prstGeom prst="rect">
            <a:avLst/>
          </a:prstGeom>
          <a:noFill/>
        </p:spPr>
        <p:txBody>
          <a:bodyPr wrap="square">
            <a:spAutoFit/>
          </a:bodyPr>
          <a:lstStyle/>
          <a:p>
            <a:pPr algn="l"/>
            <a:r>
              <a:rPr lang="en-US" sz="2200" b="0" i="0" dirty="0">
                <a:solidFill>
                  <a:srgbClr val="1F1F1F"/>
                </a:solidFill>
                <a:effectLst/>
                <a:latin typeface="Calibri"/>
                <a:cs typeface="Calibri"/>
              </a:rPr>
              <a:t>Benefits of PEFT and </a:t>
            </a:r>
            <a:r>
              <a:rPr lang="en-US" sz="2200" b="0" i="0" dirty="0" err="1">
                <a:solidFill>
                  <a:srgbClr val="1F1F1F"/>
                </a:solidFill>
                <a:effectLst/>
                <a:latin typeface="Calibri"/>
                <a:cs typeface="Calibri"/>
              </a:rPr>
              <a:t>LoRA</a:t>
            </a:r>
            <a:r>
              <a:rPr lang="en-US" sz="2200" b="0" i="0" dirty="0">
                <a:solidFill>
                  <a:srgbClr val="1F1F1F"/>
                </a:solidFill>
                <a:effectLst/>
                <a:latin typeface="Calibri"/>
                <a:cs typeface="Calibri"/>
              </a:rPr>
              <a:t>:</a:t>
            </a:r>
          </a:p>
          <a:p>
            <a:pPr algn="l"/>
            <a:endParaRPr lang="en-US" sz="2200" b="0" i="0" dirty="0">
              <a:solidFill>
                <a:srgbClr val="1F1F1F"/>
              </a:solidFill>
              <a:effectLst/>
              <a:latin typeface="Calibri"/>
              <a:cs typeface="Calibri"/>
            </a:endParaRPr>
          </a:p>
          <a:p>
            <a:pPr marL="800100" lvl="1" indent="-342900">
              <a:buFont typeface="Arial" panose="020B0604020202020204" pitchFamily="34" charset="0"/>
              <a:buChar char="•"/>
            </a:pPr>
            <a:r>
              <a:rPr lang="en-US" sz="2200" b="0" i="0" dirty="0">
                <a:solidFill>
                  <a:srgbClr val="1F1F1F"/>
                </a:solidFill>
                <a:effectLst/>
                <a:latin typeface="Calibri"/>
                <a:cs typeface="Calibri"/>
              </a:rPr>
              <a:t>Reduced training time and cost: You can fine-tune models faster and with less hardware.</a:t>
            </a:r>
          </a:p>
          <a:p>
            <a:pPr marL="800100" lvl="1" indent="-342900">
              <a:buFont typeface="Arial" panose="020B0604020202020204" pitchFamily="34" charset="0"/>
              <a:buChar char="•"/>
            </a:pPr>
            <a:r>
              <a:rPr lang="en-US" sz="2200" b="0" i="0" dirty="0">
                <a:solidFill>
                  <a:srgbClr val="1F1F1F"/>
                </a:solidFill>
                <a:effectLst/>
                <a:latin typeface="Calibri"/>
                <a:cs typeface="Calibri"/>
              </a:rPr>
              <a:t>Improved task specificity: You can adapt models to specific tasks more effectively.</a:t>
            </a:r>
          </a:p>
          <a:p>
            <a:pPr marL="800100" lvl="1" indent="-342900">
              <a:buFont typeface="Arial" panose="020B0604020202020204" pitchFamily="34" charset="0"/>
              <a:buChar char="•"/>
            </a:pPr>
            <a:r>
              <a:rPr lang="en-US" sz="2200" b="0" i="0" dirty="0">
                <a:solidFill>
                  <a:srgbClr val="1F1F1F"/>
                </a:solidFill>
                <a:effectLst/>
                <a:latin typeface="Calibri"/>
                <a:cs typeface="Calibri"/>
              </a:rPr>
              <a:t>Better memory efficiency: You can run models on devices with less memory.</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normAutofit/>
          </a:bodyPr>
          <a:lstStyle/>
          <a:p>
            <a:r>
              <a:rPr lang="en-IN" b="1" i="0" dirty="0">
                <a:effectLst/>
                <a:latin typeface="Calibri"/>
                <a:cs typeface="Calibri"/>
              </a:rPr>
              <a:t>Cont…</a:t>
            </a:r>
            <a:endParaRPr lang="en-IN" dirty="0">
              <a:latin typeface="Calibri"/>
              <a:cs typeface="Calibri"/>
            </a:endParaRPr>
          </a:p>
        </p:txBody>
      </p:sp>
    </p:spTree>
    <p:extLst>
      <p:ext uri="{BB962C8B-B14F-4D97-AF65-F5344CB8AC3E}">
        <p14:creationId xmlns:p14="http://schemas.microsoft.com/office/powerpoint/2010/main" val="3729561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677591" y="1287461"/>
            <a:ext cx="10949010" cy="3170099"/>
          </a:xfrm>
          <a:prstGeom prst="rect">
            <a:avLst/>
          </a:prstGeom>
          <a:noFill/>
        </p:spPr>
        <p:txBody>
          <a:bodyPr wrap="square">
            <a:spAutoFit/>
          </a:bodyPr>
          <a:lstStyle/>
          <a:p>
            <a:pPr marL="342900" indent="-342900" algn="l">
              <a:buFont typeface="Arial" panose="020B0604020202020204" pitchFamily="34" charset="0"/>
              <a:buChar char="•"/>
            </a:pPr>
            <a:r>
              <a:rPr lang="en-US" sz="2000" b="1" i="0" dirty="0">
                <a:solidFill>
                  <a:srgbClr val="1F1F1F"/>
                </a:solidFill>
                <a:effectLst/>
                <a:latin typeface="Calibri"/>
                <a:cs typeface="Calibri"/>
              </a:rPr>
              <a:t>Metrics as Microscopes: </a:t>
            </a:r>
            <a:r>
              <a:rPr lang="en-US" sz="2000" b="0" i="0" dirty="0">
                <a:solidFill>
                  <a:srgbClr val="1F1F1F"/>
                </a:solidFill>
                <a:effectLst/>
                <a:latin typeface="Calibri"/>
                <a:cs typeface="Calibri"/>
              </a:rPr>
              <a:t>While metrics like BLEU and ROUGE offer valuable close-ups, qualitative analysis lets you step back and admire the full canvas of your generative model's text and summaries.</a:t>
            </a:r>
          </a:p>
          <a:p>
            <a:pPr marL="342900" indent="-342900" algn="l">
              <a:buFont typeface="Arial" panose="020B0604020202020204" pitchFamily="34" charset="0"/>
              <a:buChar char="•"/>
            </a:pPr>
            <a:endParaRPr lang="en-US" sz="2000" b="0" i="0" dirty="0">
              <a:solidFill>
                <a:srgbClr val="1F1F1F"/>
              </a:solidFill>
              <a:effectLst/>
              <a:latin typeface="Calibri"/>
              <a:cs typeface="Calibri"/>
            </a:endParaRPr>
          </a:p>
          <a:p>
            <a:pPr marL="342900" indent="-342900" algn="l">
              <a:buFont typeface="Arial" panose="020B0604020202020204" pitchFamily="34" charset="0"/>
              <a:buChar char="•"/>
            </a:pPr>
            <a:r>
              <a:rPr lang="en-US" sz="2000" b="1" i="0" dirty="0">
                <a:solidFill>
                  <a:srgbClr val="1F1F1F"/>
                </a:solidFill>
                <a:effectLst/>
                <a:latin typeface="Calibri"/>
                <a:cs typeface="Calibri"/>
              </a:rPr>
              <a:t>The Art of Seeing</a:t>
            </a:r>
            <a:r>
              <a:rPr lang="en-US" sz="2000" b="0" i="0" dirty="0">
                <a:solidFill>
                  <a:srgbClr val="1F1F1F"/>
                </a:solidFill>
                <a:effectLst/>
                <a:latin typeface="Calibri"/>
                <a:cs typeface="Calibri"/>
              </a:rPr>
              <a:t>: Qualitative analysis empowers you to visually inspect and interpret the outputs, assessing:</a:t>
            </a:r>
          </a:p>
          <a:p>
            <a:pPr marL="742950" lvl="1" indent="-285750" algn="l">
              <a:buFont typeface="Arial" panose="020B0604020202020204" pitchFamily="34" charset="0"/>
              <a:buChar char="•"/>
            </a:pPr>
            <a:r>
              <a:rPr lang="en-US" sz="2000" b="1" i="0" dirty="0">
                <a:solidFill>
                  <a:srgbClr val="1F1F1F"/>
                </a:solidFill>
                <a:effectLst/>
                <a:latin typeface="Calibri"/>
                <a:cs typeface="Calibri"/>
              </a:rPr>
              <a:t>Fluency and Flow: </a:t>
            </a:r>
            <a:r>
              <a:rPr lang="en-US" sz="2000" b="0" i="0" dirty="0">
                <a:solidFill>
                  <a:srgbClr val="1F1F1F"/>
                </a:solidFill>
                <a:effectLst/>
                <a:latin typeface="Calibri"/>
                <a:cs typeface="Calibri"/>
              </a:rPr>
              <a:t>Does the text read smoothly and logically connect?</a:t>
            </a:r>
          </a:p>
          <a:p>
            <a:pPr marL="742950" lvl="1" indent="-285750" algn="l">
              <a:buFont typeface="Arial" panose="020B0604020202020204" pitchFamily="34" charset="0"/>
              <a:buChar char="•"/>
            </a:pPr>
            <a:r>
              <a:rPr lang="en-US" sz="2000" b="1" i="0" dirty="0">
                <a:solidFill>
                  <a:srgbClr val="1F1F1F"/>
                </a:solidFill>
                <a:effectLst/>
                <a:latin typeface="Calibri"/>
                <a:cs typeface="Calibri"/>
              </a:rPr>
              <a:t>Accuracy and Truth: </a:t>
            </a:r>
            <a:r>
              <a:rPr lang="en-US" sz="2000" b="0" i="0" dirty="0">
                <a:solidFill>
                  <a:srgbClr val="1F1F1F"/>
                </a:solidFill>
                <a:effectLst/>
                <a:latin typeface="Calibri"/>
                <a:cs typeface="Calibri"/>
              </a:rPr>
              <a:t>Does it stay faithful to the original content, avoiding factual errors?</a:t>
            </a:r>
          </a:p>
          <a:p>
            <a:pPr marL="742950" lvl="1" indent="-285750" algn="l">
              <a:buFont typeface="Arial" panose="020B0604020202020204" pitchFamily="34" charset="0"/>
              <a:buChar char="•"/>
            </a:pPr>
            <a:r>
              <a:rPr lang="en-US" sz="2000" b="1" i="0" dirty="0">
                <a:solidFill>
                  <a:srgbClr val="1F1F1F"/>
                </a:solidFill>
                <a:effectLst/>
                <a:latin typeface="Calibri"/>
                <a:cs typeface="Calibri"/>
              </a:rPr>
              <a:t>Originality and Spark: </a:t>
            </a:r>
            <a:r>
              <a:rPr lang="en-US" sz="2000" b="0" i="0" dirty="0">
                <a:solidFill>
                  <a:srgbClr val="1F1F1F"/>
                </a:solidFill>
                <a:effectLst/>
                <a:latin typeface="Calibri"/>
                <a:cs typeface="Calibri"/>
              </a:rPr>
              <a:t>Does it offer fresh perspectives or unexpected turns of phrase?</a:t>
            </a:r>
          </a:p>
          <a:p>
            <a:pPr marL="742950" lvl="1" indent="-285750" algn="l">
              <a:buFont typeface="Arial" panose="020B0604020202020204" pitchFamily="34" charset="0"/>
              <a:buChar char="•"/>
            </a:pPr>
            <a:r>
              <a:rPr lang="en-US" sz="2000" b="1" i="0" dirty="0">
                <a:solidFill>
                  <a:srgbClr val="1F1F1F"/>
                </a:solidFill>
                <a:effectLst/>
                <a:latin typeface="Calibri"/>
                <a:cs typeface="Calibri"/>
              </a:rPr>
              <a:t>Bias and Ethical Compass: </a:t>
            </a:r>
            <a:r>
              <a:rPr lang="en-US" sz="2000" b="0" i="0" dirty="0">
                <a:solidFill>
                  <a:srgbClr val="1F1F1F"/>
                </a:solidFill>
                <a:effectLst/>
                <a:latin typeface="Calibri"/>
                <a:cs typeface="Calibri"/>
              </a:rPr>
              <a:t>Does it promote harmful stereotypes or misinformation?</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normAutofit/>
          </a:bodyPr>
          <a:lstStyle/>
          <a:p>
            <a:r>
              <a:rPr lang="en-IN" dirty="0">
                <a:latin typeface="Calibri"/>
                <a:cs typeface="Calibri"/>
              </a:rPr>
              <a:t>Qualitative Analysis</a:t>
            </a:r>
          </a:p>
        </p:txBody>
      </p:sp>
    </p:spTree>
    <p:extLst>
      <p:ext uri="{BB962C8B-B14F-4D97-AF65-F5344CB8AC3E}">
        <p14:creationId xmlns:p14="http://schemas.microsoft.com/office/powerpoint/2010/main" val="2328412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677591" y="1273436"/>
            <a:ext cx="10949010" cy="4708981"/>
          </a:xfrm>
          <a:prstGeom prst="rect">
            <a:avLst/>
          </a:prstGeom>
          <a:noFill/>
        </p:spPr>
        <p:txBody>
          <a:bodyPr wrap="square">
            <a:spAutoFit/>
          </a:bodyPr>
          <a:lstStyle/>
          <a:p>
            <a:pPr algn="l"/>
            <a:r>
              <a:rPr lang="en-US" sz="2000" b="0" i="0" dirty="0">
                <a:solidFill>
                  <a:srgbClr val="1F1F1F"/>
                </a:solidFill>
                <a:effectLst/>
                <a:latin typeface="Calibri"/>
                <a:cs typeface="Calibri"/>
              </a:rPr>
              <a:t>Beyond the Algorithm: While metrics offer objective data, the human touch remains crucial in assessing generative models. Humans can perceive nuances and subtleties missed by machines, including:</a:t>
            </a:r>
          </a:p>
          <a:p>
            <a:pPr marL="742950" lvl="1" indent="-285750" algn="l">
              <a:buFont typeface="Arial" panose="020B0604020202020204" pitchFamily="34" charset="0"/>
              <a:buChar char="•"/>
            </a:pPr>
            <a:r>
              <a:rPr lang="en-US" sz="2000" b="0" i="0" dirty="0">
                <a:solidFill>
                  <a:srgbClr val="1F1F1F"/>
                </a:solidFill>
                <a:effectLst/>
                <a:latin typeface="Calibri"/>
                <a:cs typeface="Calibri"/>
              </a:rPr>
              <a:t>Creativity and Originality: Does the text feel fresh and insightful, or simply mimic existing patterns?</a:t>
            </a:r>
          </a:p>
          <a:p>
            <a:pPr marL="742950" lvl="1" indent="-285750" algn="l">
              <a:buFont typeface="Arial" panose="020B0604020202020204" pitchFamily="34" charset="0"/>
              <a:buChar char="•"/>
            </a:pPr>
            <a:r>
              <a:rPr lang="en-US" sz="2000" b="0" i="0" dirty="0">
                <a:solidFill>
                  <a:srgbClr val="1F1F1F"/>
                </a:solidFill>
                <a:effectLst/>
                <a:latin typeface="Calibri"/>
                <a:cs typeface="Calibri"/>
              </a:rPr>
              <a:t>Engagement and Appeal: Does it capture attention and evoke emotions in the reader?</a:t>
            </a:r>
          </a:p>
          <a:p>
            <a:pPr marL="742950" lvl="1" indent="-285750" algn="l">
              <a:buFont typeface="Arial" panose="020B0604020202020204" pitchFamily="34" charset="0"/>
              <a:buChar char="•"/>
            </a:pPr>
            <a:r>
              <a:rPr lang="en-US" sz="2000" b="0" i="0" dirty="0">
                <a:solidFill>
                  <a:srgbClr val="1F1F1F"/>
                </a:solidFill>
                <a:effectLst/>
                <a:latin typeface="Calibri"/>
                <a:cs typeface="Calibri"/>
              </a:rPr>
              <a:t>Ethical and Societal Impact: Does it promote harmful biases or stereotypes, or contribute to a positive discourse?</a:t>
            </a:r>
          </a:p>
          <a:p>
            <a:pPr marL="742950" lvl="1" indent="-285750" algn="l">
              <a:buFont typeface="Arial" panose="020B0604020202020204" pitchFamily="34" charset="0"/>
              <a:buChar char="•"/>
            </a:pPr>
            <a:endParaRPr lang="en-US" sz="2000" b="0" i="0" dirty="0">
              <a:solidFill>
                <a:srgbClr val="1F1F1F"/>
              </a:solidFill>
              <a:effectLst/>
              <a:latin typeface="Calibri"/>
              <a:cs typeface="Calibri"/>
            </a:endParaRPr>
          </a:p>
          <a:p>
            <a:pPr algn="l"/>
            <a:r>
              <a:rPr lang="en-US" sz="2000" b="1" i="0" dirty="0">
                <a:solidFill>
                  <a:srgbClr val="1F1F1F"/>
                </a:solidFill>
                <a:effectLst/>
                <a:latin typeface="Calibri"/>
                <a:cs typeface="Calibri"/>
              </a:rPr>
              <a:t>Challenges and Considerations:</a:t>
            </a:r>
          </a:p>
          <a:p>
            <a:pPr marL="742950" lvl="1" indent="-285750">
              <a:buFont typeface="Arial" panose="020B0604020202020204" pitchFamily="34" charset="0"/>
              <a:buChar char="•"/>
            </a:pPr>
            <a:r>
              <a:rPr lang="en-US" sz="2000" b="0" i="0" dirty="0">
                <a:solidFill>
                  <a:srgbClr val="1F1F1F"/>
                </a:solidFill>
                <a:effectLst/>
                <a:latin typeface="Calibri"/>
                <a:cs typeface="Calibri"/>
              </a:rPr>
              <a:t>Subjectivity: Human judgment is inherently subjective, requiring careful design of evaluation methods to minimize bias and ensure consistency.</a:t>
            </a:r>
          </a:p>
          <a:p>
            <a:pPr marL="742950" lvl="1" indent="-285750">
              <a:buFont typeface="Arial" panose="020B0604020202020204" pitchFamily="34" charset="0"/>
              <a:buChar char="•"/>
            </a:pPr>
            <a:r>
              <a:rPr lang="en-US" sz="2000" b="0" i="0" dirty="0">
                <a:solidFill>
                  <a:srgbClr val="1F1F1F"/>
                </a:solidFill>
                <a:effectLst/>
                <a:latin typeface="Calibri"/>
                <a:cs typeface="Calibri"/>
              </a:rPr>
              <a:t>Cost and Scalability: Recruiting and managing human evaluators can be expensive and time-consuming, especially for large datasets.</a:t>
            </a:r>
          </a:p>
          <a:p>
            <a:pPr marL="742950" lvl="1" indent="-285750">
              <a:buFont typeface="Arial" panose="020B0604020202020204" pitchFamily="34" charset="0"/>
              <a:buChar char="•"/>
            </a:pPr>
            <a:r>
              <a:rPr lang="en-US" sz="2000" b="0" i="0" dirty="0">
                <a:solidFill>
                  <a:srgbClr val="1F1F1F"/>
                </a:solidFill>
                <a:effectLst/>
                <a:latin typeface="Calibri"/>
                <a:cs typeface="Calibri"/>
              </a:rPr>
              <a:t>Task Specificity: Different tasks require different evaluation criteria and methods. Tailor-made approaches are crucial for accurate assessment.</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normAutofit/>
          </a:bodyPr>
          <a:lstStyle/>
          <a:p>
            <a:r>
              <a:rPr lang="en-US" b="1" i="0" dirty="0">
                <a:effectLst/>
                <a:latin typeface="Calibri"/>
                <a:cs typeface="Calibri"/>
              </a:rPr>
              <a:t>Human Evaluation in Generative Models</a:t>
            </a:r>
            <a:endParaRPr lang="en-IN" dirty="0">
              <a:latin typeface="Calibri"/>
              <a:cs typeface="Calibri"/>
            </a:endParaRPr>
          </a:p>
        </p:txBody>
      </p:sp>
    </p:spTree>
    <p:extLst>
      <p:ext uri="{BB962C8B-B14F-4D97-AF65-F5344CB8AC3E}">
        <p14:creationId xmlns:p14="http://schemas.microsoft.com/office/powerpoint/2010/main" val="2927813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Practical Exercise</a:t>
            </a:r>
          </a:p>
        </p:txBody>
      </p:sp>
      <p:sp>
        <p:nvSpPr>
          <p:cNvPr id="3" name="Content Placeholder 2">
            <a:extLst>
              <a:ext uri="{FF2B5EF4-FFF2-40B4-BE49-F238E27FC236}">
                <a16:creationId xmlns:a16="http://schemas.microsoft.com/office/drawing/2014/main" id="{CB071890-575E-F98C-E2A4-BC2D1C459837}"/>
              </a:ext>
            </a:extLst>
          </p:cNvPr>
          <p:cNvSpPr>
            <a:spLocks noGrp="1"/>
          </p:cNvSpPr>
          <p:nvPr>
            <p:ph sz="half" idx="1"/>
          </p:nvPr>
        </p:nvSpPr>
        <p:spPr>
          <a:xfrm>
            <a:off x="636489" y="1440200"/>
            <a:ext cx="10876625" cy="4781306"/>
          </a:xfrm>
        </p:spPr>
        <p:txBody>
          <a:bodyPr vert="horz" lIns="91440" tIns="45720" rIns="91440" bIns="45720" rtlCol="0" anchor="t">
            <a:noAutofit/>
          </a:bodyPr>
          <a:lstStyle/>
          <a:p>
            <a:pPr marL="0" indent="0">
              <a:buNone/>
            </a:pPr>
            <a:r>
              <a:rPr lang="en-US" sz="2200" dirty="0">
                <a:solidFill>
                  <a:srgbClr val="1F1F1F"/>
                </a:solidFill>
                <a:latin typeface="+mn-lt"/>
                <a:cs typeface="Calibri"/>
              </a:rPr>
              <a:t>Fine Tuning Flan-t5 model with PEFT &amp; </a:t>
            </a:r>
            <a:r>
              <a:rPr lang="en-US" sz="2200" dirty="0" err="1">
                <a:solidFill>
                  <a:srgbClr val="1F1F1F"/>
                </a:solidFill>
                <a:latin typeface="+mn-lt"/>
                <a:cs typeface="Calibri"/>
              </a:rPr>
              <a:t>LoRA</a:t>
            </a:r>
            <a:endParaRPr lang="en-US" sz="2200">
              <a:solidFill>
                <a:srgbClr val="1F1F1F"/>
              </a:solidFill>
              <a:latin typeface="+mn-lt"/>
              <a:cs typeface="Calibri"/>
            </a:endParaRPr>
          </a:p>
          <a:p>
            <a:pPr marL="0" indent="0">
              <a:buNone/>
            </a:pPr>
            <a:endParaRPr lang="en-US" sz="2200" dirty="0">
              <a:solidFill>
                <a:srgbClr val="1F1F1F"/>
              </a:solidFill>
              <a:latin typeface="+mn-lt"/>
              <a:cs typeface="Calibri"/>
            </a:endParaRPr>
          </a:p>
          <a:p>
            <a:pPr marL="0" indent="0">
              <a:buNone/>
            </a:pPr>
            <a:r>
              <a:rPr lang="en-US" sz="2200" dirty="0">
                <a:solidFill>
                  <a:srgbClr val="1F1F1F"/>
                </a:solidFill>
                <a:latin typeface="+mn-lt"/>
                <a:cs typeface="Calibri"/>
                <a:hlinkClick r:id="rId3"/>
              </a:rPr>
              <a:t>https://www.kaggle.com/code/paultimothymooney/fine-tune-flan-t5-with-peft-lora-deeplearning-ai</a:t>
            </a:r>
            <a:endParaRPr lang="en-US" dirty="0"/>
          </a:p>
        </p:txBody>
      </p:sp>
    </p:spTree>
    <p:extLst>
      <p:ext uri="{BB962C8B-B14F-4D97-AF65-F5344CB8AC3E}">
        <p14:creationId xmlns:p14="http://schemas.microsoft.com/office/powerpoint/2010/main" val="87802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5686D848CA8F1468B82D0B10D413C3D" ma:contentTypeVersion="14" ma:contentTypeDescription="Create a new document." ma:contentTypeScope="" ma:versionID="d5b240a91a25ea1080fd952e7479a446">
  <xsd:schema xmlns:xsd="http://www.w3.org/2001/XMLSchema" xmlns:xs="http://www.w3.org/2001/XMLSchema" xmlns:p="http://schemas.microsoft.com/office/2006/metadata/properties" xmlns:ns3="0b87ff7c-3c57-48c1-96bc-a31a6ed1cbcb" xmlns:ns4="a632746c-79dd-4f4d-be17-3d74e0ddabab" targetNamespace="http://schemas.microsoft.com/office/2006/metadata/properties" ma:root="true" ma:fieldsID="aee445f81344f644d5fcf70b16318b60" ns3:_="" ns4:_="">
    <xsd:import namespace="0b87ff7c-3c57-48c1-96bc-a31a6ed1cbcb"/>
    <xsd:import namespace="a632746c-79dd-4f4d-be17-3d74e0ddabab"/>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LengthInSecond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87ff7c-3c57-48c1-96bc-a31a6ed1cb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32746c-79dd-4f4d-be17-3d74e0ddabab"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398AB8-945C-4DC8-B3D3-036E118D8E9E}">
  <ds:schemaRefs>
    <ds:schemaRef ds:uri="http://purl.org/dc/terms/"/>
    <ds:schemaRef ds:uri="http://schemas.microsoft.com/office/2006/documentManagement/types"/>
    <ds:schemaRef ds:uri="0b87ff7c-3c57-48c1-96bc-a31a6ed1cbcb"/>
    <ds:schemaRef ds:uri="http://purl.org/dc/dcmitype/"/>
    <ds:schemaRef ds:uri="http://schemas.microsoft.com/office/infopath/2007/PartnerControls"/>
    <ds:schemaRef ds:uri="http://schemas.openxmlformats.org/package/2006/metadata/core-properties"/>
    <ds:schemaRef ds:uri="http://purl.org/dc/elements/1.1/"/>
    <ds:schemaRef ds:uri="a632746c-79dd-4f4d-be17-3d74e0ddabab"/>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7B179B08-DF72-4C20-A948-2D56E83438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b87ff7c-3c57-48c1-96bc-a31a6ed1cbcb"/>
    <ds:schemaRef ds:uri="a632746c-79dd-4f4d-be17-3d74e0ddab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335C384-48F3-4C56-BA76-9BAB67B44D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11734</TotalTime>
  <Words>1326</Words>
  <Application>Microsoft Office PowerPoint</Application>
  <PresentationFormat>Widescreen</PresentationFormat>
  <Paragraphs>177</Paragraphs>
  <Slides>18</Slides>
  <Notes>14</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BIA Template</vt:lpstr>
      <vt:lpstr>PowerPoint Presentation</vt:lpstr>
      <vt:lpstr>Trainer Guidelines for Conducting Class</vt:lpstr>
      <vt:lpstr>Agenda</vt:lpstr>
      <vt:lpstr>Fine-tuning for Precision</vt:lpstr>
      <vt:lpstr>Conditional Text Generation</vt:lpstr>
      <vt:lpstr>Cont…</vt:lpstr>
      <vt:lpstr>Multimodal Integration (Beyond Text: Integrating Speech)</vt:lpstr>
      <vt:lpstr>Cont..</vt:lpstr>
      <vt:lpstr>Cont..</vt:lpstr>
      <vt:lpstr>Cont..</vt:lpstr>
      <vt:lpstr>Cont..</vt:lpstr>
      <vt:lpstr>Advanced Model Evaluation Techniques </vt:lpstr>
      <vt:lpstr>Cont…</vt:lpstr>
      <vt:lpstr>Cont…</vt:lpstr>
      <vt:lpstr>Qualitative Analysis</vt:lpstr>
      <vt:lpstr>Human Evaluation in Generative Models</vt:lpstr>
      <vt:lpstr>Practical Exercise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Piyush Akkewar</cp:lastModifiedBy>
  <cp:revision>2021</cp:revision>
  <dcterms:created xsi:type="dcterms:W3CDTF">2020-12-23T13:36:00Z</dcterms:created>
  <dcterms:modified xsi:type="dcterms:W3CDTF">2024-07-16T07:50:05Z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y fmtid="{D5CDD505-2E9C-101B-9397-08002B2CF9AE}" pid="4" name="ContentTypeId">
    <vt:lpwstr>0x01010055686D848CA8F1468B82D0B10D413C3D</vt:lpwstr>
  </property>
</Properties>
</file>