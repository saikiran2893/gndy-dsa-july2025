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4"/>
  </p:sldMasterIdLst>
  <p:notesMasterIdLst>
    <p:notesMasterId r:id="rId30"/>
  </p:notesMasterIdLst>
  <p:sldIdLst>
    <p:sldId id="256" r:id="rId5"/>
    <p:sldId id="566" r:id="rId6"/>
    <p:sldId id="488" r:id="rId7"/>
    <p:sldId id="674" r:id="rId8"/>
    <p:sldId id="587" r:id="rId9"/>
    <p:sldId id="676" r:id="rId10"/>
    <p:sldId id="677" r:id="rId11"/>
    <p:sldId id="678" r:id="rId12"/>
    <p:sldId id="679" r:id="rId13"/>
    <p:sldId id="680" r:id="rId14"/>
    <p:sldId id="681" r:id="rId15"/>
    <p:sldId id="685" r:id="rId16"/>
    <p:sldId id="683" r:id="rId17"/>
    <p:sldId id="686" r:id="rId18"/>
    <p:sldId id="687" r:id="rId19"/>
    <p:sldId id="688" r:id="rId20"/>
    <p:sldId id="689" r:id="rId21"/>
    <p:sldId id="690" r:id="rId22"/>
    <p:sldId id="670" r:id="rId23"/>
    <p:sldId id="691" r:id="rId24"/>
    <p:sldId id="590" r:id="rId25"/>
    <p:sldId id="692" r:id="rId26"/>
    <p:sldId id="693" r:id="rId27"/>
    <p:sldId id="694" r:id="rId28"/>
    <p:sldId id="303"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BBCFF"/>
    <a:srgbClr val="060912"/>
    <a:srgbClr val="323B8D"/>
    <a:srgbClr val="2F5597"/>
    <a:srgbClr val="011422"/>
    <a:srgbClr val="5B9BD5"/>
    <a:srgbClr val="333F50"/>
    <a:srgbClr val="9DC3E6"/>
    <a:srgbClr val="161A3E"/>
    <a:srgbClr val="1A16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3C11D7-43C8-5687-0690-50B4B8239C28}" v="1" dt="2024-07-16T07:49:49.06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01" autoAdjust="0"/>
    <p:restoredTop sz="94364" autoAdjust="0"/>
  </p:normalViewPr>
  <p:slideViewPr>
    <p:cSldViewPr snapToGrid="0">
      <p:cViewPr varScale="1">
        <p:scale>
          <a:sx n="71" d="100"/>
          <a:sy n="71" d="100"/>
        </p:scale>
        <p:origin x="392" y="2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 Chopade" userId="S::suraj.chopade@bostoninstituteofanalytics.org::dcc44ee8-6a65-4538-a5e1-c87e14ca7a61" providerId="AD" clId="Web-{303C11D7-43C8-5687-0690-50B4B8239C28}"/>
    <pc:docChg chg="addSld">
      <pc:chgData name="Suraj Chopade" userId="S::suraj.chopade@bostoninstituteofanalytics.org::dcc44ee8-6a65-4538-a5e1-c87e14ca7a61" providerId="AD" clId="Web-{303C11D7-43C8-5687-0690-50B4B8239C28}" dt="2024-07-16T07:49:49.063" v="0"/>
      <pc:docMkLst>
        <pc:docMk/>
      </pc:docMkLst>
      <pc:sldChg chg="add">
        <pc:chgData name="Suraj Chopade" userId="S::suraj.chopade@bostoninstituteofanalytics.org::dcc44ee8-6a65-4538-a5e1-c87e14ca7a61" providerId="AD" clId="Web-{303C11D7-43C8-5687-0690-50B4B8239C28}" dt="2024-07-16T07:49:49.063" v="0"/>
        <pc:sldMkLst>
          <pc:docMk/>
          <pc:sldMk cId="228880180" sldId="566"/>
        </pc:sldMkLst>
      </pc:sldChg>
    </pc:docChg>
  </pc:docChgLst>
  <pc:docChgLst>
    <pc:chgData name="Suraj Chopade" userId="S::suraj.chopade@bostoninstituteofanalytics.org::dcc44ee8-6a65-4538-a5e1-c87e14ca7a61" providerId="AD" clId="Web-{CF69ADCF-3E2C-DAA5-0DBB-25A04EED8BBA}"/>
    <pc:docChg chg="modSld">
      <pc:chgData name="Suraj Chopade" userId="S::suraj.chopade@bostoninstituteofanalytics.org::dcc44ee8-6a65-4538-a5e1-c87e14ca7a61" providerId="AD" clId="Web-{CF69ADCF-3E2C-DAA5-0DBB-25A04EED8BBA}" dt="2024-04-26T07:16:44.844" v="1"/>
      <pc:docMkLst>
        <pc:docMk/>
      </pc:docMkLst>
      <pc:sldChg chg="modSp">
        <pc:chgData name="Suraj Chopade" userId="S::suraj.chopade@bostoninstituteofanalytics.org::dcc44ee8-6a65-4538-a5e1-c87e14ca7a61" providerId="AD" clId="Web-{CF69ADCF-3E2C-DAA5-0DBB-25A04EED8BBA}" dt="2024-04-26T07:16:44.844" v="1"/>
        <pc:sldMkLst>
          <pc:docMk/>
          <pc:sldMk cId="1024334718" sldId="256"/>
        </pc:sldMkLst>
        <pc:spChg chg="mod">
          <ac:chgData name="Suraj Chopade" userId="S::suraj.chopade@bostoninstituteofanalytics.org::dcc44ee8-6a65-4538-a5e1-c87e14ca7a61" providerId="AD" clId="Web-{CF69ADCF-3E2C-DAA5-0DBB-25A04EED8BBA}" dt="2024-04-26T07:16:44.844" v="1"/>
          <ac:spMkLst>
            <pc:docMk/>
            <pc:sldMk cId="1024334718" sldId="256"/>
            <ac:spMk id="2" creationId="{1A225F15-9B21-01FF-BD6D-D04F30F7A09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16-07-2024</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4</a:t>
            </a:fld>
            <a:endParaRPr lang="en-IN" dirty="0"/>
          </a:p>
        </p:txBody>
      </p:sp>
    </p:spTree>
    <p:extLst>
      <p:ext uri="{BB962C8B-B14F-4D97-AF65-F5344CB8AC3E}">
        <p14:creationId xmlns:p14="http://schemas.microsoft.com/office/powerpoint/2010/main" val="40699189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5</a:t>
            </a:fld>
            <a:endParaRPr lang="en-IN" dirty="0"/>
          </a:p>
        </p:txBody>
      </p:sp>
    </p:spTree>
    <p:extLst>
      <p:ext uri="{BB962C8B-B14F-4D97-AF65-F5344CB8AC3E}">
        <p14:creationId xmlns:p14="http://schemas.microsoft.com/office/powerpoint/2010/main" val="378115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6</a:t>
            </a:fld>
            <a:endParaRPr lang="en-IN" dirty="0"/>
          </a:p>
        </p:txBody>
      </p:sp>
    </p:spTree>
    <p:extLst>
      <p:ext uri="{BB962C8B-B14F-4D97-AF65-F5344CB8AC3E}">
        <p14:creationId xmlns:p14="http://schemas.microsoft.com/office/powerpoint/2010/main" val="42905873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7</a:t>
            </a:fld>
            <a:endParaRPr lang="en-IN" dirty="0"/>
          </a:p>
        </p:txBody>
      </p:sp>
    </p:spTree>
    <p:extLst>
      <p:ext uri="{BB962C8B-B14F-4D97-AF65-F5344CB8AC3E}">
        <p14:creationId xmlns:p14="http://schemas.microsoft.com/office/powerpoint/2010/main" val="42368183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8</a:t>
            </a:fld>
            <a:endParaRPr lang="en-IN" dirty="0"/>
          </a:p>
        </p:txBody>
      </p:sp>
    </p:spTree>
    <p:extLst>
      <p:ext uri="{BB962C8B-B14F-4D97-AF65-F5344CB8AC3E}">
        <p14:creationId xmlns:p14="http://schemas.microsoft.com/office/powerpoint/2010/main" val="18006732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9</a:t>
            </a:fld>
            <a:endParaRPr lang="en-IN" dirty="0"/>
          </a:p>
        </p:txBody>
      </p:sp>
    </p:spTree>
    <p:extLst>
      <p:ext uri="{BB962C8B-B14F-4D97-AF65-F5344CB8AC3E}">
        <p14:creationId xmlns:p14="http://schemas.microsoft.com/office/powerpoint/2010/main" val="163077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10</a:t>
            </a:fld>
            <a:endParaRPr lang="en-IN" dirty="0"/>
          </a:p>
        </p:txBody>
      </p:sp>
    </p:spTree>
    <p:extLst>
      <p:ext uri="{BB962C8B-B14F-4D97-AF65-F5344CB8AC3E}">
        <p14:creationId xmlns:p14="http://schemas.microsoft.com/office/powerpoint/2010/main" val="42126459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2697019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12</a:t>
            </a:fld>
            <a:endParaRPr lang="en-IN" dirty="0"/>
          </a:p>
        </p:txBody>
      </p:sp>
    </p:spTree>
    <p:extLst>
      <p:ext uri="{BB962C8B-B14F-4D97-AF65-F5344CB8AC3E}">
        <p14:creationId xmlns:p14="http://schemas.microsoft.com/office/powerpoint/2010/main" val="20667445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13</a:t>
            </a:fld>
            <a:endParaRPr lang="en-IN" dirty="0"/>
          </a:p>
        </p:txBody>
      </p:sp>
    </p:spTree>
    <p:extLst>
      <p:ext uri="{BB962C8B-B14F-4D97-AF65-F5344CB8AC3E}">
        <p14:creationId xmlns:p14="http://schemas.microsoft.com/office/powerpoint/2010/main" val="39484535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14</a:t>
            </a:fld>
            <a:endParaRPr lang="en-IN" dirty="0"/>
          </a:p>
        </p:txBody>
      </p:sp>
    </p:spTree>
    <p:extLst>
      <p:ext uri="{BB962C8B-B14F-4D97-AF65-F5344CB8AC3E}">
        <p14:creationId xmlns:p14="http://schemas.microsoft.com/office/powerpoint/2010/main" val="11925999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15</a:t>
            </a:fld>
            <a:endParaRPr lang="en-IN" dirty="0"/>
          </a:p>
        </p:txBody>
      </p:sp>
    </p:spTree>
    <p:extLst>
      <p:ext uri="{BB962C8B-B14F-4D97-AF65-F5344CB8AC3E}">
        <p14:creationId xmlns:p14="http://schemas.microsoft.com/office/powerpoint/2010/main" val="30893926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16</a:t>
            </a:fld>
            <a:endParaRPr lang="en-IN" dirty="0"/>
          </a:p>
        </p:txBody>
      </p:sp>
    </p:spTree>
    <p:extLst>
      <p:ext uri="{BB962C8B-B14F-4D97-AF65-F5344CB8AC3E}">
        <p14:creationId xmlns:p14="http://schemas.microsoft.com/office/powerpoint/2010/main" val="7772662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17</a:t>
            </a:fld>
            <a:endParaRPr lang="en-IN" dirty="0"/>
          </a:p>
        </p:txBody>
      </p:sp>
    </p:spTree>
    <p:extLst>
      <p:ext uri="{BB962C8B-B14F-4D97-AF65-F5344CB8AC3E}">
        <p14:creationId xmlns:p14="http://schemas.microsoft.com/office/powerpoint/2010/main" val="2950533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18</a:t>
            </a:fld>
            <a:endParaRPr lang="en-IN" dirty="0"/>
          </a:p>
        </p:txBody>
      </p:sp>
    </p:spTree>
    <p:extLst>
      <p:ext uri="{BB962C8B-B14F-4D97-AF65-F5344CB8AC3E}">
        <p14:creationId xmlns:p14="http://schemas.microsoft.com/office/powerpoint/2010/main" val="4083317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19</a:t>
            </a:fld>
            <a:endParaRPr lang="en-IN" dirty="0"/>
          </a:p>
        </p:txBody>
      </p:sp>
    </p:spTree>
    <p:extLst>
      <p:ext uri="{BB962C8B-B14F-4D97-AF65-F5344CB8AC3E}">
        <p14:creationId xmlns:p14="http://schemas.microsoft.com/office/powerpoint/2010/main" val="29163582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20</a:t>
            </a:fld>
            <a:endParaRPr lang="en-IN" dirty="0"/>
          </a:p>
        </p:txBody>
      </p:sp>
    </p:spTree>
    <p:extLst>
      <p:ext uri="{BB962C8B-B14F-4D97-AF65-F5344CB8AC3E}">
        <p14:creationId xmlns:p14="http://schemas.microsoft.com/office/powerpoint/2010/main" val="2755313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21</a:t>
            </a:fld>
            <a:endParaRPr lang="en-IN" dirty="0"/>
          </a:p>
        </p:txBody>
      </p:sp>
    </p:spTree>
    <p:extLst>
      <p:ext uri="{BB962C8B-B14F-4D97-AF65-F5344CB8AC3E}">
        <p14:creationId xmlns:p14="http://schemas.microsoft.com/office/powerpoint/2010/main" val="14528671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22</a:t>
            </a:fld>
            <a:endParaRPr lang="en-IN" dirty="0"/>
          </a:p>
        </p:txBody>
      </p:sp>
    </p:spTree>
    <p:extLst>
      <p:ext uri="{BB962C8B-B14F-4D97-AF65-F5344CB8AC3E}">
        <p14:creationId xmlns:p14="http://schemas.microsoft.com/office/powerpoint/2010/main" val="8250378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a:t>Use .</a:t>
            </a:r>
            <a:r>
              <a:rPr lang="en-IN" b="1" dirty="0" err="1"/>
              <a:t>ipynb</a:t>
            </a:r>
            <a:r>
              <a:rPr lang="en-IN" b="1" dirty="0"/>
              <a:t> File for this exercise (in Google </a:t>
            </a:r>
            <a:r>
              <a:rPr lang="en-IN" b="1" dirty="0" err="1"/>
              <a:t>Colab</a:t>
            </a:r>
            <a:r>
              <a:rPr lang="en-IN" b="1" dirty="0"/>
              <a:t>)</a:t>
            </a:r>
          </a:p>
        </p:txBody>
      </p:sp>
      <p:sp>
        <p:nvSpPr>
          <p:cNvPr id="4" name="Slide Number Placeholder 3"/>
          <p:cNvSpPr>
            <a:spLocks noGrp="1"/>
          </p:cNvSpPr>
          <p:nvPr>
            <p:ph type="sldNum" sz="quarter" idx="5"/>
          </p:nvPr>
        </p:nvSpPr>
        <p:spPr/>
        <p:txBody>
          <a:bodyPr/>
          <a:lstStyle/>
          <a:p>
            <a:fld id="{47FFB008-8E38-46F5-BCB9-8CFEF233CF3A}" type="slidenum">
              <a:rPr lang="en-IN" smtClean="0"/>
              <a:t>23</a:t>
            </a:fld>
            <a:endParaRPr lang="en-IN" dirty="0"/>
          </a:p>
        </p:txBody>
      </p:sp>
    </p:spTree>
    <p:extLst>
      <p:ext uri="{BB962C8B-B14F-4D97-AF65-F5344CB8AC3E}">
        <p14:creationId xmlns:p14="http://schemas.microsoft.com/office/powerpoint/2010/main" val="35879725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research.google.com/colaboratory/" TargetMode="External"/><Relationship Id="rId2" Type="http://schemas.openxmlformats.org/officeDocument/2006/relationships/notesSlide" Target="../notesSlides/notesSlide17.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0.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4400" b="1" i="0" dirty="0">
                <a:effectLst/>
                <a:latin typeface="Calibri"/>
                <a:cs typeface="Calibri"/>
              </a:rPr>
              <a:t>Introduction to Generative AI, Transformers &amp; LLMs  </a:t>
            </a:r>
            <a:endParaRPr lang="en-US" sz="4400" b="1" dirty="0">
              <a:latin typeface="Calibri"/>
              <a:cs typeface="Calibri"/>
            </a:endParaRPr>
          </a:p>
        </p:txBody>
      </p:sp>
    </p:spTree>
    <p:extLst>
      <p:ext uri="{BB962C8B-B14F-4D97-AF65-F5344CB8AC3E}">
        <p14:creationId xmlns:p14="http://schemas.microsoft.com/office/powerpoint/2010/main" val="102433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E2F6A-E89F-45D0-4C37-F8D123D863FF}"/>
              </a:ext>
            </a:extLst>
          </p:cNvPr>
          <p:cNvSpPr>
            <a:spLocks noGrp="1"/>
          </p:cNvSpPr>
          <p:nvPr>
            <p:ph type="title"/>
          </p:nvPr>
        </p:nvSpPr>
        <p:spPr/>
        <p:txBody>
          <a:bodyPr/>
          <a:lstStyle/>
          <a:p>
            <a:r>
              <a:rPr lang="en-US" dirty="0">
                <a:latin typeface="Calibri"/>
                <a:cs typeface="Calibri"/>
              </a:rPr>
              <a:t>Trainer Guidelines for Conducting Class</a:t>
            </a:r>
            <a:endParaRPr lang="en-US" dirty="0"/>
          </a:p>
        </p:txBody>
      </p:sp>
      <p:sp>
        <p:nvSpPr>
          <p:cNvPr id="3" name="Content Placeholder 2">
            <a:extLst>
              <a:ext uri="{FF2B5EF4-FFF2-40B4-BE49-F238E27FC236}">
                <a16:creationId xmlns:a16="http://schemas.microsoft.com/office/drawing/2014/main" id="{9CA356E4-99F9-93BD-8697-B5FE13DDA948}"/>
              </a:ext>
            </a:extLst>
          </p:cNvPr>
          <p:cNvSpPr>
            <a:spLocks noGrp="1"/>
          </p:cNvSpPr>
          <p:nvPr>
            <p:ph idx="1"/>
          </p:nvPr>
        </p:nvSpPr>
        <p:spPr/>
        <p:txBody>
          <a:bodyPr vert="horz" lIns="91440" tIns="45720" rIns="91440" bIns="45720" rtlCol="0" anchor="t">
            <a:normAutofit fontScale="77500" lnSpcReduction="20000"/>
          </a:bodyPr>
          <a:lstStyle/>
          <a:p>
            <a:endParaRPr lang="en-US" dirty="0">
              <a:latin typeface="Calibri"/>
              <a:cs typeface="Calibri"/>
            </a:endParaRPr>
          </a:p>
          <a:p>
            <a:r>
              <a:rPr lang="en-US" dirty="0">
                <a:latin typeface="Calibri"/>
                <a:cs typeface="Calibri"/>
              </a:rPr>
              <a:t>Solve questions live by creating </a:t>
            </a:r>
            <a:r>
              <a:rPr lang="en-US" b="1" dirty="0">
                <a:latin typeface="Calibri"/>
                <a:cs typeface="Calibri"/>
              </a:rPr>
              <a:t>new blank files</a:t>
            </a:r>
            <a:r>
              <a:rPr lang="en-US" dirty="0">
                <a:latin typeface="Calibri"/>
                <a:cs typeface="Calibri"/>
              </a:rPr>
              <a:t> (Excel, Python, </a:t>
            </a:r>
            <a:r>
              <a:rPr lang="en-US" err="1">
                <a:latin typeface="Calibri"/>
                <a:cs typeface="Calibri"/>
              </a:rPr>
              <a:t>Jupyter</a:t>
            </a:r>
            <a:r>
              <a:rPr lang="en-US" dirty="0">
                <a:latin typeface="Calibri"/>
                <a:cs typeface="Calibri"/>
              </a:rPr>
              <a:t> notebook, Dashboard) during the session, rather than sharing completed solutions.</a:t>
            </a:r>
            <a:endParaRPr lang="en-US" dirty="0">
              <a:latin typeface="Calibri"/>
              <a:cs typeface="Calibri" panose="020F0502020204030204" pitchFamily="34" charset="0"/>
            </a:endParaRPr>
          </a:p>
          <a:p>
            <a:endParaRPr lang="en-US" dirty="0">
              <a:latin typeface="Calibri"/>
              <a:cs typeface="Calibri"/>
            </a:endParaRPr>
          </a:p>
          <a:p>
            <a:r>
              <a:rPr lang="en-US" dirty="0">
                <a:latin typeface="Calibri"/>
                <a:cs typeface="Calibri"/>
              </a:rPr>
              <a:t>Review teaching materials and solutions beforehand, and prepare additional examples to reinforce learning.</a:t>
            </a:r>
          </a:p>
          <a:p>
            <a:endParaRPr lang="en-US" dirty="0">
              <a:latin typeface="Calibri"/>
              <a:cs typeface="Calibri"/>
            </a:endParaRPr>
          </a:p>
          <a:p>
            <a:r>
              <a:rPr lang="en-US" dirty="0">
                <a:latin typeface="Calibri"/>
                <a:cs typeface="Calibri"/>
              </a:rPr>
              <a:t>Ensure online students can hear you and see the screen clearly at all times.</a:t>
            </a:r>
          </a:p>
          <a:p>
            <a:endParaRPr lang="en-US" dirty="0">
              <a:latin typeface="Calibri"/>
              <a:cs typeface="Calibri"/>
            </a:endParaRPr>
          </a:p>
          <a:p>
            <a:r>
              <a:rPr lang="en-US" dirty="0">
                <a:latin typeface="Calibri"/>
                <a:cs typeface="Calibri"/>
              </a:rPr>
              <a:t>Test your computer and necessary software before class begins.</a:t>
            </a:r>
          </a:p>
          <a:p>
            <a:endParaRPr lang="en-US" dirty="0">
              <a:latin typeface="Calibri"/>
              <a:cs typeface="Calibri"/>
            </a:endParaRPr>
          </a:p>
          <a:p>
            <a:r>
              <a:rPr lang="en-US" dirty="0">
                <a:latin typeface="Calibri"/>
                <a:cs typeface="Calibri"/>
              </a:rPr>
              <a:t>Check with online students every 15-20 minutes to see if they understand the material and have any questions.</a:t>
            </a:r>
            <a:endParaRPr lang="en-US"/>
          </a:p>
        </p:txBody>
      </p:sp>
    </p:spTree>
    <p:extLst>
      <p:ext uri="{BB962C8B-B14F-4D97-AF65-F5344CB8AC3E}">
        <p14:creationId xmlns:p14="http://schemas.microsoft.com/office/powerpoint/2010/main" val="228880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Title 1">
            <a:extLst>
              <a:ext uri="{FF2B5EF4-FFF2-40B4-BE49-F238E27FC236}">
                <a16:creationId xmlns:a16="http://schemas.microsoft.com/office/drawing/2014/main" id="{FC7825C0-8F7F-AE9D-0FCD-73F577ECD7CD}"/>
              </a:ext>
            </a:extLst>
          </p:cNvPr>
          <p:cNvSpPr txBox="1">
            <a:spLocks/>
          </p:cNvSpPr>
          <p:nvPr/>
        </p:nvSpPr>
        <p:spPr>
          <a:xfrm>
            <a:off x="678884" y="603666"/>
            <a:ext cx="10834234" cy="612775"/>
          </a:xfrm>
          <a:prstGeom prst="rect">
            <a:avLst/>
          </a:prstGeom>
        </p:spPr>
        <p:txBody>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IN" sz="4400" dirty="0">
                <a:latin typeface="+mn-lt"/>
              </a:rPr>
              <a:t>Generative AI Roadmap</a:t>
            </a:r>
          </a:p>
        </p:txBody>
      </p:sp>
      <p:grpSp>
        <p:nvGrpSpPr>
          <p:cNvPr id="47" name="Group 46">
            <a:extLst>
              <a:ext uri="{FF2B5EF4-FFF2-40B4-BE49-F238E27FC236}">
                <a16:creationId xmlns:a16="http://schemas.microsoft.com/office/drawing/2014/main" id="{D9B07679-4A00-8F17-BDB0-E934F7E6B3BE}"/>
              </a:ext>
            </a:extLst>
          </p:cNvPr>
          <p:cNvGrpSpPr/>
          <p:nvPr/>
        </p:nvGrpSpPr>
        <p:grpSpPr>
          <a:xfrm>
            <a:off x="0" y="1284686"/>
            <a:ext cx="12195384" cy="5573315"/>
            <a:chOff x="0" y="1284686"/>
            <a:chExt cx="12195384" cy="5573315"/>
          </a:xfrm>
        </p:grpSpPr>
        <p:sp>
          <p:nvSpPr>
            <p:cNvPr id="52" name="Freeform: Shape 51">
              <a:extLst>
                <a:ext uri="{FF2B5EF4-FFF2-40B4-BE49-F238E27FC236}">
                  <a16:creationId xmlns:a16="http://schemas.microsoft.com/office/drawing/2014/main" id="{C7E7A266-E728-BCE6-A7B0-4B7964FFEFB9}"/>
                </a:ext>
              </a:extLst>
            </p:cNvPr>
            <p:cNvSpPr/>
            <p:nvPr/>
          </p:nvSpPr>
          <p:spPr>
            <a:xfrm>
              <a:off x="5474484" y="1284686"/>
              <a:ext cx="6717525" cy="808316"/>
            </a:xfrm>
            <a:custGeom>
              <a:avLst/>
              <a:gdLst>
                <a:gd name="connsiteX0" fmla="*/ 6717525 w 6717525"/>
                <a:gd name="connsiteY0" fmla="*/ 0 h 914959"/>
                <a:gd name="connsiteX1" fmla="*/ 6717525 w 6717525"/>
                <a:gd name="connsiteY1" fmla="*/ 289266 h 914959"/>
                <a:gd name="connsiteX2" fmla="*/ 6074640 w 6717525"/>
                <a:gd name="connsiteY2" fmla="*/ 323013 h 914959"/>
                <a:gd name="connsiteX3" fmla="*/ 5363281 w 6717525"/>
                <a:gd name="connsiteY3" fmla="*/ 371224 h 914959"/>
                <a:gd name="connsiteX4" fmla="*/ 4606274 w 6717525"/>
                <a:gd name="connsiteY4" fmla="*/ 433898 h 914959"/>
                <a:gd name="connsiteX5" fmla="*/ 3830246 w 6717525"/>
                <a:gd name="connsiteY5" fmla="*/ 511036 h 914959"/>
                <a:gd name="connsiteX6" fmla="*/ 2867820 w 6717525"/>
                <a:gd name="connsiteY6" fmla="*/ 626742 h 914959"/>
                <a:gd name="connsiteX7" fmla="*/ 2186894 w 6717525"/>
                <a:gd name="connsiteY7" fmla="*/ 732806 h 914959"/>
                <a:gd name="connsiteX8" fmla="*/ 1783664 w 6717525"/>
                <a:gd name="connsiteY8" fmla="*/ 819585 h 914959"/>
                <a:gd name="connsiteX9" fmla="*/ 1631502 w 6717525"/>
                <a:gd name="connsiteY9" fmla="*/ 853333 h 914959"/>
                <a:gd name="connsiteX10" fmla="*/ 1616286 w 6717525"/>
                <a:gd name="connsiteY10" fmla="*/ 911186 h 914959"/>
                <a:gd name="connsiteX11" fmla="*/ 1616286 w 6717525"/>
                <a:gd name="connsiteY11" fmla="*/ 914959 h 914959"/>
                <a:gd name="connsiteX12" fmla="*/ 0 w 6717525"/>
                <a:gd name="connsiteY12" fmla="*/ 914959 h 914959"/>
                <a:gd name="connsiteX13" fmla="*/ 7170 w 6717525"/>
                <a:gd name="connsiteY13" fmla="*/ 901544 h 914959"/>
                <a:gd name="connsiteX14" fmla="*/ 147920 w 6717525"/>
                <a:gd name="connsiteY14" fmla="*/ 756911 h 914959"/>
                <a:gd name="connsiteX15" fmla="*/ 357143 w 6717525"/>
                <a:gd name="connsiteY15" fmla="*/ 646026 h 914959"/>
                <a:gd name="connsiteX16" fmla="*/ 650056 w 6717525"/>
                <a:gd name="connsiteY16" fmla="*/ 544783 h 914959"/>
                <a:gd name="connsiteX17" fmla="*/ 1030461 w 6717525"/>
                <a:gd name="connsiteY17" fmla="*/ 458004 h 914959"/>
                <a:gd name="connsiteX18" fmla="*/ 1490752 w 6717525"/>
                <a:gd name="connsiteY18" fmla="*/ 380866 h 914959"/>
                <a:gd name="connsiteX19" fmla="*/ 1844529 w 6717525"/>
                <a:gd name="connsiteY19" fmla="*/ 332655 h 914959"/>
                <a:gd name="connsiteX20" fmla="*/ 2232543 w 6717525"/>
                <a:gd name="connsiteY20" fmla="*/ 284444 h 914959"/>
                <a:gd name="connsiteX21" fmla="*/ 2643381 w 6717525"/>
                <a:gd name="connsiteY21" fmla="*/ 241055 h 914959"/>
                <a:gd name="connsiteX22" fmla="*/ 3080847 w 6717525"/>
                <a:gd name="connsiteY22" fmla="*/ 202486 h 914959"/>
                <a:gd name="connsiteX23" fmla="*/ 3868287 w 6717525"/>
                <a:gd name="connsiteY23" fmla="*/ 139812 h 914959"/>
                <a:gd name="connsiteX24" fmla="*/ 4648118 w 6717525"/>
                <a:gd name="connsiteY24" fmla="*/ 91601 h 914959"/>
                <a:gd name="connsiteX25" fmla="*/ 5386105 w 6717525"/>
                <a:gd name="connsiteY25" fmla="*/ 53032 h 914959"/>
                <a:gd name="connsiteX26" fmla="*/ 6717525 w 6717525"/>
                <a:gd name="connsiteY26" fmla="*/ 0 h 914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717525" h="914959">
                  <a:moveTo>
                    <a:pt x="6717525" y="0"/>
                  </a:moveTo>
                  <a:cubicBezTo>
                    <a:pt x="6717525" y="0"/>
                    <a:pt x="6717525" y="0"/>
                    <a:pt x="6717525" y="289266"/>
                  </a:cubicBezTo>
                  <a:cubicBezTo>
                    <a:pt x="6508302" y="298908"/>
                    <a:pt x="6299079" y="308550"/>
                    <a:pt x="6074640" y="323013"/>
                  </a:cubicBezTo>
                  <a:cubicBezTo>
                    <a:pt x="5842592" y="337476"/>
                    <a:pt x="5602937" y="351940"/>
                    <a:pt x="5363281" y="371224"/>
                  </a:cubicBezTo>
                  <a:cubicBezTo>
                    <a:pt x="5112213" y="390508"/>
                    <a:pt x="4861146" y="409793"/>
                    <a:pt x="4606274" y="433898"/>
                  </a:cubicBezTo>
                  <a:cubicBezTo>
                    <a:pt x="4347598" y="458004"/>
                    <a:pt x="4085118" y="482109"/>
                    <a:pt x="3830246" y="511036"/>
                  </a:cubicBezTo>
                  <a:cubicBezTo>
                    <a:pt x="3457449" y="549604"/>
                    <a:pt x="3137908" y="588173"/>
                    <a:pt x="2867820" y="626742"/>
                  </a:cubicBezTo>
                  <a:cubicBezTo>
                    <a:pt x="2590124" y="665310"/>
                    <a:pt x="2365685" y="703879"/>
                    <a:pt x="2186894" y="732806"/>
                  </a:cubicBezTo>
                  <a:cubicBezTo>
                    <a:pt x="2004299" y="766553"/>
                    <a:pt x="1874961" y="795480"/>
                    <a:pt x="1783664" y="819585"/>
                  </a:cubicBezTo>
                  <a:cubicBezTo>
                    <a:pt x="1707583" y="838870"/>
                    <a:pt x="1661935" y="843691"/>
                    <a:pt x="1631502" y="853333"/>
                  </a:cubicBezTo>
                  <a:cubicBezTo>
                    <a:pt x="1612482" y="858154"/>
                    <a:pt x="1601070" y="896723"/>
                    <a:pt x="1616286" y="911186"/>
                  </a:cubicBezTo>
                  <a:lnTo>
                    <a:pt x="1616286" y="914959"/>
                  </a:lnTo>
                  <a:lnTo>
                    <a:pt x="0" y="914959"/>
                  </a:lnTo>
                  <a:lnTo>
                    <a:pt x="7170" y="901544"/>
                  </a:lnTo>
                  <a:cubicBezTo>
                    <a:pt x="41407" y="853333"/>
                    <a:pt x="87055" y="805122"/>
                    <a:pt x="147920" y="756911"/>
                  </a:cubicBezTo>
                  <a:cubicBezTo>
                    <a:pt x="201177" y="718342"/>
                    <a:pt x="269651" y="679774"/>
                    <a:pt x="357143" y="646026"/>
                  </a:cubicBezTo>
                  <a:cubicBezTo>
                    <a:pt x="437029" y="607457"/>
                    <a:pt x="535934" y="578531"/>
                    <a:pt x="650056" y="544783"/>
                  </a:cubicBezTo>
                  <a:cubicBezTo>
                    <a:pt x="764177" y="515857"/>
                    <a:pt x="889711" y="486930"/>
                    <a:pt x="1030461" y="458004"/>
                  </a:cubicBezTo>
                  <a:cubicBezTo>
                    <a:pt x="1171211" y="429077"/>
                    <a:pt x="1323374" y="404972"/>
                    <a:pt x="1490752" y="380866"/>
                  </a:cubicBezTo>
                  <a:cubicBezTo>
                    <a:pt x="1601070" y="366403"/>
                    <a:pt x="1718995" y="347119"/>
                    <a:pt x="1844529" y="332655"/>
                  </a:cubicBezTo>
                  <a:cubicBezTo>
                    <a:pt x="1970063" y="318192"/>
                    <a:pt x="2099401" y="298908"/>
                    <a:pt x="2232543" y="284444"/>
                  </a:cubicBezTo>
                  <a:cubicBezTo>
                    <a:pt x="2365685" y="269981"/>
                    <a:pt x="2502631" y="255518"/>
                    <a:pt x="2643381" y="241055"/>
                  </a:cubicBezTo>
                  <a:cubicBezTo>
                    <a:pt x="2784131" y="231412"/>
                    <a:pt x="2928685" y="216949"/>
                    <a:pt x="3080847" y="202486"/>
                  </a:cubicBezTo>
                  <a:cubicBezTo>
                    <a:pt x="3335719" y="183202"/>
                    <a:pt x="3598199" y="159096"/>
                    <a:pt x="3868287" y="139812"/>
                  </a:cubicBezTo>
                  <a:cubicBezTo>
                    <a:pt x="4126963" y="120528"/>
                    <a:pt x="4389443" y="106064"/>
                    <a:pt x="4648118" y="91601"/>
                  </a:cubicBezTo>
                  <a:cubicBezTo>
                    <a:pt x="4899186" y="77138"/>
                    <a:pt x="5146450" y="62674"/>
                    <a:pt x="5386105" y="53032"/>
                  </a:cubicBezTo>
                  <a:cubicBezTo>
                    <a:pt x="5621957" y="43390"/>
                    <a:pt x="6504498" y="4821"/>
                    <a:pt x="6717525" y="0"/>
                  </a:cubicBezTo>
                  <a:close/>
                </a:path>
              </a:pathLst>
            </a:custGeom>
            <a:solidFill>
              <a:srgbClr val="6B6C6F"/>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
          <p:nvSpPr>
            <p:cNvPr id="53" name="Freeform 13">
              <a:extLst>
                <a:ext uri="{FF2B5EF4-FFF2-40B4-BE49-F238E27FC236}">
                  <a16:creationId xmlns:a16="http://schemas.microsoft.com/office/drawing/2014/main" id="{63C78FD2-8622-4189-49FD-BB8E839451AA}"/>
                </a:ext>
              </a:extLst>
            </p:cNvPr>
            <p:cNvSpPr>
              <a:spLocks/>
            </p:cNvSpPr>
            <p:nvPr/>
          </p:nvSpPr>
          <p:spPr bwMode="auto">
            <a:xfrm>
              <a:off x="11555670" y="1424945"/>
              <a:ext cx="293573" cy="17755"/>
            </a:xfrm>
            <a:custGeom>
              <a:avLst/>
              <a:gdLst>
                <a:gd name="T0" fmla="*/ 70 w 77"/>
                <a:gd name="T1" fmla="*/ 0 h 4"/>
                <a:gd name="T2" fmla="*/ 77 w 77"/>
                <a:gd name="T3" fmla="*/ 2 h 4"/>
                <a:gd name="T4" fmla="*/ 60 w 77"/>
                <a:gd name="T5" fmla="*/ 3 h 4"/>
                <a:gd name="T6" fmla="*/ 43 w 77"/>
                <a:gd name="T7" fmla="*/ 3 h 4"/>
                <a:gd name="T8" fmla="*/ 25 w 77"/>
                <a:gd name="T9" fmla="*/ 4 h 4"/>
                <a:gd name="T10" fmla="*/ 7 w 77"/>
                <a:gd name="T11" fmla="*/ 4 h 4"/>
                <a:gd name="T12" fmla="*/ 0 w 77"/>
                <a:gd name="T13" fmla="*/ 2 h 4"/>
                <a:gd name="T14" fmla="*/ 18 w 77"/>
                <a:gd name="T15" fmla="*/ 2 h 4"/>
                <a:gd name="T16" fmla="*/ 36 w 77"/>
                <a:gd name="T17" fmla="*/ 1 h 4"/>
                <a:gd name="T18" fmla="*/ 53 w 77"/>
                <a:gd name="T19" fmla="*/ 0 h 4"/>
                <a:gd name="T20" fmla="*/ 70 w 77"/>
                <a:gd name="T2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4">
                  <a:moveTo>
                    <a:pt x="70" y="0"/>
                  </a:moveTo>
                  <a:cubicBezTo>
                    <a:pt x="77" y="2"/>
                    <a:pt x="77" y="2"/>
                    <a:pt x="77" y="2"/>
                  </a:cubicBezTo>
                  <a:cubicBezTo>
                    <a:pt x="71" y="2"/>
                    <a:pt x="66" y="2"/>
                    <a:pt x="60" y="3"/>
                  </a:cubicBezTo>
                  <a:cubicBezTo>
                    <a:pt x="54" y="3"/>
                    <a:pt x="48" y="3"/>
                    <a:pt x="43" y="3"/>
                  </a:cubicBezTo>
                  <a:cubicBezTo>
                    <a:pt x="37" y="3"/>
                    <a:pt x="31" y="4"/>
                    <a:pt x="25" y="4"/>
                  </a:cubicBezTo>
                  <a:cubicBezTo>
                    <a:pt x="19" y="4"/>
                    <a:pt x="13" y="4"/>
                    <a:pt x="7" y="4"/>
                  </a:cubicBezTo>
                  <a:cubicBezTo>
                    <a:pt x="0" y="2"/>
                    <a:pt x="0" y="2"/>
                    <a:pt x="0" y="2"/>
                  </a:cubicBezTo>
                  <a:cubicBezTo>
                    <a:pt x="6" y="2"/>
                    <a:pt x="12" y="2"/>
                    <a:pt x="18" y="2"/>
                  </a:cubicBezTo>
                  <a:cubicBezTo>
                    <a:pt x="24" y="1"/>
                    <a:pt x="30" y="1"/>
                    <a:pt x="36" y="1"/>
                  </a:cubicBezTo>
                  <a:cubicBezTo>
                    <a:pt x="42" y="1"/>
                    <a:pt x="47" y="1"/>
                    <a:pt x="53" y="0"/>
                  </a:cubicBezTo>
                  <a:cubicBezTo>
                    <a:pt x="59" y="0"/>
                    <a:pt x="65" y="0"/>
                    <a:pt x="7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4" name="Freeform 14">
              <a:extLst>
                <a:ext uri="{FF2B5EF4-FFF2-40B4-BE49-F238E27FC236}">
                  <a16:creationId xmlns:a16="http://schemas.microsoft.com/office/drawing/2014/main" id="{9FBE8C44-6B61-1872-5F09-0F2BD1F625C0}"/>
                </a:ext>
              </a:extLst>
            </p:cNvPr>
            <p:cNvSpPr>
              <a:spLocks/>
            </p:cNvSpPr>
            <p:nvPr/>
          </p:nvSpPr>
          <p:spPr bwMode="auto">
            <a:xfrm>
              <a:off x="11016130" y="1446250"/>
              <a:ext cx="296747" cy="21305"/>
            </a:xfrm>
            <a:custGeom>
              <a:avLst/>
              <a:gdLst>
                <a:gd name="T0" fmla="*/ 0 w 78"/>
                <a:gd name="T1" fmla="*/ 3 h 5"/>
                <a:gd name="T2" fmla="*/ 18 w 78"/>
                <a:gd name="T3" fmla="*/ 2 h 5"/>
                <a:gd name="T4" fmla="*/ 36 w 78"/>
                <a:gd name="T5" fmla="*/ 1 h 5"/>
                <a:gd name="T6" fmla="*/ 54 w 78"/>
                <a:gd name="T7" fmla="*/ 1 h 5"/>
                <a:gd name="T8" fmla="*/ 72 w 78"/>
                <a:gd name="T9" fmla="*/ 0 h 5"/>
                <a:gd name="T10" fmla="*/ 78 w 78"/>
                <a:gd name="T11" fmla="*/ 2 h 5"/>
                <a:gd name="T12" fmla="*/ 61 w 78"/>
                <a:gd name="T13" fmla="*/ 3 h 5"/>
                <a:gd name="T14" fmla="*/ 43 w 78"/>
                <a:gd name="T15" fmla="*/ 4 h 5"/>
                <a:gd name="T16" fmla="*/ 25 w 78"/>
                <a:gd name="T17" fmla="*/ 4 h 5"/>
                <a:gd name="T18" fmla="*/ 6 w 78"/>
                <a:gd name="T19" fmla="*/ 5 h 5"/>
                <a:gd name="T20" fmla="*/ 0 w 78"/>
                <a:gd name="T2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5">
                  <a:moveTo>
                    <a:pt x="0" y="3"/>
                  </a:moveTo>
                  <a:cubicBezTo>
                    <a:pt x="6" y="3"/>
                    <a:pt x="12" y="2"/>
                    <a:pt x="18" y="2"/>
                  </a:cubicBezTo>
                  <a:cubicBezTo>
                    <a:pt x="24" y="2"/>
                    <a:pt x="30" y="2"/>
                    <a:pt x="36" y="1"/>
                  </a:cubicBezTo>
                  <a:cubicBezTo>
                    <a:pt x="42" y="1"/>
                    <a:pt x="48" y="1"/>
                    <a:pt x="54" y="1"/>
                  </a:cubicBezTo>
                  <a:cubicBezTo>
                    <a:pt x="60" y="0"/>
                    <a:pt x="66" y="0"/>
                    <a:pt x="72" y="0"/>
                  </a:cubicBezTo>
                  <a:cubicBezTo>
                    <a:pt x="78" y="2"/>
                    <a:pt x="78" y="2"/>
                    <a:pt x="78" y="2"/>
                  </a:cubicBezTo>
                  <a:cubicBezTo>
                    <a:pt x="73" y="2"/>
                    <a:pt x="67" y="3"/>
                    <a:pt x="61" y="3"/>
                  </a:cubicBezTo>
                  <a:cubicBezTo>
                    <a:pt x="55" y="3"/>
                    <a:pt x="49" y="3"/>
                    <a:pt x="43" y="4"/>
                  </a:cubicBezTo>
                  <a:cubicBezTo>
                    <a:pt x="37" y="4"/>
                    <a:pt x="31" y="4"/>
                    <a:pt x="25" y="4"/>
                  </a:cubicBezTo>
                  <a:cubicBezTo>
                    <a:pt x="19" y="5"/>
                    <a:pt x="13" y="5"/>
                    <a:pt x="6" y="5"/>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5" name="Freeform 15">
              <a:extLst>
                <a:ext uri="{FF2B5EF4-FFF2-40B4-BE49-F238E27FC236}">
                  <a16:creationId xmlns:a16="http://schemas.microsoft.com/office/drawing/2014/main" id="{2AC5D2C6-B810-7B77-F081-D0CAC6278D0A}"/>
                </a:ext>
              </a:extLst>
            </p:cNvPr>
            <p:cNvSpPr>
              <a:spLocks/>
            </p:cNvSpPr>
            <p:nvPr/>
          </p:nvSpPr>
          <p:spPr bwMode="auto">
            <a:xfrm>
              <a:off x="10452787" y="1472881"/>
              <a:ext cx="307855" cy="28407"/>
            </a:xfrm>
            <a:custGeom>
              <a:avLst/>
              <a:gdLst>
                <a:gd name="T0" fmla="*/ 0 w 81"/>
                <a:gd name="T1" fmla="*/ 4 h 7"/>
                <a:gd name="T2" fmla="*/ 19 w 81"/>
                <a:gd name="T3" fmla="*/ 3 h 7"/>
                <a:gd name="T4" fmla="*/ 37 w 81"/>
                <a:gd name="T5" fmla="*/ 2 h 7"/>
                <a:gd name="T6" fmla="*/ 56 w 81"/>
                <a:gd name="T7" fmla="*/ 1 h 7"/>
                <a:gd name="T8" fmla="*/ 75 w 81"/>
                <a:gd name="T9" fmla="*/ 0 h 7"/>
                <a:gd name="T10" fmla="*/ 81 w 81"/>
                <a:gd name="T11" fmla="*/ 3 h 7"/>
                <a:gd name="T12" fmla="*/ 62 w 81"/>
                <a:gd name="T13" fmla="*/ 4 h 7"/>
                <a:gd name="T14" fmla="*/ 44 w 81"/>
                <a:gd name="T15" fmla="*/ 5 h 7"/>
                <a:gd name="T16" fmla="*/ 25 w 81"/>
                <a:gd name="T17" fmla="*/ 6 h 7"/>
                <a:gd name="T18" fmla="*/ 6 w 81"/>
                <a:gd name="T19" fmla="*/ 7 h 7"/>
                <a:gd name="T20" fmla="*/ 0 w 81"/>
                <a:gd name="T21"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7">
                  <a:moveTo>
                    <a:pt x="0" y="4"/>
                  </a:moveTo>
                  <a:cubicBezTo>
                    <a:pt x="6" y="4"/>
                    <a:pt x="12" y="4"/>
                    <a:pt x="19" y="3"/>
                  </a:cubicBezTo>
                  <a:cubicBezTo>
                    <a:pt x="25" y="3"/>
                    <a:pt x="31" y="3"/>
                    <a:pt x="37" y="2"/>
                  </a:cubicBezTo>
                  <a:cubicBezTo>
                    <a:pt x="44" y="2"/>
                    <a:pt x="50" y="2"/>
                    <a:pt x="56" y="1"/>
                  </a:cubicBezTo>
                  <a:cubicBezTo>
                    <a:pt x="62" y="1"/>
                    <a:pt x="68" y="1"/>
                    <a:pt x="75" y="0"/>
                  </a:cubicBezTo>
                  <a:cubicBezTo>
                    <a:pt x="81" y="3"/>
                    <a:pt x="81" y="3"/>
                    <a:pt x="81" y="3"/>
                  </a:cubicBezTo>
                  <a:cubicBezTo>
                    <a:pt x="75" y="3"/>
                    <a:pt x="69" y="3"/>
                    <a:pt x="62" y="4"/>
                  </a:cubicBezTo>
                  <a:cubicBezTo>
                    <a:pt x="56" y="4"/>
                    <a:pt x="50" y="4"/>
                    <a:pt x="44" y="5"/>
                  </a:cubicBezTo>
                  <a:cubicBezTo>
                    <a:pt x="37" y="5"/>
                    <a:pt x="31" y="5"/>
                    <a:pt x="25" y="6"/>
                  </a:cubicBezTo>
                  <a:cubicBezTo>
                    <a:pt x="19" y="6"/>
                    <a:pt x="12" y="6"/>
                    <a:pt x="6" y="7"/>
                  </a:cubicBez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6" name="Freeform 16">
              <a:extLst>
                <a:ext uri="{FF2B5EF4-FFF2-40B4-BE49-F238E27FC236}">
                  <a16:creationId xmlns:a16="http://schemas.microsoft.com/office/drawing/2014/main" id="{4E8C1A89-3792-798B-265D-40687BC73167}"/>
                </a:ext>
              </a:extLst>
            </p:cNvPr>
            <p:cNvSpPr>
              <a:spLocks/>
            </p:cNvSpPr>
            <p:nvPr/>
          </p:nvSpPr>
          <p:spPr bwMode="auto">
            <a:xfrm>
              <a:off x="9859294" y="1510166"/>
              <a:ext cx="323724" cy="30183"/>
            </a:xfrm>
            <a:custGeom>
              <a:avLst/>
              <a:gdLst>
                <a:gd name="T0" fmla="*/ 0 w 85"/>
                <a:gd name="T1" fmla="*/ 4 h 7"/>
                <a:gd name="T2" fmla="*/ 20 w 85"/>
                <a:gd name="T3" fmla="*/ 3 h 7"/>
                <a:gd name="T4" fmla="*/ 40 w 85"/>
                <a:gd name="T5" fmla="*/ 2 h 7"/>
                <a:gd name="T6" fmla="*/ 59 w 85"/>
                <a:gd name="T7" fmla="*/ 1 h 7"/>
                <a:gd name="T8" fmla="*/ 79 w 85"/>
                <a:gd name="T9" fmla="*/ 0 h 7"/>
                <a:gd name="T10" fmla="*/ 85 w 85"/>
                <a:gd name="T11" fmla="*/ 2 h 7"/>
                <a:gd name="T12" fmla="*/ 65 w 85"/>
                <a:gd name="T13" fmla="*/ 3 h 7"/>
                <a:gd name="T14" fmla="*/ 46 w 85"/>
                <a:gd name="T15" fmla="*/ 4 h 7"/>
                <a:gd name="T16" fmla="*/ 26 w 85"/>
                <a:gd name="T17" fmla="*/ 6 h 7"/>
                <a:gd name="T18" fmla="*/ 6 w 85"/>
                <a:gd name="T19" fmla="*/ 7 h 7"/>
                <a:gd name="T20" fmla="*/ 0 w 85"/>
                <a:gd name="T21"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7">
                  <a:moveTo>
                    <a:pt x="0" y="4"/>
                  </a:moveTo>
                  <a:cubicBezTo>
                    <a:pt x="7" y="4"/>
                    <a:pt x="13" y="4"/>
                    <a:pt x="20" y="3"/>
                  </a:cubicBezTo>
                  <a:cubicBezTo>
                    <a:pt x="26" y="3"/>
                    <a:pt x="33" y="2"/>
                    <a:pt x="40" y="2"/>
                  </a:cubicBezTo>
                  <a:cubicBezTo>
                    <a:pt x="46" y="2"/>
                    <a:pt x="53" y="1"/>
                    <a:pt x="59" y="1"/>
                  </a:cubicBezTo>
                  <a:cubicBezTo>
                    <a:pt x="66" y="0"/>
                    <a:pt x="72" y="0"/>
                    <a:pt x="79" y="0"/>
                  </a:cubicBezTo>
                  <a:cubicBezTo>
                    <a:pt x="85" y="2"/>
                    <a:pt x="85" y="2"/>
                    <a:pt x="85" y="2"/>
                  </a:cubicBezTo>
                  <a:cubicBezTo>
                    <a:pt x="78" y="2"/>
                    <a:pt x="72" y="3"/>
                    <a:pt x="65" y="3"/>
                  </a:cubicBezTo>
                  <a:cubicBezTo>
                    <a:pt x="59" y="4"/>
                    <a:pt x="52" y="4"/>
                    <a:pt x="46" y="4"/>
                  </a:cubicBezTo>
                  <a:cubicBezTo>
                    <a:pt x="39" y="5"/>
                    <a:pt x="32" y="5"/>
                    <a:pt x="26" y="6"/>
                  </a:cubicBezTo>
                  <a:cubicBezTo>
                    <a:pt x="19" y="6"/>
                    <a:pt x="13" y="7"/>
                    <a:pt x="6" y="7"/>
                  </a:cubicBez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7" name="Freeform 17">
              <a:extLst>
                <a:ext uri="{FF2B5EF4-FFF2-40B4-BE49-F238E27FC236}">
                  <a16:creationId xmlns:a16="http://schemas.microsoft.com/office/drawing/2014/main" id="{42BF82EE-B530-EEF2-B10F-8BC5C584398E}"/>
                </a:ext>
              </a:extLst>
            </p:cNvPr>
            <p:cNvSpPr>
              <a:spLocks/>
            </p:cNvSpPr>
            <p:nvPr/>
          </p:nvSpPr>
          <p:spPr bwMode="auto">
            <a:xfrm>
              <a:off x="9232477" y="1552776"/>
              <a:ext cx="341180" cy="33733"/>
            </a:xfrm>
            <a:custGeom>
              <a:avLst/>
              <a:gdLst>
                <a:gd name="T0" fmla="*/ 0 w 90"/>
                <a:gd name="T1" fmla="*/ 6 h 8"/>
                <a:gd name="T2" fmla="*/ 21 w 90"/>
                <a:gd name="T3" fmla="*/ 4 h 8"/>
                <a:gd name="T4" fmla="*/ 42 w 90"/>
                <a:gd name="T5" fmla="*/ 3 h 8"/>
                <a:gd name="T6" fmla="*/ 63 w 90"/>
                <a:gd name="T7" fmla="*/ 1 h 8"/>
                <a:gd name="T8" fmla="*/ 84 w 90"/>
                <a:gd name="T9" fmla="*/ 0 h 8"/>
                <a:gd name="T10" fmla="*/ 90 w 90"/>
                <a:gd name="T11" fmla="*/ 2 h 8"/>
                <a:gd name="T12" fmla="*/ 69 w 90"/>
                <a:gd name="T13" fmla="*/ 4 h 8"/>
                <a:gd name="T14" fmla="*/ 48 w 90"/>
                <a:gd name="T15" fmla="*/ 5 h 8"/>
                <a:gd name="T16" fmla="*/ 27 w 90"/>
                <a:gd name="T17" fmla="*/ 7 h 8"/>
                <a:gd name="T18" fmla="*/ 6 w 90"/>
                <a:gd name="T19" fmla="*/ 8 h 8"/>
                <a:gd name="T20" fmla="*/ 0 w 90"/>
                <a:gd name="T21"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8">
                  <a:moveTo>
                    <a:pt x="0" y="6"/>
                  </a:moveTo>
                  <a:cubicBezTo>
                    <a:pt x="7" y="5"/>
                    <a:pt x="14" y="5"/>
                    <a:pt x="21" y="4"/>
                  </a:cubicBezTo>
                  <a:cubicBezTo>
                    <a:pt x="28" y="4"/>
                    <a:pt x="35" y="3"/>
                    <a:pt x="42" y="3"/>
                  </a:cubicBezTo>
                  <a:cubicBezTo>
                    <a:pt x="49" y="2"/>
                    <a:pt x="56" y="2"/>
                    <a:pt x="63" y="1"/>
                  </a:cubicBezTo>
                  <a:cubicBezTo>
                    <a:pt x="70" y="1"/>
                    <a:pt x="77" y="0"/>
                    <a:pt x="84" y="0"/>
                  </a:cubicBezTo>
                  <a:cubicBezTo>
                    <a:pt x="90" y="2"/>
                    <a:pt x="90" y="2"/>
                    <a:pt x="90" y="2"/>
                  </a:cubicBezTo>
                  <a:cubicBezTo>
                    <a:pt x="83" y="3"/>
                    <a:pt x="76" y="3"/>
                    <a:pt x="69" y="4"/>
                  </a:cubicBezTo>
                  <a:cubicBezTo>
                    <a:pt x="62" y="4"/>
                    <a:pt x="55" y="5"/>
                    <a:pt x="48" y="5"/>
                  </a:cubicBezTo>
                  <a:cubicBezTo>
                    <a:pt x="41" y="6"/>
                    <a:pt x="34" y="6"/>
                    <a:pt x="27" y="7"/>
                  </a:cubicBezTo>
                  <a:cubicBezTo>
                    <a:pt x="20" y="7"/>
                    <a:pt x="13" y="8"/>
                    <a:pt x="6" y="8"/>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8" name="Freeform 18">
              <a:extLst>
                <a:ext uri="{FF2B5EF4-FFF2-40B4-BE49-F238E27FC236}">
                  <a16:creationId xmlns:a16="http://schemas.microsoft.com/office/drawing/2014/main" id="{08091B93-50E1-7648-0EBF-FAD5C4E732EC}"/>
                </a:ext>
              </a:extLst>
            </p:cNvPr>
            <p:cNvSpPr>
              <a:spLocks/>
            </p:cNvSpPr>
            <p:nvPr/>
          </p:nvSpPr>
          <p:spPr bwMode="auto">
            <a:xfrm>
              <a:off x="8565988" y="1604263"/>
              <a:ext cx="357049" cy="42610"/>
            </a:xfrm>
            <a:custGeom>
              <a:avLst/>
              <a:gdLst>
                <a:gd name="T0" fmla="*/ 0 w 94"/>
                <a:gd name="T1" fmla="*/ 7 h 10"/>
                <a:gd name="T2" fmla="*/ 22 w 94"/>
                <a:gd name="T3" fmla="*/ 5 h 10"/>
                <a:gd name="T4" fmla="*/ 44 w 94"/>
                <a:gd name="T5" fmla="*/ 4 h 10"/>
                <a:gd name="T6" fmla="*/ 66 w 94"/>
                <a:gd name="T7" fmla="*/ 2 h 10"/>
                <a:gd name="T8" fmla="*/ 89 w 94"/>
                <a:gd name="T9" fmla="*/ 0 h 10"/>
                <a:gd name="T10" fmla="*/ 94 w 94"/>
                <a:gd name="T11" fmla="*/ 3 h 10"/>
                <a:gd name="T12" fmla="*/ 72 w 94"/>
                <a:gd name="T13" fmla="*/ 5 h 10"/>
                <a:gd name="T14" fmla="*/ 50 w 94"/>
                <a:gd name="T15" fmla="*/ 6 h 10"/>
                <a:gd name="T16" fmla="*/ 27 w 94"/>
                <a:gd name="T17" fmla="*/ 8 h 10"/>
                <a:gd name="T18" fmla="*/ 5 w 94"/>
                <a:gd name="T19" fmla="*/ 10 h 10"/>
                <a:gd name="T20" fmla="*/ 0 w 94"/>
                <a:gd name="T21"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10">
                  <a:moveTo>
                    <a:pt x="0" y="7"/>
                  </a:moveTo>
                  <a:cubicBezTo>
                    <a:pt x="7" y="7"/>
                    <a:pt x="14" y="6"/>
                    <a:pt x="22" y="5"/>
                  </a:cubicBezTo>
                  <a:cubicBezTo>
                    <a:pt x="29" y="5"/>
                    <a:pt x="37" y="4"/>
                    <a:pt x="44" y="4"/>
                  </a:cubicBezTo>
                  <a:cubicBezTo>
                    <a:pt x="52" y="3"/>
                    <a:pt x="59" y="2"/>
                    <a:pt x="66" y="2"/>
                  </a:cubicBezTo>
                  <a:cubicBezTo>
                    <a:pt x="74" y="1"/>
                    <a:pt x="81" y="1"/>
                    <a:pt x="89" y="0"/>
                  </a:cubicBezTo>
                  <a:cubicBezTo>
                    <a:pt x="94" y="3"/>
                    <a:pt x="94" y="3"/>
                    <a:pt x="94" y="3"/>
                  </a:cubicBezTo>
                  <a:cubicBezTo>
                    <a:pt x="87" y="3"/>
                    <a:pt x="80" y="4"/>
                    <a:pt x="72" y="5"/>
                  </a:cubicBezTo>
                  <a:cubicBezTo>
                    <a:pt x="65" y="5"/>
                    <a:pt x="57" y="6"/>
                    <a:pt x="50" y="6"/>
                  </a:cubicBezTo>
                  <a:cubicBezTo>
                    <a:pt x="42" y="7"/>
                    <a:pt x="35" y="8"/>
                    <a:pt x="27" y="8"/>
                  </a:cubicBezTo>
                  <a:cubicBezTo>
                    <a:pt x="20" y="9"/>
                    <a:pt x="12" y="9"/>
                    <a:pt x="5" y="10"/>
                  </a:cubicBez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59" name="Freeform 19">
              <a:extLst>
                <a:ext uri="{FF2B5EF4-FFF2-40B4-BE49-F238E27FC236}">
                  <a16:creationId xmlns:a16="http://schemas.microsoft.com/office/drawing/2014/main" id="{C3692687-2D8F-0052-CA3A-D01E0553B72F}"/>
                </a:ext>
              </a:extLst>
            </p:cNvPr>
            <p:cNvSpPr>
              <a:spLocks/>
            </p:cNvSpPr>
            <p:nvPr/>
          </p:nvSpPr>
          <p:spPr bwMode="auto">
            <a:xfrm>
              <a:off x="7847130" y="1671729"/>
              <a:ext cx="384025" cy="51488"/>
            </a:xfrm>
            <a:custGeom>
              <a:avLst/>
              <a:gdLst>
                <a:gd name="T0" fmla="*/ 0 w 101"/>
                <a:gd name="T1" fmla="*/ 9 h 12"/>
                <a:gd name="T2" fmla="*/ 24 w 101"/>
                <a:gd name="T3" fmla="*/ 7 h 12"/>
                <a:gd name="T4" fmla="*/ 48 w 101"/>
                <a:gd name="T5" fmla="*/ 4 h 12"/>
                <a:gd name="T6" fmla="*/ 72 w 101"/>
                <a:gd name="T7" fmla="*/ 2 h 12"/>
                <a:gd name="T8" fmla="*/ 96 w 101"/>
                <a:gd name="T9" fmla="*/ 0 h 12"/>
                <a:gd name="T10" fmla="*/ 101 w 101"/>
                <a:gd name="T11" fmla="*/ 2 h 12"/>
                <a:gd name="T12" fmla="*/ 77 w 101"/>
                <a:gd name="T13" fmla="*/ 5 h 12"/>
                <a:gd name="T14" fmla="*/ 53 w 101"/>
                <a:gd name="T15" fmla="*/ 7 h 12"/>
                <a:gd name="T16" fmla="*/ 29 w 101"/>
                <a:gd name="T17" fmla="*/ 10 h 12"/>
                <a:gd name="T18" fmla="*/ 6 w 101"/>
                <a:gd name="T19" fmla="*/ 12 h 12"/>
                <a:gd name="T20" fmla="*/ 0 w 101"/>
                <a:gd name="T21" fmla="*/ 9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2">
                  <a:moveTo>
                    <a:pt x="0" y="9"/>
                  </a:moveTo>
                  <a:cubicBezTo>
                    <a:pt x="8" y="8"/>
                    <a:pt x="16" y="7"/>
                    <a:pt x="24" y="7"/>
                  </a:cubicBezTo>
                  <a:cubicBezTo>
                    <a:pt x="32" y="6"/>
                    <a:pt x="39" y="5"/>
                    <a:pt x="48" y="4"/>
                  </a:cubicBezTo>
                  <a:cubicBezTo>
                    <a:pt x="55" y="3"/>
                    <a:pt x="64" y="3"/>
                    <a:pt x="72" y="2"/>
                  </a:cubicBezTo>
                  <a:cubicBezTo>
                    <a:pt x="80" y="1"/>
                    <a:pt x="88" y="0"/>
                    <a:pt x="96" y="0"/>
                  </a:cubicBezTo>
                  <a:cubicBezTo>
                    <a:pt x="101" y="2"/>
                    <a:pt x="101" y="2"/>
                    <a:pt x="101" y="2"/>
                  </a:cubicBezTo>
                  <a:cubicBezTo>
                    <a:pt x="93" y="3"/>
                    <a:pt x="85" y="4"/>
                    <a:pt x="77" y="5"/>
                  </a:cubicBezTo>
                  <a:cubicBezTo>
                    <a:pt x="69" y="6"/>
                    <a:pt x="61" y="6"/>
                    <a:pt x="53" y="7"/>
                  </a:cubicBezTo>
                  <a:cubicBezTo>
                    <a:pt x="45" y="8"/>
                    <a:pt x="37" y="9"/>
                    <a:pt x="29" y="10"/>
                  </a:cubicBezTo>
                  <a:cubicBezTo>
                    <a:pt x="21" y="10"/>
                    <a:pt x="13" y="11"/>
                    <a:pt x="6" y="12"/>
                  </a:cubicBezTo>
                  <a:lnTo>
                    <a:pt x="0"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60" name="Freeform 20">
              <a:extLst>
                <a:ext uri="{FF2B5EF4-FFF2-40B4-BE49-F238E27FC236}">
                  <a16:creationId xmlns:a16="http://schemas.microsoft.com/office/drawing/2014/main" id="{C48CA286-EE20-E6D7-F27D-1F18B226F2D5}"/>
                </a:ext>
              </a:extLst>
            </p:cNvPr>
            <p:cNvSpPr>
              <a:spLocks/>
            </p:cNvSpPr>
            <p:nvPr/>
          </p:nvSpPr>
          <p:spPr bwMode="auto">
            <a:xfrm>
              <a:off x="7074320" y="1756950"/>
              <a:ext cx="415763" cy="72793"/>
            </a:xfrm>
            <a:custGeom>
              <a:avLst/>
              <a:gdLst>
                <a:gd name="T0" fmla="*/ 103 w 109"/>
                <a:gd name="T1" fmla="*/ 0 h 17"/>
                <a:gd name="T2" fmla="*/ 109 w 109"/>
                <a:gd name="T3" fmla="*/ 3 h 17"/>
                <a:gd name="T4" fmla="*/ 82 w 109"/>
                <a:gd name="T5" fmla="*/ 7 h 17"/>
                <a:gd name="T6" fmla="*/ 56 w 109"/>
                <a:gd name="T7" fmla="*/ 10 h 17"/>
                <a:gd name="T8" fmla="*/ 31 w 109"/>
                <a:gd name="T9" fmla="*/ 13 h 17"/>
                <a:gd name="T10" fmla="*/ 7 w 109"/>
                <a:gd name="T11" fmla="*/ 17 h 17"/>
                <a:gd name="T12" fmla="*/ 0 w 109"/>
                <a:gd name="T13" fmla="*/ 14 h 17"/>
                <a:gd name="T14" fmla="*/ 25 w 109"/>
                <a:gd name="T15" fmla="*/ 10 h 17"/>
                <a:gd name="T16" fmla="*/ 50 w 109"/>
                <a:gd name="T17" fmla="*/ 7 h 17"/>
                <a:gd name="T18" fmla="*/ 76 w 109"/>
                <a:gd name="T19" fmla="*/ 4 h 17"/>
                <a:gd name="T20" fmla="*/ 103 w 109"/>
                <a:gd name="T2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7">
                  <a:moveTo>
                    <a:pt x="103" y="0"/>
                  </a:moveTo>
                  <a:cubicBezTo>
                    <a:pt x="109" y="3"/>
                    <a:pt x="109" y="3"/>
                    <a:pt x="109" y="3"/>
                  </a:cubicBezTo>
                  <a:cubicBezTo>
                    <a:pt x="100" y="4"/>
                    <a:pt x="91" y="6"/>
                    <a:pt x="82" y="7"/>
                  </a:cubicBezTo>
                  <a:cubicBezTo>
                    <a:pt x="74" y="8"/>
                    <a:pt x="65" y="9"/>
                    <a:pt x="56" y="10"/>
                  </a:cubicBezTo>
                  <a:cubicBezTo>
                    <a:pt x="48" y="11"/>
                    <a:pt x="39" y="12"/>
                    <a:pt x="31" y="13"/>
                  </a:cubicBezTo>
                  <a:cubicBezTo>
                    <a:pt x="23" y="15"/>
                    <a:pt x="15" y="16"/>
                    <a:pt x="7" y="17"/>
                  </a:cubicBezTo>
                  <a:cubicBezTo>
                    <a:pt x="0" y="14"/>
                    <a:pt x="0" y="14"/>
                    <a:pt x="0" y="14"/>
                  </a:cubicBezTo>
                  <a:cubicBezTo>
                    <a:pt x="8" y="13"/>
                    <a:pt x="17" y="12"/>
                    <a:pt x="25" y="10"/>
                  </a:cubicBezTo>
                  <a:cubicBezTo>
                    <a:pt x="33" y="9"/>
                    <a:pt x="42" y="8"/>
                    <a:pt x="50" y="7"/>
                  </a:cubicBezTo>
                  <a:cubicBezTo>
                    <a:pt x="59" y="6"/>
                    <a:pt x="68" y="5"/>
                    <a:pt x="76" y="4"/>
                  </a:cubicBezTo>
                  <a:cubicBezTo>
                    <a:pt x="85" y="2"/>
                    <a:pt x="94" y="1"/>
                    <a:pt x="10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61" name="Freeform 21">
              <a:extLst>
                <a:ext uri="{FF2B5EF4-FFF2-40B4-BE49-F238E27FC236}">
                  <a16:creationId xmlns:a16="http://schemas.microsoft.com/office/drawing/2014/main" id="{2CED722C-DAF6-E92F-2984-11738DF4DDF1}"/>
                </a:ext>
              </a:extLst>
            </p:cNvPr>
            <p:cNvSpPr>
              <a:spLocks/>
            </p:cNvSpPr>
            <p:nvPr/>
          </p:nvSpPr>
          <p:spPr bwMode="auto">
            <a:xfrm>
              <a:off x="6341182" y="1918515"/>
              <a:ext cx="376091" cy="120730"/>
            </a:xfrm>
            <a:custGeom>
              <a:avLst/>
              <a:gdLst>
                <a:gd name="T0" fmla="*/ 99 w 99"/>
                <a:gd name="T1" fmla="*/ 3 h 28"/>
                <a:gd name="T2" fmla="*/ 71 w 99"/>
                <a:gd name="T3" fmla="*/ 9 h 28"/>
                <a:gd name="T4" fmla="*/ 47 w 99"/>
                <a:gd name="T5" fmla="*/ 15 h 28"/>
                <a:gd name="T6" fmla="*/ 28 w 99"/>
                <a:gd name="T7" fmla="*/ 22 h 28"/>
                <a:gd name="T8" fmla="*/ 14 w 99"/>
                <a:gd name="T9" fmla="*/ 28 h 28"/>
                <a:gd name="T10" fmla="*/ 0 w 99"/>
                <a:gd name="T11" fmla="*/ 27 h 28"/>
                <a:gd name="T12" fmla="*/ 15 w 99"/>
                <a:gd name="T13" fmla="*/ 20 h 28"/>
                <a:gd name="T14" fmla="*/ 36 w 99"/>
                <a:gd name="T15" fmla="*/ 13 h 28"/>
                <a:gd name="T16" fmla="*/ 61 w 99"/>
                <a:gd name="T17" fmla="*/ 6 h 28"/>
                <a:gd name="T18" fmla="*/ 91 w 99"/>
                <a:gd name="T19" fmla="*/ 0 h 28"/>
                <a:gd name="T20" fmla="*/ 99 w 99"/>
                <a:gd name="T21"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28">
                  <a:moveTo>
                    <a:pt x="99" y="3"/>
                  </a:moveTo>
                  <a:cubicBezTo>
                    <a:pt x="89" y="5"/>
                    <a:pt x="80" y="7"/>
                    <a:pt x="71" y="9"/>
                  </a:cubicBezTo>
                  <a:cubicBezTo>
                    <a:pt x="62" y="11"/>
                    <a:pt x="54" y="13"/>
                    <a:pt x="47" y="15"/>
                  </a:cubicBezTo>
                  <a:cubicBezTo>
                    <a:pt x="40" y="18"/>
                    <a:pt x="33" y="20"/>
                    <a:pt x="28" y="22"/>
                  </a:cubicBezTo>
                  <a:cubicBezTo>
                    <a:pt x="23" y="24"/>
                    <a:pt x="18" y="26"/>
                    <a:pt x="14" y="28"/>
                  </a:cubicBezTo>
                  <a:cubicBezTo>
                    <a:pt x="0" y="27"/>
                    <a:pt x="0" y="27"/>
                    <a:pt x="0" y="27"/>
                  </a:cubicBezTo>
                  <a:cubicBezTo>
                    <a:pt x="4" y="25"/>
                    <a:pt x="9" y="22"/>
                    <a:pt x="15" y="20"/>
                  </a:cubicBezTo>
                  <a:cubicBezTo>
                    <a:pt x="21" y="18"/>
                    <a:pt x="28" y="15"/>
                    <a:pt x="36" y="13"/>
                  </a:cubicBezTo>
                  <a:cubicBezTo>
                    <a:pt x="44" y="11"/>
                    <a:pt x="52" y="9"/>
                    <a:pt x="61" y="6"/>
                  </a:cubicBezTo>
                  <a:cubicBezTo>
                    <a:pt x="70" y="4"/>
                    <a:pt x="80" y="2"/>
                    <a:pt x="91" y="0"/>
                  </a:cubicBezTo>
                  <a:lnTo>
                    <a:pt x="99"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62" name="Freeform 29">
              <a:extLst>
                <a:ext uri="{FF2B5EF4-FFF2-40B4-BE49-F238E27FC236}">
                  <a16:creationId xmlns:a16="http://schemas.microsoft.com/office/drawing/2014/main" id="{FAC10D48-7AAC-CAF1-33A9-0DED19343D8B}"/>
                </a:ext>
              </a:extLst>
            </p:cNvPr>
            <p:cNvSpPr>
              <a:spLocks/>
            </p:cNvSpPr>
            <p:nvPr/>
          </p:nvSpPr>
          <p:spPr bwMode="auto">
            <a:xfrm>
              <a:off x="12031734" y="1412516"/>
              <a:ext cx="160275" cy="17755"/>
            </a:xfrm>
            <a:custGeom>
              <a:avLst/>
              <a:gdLst>
                <a:gd name="T0" fmla="*/ 35 w 42"/>
                <a:gd name="T1" fmla="*/ 0 h 4"/>
                <a:gd name="T2" fmla="*/ 18 w 42"/>
                <a:gd name="T3" fmla="*/ 1 h 4"/>
                <a:gd name="T4" fmla="*/ 0 w 42"/>
                <a:gd name="T5" fmla="*/ 2 h 4"/>
                <a:gd name="T6" fmla="*/ 7 w 42"/>
                <a:gd name="T7" fmla="*/ 4 h 4"/>
                <a:gd name="T8" fmla="*/ 24 w 42"/>
                <a:gd name="T9" fmla="*/ 3 h 4"/>
                <a:gd name="T10" fmla="*/ 42 w 42"/>
                <a:gd name="T11" fmla="*/ 2 h 4"/>
                <a:gd name="T12" fmla="*/ 42 w 42"/>
                <a:gd name="T13" fmla="*/ 2 h 4"/>
                <a:gd name="T14" fmla="*/ 42 w 42"/>
                <a:gd name="T15" fmla="*/ 0 h 4"/>
                <a:gd name="T16" fmla="*/ 35 w 4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4">
                  <a:moveTo>
                    <a:pt x="35" y="0"/>
                  </a:moveTo>
                  <a:cubicBezTo>
                    <a:pt x="29" y="0"/>
                    <a:pt x="23" y="1"/>
                    <a:pt x="18" y="1"/>
                  </a:cubicBezTo>
                  <a:cubicBezTo>
                    <a:pt x="12" y="1"/>
                    <a:pt x="6" y="1"/>
                    <a:pt x="0" y="2"/>
                  </a:cubicBezTo>
                  <a:cubicBezTo>
                    <a:pt x="7" y="4"/>
                    <a:pt x="7" y="4"/>
                    <a:pt x="7" y="4"/>
                  </a:cubicBezTo>
                  <a:cubicBezTo>
                    <a:pt x="12" y="3"/>
                    <a:pt x="18" y="3"/>
                    <a:pt x="24" y="3"/>
                  </a:cubicBezTo>
                  <a:cubicBezTo>
                    <a:pt x="30" y="3"/>
                    <a:pt x="36" y="3"/>
                    <a:pt x="42" y="2"/>
                  </a:cubicBezTo>
                  <a:cubicBezTo>
                    <a:pt x="42" y="2"/>
                    <a:pt x="42" y="2"/>
                    <a:pt x="42" y="2"/>
                  </a:cubicBezTo>
                  <a:cubicBezTo>
                    <a:pt x="42" y="0"/>
                    <a:pt x="42" y="0"/>
                    <a:pt x="42" y="0"/>
                  </a:cubicBezTo>
                  <a:cubicBezTo>
                    <a:pt x="40" y="0"/>
                    <a:pt x="37" y="0"/>
                    <a:pt x="3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63" name="Freeform 6">
              <a:extLst>
                <a:ext uri="{FF2B5EF4-FFF2-40B4-BE49-F238E27FC236}">
                  <a16:creationId xmlns:a16="http://schemas.microsoft.com/office/drawing/2014/main" id="{88028C65-93ED-2E62-0500-2CBFBF2EFFE9}"/>
                </a:ext>
              </a:extLst>
            </p:cNvPr>
            <p:cNvSpPr>
              <a:spLocks/>
            </p:cNvSpPr>
            <p:nvPr/>
          </p:nvSpPr>
          <p:spPr bwMode="auto">
            <a:xfrm>
              <a:off x="5895439" y="2239778"/>
              <a:ext cx="9251" cy="162784"/>
            </a:xfrm>
            <a:custGeom>
              <a:avLst/>
              <a:gdLst>
                <a:gd name="T0" fmla="*/ 1 w 3"/>
                <a:gd name="T1" fmla="*/ 34 h 34"/>
                <a:gd name="T2" fmla="*/ 0 w 3"/>
                <a:gd name="T3" fmla="*/ 4 h 34"/>
                <a:gd name="T4" fmla="*/ 0 w 3"/>
                <a:gd name="T5" fmla="*/ 3 h 34"/>
                <a:gd name="T6" fmla="*/ 0 w 3"/>
                <a:gd name="T7" fmla="*/ 2 h 34"/>
                <a:gd name="T8" fmla="*/ 1 w 3"/>
                <a:gd name="T9" fmla="*/ 1 h 34"/>
                <a:gd name="T10" fmla="*/ 1 w 3"/>
                <a:gd name="T11" fmla="*/ 0 h 34"/>
                <a:gd name="T12" fmla="*/ 3 w 3"/>
                <a:gd name="T13" fmla="*/ 29 h 34"/>
                <a:gd name="T14" fmla="*/ 2 w 3"/>
                <a:gd name="T15" fmla="*/ 31 h 34"/>
                <a:gd name="T16" fmla="*/ 2 w 3"/>
                <a:gd name="T17" fmla="*/ 32 h 34"/>
                <a:gd name="T18" fmla="*/ 1 w 3"/>
                <a:gd name="T19" fmla="*/ 33 h 34"/>
                <a:gd name="T20" fmla="*/ 1 w 3"/>
                <a:gd name="T2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 h="34">
                  <a:moveTo>
                    <a:pt x="1" y="34"/>
                  </a:moveTo>
                  <a:cubicBezTo>
                    <a:pt x="0" y="4"/>
                    <a:pt x="0" y="4"/>
                    <a:pt x="0" y="4"/>
                  </a:cubicBezTo>
                  <a:cubicBezTo>
                    <a:pt x="0" y="4"/>
                    <a:pt x="0" y="4"/>
                    <a:pt x="0" y="3"/>
                  </a:cubicBezTo>
                  <a:cubicBezTo>
                    <a:pt x="0" y="3"/>
                    <a:pt x="0" y="2"/>
                    <a:pt x="0" y="2"/>
                  </a:cubicBezTo>
                  <a:cubicBezTo>
                    <a:pt x="1" y="2"/>
                    <a:pt x="1" y="1"/>
                    <a:pt x="1" y="1"/>
                  </a:cubicBezTo>
                  <a:cubicBezTo>
                    <a:pt x="1" y="1"/>
                    <a:pt x="1" y="0"/>
                    <a:pt x="1" y="0"/>
                  </a:cubicBezTo>
                  <a:cubicBezTo>
                    <a:pt x="3" y="29"/>
                    <a:pt x="3" y="29"/>
                    <a:pt x="3" y="29"/>
                  </a:cubicBezTo>
                  <a:cubicBezTo>
                    <a:pt x="2" y="30"/>
                    <a:pt x="2" y="30"/>
                    <a:pt x="2" y="31"/>
                  </a:cubicBezTo>
                  <a:cubicBezTo>
                    <a:pt x="2" y="31"/>
                    <a:pt x="2" y="31"/>
                    <a:pt x="2" y="32"/>
                  </a:cubicBezTo>
                  <a:cubicBezTo>
                    <a:pt x="2" y="32"/>
                    <a:pt x="1" y="32"/>
                    <a:pt x="1" y="33"/>
                  </a:cubicBezTo>
                  <a:cubicBezTo>
                    <a:pt x="1" y="33"/>
                    <a:pt x="1" y="33"/>
                    <a:pt x="1" y="34"/>
                  </a:cubicBezTo>
                  <a:close/>
                </a:path>
              </a:pathLst>
            </a:custGeom>
            <a:solidFill>
              <a:srgbClr val="231F2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64" name="Freeform 7">
              <a:extLst>
                <a:ext uri="{FF2B5EF4-FFF2-40B4-BE49-F238E27FC236}">
                  <a16:creationId xmlns:a16="http://schemas.microsoft.com/office/drawing/2014/main" id="{4B83A4F7-0FB2-D3FA-6783-5DD27CCAEC97}"/>
                </a:ext>
              </a:extLst>
            </p:cNvPr>
            <p:cNvSpPr>
              <a:spLocks/>
            </p:cNvSpPr>
            <p:nvPr/>
          </p:nvSpPr>
          <p:spPr bwMode="auto">
            <a:xfrm>
              <a:off x="5891475" y="1660993"/>
              <a:ext cx="4262003" cy="717453"/>
            </a:xfrm>
            <a:custGeom>
              <a:avLst/>
              <a:gdLst>
                <a:gd name="T0" fmla="*/ 1345 w 1345"/>
                <a:gd name="T1" fmla="*/ 0 h 149"/>
                <a:gd name="T2" fmla="*/ 1345 w 1345"/>
                <a:gd name="T3" fmla="*/ 21 h 149"/>
                <a:gd name="T4" fmla="*/ 1172 w 1345"/>
                <a:gd name="T5" fmla="*/ 29 h 149"/>
                <a:gd name="T6" fmla="*/ 986 w 1345"/>
                <a:gd name="T7" fmla="*/ 40 h 149"/>
                <a:gd name="T8" fmla="*/ 788 w 1345"/>
                <a:gd name="T9" fmla="*/ 54 h 149"/>
                <a:gd name="T10" fmla="*/ 585 w 1345"/>
                <a:gd name="T11" fmla="*/ 71 h 149"/>
                <a:gd name="T12" fmla="*/ 333 w 1345"/>
                <a:gd name="T13" fmla="*/ 97 h 149"/>
                <a:gd name="T14" fmla="*/ 155 w 1345"/>
                <a:gd name="T15" fmla="*/ 120 h 149"/>
                <a:gd name="T16" fmla="*/ 49 w 1345"/>
                <a:gd name="T17" fmla="*/ 139 h 149"/>
                <a:gd name="T18" fmla="*/ 4 w 1345"/>
                <a:gd name="T19" fmla="*/ 149 h 149"/>
                <a:gd name="T20" fmla="*/ 0 w 1345"/>
                <a:gd name="T21" fmla="*/ 115 h 149"/>
                <a:gd name="T22" fmla="*/ 48 w 1345"/>
                <a:gd name="T23" fmla="*/ 110 h 149"/>
                <a:gd name="T24" fmla="*/ 154 w 1345"/>
                <a:gd name="T25" fmla="*/ 92 h 149"/>
                <a:gd name="T26" fmla="*/ 333 w 1345"/>
                <a:gd name="T27" fmla="*/ 70 h 149"/>
                <a:gd name="T28" fmla="*/ 586 w 1345"/>
                <a:gd name="T29" fmla="*/ 46 h 149"/>
                <a:gd name="T30" fmla="*/ 790 w 1345"/>
                <a:gd name="T31" fmla="*/ 30 h 149"/>
                <a:gd name="T32" fmla="*/ 989 w 1345"/>
                <a:gd name="T33" fmla="*/ 17 h 149"/>
                <a:gd name="T34" fmla="*/ 1176 w 1345"/>
                <a:gd name="T35" fmla="*/ 7 h 149"/>
                <a:gd name="T36" fmla="*/ 1345 w 1345"/>
                <a:gd name="T37" fmla="*/ 0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45" h="149">
                  <a:moveTo>
                    <a:pt x="1345" y="0"/>
                  </a:moveTo>
                  <a:cubicBezTo>
                    <a:pt x="1345" y="21"/>
                    <a:pt x="1345" y="21"/>
                    <a:pt x="1345" y="21"/>
                  </a:cubicBezTo>
                  <a:cubicBezTo>
                    <a:pt x="1290" y="23"/>
                    <a:pt x="1231" y="26"/>
                    <a:pt x="1172" y="29"/>
                  </a:cubicBezTo>
                  <a:cubicBezTo>
                    <a:pt x="1111" y="32"/>
                    <a:pt x="1049" y="35"/>
                    <a:pt x="986" y="40"/>
                  </a:cubicBezTo>
                  <a:cubicBezTo>
                    <a:pt x="920" y="44"/>
                    <a:pt x="854" y="48"/>
                    <a:pt x="788" y="54"/>
                  </a:cubicBezTo>
                  <a:cubicBezTo>
                    <a:pt x="719" y="59"/>
                    <a:pt x="651" y="65"/>
                    <a:pt x="585" y="71"/>
                  </a:cubicBezTo>
                  <a:cubicBezTo>
                    <a:pt x="486" y="80"/>
                    <a:pt x="403" y="88"/>
                    <a:pt x="333" y="97"/>
                  </a:cubicBezTo>
                  <a:cubicBezTo>
                    <a:pt x="259" y="105"/>
                    <a:pt x="201" y="113"/>
                    <a:pt x="155" y="120"/>
                  </a:cubicBezTo>
                  <a:cubicBezTo>
                    <a:pt x="107" y="127"/>
                    <a:pt x="73" y="134"/>
                    <a:pt x="49" y="139"/>
                  </a:cubicBezTo>
                  <a:cubicBezTo>
                    <a:pt x="24" y="144"/>
                    <a:pt x="10" y="147"/>
                    <a:pt x="4" y="149"/>
                  </a:cubicBezTo>
                  <a:cubicBezTo>
                    <a:pt x="0" y="115"/>
                    <a:pt x="0" y="115"/>
                    <a:pt x="0" y="115"/>
                  </a:cubicBezTo>
                  <a:cubicBezTo>
                    <a:pt x="7" y="113"/>
                    <a:pt x="23" y="115"/>
                    <a:pt x="48" y="110"/>
                  </a:cubicBezTo>
                  <a:cubicBezTo>
                    <a:pt x="72" y="105"/>
                    <a:pt x="106" y="99"/>
                    <a:pt x="154" y="92"/>
                  </a:cubicBezTo>
                  <a:cubicBezTo>
                    <a:pt x="201" y="86"/>
                    <a:pt x="260" y="78"/>
                    <a:pt x="333" y="70"/>
                  </a:cubicBezTo>
                  <a:cubicBezTo>
                    <a:pt x="404" y="62"/>
                    <a:pt x="488" y="54"/>
                    <a:pt x="586" y="46"/>
                  </a:cubicBezTo>
                  <a:cubicBezTo>
                    <a:pt x="653" y="40"/>
                    <a:pt x="722" y="35"/>
                    <a:pt x="790" y="30"/>
                  </a:cubicBezTo>
                  <a:cubicBezTo>
                    <a:pt x="857" y="25"/>
                    <a:pt x="923" y="21"/>
                    <a:pt x="989" y="17"/>
                  </a:cubicBezTo>
                  <a:cubicBezTo>
                    <a:pt x="1052" y="13"/>
                    <a:pt x="1115" y="10"/>
                    <a:pt x="1176" y="7"/>
                  </a:cubicBezTo>
                  <a:cubicBezTo>
                    <a:pt x="1235" y="4"/>
                    <a:pt x="1290" y="2"/>
                    <a:pt x="1345" y="0"/>
                  </a:cubicBezTo>
                  <a:close/>
                </a:path>
              </a:pathLst>
            </a:custGeom>
            <a:solidFill>
              <a:srgbClr val="1B1B1B"/>
            </a:solidFill>
            <a:ln>
              <a:noFill/>
            </a:ln>
          </p:spPr>
          <p:txBody>
            <a:bodyPr vert="horz" wrap="square" lIns="91440" tIns="45720" rIns="91440" bIns="45720" numCol="1" anchor="t" anchorCtr="0" compatLnSpc="1">
              <a:prstTxWarp prst="textNoShape">
                <a:avLst/>
              </a:prstTxWarp>
            </a:bodyPr>
            <a:lstStyle/>
            <a:p>
              <a:endParaRPr lang="ru-RU"/>
            </a:p>
          </p:txBody>
        </p:sp>
        <p:sp>
          <p:nvSpPr>
            <p:cNvPr id="65" name="Freeform 8">
              <a:extLst>
                <a:ext uri="{FF2B5EF4-FFF2-40B4-BE49-F238E27FC236}">
                  <a16:creationId xmlns:a16="http://schemas.microsoft.com/office/drawing/2014/main" id="{A894D8FC-10C2-5065-C97D-D7E980270132}"/>
                </a:ext>
              </a:extLst>
            </p:cNvPr>
            <p:cNvSpPr>
              <a:spLocks/>
            </p:cNvSpPr>
            <p:nvPr/>
          </p:nvSpPr>
          <p:spPr bwMode="auto">
            <a:xfrm>
              <a:off x="4517062" y="2460841"/>
              <a:ext cx="2151485" cy="1891100"/>
            </a:xfrm>
            <a:custGeom>
              <a:avLst/>
              <a:gdLst>
                <a:gd name="T0" fmla="*/ 679 w 679"/>
                <a:gd name="T1" fmla="*/ 347 h 392"/>
                <a:gd name="T2" fmla="*/ 679 w 679"/>
                <a:gd name="T3" fmla="*/ 392 h 392"/>
                <a:gd name="T4" fmla="*/ 679 w 679"/>
                <a:gd name="T5" fmla="*/ 388 h 392"/>
                <a:gd name="T6" fmla="*/ 678 w 679"/>
                <a:gd name="T7" fmla="*/ 384 h 392"/>
                <a:gd name="T8" fmla="*/ 678 w 679"/>
                <a:gd name="T9" fmla="*/ 381 h 392"/>
                <a:gd name="T10" fmla="*/ 677 w 679"/>
                <a:gd name="T11" fmla="*/ 377 h 392"/>
                <a:gd name="T12" fmla="*/ 630 w 679"/>
                <a:gd name="T13" fmla="*/ 306 h 392"/>
                <a:gd name="T14" fmla="*/ 551 w 679"/>
                <a:gd name="T15" fmla="*/ 257 h 392"/>
                <a:gd name="T16" fmla="*/ 443 w 679"/>
                <a:gd name="T17" fmla="*/ 217 h 392"/>
                <a:gd name="T18" fmla="*/ 311 w 679"/>
                <a:gd name="T19" fmla="*/ 179 h 392"/>
                <a:gd name="T20" fmla="*/ 236 w 679"/>
                <a:gd name="T21" fmla="*/ 158 h 392"/>
                <a:gd name="T22" fmla="*/ 166 w 679"/>
                <a:gd name="T23" fmla="*/ 137 h 392"/>
                <a:gd name="T24" fmla="*/ 105 w 679"/>
                <a:gd name="T25" fmla="*/ 115 h 392"/>
                <a:gd name="T26" fmla="*/ 56 w 679"/>
                <a:gd name="T27" fmla="*/ 91 h 392"/>
                <a:gd name="T28" fmla="*/ 34 w 679"/>
                <a:gd name="T29" fmla="*/ 76 h 392"/>
                <a:gd name="T30" fmla="*/ 18 w 679"/>
                <a:gd name="T31" fmla="*/ 61 h 392"/>
                <a:gd name="T32" fmla="*/ 8 w 679"/>
                <a:gd name="T33" fmla="*/ 47 h 392"/>
                <a:gd name="T34" fmla="*/ 4 w 679"/>
                <a:gd name="T35" fmla="*/ 32 h 392"/>
                <a:gd name="T36" fmla="*/ 0 w 679"/>
                <a:gd name="T37" fmla="*/ 0 h 392"/>
                <a:gd name="T38" fmla="*/ 4 w 679"/>
                <a:gd name="T39" fmla="*/ 14 h 392"/>
                <a:gd name="T40" fmla="*/ 14 w 679"/>
                <a:gd name="T41" fmla="*/ 28 h 392"/>
                <a:gd name="T42" fmla="*/ 30 w 679"/>
                <a:gd name="T43" fmla="*/ 42 h 392"/>
                <a:gd name="T44" fmla="*/ 52 w 679"/>
                <a:gd name="T45" fmla="*/ 56 h 392"/>
                <a:gd name="T46" fmla="*/ 101 w 679"/>
                <a:gd name="T47" fmla="*/ 79 h 392"/>
                <a:gd name="T48" fmla="*/ 163 w 679"/>
                <a:gd name="T49" fmla="*/ 101 h 392"/>
                <a:gd name="T50" fmla="*/ 233 w 679"/>
                <a:gd name="T51" fmla="*/ 122 h 392"/>
                <a:gd name="T52" fmla="*/ 309 w 679"/>
                <a:gd name="T53" fmla="*/ 142 h 392"/>
                <a:gd name="T54" fmla="*/ 441 w 679"/>
                <a:gd name="T55" fmla="*/ 178 h 392"/>
                <a:gd name="T56" fmla="*/ 550 w 679"/>
                <a:gd name="T57" fmla="*/ 216 h 392"/>
                <a:gd name="T58" fmla="*/ 630 w 679"/>
                <a:gd name="T59" fmla="*/ 264 h 392"/>
                <a:gd name="T60" fmla="*/ 677 w 679"/>
                <a:gd name="T61" fmla="*/ 333 h 392"/>
                <a:gd name="T62" fmla="*/ 678 w 679"/>
                <a:gd name="T63" fmla="*/ 336 h 392"/>
                <a:gd name="T64" fmla="*/ 679 w 679"/>
                <a:gd name="T65" fmla="*/ 340 h 392"/>
                <a:gd name="T66" fmla="*/ 679 w 679"/>
                <a:gd name="T67" fmla="*/ 343 h 392"/>
                <a:gd name="T68" fmla="*/ 679 w 679"/>
                <a:gd name="T69" fmla="*/ 347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79" h="392">
                  <a:moveTo>
                    <a:pt x="679" y="347"/>
                  </a:moveTo>
                  <a:cubicBezTo>
                    <a:pt x="679" y="362"/>
                    <a:pt x="679" y="377"/>
                    <a:pt x="679" y="392"/>
                  </a:cubicBezTo>
                  <a:cubicBezTo>
                    <a:pt x="679" y="391"/>
                    <a:pt x="679" y="389"/>
                    <a:pt x="679" y="388"/>
                  </a:cubicBezTo>
                  <a:cubicBezTo>
                    <a:pt x="679" y="387"/>
                    <a:pt x="679" y="385"/>
                    <a:pt x="678" y="384"/>
                  </a:cubicBezTo>
                  <a:cubicBezTo>
                    <a:pt x="678" y="383"/>
                    <a:pt x="678" y="382"/>
                    <a:pt x="678" y="381"/>
                  </a:cubicBezTo>
                  <a:cubicBezTo>
                    <a:pt x="677" y="379"/>
                    <a:pt x="677" y="378"/>
                    <a:pt x="677" y="377"/>
                  </a:cubicBezTo>
                  <a:cubicBezTo>
                    <a:pt x="668" y="349"/>
                    <a:pt x="652" y="326"/>
                    <a:pt x="630" y="306"/>
                  </a:cubicBezTo>
                  <a:cubicBezTo>
                    <a:pt x="609" y="287"/>
                    <a:pt x="583" y="271"/>
                    <a:pt x="551" y="257"/>
                  </a:cubicBezTo>
                  <a:cubicBezTo>
                    <a:pt x="520" y="242"/>
                    <a:pt x="483" y="229"/>
                    <a:pt x="443" y="217"/>
                  </a:cubicBezTo>
                  <a:cubicBezTo>
                    <a:pt x="403" y="204"/>
                    <a:pt x="359" y="192"/>
                    <a:pt x="311" y="179"/>
                  </a:cubicBezTo>
                  <a:cubicBezTo>
                    <a:pt x="286" y="172"/>
                    <a:pt x="261" y="165"/>
                    <a:pt x="236" y="158"/>
                  </a:cubicBezTo>
                  <a:cubicBezTo>
                    <a:pt x="212" y="152"/>
                    <a:pt x="188" y="145"/>
                    <a:pt x="166" y="137"/>
                  </a:cubicBezTo>
                  <a:cubicBezTo>
                    <a:pt x="144" y="130"/>
                    <a:pt x="124" y="123"/>
                    <a:pt x="105" y="115"/>
                  </a:cubicBezTo>
                  <a:cubicBezTo>
                    <a:pt x="87" y="107"/>
                    <a:pt x="70" y="99"/>
                    <a:pt x="56" y="91"/>
                  </a:cubicBezTo>
                  <a:cubicBezTo>
                    <a:pt x="47" y="86"/>
                    <a:pt x="40" y="81"/>
                    <a:pt x="34" y="76"/>
                  </a:cubicBezTo>
                  <a:cubicBezTo>
                    <a:pt x="28" y="71"/>
                    <a:pt x="22" y="66"/>
                    <a:pt x="18" y="61"/>
                  </a:cubicBezTo>
                  <a:cubicBezTo>
                    <a:pt x="14" y="56"/>
                    <a:pt x="11" y="52"/>
                    <a:pt x="8" y="47"/>
                  </a:cubicBezTo>
                  <a:cubicBezTo>
                    <a:pt x="6" y="42"/>
                    <a:pt x="5" y="37"/>
                    <a:pt x="4" y="32"/>
                  </a:cubicBezTo>
                  <a:cubicBezTo>
                    <a:pt x="0" y="0"/>
                    <a:pt x="0" y="0"/>
                    <a:pt x="0" y="0"/>
                  </a:cubicBezTo>
                  <a:cubicBezTo>
                    <a:pt x="1" y="4"/>
                    <a:pt x="2" y="9"/>
                    <a:pt x="4" y="14"/>
                  </a:cubicBezTo>
                  <a:cubicBezTo>
                    <a:pt x="7" y="18"/>
                    <a:pt x="10" y="23"/>
                    <a:pt x="14" y="28"/>
                  </a:cubicBezTo>
                  <a:cubicBezTo>
                    <a:pt x="18" y="33"/>
                    <a:pt x="24" y="37"/>
                    <a:pt x="30" y="42"/>
                  </a:cubicBezTo>
                  <a:cubicBezTo>
                    <a:pt x="36" y="47"/>
                    <a:pt x="43" y="51"/>
                    <a:pt x="52" y="56"/>
                  </a:cubicBezTo>
                  <a:cubicBezTo>
                    <a:pt x="66" y="64"/>
                    <a:pt x="83" y="72"/>
                    <a:pt x="101" y="79"/>
                  </a:cubicBezTo>
                  <a:cubicBezTo>
                    <a:pt x="120" y="87"/>
                    <a:pt x="141" y="94"/>
                    <a:pt x="163" y="101"/>
                  </a:cubicBezTo>
                  <a:cubicBezTo>
                    <a:pt x="185" y="108"/>
                    <a:pt x="209" y="115"/>
                    <a:pt x="233" y="122"/>
                  </a:cubicBezTo>
                  <a:cubicBezTo>
                    <a:pt x="258" y="128"/>
                    <a:pt x="283" y="135"/>
                    <a:pt x="309" y="142"/>
                  </a:cubicBezTo>
                  <a:cubicBezTo>
                    <a:pt x="357" y="154"/>
                    <a:pt x="401" y="166"/>
                    <a:pt x="441" y="178"/>
                  </a:cubicBezTo>
                  <a:cubicBezTo>
                    <a:pt x="482" y="190"/>
                    <a:pt x="518" y="203"/>
                    <a:pt x="550" y="216"/>
                  </a:cubicBezTo>
                  <a:cubicBezTo>
                    <a:pt x="582" y="231"/>
                    <a:pt x="609" y="246"/>
                    <a:pt x="630" y="264"/>
                  </a:cubicBezTo>
                  <a:cubicBezTo>
                    <a:pt x="652" y="284"/>
                    <a:pt x="668" y="306"/>
                    <a:pt x="677" y="333"/>
                  </a:cubicBezTo>
                  <a:cubicBezTo>
                    <a:pt x="677" y="334"/>
                    <a:pt x="677" y="335"/>
                    <a:pt x="678" y="336"/>
                  </a:cubicBezTo>
                  <a:cubicBezTo>
                    <a:pt x="678" y="337"/>
                    <a:pt x="678" y="338"/>
                    <a:pt x="679" y="340"/>
                  </a:cubicBezTo>
                  <a:cubicBezTo>
                    <a:pt x="679" y="341"/>
                    <a:pt x="679" y="342"/>
                    <a:pt x="679" y="343"/>
                  </a:cubicBezTo>
                  <a:cubicBezTo>
                    <a:pt x="679" y="345"/>
                    <a:pt x="679" y="346"/>
                    <a:pt x="679" y="347"/>
                  </a:cubicBezTo>
                  <a:close/>
                </a:path>
              </a:pathLst>
            </a:custGeom>
            <a:solidFill>
              <a:srgbClr val="1B1B1B"/>
            </a:solidFill>
            <a:ln>
              <a:noFill/>
            </a:ln>
          </p:spPr>
          <p:txBody>
            <a:bodyPr vert="horz" wrap="square" lIns="91440" tIns="45720" rIns="91440" bIns="45720" numCol="1" anchor="t" anchorCtr="0" compatLnSpc="1">
              <a:prstTxWarp prst="textNoShape">
                <a:avLst/>
              </a:prstTxWarp>
            </a:bodyPr>
            <a:lstStyle/>
            <a:p>
              <a:endParaRPr lang="ru-RU"/>
            </a:p>
          </p:txBody>
        </p:sp>
        <p:sp>
          <p:nvSpPr>
            <p:cNvPr id="66" name="Freeform 9">
              <a:extLst>
                <a:ext uri="{FF2B5EF4-FFF2-40B4-BE49-F238E27FC236}">
                  <a16:creationId xmlns:a16="http://schemas.microsoft.com/office/drawing/2014/main" id="{52032F13-D146-6F08-9E2B-298972C080B7}"/>
                </a:ext>
              </a:extLst>
            </p:cNvPr>
            <p:cNvSpPr>
              <a:spLocks/>
            </p:cNvSpPr>
            <p:nvPr/>
          </p:nvSpPr>
          <p:spPr bwMode="auto">
            <a:xfrm>
              <a:off x="7757505" y="4924697"/>
              <a:ext cx="1033453" cy="1933303"/>
            </a:xfrm>
            <a:custGeom>
              <a:avLst/>
              <a:gdLst>
                <a:gd name="T0" fmla="*/ 317 w 326"/>
                <a:gd name="T1" fmla="*/ 40 h 401"/>
                <a:gd name="T2" fmla="*/ 302 w 326"/>
                <a:gd name="T3" fmla="*/ 82 h 401"/>
                <a:gd name="T4" fmla="*/ 279 w 326"/>
                <a:gd name="T5" fmla="*/ 126 h 401"/>
                <a:gd name="T6" fmla="*/ 247 w 326"/>
                <a:gd name="T7" fmla="*/ 173 h 401"/>
                <a:gd name="T8" fmla="*/ 40 w 326"/>
                <a:gd name="T9" fmla="*/ 371 h 401"/>
                <a:gd name="T10" fmla="*/ 0 w 326"/>
                <a:gd name="T11" fmla="*/ 401 h 401"/>
                <a:gd name="T12" fmla="*/ 73 w 326"/>
                <a:gd name="T13" fmla="*/ 401 h 401"/>
                <a:gd name="T14" fmla="*/ 240 w 326"/>
                <a:gd name="T15" fmla="*/ 228 h 401"/>
                <a:gd name="T16" fmla="*/ 271 w 326"/>
                <a:gd name="T17" fmla="*/ 180 h 401"/>
                <a:gd name="T18" fmla="*/ 295 w 326"/>
                <a:gd name="T19" fmla="*/ 134 h 401"/>
                <a:gd name="T20" fmla="*/ 310 w 326"/>
                <a:gd name="T21" fmla="*/ 90 h 401"/>
                <a:gd name="T22" fmla="*/ 319 w 326"/>
                <a:gd name="T23" fmla="*/ 49 h 401"/>
                <a:gd name="T24" fmla="*/ 326 w 326"/>
                <a:gd name="T25" fmla="*/ 0 h 401"/>
                <a:gd name="T26" fmla="*/ 317 w 326"/>
                <a:gd name="T27" fmla="*/ 40 h 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6" h="401">
                  <a:moveTo>
                    <a:pt x="317" y="40"/>
                  </a:moveTo>
                  <a:cubicBezTo>
                    <a:pt x="313" y="53"/>
                    <a:pt x="308" y="67"/>
                    <a:pt x="302" y="82"/>
                  </a:cubicBezTo>
                  <a:cubicBezTo>
                    <a:pt x="295" y="96"/>
                    <a:pt x="288" y="111"/>
                    <a:pt x="279" y="126"/>
                  </a:cubicBezTo>
                  <a:cubicBezTo>
                    <a:pt x="269" y="142"/>
                    <a:pt x="259" y="157"/>
                    <a:pt x="247" y="173"/>
                  </a:cubicBezTo>
                  <a:cubicBezTo>
                    <a:pt x="200" y="235"/>
                    <a:pt x="132" y="301"/>
                    <a:pt x="40" y="371"/>
                  </a:cubicBezTo>
                  <a:cubicBezTo>
                    <a:pt x="27" y="381"/>
                    <a:pt x="14" y="391"/>
                    <a:pt x="0" y="401"/>
                  </a:cubicBezTo>
                  <a:cubicBezTo>
                    <a:pt x="73" y="401"/>
                    <a:pt x="73" y="401"/>
                    <a:pt x="73" y="401"/>
                  </a:cubicBezTo>
                  <a:cubicBezTo>
                    <a:pt x="145" y="340"/>
                    <a:pt x="200" y="283"/>
                    <a:pt x="240" y="228"/>
                  </a:cubicBezTo>
                  <a:cubicBezTo>
                    <a:pt x="252" y="212"/>
                    <a:pt x="262" y="196"/>
                    <a:pt x="271" y="180"/>
                  </a:cubicBezTo>
                  <a:cubicBezTo>
                    <a:pt x="280" y="164"/>
                    <a:pt x="288" y="149"/>
                    <a:pt x="295" y="134"/>
                  </a:cubicBezTo>
                  <a:cubicBezTo>
                    <a:pt x="301" y="119"/>
                    <a:pt x="306" y="105"/>
                    <a:pt x="310" y="90"/>
                  </a:cubicBezTo>
                  <a:cubicBezTo>
                    <a:pt x="314" y="76"/>
                    <a:pt x="317" y="63"/>
                    <a:pt x="319" y="49"/>
                  </a:cubicBezTo>
                  <a:cubicBezTo>
                    <a:pt x="326" y="0"/>
                    <a:pt x="326" y="0"/>
                    <a:pt x="326" y="0"/>
                  </a:cubicBezTo>
                  <a:cubicBezTo>
                    <a:pt x="324" y="13"/>
                    <a:pt x="321" y="26"/>
                    <a:pt x="317" y="40"/>
                  </a:cubicBezTo>
                  <a:close/>
                </a:path>
              </a:pathLst>
            </a:custGeom>
            <a:solidFill>
              <a:srgbClr val="1B1B1B"/>
            </a:solidFill>
            <a:ln>
              <a:noFill/>
            </a:ln>
          </p:spPr>
          <p:txBody>
            <a:bodyPr vert="horz" wrap="square" lIns="91440" tIns="45720" rIns="91440" bIns="45720" numCol="1" anchor="t" anchorCtr="0" compatLnSpc="1">
              <a:prstTxWarp prst="textNoShape">
                <a:avLst/>
              </a:prstTxWarp>
            </a:bodyPr>
            <a:lstStyle/>
            <a:p>
              <a:endParaRPr lang="ru-RU"/>
            </a:p>
          </p:txBody>
        </p:sp>
        <p:sp>
          <p:nvSpPr>
            <p:cNvPr id="68" name="Freeform 10">
              <a:extLst>
                <a:ext uri="{FF2B5EF4-FFF2-40B4-BE49-F238E27FC236}">
                  <a16:creationId xmlns:a16="http://schemas.microsoft.com/office/drawing/2014/main" id="{3C1D9759-D7C5-BA9E-ACDE-9D0CB5202E37}"/>
                </a:ext>
              </a:extLst>
            </p:cNvPr>
            <p:cNvSpPr>
              <a:spLocks/>
            </p:cNvSpPr>
            <p:nvPr/>
          </p:nvSpPr>
          <p:spPr bwMode="auto">
            <a:xfrm>
              <a:off x="0" y="1371600"/>
              <a:ext cx="10153478" cy="5486400"/>
            </a:xfrm>
            <a:custGeom>
              <a:avLst/>
              <a:gdLst>
                <a:gd name="T0" fmla="*/ 2855 w 3205"/>
                <a:gd name="T1" fmla="*/ 11 h 1138"/>
                <a:gd name="T2" fmla="*/ 2661 w 3205"/>
                <a:gd name="T3" fmla="*/ 19 h 1138"/>
                <a:gd name="T4" fmla="*/ 2456 w 3205"/>
                <a:gd name="T5" fmla="*/ 29 h 1138"/>
                <a:gd name="T6" fmla="*/ 2249 w 3205"/>
                <a:gd name="T7" fmla="*/ 42 h 1138"/>
                <a:gd name="T8" fmla="*/ 2134 w 3205"/>
                <a:gd name="T9" fmla="*/ 50 h 1138"/>
                <a:gd name="T10" fmla="*/ 2026 w 3205"/>
                <a:gd name="T11" fmla="*/ 59 h 1138"/>
                <a:gd name="T12" fmla="*/ 1924 w 3205"/>
                <a:gd name="T13" fmla="*/ 69 h 1138"/>
                <a:gd name="T14" fmla="*/ 1831 w 3205"/>
                <a:gd name="T15" fmla="*/ 79 h 1138"/>
                <a:gd name="T16" fmla="*/ 1710 w 3205"/>
                <a:gd name="T17" fmla="*/ 95 h 1138"/>
                <a:gd name="T18" fmla="*/ 1610 w 3205"/>
                <a:gd name="T19" fmla="*/ 113 h 1138"/>
                <a:gd name="T20" fmla="*/ 1533 w 3205"/>
                <a:gd name="T21" fmla="*/ 134 h 1138"/>
                <a:gd name="T22" fmla="*/ 1478 w 3205"/>
                <a:gd name="T23" fmla="*/ 157 h 1138"/>
                <a:gd name="T24" fmla="*/ 1441 w 3205"/>
                <a:gd name="T25" fmla="*/ 187 h 1138"/>
                <a:gd name="T26" fmla="*/ 1426 w 3205"/>
                <a:gd name="T27" fmla="*/ 218 h 1138"/>
                <a:gd name="T28" fmla="*/ 1437 w 3205"/>
                <a:gd name="T29" fmla="*/ 250 h 1138"/>
                <a:gd name="T30" fmla="*/ 1478 w 3205"/>
                <a:gd name="T31" fmla="*/ 282 h 1138"/>
                <a:gd name="T32" fmla="*/ 1527 w 3205"/>
                <a:gd name="T33" fmla="*/ 305 h 1138"/>
                <a:gd name="T34" fmla="*/ 1589 w 3205"/>
                <a:gd name="T35" fmla="*/ 327 h 1138"/>
                <a:gd name="T36" fmla="*/ 1659 w 3205"/>
                <a:gd name="T37" fmla="*/ 348 h 1138"/>
                <a:gd name="T38" fmla="*/ 1735 w 3205"/>
                <a:gd name="T39" fmla="*/ 368 h 1138"/>
                <a:gd name="T40" fmla="*/ 1867 w 3205"/>
                <a:gd name="T41" fmla="*/ 404 h 1138"/>
                <a:gd name="T42" fmla="*/ 1976 w 3205"/>
                <a:gd name="T43" fmla="*/ 442 h 1138"/>
                <a:gd name="T44" fmla="*/ 2056 w 3205"/>
                <a:gd name="T45" fmla="*/ 490 h 1138"/>
                <a:gd name="T46" fmla="*/ 2103 w 3205"/>
                <a:gd name="T47" fmla="*/ 559 h 1138"/>
                <a:gd name="T48" fmla="*/ 2105 w 3205"/>
                <a:gd name="T49" fmla="*/ 575 h 1138"/>
                <a:gd name="T50" fmla="*/ 2099 w 3205"/>
                <a:gd name="T51" fmla="*/ 594 h 1138"/>
                <a:gd name="T52" fmla="*/ 2079 w 3205"/>
                <a:gd name="T53" fmla="*/ 617 h 1138"/>
                <a:gd name="T54" fmla="*/ 2039 w 3205"/>
                <a:gd name="T55" fmla="*/ 647 h 1138"/>
                <a:gd name="T56" fmla="*/ 1769 w 3205"/>
                <a:gd name="T57" fmla="*/ 761 h 1138"/>
                <a:gd name="T58" fmla="*/ 1291 w 3205"/>
                <a:gd name="T59" fmla="*/ 892 h 1138"/>
                <a:gd name="T60" fmla="*/ 600 w 3205"/>
                <a:gd name="T61" fmla="*/ 1035 h 1138"/>
                <a:gd name="T62" fmla="*/ 0 w 3205"/>
                <a:gd name="T63" fmla="*/ 1138 h 1138"/>
                <a:gd name="T64" fmla="*/ 2449 w 3205"/>
                <a:gd name="T65" fmla="*/ 1138 h 1138"/>
                <a:gd name="T66" fmla="*/ 2489 w 3205"/>
                <a:gd name="T67" fmla="*/ 1108 h 1138"/>
                <a:gd name="T68" fmla="*/ 2696 w 3205"/>
                <a:gd name="T69" fmla="*/ 910 h 1138"/>
                <a:gd name="T70" fmla="*/ 2764 w 3205"/>
                <a:gd name="T71" fmla="*/ 786 h 1138"/>
                <a:gd name="T72" fmla="*/ 2777 w 3205"/>
                <a:gd name="T73" fmla="*/ 680 h 1138"/>
                <a:gd name="T74" fmla="*/ 2749 w 3205"/>
                <a:gd name="T75" fmla="*/ 589 h 1138"/>
                <a:gd name="T76" fmla="*/ 2690 w 3205"/>
                <a:gd name="T77" fmla="*/ 510 h 1138"/>
                <a:gd name="T78" fmla="*/ 2614 w 3205"/>
                <a:gd name="T79" fmla="*/ 444 h 1138"/>
                <a:gd name="T80" fmla="*/ 2530 w 3205"/>
                <a:gd name="T81" fmla="*/ 391 h 1138"/>
                <a:gd name="T82" fmla="*/ 2440 w 3205"/>
                <a:gd name="T83" fmla="*/ 347 h 1138"/>
                <a:gd name="T84" fmla="*/ 2340 w 3205"/>
                <a:gd name="T85" fmla="*/ 310 h 1138"/>
                <a:gd name="T86" fmla="*/ 2259 w 3205"/>
                <a:gd name="T87" fmla="*/ 286 h 1138"/>
                <a:gd name="T88" fmla="*/ 2179 w 3205"/>
                <a:gd name="T89" fmla="*/ 266 h 1138"/>
                <a:gd name="T90" fmla="*/ 2104 w 3205"/>
                <a:gd name="T91" fmla="*/ 249 h 1138"/>
                <a:gd name="T92" fmla="*/ 2034 w 3205"/>
                <a:gd name="T93" fmla="*/ 234 h 1138"/>
                <a:gd name="T94" fmla="*/ 1939 w 3205"/>
                <a:gd name="T95" fmla="*/ 214 h 1138"/>
                <a:gd name="T96" fmla="*/ 1886 w 3205"/>
                <a:gd name="T97" fmla="*/ 200 h 1138"/>
                <a:gd name="T98" fmla="*/ 1864 w 3205"/>
                <a:gd name="T99" fmla="*/ 190 h 1138"/>
                <a:gd name="T100" fmla="*/ 1864 w 3205"/>
                <a:gd name="T101" fmla="*/ 189 h 1138"/>
                <a:gd name="T102" fmla="*/ 1868 w 3205"/>
                <a:gd name="T103" fmla="*/ 177 h 1138"/>
                <a:gd name="T104" fmla="*/ 1908 w 3205"/>
                <a:gd name="T105" fmla="*/ 170 h 1138"/>
                <a:gd name="T106" fmla="*/ 2014 w 3205"/>
                <a:gd name="T107" fmla="*/ 152 h 1138"/>
                <a:gd name="T108" fmla="*/ 2193 w 3205"/>
                <a:gd name="T109" fmla="*/ 130 h 1138"/>
                <a:gd name="T110" fmla="*/ 2446 w 3205"/>
                <a:gd name="T111" fmla="*/ 106 h 1138"/>
                <a:gd name="T112" fmla="*/ 2650 w 3205"/>
                <a:gd name="T113" fmla="*/ 90 h 1138"/>
                <a:gd name="T114" fmla="*/ 2849 w 3205"/>
                <a:gd name="T115" fmla="*/ 77 h 1138"/>
                <a:gd name="T116" fmla="*/ 3036 w 3205"/>
                <a:gd name="T117" fmla="*/ 67 h 1138"/>
                <a:gd name="T118" fmla="*/ 3205 w 3205"/>
                <a:gd name="T119" fmla="*/ 60 h 1138"/>
                <a:gd name="T120" fmla="*/ 3205 w 3205"/>
                <a:gd name="T121" fmla="*/ 0 h 1138"/>
                <a:gd name="T122" fmla="*/ 2855 w 3205"/>
                <a:gd name="T123" fmla="*/ 11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205" h="1138">
                  <a:moveTo>
                    <a:pt x="2855" y="11"/>
                  </a:moveTo>
                  <a:cubicBezTo>
                    <a:pt x="2792" y="13"/>
                    <a:pt x="2727" y="16"/>
                    <a:pt x="2661" y="19"/>
                  </a:cubicBezTo>
                  <a:cubicBezTo>
                    <a:pt x="2593" y="22"/>
                    <a:pt x="2524" y="25"/>
                    <a:pt x="2456" y="29"/>
                  </a:cubicBezTo>
                  <a:cubicBezTo>
                    <a:pt x="2385" y="33"/>
                    <a:pt x="2316" y="38"/>
                    <a:pt x="2249" y="42"/>
                  </a:cubicBezTo>
                  <a:cubicBezTo>
                    <a:pt x="2209" y="45"/>
                    <a:pt x="2171" y="48"/>
                    <a:pt x="2134" y="50"/>
                  </a:cubicBezTo>
                  <a:cubicBezTo>
                    <a:pt x="2097" y="53"/>
                    <a:pt x="2061" y="56"/>
                    <a:pt x="2026" y="59"/>
                  </a:cubicBezTo>
                  <a:cubicBezTo>
                    <a:pt x="1991" y="62"/>
                    <a:pt x="1957" y="66"/>
                    <a:pt x="1924" y="69"/>
                  </a:cubicBezTo>
                  <a:cubicBezTo>
                    <a:pt x="1891" y="72"/>
                    <a:pt x="1860" y="76"/>
                    <a:pt x="1831" y="79"/>
                  </a:cubicBezTo>
                  <a:cubicBezTo>
                    <a:pt x="1787" y="84"/>
                    <a:pt x="1747" y="89"/>
                    <a:pt x="1710" y="95"/>
                  </a:cubicBezTo>
                  <a:cubicBezTo>
                    <a:pt x="1673" y="101"/>
                    <a:pt x="1640" y="107"/>
                    <a:pt x="1610" y="113"/>
                  </a:cubicBezTo>
                  <a:cubicBezTo>
                    <a:pt x="1580" y="120"/>
                    <a:pt x="1554" y="126"/>
                    <a:pt x="1533" y="134"/>
                  </a:cubicBezTo>
                  <a:cubicBezTo>
                    <a:pt x="1510" y="141"/>
                    <a:pt x="1492" y="149"/>
                    <a:pt x="1478" y="157"/>
                  </a:cubicBezTo>
                  <a:cubicBezTo>
                    <a:pt x="1462" y="167"/>
                    <a:pt x="1450" y="177"/>
                    <a:pt x="1441" y="187"/>
                  </a:cubicBezTo>
                  <a:cubicBezTo>
                    <a:pt x="1432" y="197"/>
                    <a:pt x="1427" y="208"/>
                    <a:pt x="1426" y="218"/>
                  </a:cubicBezTo>
                  <a:cubicBezTo>
                    <a:pt x="1425" y="229"/>
                    <a:pt x="1428" y="239"/>
                    <a:pt x="1437" y="250"/>
                  </a:cubicBezTo>
                  <a:cubicBezTo>
                    <a:pt x="1445" y="261"/>
                    <a:pt x="1459" y="272"/>
                    <a:pt x="1478" y="282"/>
                  </a:cubicBezTo>
                  <a:cubicBezTo>
                    <a:pt x="1492" y="290"/>
                    <a:pt x="1509" y="298"/>
                    <a:pt x="1527" y="305"/>
                  </a:cubicBezTo>
                  <a:cubicBezTo>
                    <a:pt x="1546" y="313"/>
                    <a:pt x="1567" y="320"/>
                    <a:pt x="1589" y="327"/>
                  </a:cubicBezTo>
                  <a:cubicBezTo>
                    <a:pt x="1611" y="334"/>
                    <a:pt x="1635" y="341"/>
                    <a:pt x="1659" y="348"/>
                  </a:cubicBezTo>
                  <a:cubicBezTo>
                    <a:pt x="1684" y="354"/>
                    <a:pt x="1709" y="361"/>
                    <a:pt x="1735" y="368"/>
                  </a:cubicBezTo>
                  <a:cubicBezTo>
                    <a:pt x="1783" y="380"/>
                    <a:pt x="1827" y="392"/>
                    <a:pt x="1867" y="404"/>
                  </a:cubicBezTo>
                  <a:cubicBezTo>
                    <a:pt x="1908" y="416"/>
                    <a:pt x="1944" y="429"/>
                    <a:pt x="1976" y="442"/>
                  </a:cubicBezTo>
                  <a:cubicBezTo>
                    <a:pt x="2008" y="457"/>
                    <a:pt x="2035" y="472"/>
                    <a:pt x="2056" y="490"/>
                  </a:cubicBezTo>
                  <a:cubicBezTo>
                    <a:pt x="2078" y="510"/>
                    <a:pt x="2094" y="532"/>
                    <a:pt x="2103" y="559"/>
                  </a:cubicBezTo>
                  <a:cubicBezTo>
                    <a:pt x="2104" y="564"/>
                    <a:pt x="2105" y="569"/>
                    <a:pt x="2105" y="575"/>
                  </a:cubicBezTo>
                  <a:cubicBezTo>
                    <a:pt x="2105" y="580"/>
                    <a:pt x="2103" y="587"/>
                    <a:pt x="2099" y="594"/>
                  </a:cubicBezTo>
                  <a:cubicBezTo>
                    <a:pt x="2095" y="601"/>
                    <a:pt x="2089" y="609"/>
                    <a:pt x="2079" y="617"/>
                  </a:cubicBezTo>
                  <a:cubicBezTo>
                    <a:pt x="2070" y="626"/>
                    <a:pt x="2056" y="636"/>
                    <a:pt x="2039" y="647"/>
                  </a:cubicBezTo>
                  <a:cubicBezTo>
                    <a:pt x="1979" y="684"/>
                    <a:pt x="1888" y="722"/>
                    <a:pt x="1769" y="761"/>
                  </a:cubicBezTo>
                  <a:cubicBezTo>
                    <a:pt x="1640" y="804"/>
                    <a:pt x="1479" y="848"/>
                    <a:pt x="1291" y="892"/>
                  </a:cubicBezTo>
                  <a:cubicBezTo>
                    <a:pt x="1088" y="940"/>
                    <a:pt x="854" y="988"/>
                    <a:pt x="600" y="1035"/>
                  </a:cubicBezTo>
                  <a:cubicBezTo>
                    <a:pt x="408" y="1071"/>
                    <a:pt x="207" y="1105"/>
                    <a:pt x="0" y="1138"/>
                  </a:cubicBezTo>
                  <a:cubicBezTo>
                    <a:pt x="2449" y="1138"/>
                    <a:pt x="2449" y="1138"/>
                    <a:pt x="2449" y="1138"/>
                  </a:cubicBezTo>
                  <a:cubicBezTo>
                    <a:pt x="2463" y="1128"/>
                    <a:pt x="2476" y="1118"/>
                    <a:pt x="2489" y="1108"/>
                  </a:cubicBezTo>
                  <a:cubicBezTo>
                    <a:pt x="2581" y="1038"/>
                    <a:pt x="2649" y="972"/>
                    <a:pt x="2696" y="910"/>
                  </a:cubicBezTo>
                  <a:cubicBezTo>
                    <a:pt x="2728" y="867"/>
                    <a:pt x="2751" y="826"/>
                    <a:pt x="2764" y="786"/>
                  </a:cubicBezTo>
                  <a:cubicBezTo>
                    <a:pt x="2776" y="749"/>
                    <a:pt x="2780" y="714"/>
                    <a:pt x="2777" y="680"/>
                  </a:cubicBezTo>
                  <a:cubicBezTo>
                    <a:pt x="2774" y="648"/>
                    <a:pt x="2764" y="618"/>
                    <a:pt x="2749" y="589"/>
                  </a:cubicBezTo>
                  <a:cubicBezTo>
                    <a:pt x="2735" y="561"/>
                    <a:pt x="2715" y="535"/>
                    <a:pt x="2690" y="510"/>
                  </a:cubicBezTo>
                  <a:cubicBezTo>
                    <a:pt x="2667" y="486"/>
                    <a:pt x="2641" y="464"/>
                    <a:pt x="2614" y="444"/>
                  </a:cubicBezTo>
                  <a:cubicBezTo>
                    <a:pt x="2588" y="425"/>
                    <a:pt x="2560" y="407"/>
                    <a:pt x="2530" y="391"/>
                  </a:cubicBezTo>
                  <a:cubicBezTo>
                    <a:pt x="2502" y="375"/>
                    <a:pt x="2472" y="361"/>
                    <a:pt x="2440" y="347"/>
                  </a:cubicBezTo>
                  <a:cubicBezTo>
                    <a:pt x="2408" y="334"/>
                    <a:pt x="2375" y="322"/>
                    <a:pt x="2340" y="310"/>
                  </a:cubicBezTo>
                  <a:cubicBezTo>
                    <a:pt x="2313" y="301"/>
                    <a:pt x="2286" y="293"/>
                    <a:pt x="2259" y="286"/>
                  </a:cubicBezTo>
                  <a:cubicBezTo>
                    <a:pt x="2232" y="278"/>
                    <a:pt x="2206" y="272"/>
                    <a:pt x="2179" y="266"/>
                  </a:cubicBezTo>
                  <a:cubicBezTo>
                    <a:pt x="2154" y="260"/>
                    <a:pt x="2129" y="254"/>
                    <a:pt x="2104" y="249"/>
                  </a:cubicBezTo>
                  <a:cubicBezTo>
                    <a:pt x="2080" y="244"/>
                    <a:pt x="2056" y="239"/>
                    <a:pt x="2034" y="234"/>
                  </a:cubicBezTo>
                  <a:cubicBezTo>
                    <a:pt x="1994" y="226"/>
                    <a:pt x="1963" y="219"/>
                    <a:pt x="1939" y="214"/>
                  </a:cubicBezTo>
                  <a:cubicBezTo>
                    <a:pt x="1915" y="208"/>
                    <a:pt x="1898" y="204"/>
                    <a:pt x="1886" y="200"/>
                  </a:cubicBezTo>
                  <a:cubicBezTo>
                    <a:pt x="1875" y="196"/>
                    <a:pt x="1868" y="193"/>
                    <a:pt x="1864" y="190"/>
                  </a:cubicBezTo>
                  <a:cubicBezTo>
                    <a:pt x="1864" y="190"/>
                    <a:pt x="1864" y="189"/>
                    <a:pt x="1864" y="189"/>
                  </a:cubicBezTo>
                  <a:cubicBezTo>
                    <a:pt x="1860" y="186"/>
                    <a:pt x="1863" y="178"/>
                    <a:pt x="1868" y="177"/>
                  </a:cubicBezTo>
                  <a:cubicBezTo>
                    <a:pt x="1876" y="175"/>
                    <a:pt x="1888" y="174"/>
                    <a:pt x="1908" y="170"/>
                  </a:cubicBezTo>
                  <a:cubicBezTo>
                    <a:pt x="1932" y="165"/>
                    <a:pt x="1966" y="159"/>
                    <a:pt x="2014" y="152"/>
                  </a:cubicBezTo>
                  <a:cubicBezTo>
                    <a:pt x="2061" y="146"/>
                    <a:pt x="2120" y="138"/>
                    <a:pt x="2193" y="130"/>
                  </a:cubicBezTo>
                  <a:cubicBezTo>
                    <a:pt x="2264" y="122"/>
                    <a:pt x="2348" y="114"/>
                    <a:pt x="2446" y="106"/>
                  </a:cubicBezTo>
                  <a:cubicBezTo>
                    <a:pt x="2513" y="100"/>
                    <a:pt x="2582" y="95"/>
                    <a:pt x="2650" y="90"/>
                  </a:cubicBezTo>
                  <a:cubicBezTo>
                    <a:pt x="2717" y="85"/>
                    <a:pt x="2783" y="81"/>
                    <a:pt x="2849" y="77"/>
                  </a:cubicBezTo>
                  <a:cubicBezTo>
                    <a:pt x="2912" y="73"/>
                    <a:pt x="2975" y="70"/>
                    <a:pt x="3036" y="67"/>
                  </a:cubicBezTo>
                  <a:cubicBezTo>
                    <a:pt x="3095" y="64"/>
                    <a:pt x="3150" y="62"/>
                    <a:pt x="3205" y="60"/>
                  </a:cubicBezTo>
                  <a:cubicBezTo>
                    <a:pt x="3205" y="0"/>
                    <a:pt x="3205" y="0"/>
                    <a:pt x="3205" y="0"/>
                  </a:cubicBezTo>
                  <a:cubicBezTo>
                    <a:pt x="3149" y="1"/>
                    <a:pt x="2917" y="9"/>
                    <a:pt x="2855" y="11"/>
                  </a:cubicBezTo>
                  <a:close/>
                </a:path>
              </a:pathLst>
            </a:custGeom>
            <a:gradFill flip="none" rotWithShape="1">
              <a:gsLst>
                <a:gs pos="0">
                  <a:srgbClr val="6D6E71">
                    <a:shade val="30000"/>
                    <a:satMod val="115000"/>
                  </a:srgbClr>
                </a:gs>
                <a:gs pos="50000">
                  <a:srgbClr val="6D6E71">
                    <a:shade val="67500"/>
                    <a:satMod val="115000"/>
                  </a:srgbClr>
                </a:gs>
                <a:gs pos="100000">
                  <a:srgbClr val="6D6E71">
                    <a:shade val="100000"/>
                    <a:satMod val="115000"/>
                  </a:srgbClr>
                </a:gs>
              </a:gsLst>
              <a:lin ang="16200000" scaled="1"/>
              <a:tileRect/>
            </a:gradFill>
            <a:ln>
              <a:noFill/>
            </a:ln>
          </p:spPr>
          <p:txBody>
            <a:bodyPr vert="horz" wrap="square" lIns="91440" tIns="45720" rIns="91440" bIns="45720" numCol="1" anchor="t" anchorCtr="0" compatLnSpc="1">
              <a:prstTxWarp prst="textNoShape">
                <a:avLst/>
              </a:prstTxWarp>
            </a:bodyPr>
            <a:lstStyle/>
            <a:p>
              <a:endParaRPr lang="ru-RU"/>
            </a:p>
          </p:txBody>
        </p:sp>
        <p:sp>
          <p:nvSpPr>
            <p:cNvPr id="69" name="Freeform 11">
              <a:extLst>
                <a:ext uri="{FF2B5EF4-FFF2-40B4-BE49-F238E27FC236}">
                  <a16:creationId xmlns:a16="http://schemas.microsoft.com/office/drawing/2014/main" id="{643B7470-83E4-422B-708C-C6B7F4C53354}"/>
                </a:ext>
              </a:extLst>
            </p:cNvPr>
            <p:cNvSpPr>
              <a:spLocks/>
            </p:cNvSpPr>
            <p:nvPr/>
          </p:nvSpPr>
          <p:spPr bwMode="auto">
            <a:xfrm>
              <a:off x="2131662" y="1399735"/>
              <a:ext cx="8021816" cy="5458264"/>
            </a:xfrm>
            <a:custGeom>
              <a:avLst/>
              <a:gdLst>
                <a:gd name="T0" fmla="*/ 209 w 2532"/>
                <a:gd name="T1" fmla="*/ 1092 h 1132"/>
                <a:gd name="T2" fmla="*/ 838 w 2532"/>
                <a:gd name="T3" fmla="*/ 904 h 1132"/>
                <a:gd name="T4" fmla="*/ 1071 w 2532"/>
                <a:gd name="T5" fmla="*/ 830 h 1132"/>
                <a:gd name="T6" fmla="*/ 1297 w 2532"/>
                <a:gd name="T7" fmla="*/ 743 h 1132"/>
                <a:gd name="T8" fmla="*/ 1429 w 2532"/>
                <a:gd name="T9" fmla="*/ 654 h 1132"/>
                <a:gd name="T10" fmla="*/ 1468 w 2532"/>
                <a:gd name="T11" fmla="*/ 585 h 1132"/>
                <a:gd name="T12" fmla="*/ 1394 w 2532"/>
                <a:gd name="T13" fmla="*/ 454 h 1132"/>
                <a:gd name="T14" fmla="*/ 1182 w 2532"/>
                <a:gd name="T15" fmla="*/ 365 h 1132"/>
                <a:gd name="T16" fmla="*/ 1036 w 2532"/>
                <a:gd name="T17" fmla="*/ 330 h 1132"/>
                <a:gd name="T18" fmla="*/ 831 w 2532"/>
                <a:gd name="T19" fmla="*/ 258 h 1132"/>
                <a:gd name="T20" fmla="*/ 789 w 2532"/>
                <a:gd name="T21" fmla="*/ 208 h 1132"/>
                <a:gd name="T22" fmla="*/ 807 w 2532"/>
                <a:gd name="T23" fmla="*/ 180 h 1132"/>
                <a:gd name="T24" fmla="*/ 901 w 2532"/>
                <a:gd name="T25" fmla="*/ 138 h 1132"/>
                <a:gd name="T26" fmla="*/ 1097 w 2532"/>
                <a:gd name="T27" fmla="*/ 98 h 1132"/>
                <a:gd name="T28" fmla="*/ 1193 w 2532"/>
                <a:gd name="T29" fmla="*/ 85 h 1132"/>
                <a:gd name="T30" fmla="*/ 1286 w 2532"/>
                <a:gd name="T31" fmla="*/ 74 h 1132"/>
                <a:gd name="T32" fmla="*/ 2078 w 2532"/>
                <a:gd name="T33" fmla="*/ 19 h 1132"/>
                <a:gd name="T34" fmla="*/ 2078 w 2532"/>
                <a:gd name="T35" fmla="*/ 19 h 1132"/>
                <a:gd name="T36" fmla="*/ 1286 w 2532"/>
                <a:gd name="T37" fmla="*/ 72 h 1132"/>
                <a:gd name="T38" fmla="*/ 1193 w 2532"/>
                <a:gd name="T39" fmla="*/ 83 h 1132"/>
                <a:gd name="T40" fmla="*/ 1097 w 2532"/>
                <a:gd name="T41" fmla="*/ 96 h 1132"/>
                <a:gd name="T42" fmla="*/ 900 w 2532"/>
                <a:gd name="T43" fmla="*/ 136 h 1132"/>
                <a:gd name="T44" fmla="*/ 805 w 2532"/>
                <a:gd name="T45" fmla="*/ 178 h 1132"/>
                <a:gd name="T46" fmla="*/ 785 w 2532"/>
                <a:gd name="T47" fmla="*/ 207 h 1132"/>
                <a:gd name="T48" fmla="*/ 789 w 2532"/>
                <a:gd name="T49" fmla="*/ 225 h 1132"/>
                <a:gd name="T50" fmla="*/ 829 w 2532"/>
                <a:gd name="T51" fmla="*/ 261 h 1132"/>
                <a:gd name="T52" fmla="*/ 1035 w 2532"/>
                <a:gd name="T53" fmla="*/ 334 h 1132"/>
                <a:gd name="T54" fmla="*/ 1181 w 2532"/>
                <a:gd name="T55" fmla="*/ 369 h 1132"/>
                <a:gd name="T56" fmla="*/ 1391 w 2532"/>
                <a:gd name="T57" fmla="*/ 458 h 1132"/>
                <a:gd name="T58" fmla="*/ 1461 w 2532"/>
                <a:gd name="T59" fmla="*/ 546 h 1132"/>
                <a:gd name="T60" fmla="*/ 1463 w 2532"/>
                <a:gd name="T61" fmla="*/ 584 h 1132"/>
                <a:gd name="T62" fmla="*/ 1425 w 2532"/>
                <a:gd name="T63" fmla="*/ 650 h 1132"/>
                <a:gd name="T64" fmla="*/ 1294 w 2532"/>
                <a:gd name="T65" fmla="*/ 738 h 1132"/>
                <a:gd name="T66" fmla="*/ 1069 w 2532"/>
                <a:gd name="T67" fmla="*/ 824 h 1132"/>
                <a:gd name="T68" fmla="*/ 836 w 2532"/>
                <a:gd name="T69" fmla="*/ 898 h 1132"/>
                <a:gd name="T70" fmla="*/ 207 w 2532"/>
                <a:gd name="T71" fmla="*/ 1084 h 1132"/>
                <a:gd name="T72" fmla="*/ 49 w 2532"/>
                <a:gd name="T73" fmla="*/ 1122 h 1132"/>
                <a:gd name="T74" fmla="*/ 0 w 2532"/>
                <a:gd name="T75" fmla="*/ 1132 h 1132"/>
                <a:gd name="T76" fmla="*/ 50 w 2532"/>
                <a:gd name="T77" fmla="*/ 1130 h 1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532" h="1132">
                  <a:moveTo>
                    <a:pt x="130" y="1112"/>
                  </a:moveTo>
                  <a:cubicBezTo>
                    <a:pt x="157" y="1106"/>
                    <a:pt x="183" y="1099"/>
                    <a:pt x="209" y="1092"/>
                  </a:cubicBezTo>
                  <a:cubicBezTo>
                    <a:pt x="315" y="1065"/>
                    <a:pt x="420" y="1035"/>
                    <a:pt x="525" y="1003"/>
                  </a:cubicBezTo>
                  <a:cubicBezTo>
                    <a:pt x="630" y="971"/>
                    <a:pt x="734" y="938"/>
                    <a:pt x="838" y="904"/>
                  </a:cubicBezTo>
                  <a:cubicBezTo>
                    <a:pt x="890" y="888"/>
                    <a:pt x="942" y="871"/>
                    <a:pt x="993" y="854"/>
                  </a:cubicBezTo>
                  <a:cubicBezTo>
                    <a:pt x="1019" y="846"/>
                    <a:pt x="1045" y="838"/>
                    <a:pt x="1071" y="830"/>
                  </a:cubicBezTo>
                  <a:cubicBezTo>
                    <a:pt x="1097" y="822"/>
                    <a:pt x="1122" y="813"/>
                    <a:pt x="1148" y="805"/>
                  </a:cubicBezTo>
                  <a:cubicBezTo>
                    <a:pt x="1199" y="787"/>
                    <a:pt x="1249" y="767"/>
                    <a:pt x="1297" y="743"/>
                  </a:cubicBezTo>
                  <a:cubicBezTo>
                    <a:pt x="1321" y="731"/>
                    <a:pt x="1344" y="718"/>
                    <a:pt x="1367" y="704"/>
                  </a:cubicBezTo>
                  <a:cubicBezTo>
                    <a:pt x="1389" y="689"/>
                    <a:pt x="1411" y="673"/>
                    <a:pt x="1429" y="654"/>
                  </a:cubicBezTo>
                  <a:cubicBezTo>
                    <a:pt x="1438" y="644"/>
                    <a:pt x="1447" y="634"/>
                    <a:pt x="1453" y="622"/>
                  </a:cubicBezTo>
                  <a:cubicBezTo>
                    <a:pt x="1460" y="611"/>
                    <a:pt x="1465" y="598"/>
                    <a:pt x="1468" y="585"/>
                  </a:cubicBezTo>
                  <a:cubicBezTo>
                    <a:pt x="1473" y="558"/>
                    <a:pt x="1464" y="530"/>
                    <a:pt x="1450" y="508"/>
                  </a:cubicBezTo>
                  <a:cubicBezTo>
                    <a:pt x="1435" y="486"/>
                    <a:pt x="1415" y="469"/>
                    <a:pt x="1394" y="454"/>
                  </a:cubicBezTo>
                  <a:cubicBezTo>
                    <a:pt x="1372" y="439"/>
                    <a:pt x="1349" y="427"/>
                    <a:pt x="1326" y="416"/>
                  </a:cubicBezTo>
                  <a:cubicBezTo>
                    <a:pt x="1279" y="395"/>
                    <a:pt x="1230" y="379"/>
                    <a:pt x="1182" y="365"/>
                  </a:cubicBezTo>
                  <a:cubicBezTo>
                    <a:pt x="1157" y="358"/>
                    <a:pt x="1133" y="352"/>
                    <a:pt x="1109" y="346"/>
                  </a:cubicBezTo>
                  <a:cubicBezTo>
                    <a:pt x="1084" y="340"/>
                    <a:pt x="1060" y="336"/>
                    <a:pt x="1036" y="330"/>
                  </a:cubicBezTo>
                  <a:cubicBezTo>
                    <a:pt x="988" y="318"/>
                    <a:pt x="941" y="305"/>
                    <a:pt x="896" y="288"/>
                  </a:cubicBezTo>
                  <a:cubicBezTo>
                    <a:pt x="874" y="279"/>
                    <a:pt x="852" y="270"/>
                    <a:pt x="831" y="258"/>
                  </a:cubicBezTo>
                  <a:cubicBezTo>
                    <a:pt x="821" y="252"/>
                    <a:pt x="811" y="245"/>
                    <a:pt x="803" y="237"/>
                  </a:cubicBezTo>
                  <a:cubicBezTo>
                    <a:pt x="794" y="229"/>
                    <a:pt x="787" y="219"/>
                    <a:pt x="789" y="208"/>
                  </a:cubicBezTo>
                  <a:cubicBezTo>
                    <a:pt x="789" y="202"/>
                    <a:pt x="792" y="197"/>
                    <a:pt x="795" y="193"/>
                  </a:cubicBezTo>
                  <a:cubicBezTo>
                    <a:pt x="799" y="188"/>
                    <a:pt x="803" y="184"/>
                    <a:pt x="807" y="180"/>
                  </a:cubicBezTo>
                  <a:cubicBezTo>
                    <a:pt x="816" y="173"/>
                    <a:pt x="826" y="167"/>
                    <a:pt x="837" y="162"/>
                  </a:cubicBezTo>
                  <a:cubicBezTo>
                    <a:pt x="857" y="152"/>
                    <a:pt x="879" y="145"/>
                    <a:pt x="901" y="138"/>
                  </a:cubicBezTo>
                  <a:cubicBezTo>
                    <a:pt x="945" y="126"/>
                    <a:pt x="989" y="117"/>
                    <a:pt x="1032" y="109"/>
                  </a:cubicBezTo>
                  <a:cubicBezTo>
                    <a:pt x="1054" y="105"/>
                    <a:pt x="1076" y="101"/>
                    <a:pt x="1097" y="98"/>
                  </a:cubicBezTo>
                  <a:cubicBezTo>
                    <a:pt x="1119" y="95"/>
                    <a:pt x="1140" y="92"/>
                    <a:pt x="1161" y="89"/>
                  </a:cubicBezTo>
                  <a:cubicBezTo>
                    <a:pt x="1172" y="88"/>
                    <a:pt x="1182" y="86"/>
                    <a:pt x="1193" y="85"/>
                  </a:cubicBezTo>
                  <a:cubicBezTo>
                    <a:pt x="1203" y="84"/>
                    <a:pt x="1214" y="82"/>
                    <a:pt x="1224" y="81"/>
                  </a:cubicBezTo>
                  <a:cubicBezTo>
                    <a:pt x="1245" y="79"/>
                    <a:pt x="1266" y="76"/>
                    <a:pt x="1286" y="74"/>
                  </a:cubicBezTo>
                  <a:cubicBezTo>
                    <a:pt x="1449" y="56"/>
                    <a:pt x="1599" y="45"/>
                    <a:pt x="1733" y="37"/>
                  </a:cubicBezTo>
                  <a:cubicBezTo>
                    <a:pt x="1866" y="29"/>
                    <a:pt x="1982" y="24"/>
                    <a:pt x="2078" y="19"/>
                  </a:cubicBezTo>
                  <a:cubicBezTo>
                    <a:pt x="2269" y="10"/>
                    <a:pt x="2532" y="0"/>
                    <a:pt x="2532" y="0"/>
                  </a:cubicBezTo>
                  <a:cubicBezTo>
                    <a:pt x="2532" y="0"/>
                    <a:pt x="2269" y="10"/>
                    <a:pt x="2078" y="19"/>
                  </a:cubicBezTo>
                  <a:cubicBezTo>
                    <a:pt x="1982" y="23"/>
                    <a:pt x="1866" y="28"/>
                    <a:pt x="1732" y="35"/>
                  </a:cubicBezTo>
                  <a:cubicBezTo>
                    <a:pt x="1599" y="43"/>
                    <a:pt x="1449" y="54"/>
                    <a:pt x="1286" y="72"/>
                  </a:cubicBezTo>
                  <a:cubicBezTo>
                    <a:pt x="1265" y="74"/>
                    <a:pt x="1245" y="76"/>
                    <a:pt x="1224" y="79"/>
                  </a:cubicBezTo>
                  <a:cubicBezTo>
                    <a:pt x="1214" y="80"/>
                    <a:pt x="1203" y="81"/>
                    <a:pt x="1193" y="83"/>
                  </a:cubicBezTo>
                  <a:cubicBezTo>
                    <a:pt x="1182" y="84"/>
                    <a:pt x="1172" y="85"/>
                    <a:pt x="1161" y="87"/>
                  </a:cubicBezTo>
                  <a:cubicBezTo>
                    <a:pt x="1140" y="90"/>
                    <a:pt x="1118" y="92"/>
                    <a:pt x="1097" y="96"/>
                  </a:cubicBezTo>
                  <a:cubicBezTo>
                    <a:pt x="1075" y="99"/>
                    <a:pt x="1054" y="102"/>
                    <a:pt x="1032" y="106"/>
                  </a:cubicBezTo>
                  <a:cubicBezTo>
                    <a:pt x="988" y="114"/>
                    <a:pt x="944" y="123"/>
                    <a:pt x="900" y="136"/>
                  </a:cubicBezTo>
                  <a:cubicBezTo>
                    <a:pt x="878" y="142"/>
                    <a:pt x="856" y="149"/>
                    <a:pt x="835" y="160"/>
                  </a:cubicBezTo>
                  <a:cubicBezTo>
                    <a:pt x="825" y="165"/>
                    <a:pt x="814" y="170"/>
                    <a:pt x="805" y="178"/>
                  </a:cubicBezTo>
                  <a:cubicBezTo>
                    <a:pt x="800" y="182"/>
                    <a:pt x="796" y="186"/>
                    <a:pt x="793" y="191"/>
                  </a:cubicBezTo>
                  <a:cubicBezTo>
                    <a:pt x="789" y="195"/>
                    <a:pt x="786" y="201"/>
                    <a:pt x="785" y="207"/>
                  </a:cubicBezTo>
                  <a:cubicBezTo>
                    <a:pt x="785" y="210"/>
                    <a:pt x="785" y="214"/>
                    <a:pt x="786" y="217"/>
                  </a:cubicBezTo>
                  <a:cubicBezTo>
                    <a:pt x="786" y="220"/>
                    <a:pt x="788" y="223"/>
                    <a:pt x="789" y="225"/>
                  </a:cubicBezTo>
                  <a:cubicBezTo>
                    <a:pt x="792" y="231"/>
                    <a:pt x="796" y="236"/>
                    <a:pt x="800" y="240"/>
                  </a:cubicBezTo>
                  <a:cubicBezTo>
                    <a:pt x="809" y="248"/>
                    <a:pt x="819" y="255"/>
                    <a:pt x="829" y="261"/>
                  </a:cubicBezTo>
                  <a:cubicBezTo>
                    <a:pt x="850" y="273"/>
                    <a:pt x="872" y="282"/>
                    <a:pt x="895" y="291"/>
                  </a:cubicBezTo>
                  <a:cubicBezTo>
                    <a:pt x="940" y="308"/>
                    <a:pt x="987" y="322"/>
                    <a:pt x="1035" y="334"/>
                  </a:cubicBezTo>
                  <a:cubicBezTo>
                    <a:pt x="1059" y="339"/>
                    <a:pt x="1084" y="344"/>
                    <a:pt x="1108" y="350"/>
                  </a:cubicBezTo>
                  <a:cubicBezTo>
                    <a:pt x="1132" y="356"/>
                    <a:pt x="1156" y="362"/>
                    <a:pt x="1181" y="369"/>
                  </a:cubicBezTo>
                  <a:cubicBezTo>
                    <a:pt x="1229" y="383"/>
                    <a:pt x="1277" y="399"/>
                    <a:pt x="1324" y="420"/>
                  </a:cubicBezTo>
                  <a:cubicBezTo>
                    <a:pt x="1347" y="431"/>
                    <a:pt x="1370" y="443"/>
                    <a:pt x="1391" y="458"/>
                  </a:cubicBezTo>
                  <a:cubicBezTo>
                    <a:pt x="1412" y="472"/>
                    <a:pt x="1432" y="490"/>
                    <a:pt x="1446" y="511"/>
                  </a:cubicBezTo>
                  <a:cubicBezTo>
                    <a:pt x="1453" y="522"/>
                    <a:pt x="1458" y="533"/>
                    <a:pt x="1461" y="546"/>
                  </a:cubicBezTo>
                  <a:cubicBezTo>
                    <a:pt x="1463" y="552"/>
                    <a:pt x="1464" y="558"/>
                    <a:pt x="1464" y="565"/>
                  </a:cubicBezTo>
                  <a:cubicBezTo>
                    <a:pt x="1464" y="571"/>
                    <a:pt x="1464" y="578"/>
                    <a:pt x="1463" y="584"/>
                  </a:cubicBezTo>
                  <a:cubicBezTo>
                    <a:pt x="1461" y="596"/>
                    <a:pt x="1456" y="608"/>
                    <a:pt x="1449" y="620"/>
                  </a:cubicBezTo>
                  <a:cubicBezTo>
                    <a:pt x="1442" y="631"/>
                    <a:pt x="1434" y="641"/>
                    <a:pt x="1425" y="650"/>
                  </a:cubicBezTo>
                  <a:cubicBezTo>
                    <a:pt x="1407" y="669"/>
                    <a:pt x="1386" y="685"/>
                    <a:pt x="1364" y="699"/>
                  </a:cubicBezTo>
                  <a:cubicBezTo>
                    <a:pt x="1342" y="714"/>
                    <a:pt x="1318" y="726"/>
                    <a:pt x="1294" y="738"/>
                  </a:cubicBezTo>
                  <a:cubicBezTo>
                    <a:pt x="1247" y="762"/>
                    <a:pt x="1197" y="781"/>
                    <a:pt x="1146" y="799"/>
                  </a:cubicBezTo>
                  <a:cubicBezTo>
                    <a:pt x="1120" y="808"/>
                    <a:pt x="1095" y="816"/>
                    <a:pt x="1069" y="824"/>
                  </a:cubicBezTo>
                  <a:cubicBezTo>
                    <a:pt x="1043" y="832"/>
                    <a:pt x="1017" y="840"/>
                    <a:pt x="992" y="849"/>
                  </a:cubicBezTo>
                  <a:cubicBezTo>
                    <a:pt x="940" y="865"/>
                    <a:pt x="888" y="881"/>
                    <a:pt x="836" y="898"/>
                  </a:cubicBezTo>
                  <a:cubicBezTo>
                    <a:pt x="732" y="931"/>
                    <a:pt x="628" y="964"/>
                    <a:pt x="523" y="996"/>
                  </a:cubicBezTo>
                  <a:cubicBezTo>
                    <a:pt x="418" y="1028"/>
                    <a:pt x="313" y="1058"/>
                    <a:pt x="207" y="1084"/>
                  </a:cubicBezTo>
                  <a:cubicBezTo>
                    <a:pt x="181" y="1091"/>
                    <a:pt x="155" y="1098"/>
                    <a:pt x="128" y="1104"/>
                  </a:cubicBezTo>
                  <a:cubicBezTo>
                    <a:pt x="102" y="1110"/>
                    <a:pt x="75" y="1116"/>
                    <a:pt x="49" y="1122"/>
                  </a:cubicBezTo>
                  <a:cubicBezTo>
                    <a:pt x="35" y="1124"/>
                    <a:pt x="22" y="1127"/>
                    <a:pt x="9" y="1130"/>
                  </a:cubicBezTo>
                  <a:cubicBezTo>
                    <a:pt x="6" y="1131"/>
                    <a:pt x="3" y="1131"/>
                    <a:pt x="0" y="1132"/>
                  </a:cubicBezTo>
                  <a:cubicBezTo>
                    <a:pt x="40" y="1132"/>
                    <a:pt x="40" y="1132"/>
                    <a:pt x="40" y="1132"/>
                  </a:cubicBezTo>
                  <a:cubicBezTo>
                    <a:pt x="43" y="1131"/>
                    <a:pt x="47" y="1130"/>
                    <a:pt x="50" y="1130"/>
                  </a:cubicBezTo>
                  <a:cubicBezTo>
                    <a:pt x="77" y="1124"/>
                    <a:pt x="103" y="1118"/>
                    <a:pt x="130" y="11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73" name="Freeform 12">
              <a:extLst>
                <a:ext uri="{FF2B5EF4-FFF2-40B4-BE49-F238E27FC236}">
                  <a16:creationId xmlns:a16="http://schemas.microsoft.com/office/drawing/2014/main" id="{F352436F-3B98-487A-C935-37B18BAF4DEA}"/>
                </a:ext>
              </a:extLst>
            </p:cNvPr>
            <p:cNvSpPr>
              <a:spLocks/>
            </p:cNvSpPr>
            <p:nvPr/>
          </p:nvSpPr>
          <p:spPr bwMode="auto">
            <a:xfrm>
              <a:off x="5802931" y="1608741"/>
              <a:ext cx="4350546" cy="5249259"/>
            </a:xfrm>
            <a:custGeom>
              <a:avLst/>
              <a:gdLst>
                <a:gd name="T0" fmla="*/ 535 w 1373"/>
                <a:gd name="T1" fmla="*/ 53 h 1089"/>
                <a:gd name="T2" fmla="*/ 257 w 1373"/>
                <a:gd name="T3" fmla="*/ 78 h 1089"/>
                <a:gd name="T4" fmla="*/ 91 w 1373"/>
                <a:gd name="T5" fmla="*/ 99 h 1089"/>
                <a:gd name="T6" fmla="*/ 10 w 1373"/>
                <a:gd name="T7" fmla="*/ 122 h 1089"/>
                <a:gd name="T8" fmla="*/ 2 w 1373"/>
                <a:gd name="T9" fmla="*/ 131 h 1089"/>
                <a:gd name="T10" fmla="*/ 4 w 1373"/>
                <a:gd name="T11" fmla="*/ 149 h 1089"/>
                <a:gd name="T12" fmla="*/ 27 w 1373"/>
                <a:gd name="T13" fmla="*/ 166 h 1089"/>
                <a:gd name="T14" fmla="*/ 107 w 1373"/>
                <a:gd name="T15" fmla="*/ 190 h 1089"/>
                <a:gd name="T16" fmla="*/ 325 w 1373"/>
                <a:gd name="T17" fmla="*/ 239 h 1089"/>
                <a:gd name="T18" fmla="*/ 538 w 1373"/>
                <a:gd name="T19" fmla="*/ 304 h 1089"/>
                <a:gd name="T20" fmla="*/ 641 w 1373"/>
                <a:gd name="T21" fmla="*/ 348 h 1089"/>
                <a:gd name="T22" fmla="*/ 824 w 1373"/>
                <a:gd name="T23" fmla="*/ 472 h 1089"/>
                <a:gd name="T24" fmla="*/ 897 w 1373"/>
                <a:gd name="T25" fmla="*/ 669 h 1089"/>
                <a:gd name="T26" fmla="*/ 778 w 1373"/>
                <a:gd name="T27" fmla="*/ 852 h 1089"/>
                <a:gd name="T28" fmla="*/ 511 w 1373"/>
                <a:gd name="T29" fmla="*/ 1052 h 1089"/>
                <a:gd name="T30" fmla="*/ 465 w 1373"/>
                <a:gd name="T31" fmla="*/ 1089 h 1089"/>
                <a:gd name="T32" fmla="*/ 699 w 1373"/>
                <a:gd name="T33" fmla="*/ 931 h 1089"/>
                <a:gd name="T34" fmla="*/ 856 w 1373"/>
                <a:gd name="T35" fmla="*/ 772 h 1089"/>
                <a:gd name="T36" fmla="*/ 907 w 1373"/>
                <a:gd name="T37" fmla="*/ 614 h 1089"/>
                <a:gd name="T38" fmla="*/ 828 w 1373"/>
                <a:gd name="T39" fmla="*/ 468 h 1089"/>
                <a:gd name="T40" fmla="*/ 643 w 1373"/>
                <a:gd name="T41" fmla="*/ 343 h 1089"/>
                <a:gd name="T42" fmla="*/ 540 w 1373"/>
                <a:gd name="T43" fmla="*/ 300 h 1089"/>
                <a:gd name="T44" fmla="*/ 326 w 1373"/>
                <a:gd name="T45" fmla="*/ 235 h 1089"/>
                <a:gd name="T46" fmla="*/ 108 w 1373"/>
                <a:gd name="T47" fmla="*/ 187 h 1089"/>
                <a:gd name="T48" fmla="*/ 28 w 1373"/>
                <a:gd name="T49" fmla="*/ 163 h 1089"/>
                <a:gd name="T50" fmla="*/ 5 w 1373"/>
                <a:gd name="T51" fmla="*/ 135 h 1089"/>
                <a:gd name="T52" fmla="*/ 7 w 1373"/>
                <a:gd name="T53" fmla="*/ 129 h 1089"/>
                <a:gd name="T54" fmla="*/ 37 w 1373"/>
                <a:gd name="T55" fmla="*/ 114 h 1089"/>
                <a:gd name="T56" fmla="*/ 202 w 1373"/>
                <a:gd name="T57" fmla="*/ 87 h 1089"/>
                <a:gd name="T58" fmla="*/ 312 w 1373"/>
                <a:gd name="T59" fmla="*/ 74 h 1089"/>
                <a:gd name="T60" fmla="*/ 757 w 1373"/>
                <a:gd name="T61" fmla="*/ 38 h 1089"/>
                <a:gd name="T62" fmla="*/ 1373 w 1373"/>
                <a:gd name="T63" fmla="*/ 0 h 1089"/>
                <a:gd name="T64" fmla="*/ 757 w 1373"/>
                <a:gd name="T65" fmla="*/ 36 h 10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73" h="1089">
                  <a:moveTo>
                    <a:pt x="757" y="36"/>
                  </a:moveTo>
                  <a:cubicBezTo>
                    <a:pt x="683" y="42"/>
                    <a:pt x="609" y="47"/>
                    <a:pt x="535" y="53"/>
                  </a:cubicBezTo>
                  <a:cubicBezTo>
                    <a:pt x="460" y="59"/>
                    <a:pt x="386" y="65"/>
                    <a:pt x="312" y="72"/>
                  </a:cubicBezTo>
                  <a:cubicBezTo>
                    <a:pt x="294" y="74"/>
                    <a:pt x="275" y="76"/>
                    <a:pt x="257" y="78"/>
                  </a:cubicBezTo>
                  <a:cubicBezTo>
                    <a:pt x="201" y="84"/>
                    <a:pt x="201" y="84"/>
                    <a:pt x="201" y="84"/>
                  </a:cubicBezTo>
                  <a:cubicBezTo>
                    <a:pt x="164" y="88"/>
                    <a:pt x="127" y="93"/>
                    <a:pt x="91" y="99"/>
                  </a:cubicBezTo>
                  <a:cubicBezTo>
                    <a:pt x="72" y="103"/>
                    <a:pt x="54" y="106"/>
                    <a:pt x="36" y="111"/>
                  </a:cubicBezTo>
                  <a:cubicBezTo>
                    <a:pt x="27" y="114"/>
                    <a:pt x="18" y="117"/>
                    <a:pt x="10" y="122"/>
                  </a:cubicBezTo>
                  <a:cubicBezTo>
                    <a:pt x="8" y="124"/>
                    <a:pt x="6" y="125"/>
                    <a:pt x="4" y="127"/>
                  </a:cubicBezTo>
                  <a:cubicBezTo>
                    <a:pt x="3" y="128"/>
                    <a:pt x="3" y="129"/>
                    <a:pt x="2" y="131"/>
                  </a:cubicBezTo>
                  <a:cubicBezTo>
                    <a:pt x="2" y="132"/>
                    <a:pt x="2" y="133"/>
                    <a:pt x="1" y="134"/>
                  </a:cubicBezTo>
                  <a:cubicBezTo>
                    <a:pt x="0" y="139"/>
                    <a:pt x="2" y="145"/>
                    <a:pt x="4" y="149"/>
                  </a:cubicBezTo>
                  <a:cubicBezTo>
                    <a:pt x="7" y="153"/>
                    <a:pt x="11" y="156"/>
                    <a:pt x="15" y="159"/>
                  </a:cubicBezTo>
                  <a:cubicBezTo>
                    <a:pt x="18" y="162"/>
                    <a:pt x="23" y="164"/>
                    <a:pt x="27" y="166"/>
                  </a:cubicBezTo>
                  <a:cubicBezTo>
                    <a:pt x="35" y="170"/>
                    <a:pt x="44" y="174"/>
                    <a:pt x="53" y="176"/>
                  </a:cubicBezTo>
                  <a:cubicBezTo>
                    <a:pt x="71" y="182"/>
                    <a:pt x="89" y="186"/>
                    <a:pt x="107" y="190"/>
                  </a:cubicBezTo>
                  <a:cubicBezTo>
                    <a:pt x="144" y="198"/>
                    <a:pt x="180" y="205"/>
                    <a:pt x="217" y="213"/>
                  </a:cubicBezTo>
                  <a:cubicBezTo>
                    <a:pt x="253" y="221"/>
                    <a:pt x="289" y="230"/>
                    <a:pt x="325" y="239"/>
                  </a:cubicBezTo>
                  <a:cubicBezTo>
                    <a:pt x="361" y="249"/>
                    <a:pt x="397" y="259"/>
                    <a:pt x="432" y="269"/>
                  </a:cubicBezTo>
                  <a:cubicBezTo>
                    <a:pt x="468" y="280"/>
                    <a:pt x="503" y="291"/>
                    <a:pt x="538" y="304"/>
                  </a:cubicBezTo>
                  <a:cubicBezTo>
                    <a:pt x="556" y="311"/>
                    <a:pt x="573" y="317"/>
                    <a:pt x="590" y="324"/>
                  </a:cubicBezTo>
                  <a:cubicBezTo>
                    <a:pt x="607" y="332"/>
                    <a:pt x="624" y="339"/>
                    <a:pt x="641" y="348"/>
                  </a:cubicBezTo>
                  <a:cubicBezTo>
                    <a:pt x="674" y="364"/>
                    <a:pt x="706" y="383"/>
                    <a:pt x="737" y="404"/>
                  </a:cubicBezTo>
                  <a:cubicBezTo>
                    <a:pt x="767" y="425"/>
                    <a:pt x="797" y="447"/>
                    <a:pt x="824" y="472"/>
                  </a:cubicBezTo>
                  <a:cubicBezTo>
                    <a:pt x="851" y="498"/>
                    <a:pt x="874" y="527"/>
                    <a:pt x="887" y="562"/>
                  </a:cubicBezTo>
                  <a:cubicBezTo>
                    <a:pt x="901" y="596"/>
                    <a:pt x="906" y="633"/>
                    <a:pt x="897" y="669"/>
                  </a:cubicBezTo>
                  <a:cubicBezTo>
                    <a:pt x="889" y="705"/>
                    <a:pt x="871" y="738"/>
                    <a:pt x="850" y="768"/>
                  </a:cubicBezTo>
                  <a:cubicBezTo>
                    <a:pt x="829" y="798"/>
                    <a:pt x="804" y="826"/>
                    <a:pt x="778" y="852"/>
                  </a:cubicBezTo>
                  <a:cubicBezTo>
                    <a:pt x="751" y="878"/>
                    <a:pt x="723" y="902"/>
                    <a:pt x="694" y="925"/>
                  </a:cubicBezTo>
                  <a:cubicBezTo>
                    <a:pt x="636" y="972"/>
                    <a:pt x="574" y="1013"/>
                    <a:pt x="511" y="1052"/>
                  </a:cubicBezTo>
                  <a:cubicBezTo>
                    <a:pt x="490" y="1065"/>
                    <a:pt x="470" y="1077"/>
                    <a:pt x="449" y="1089"/>
                  </a:cubicBezTo>
                  <a:cubicBezTo>
                    <a:pt x="465" y="1089"/>
                    <a:pt x="465" y="1089"/>
                    <a:pt x="465" y="1089"/>
                  </a:cubicBezTo>
                  <a:cubicBezTo>
                    <a:pt x="482" y="1079"/>
                    <a:pt x="499" y="1069"/>
                    <a:pt x="515" y="1059"/>
                  </a:cubicBezTo>
                  <a:cubicBezTo>
                    <a:pt x="579" y="1020"/>
                    <a:pt x="641" y="978"/>
                    <a:pt x="699" y="931"/>
                  </a:cubicBezTo>
                  <a:cubicBezTo>
                    <a:pt x="728" y="908"/>
                    <a:pt x="756" y="883"/>
                    <a:pt x="783" y="857"/>
                  </a:cubicBezTo>
                  <a:cubicBezTo>
                    <a:pt x="809" y="831"/>
                    <a:pt x="834" y="803"/>
                    <a:pt x="856" y="772"/>
                  </a:cubicBezTo>
                  <a:cubicBezTo>
                    <a:pt x="877" y="741"/>
                    <a:pt x="895" y="708"/>
                    <a:pt x="904" y="670"/>
                  </a:cubicBezTo>
                  <a:cubicBezTo>
                    <a:pt x="908" y="652"/>
                    <a:pt x="909" y="633"/>
                    <a:pt x="907" y="614"/>
                  </a:cubicBezTo>
                  <a:cubicBezTo>
                    <a:pt x="905" y="595"/>
                    <a:pt x="900" y="577"/>
                    <a:pt x="893" y="559"/>
                  </a:cubicBezTo>
                  <a:cubicBezTo>
                    <a:pt x="879" y="524"/>
                    <a:pt x="855" y="494"/>
                    <a:pt x="828" y="468"/>
                  </a:cubicBezTo>
                  <a:cubicBezTo>
                    <a:pt x="801" y="442"/>
                    <a:pt x="771" y="420"/>
                    <a:pt x="740" y="399"/>
                  </a:cubicBezTo>
                  <a:cubicBezTo>
                    <a:pt x="709" y="378"/>
                    <a:pt x="676" y="359"/>
                    <a:pt x="643" y="343"/>
                  </a:cubicBezTo>
                  <a:cubicBezTo>
                    <a:pt x="626" y="335"/>
                    <a:pt x="609" y="327"/>
                    <a:pt x="592" y="320"/>
                  </a:cubicBezTo>
                  <a:cubicBezTo>
                    <a:pt x="575" y="313"/>
                    <a:pt x="557" y="306"/>
                    <a:pt x="540" y="300"/>
                  </a:cubicBezTo>
                  <a:cubicBezTo>
                    <a:pt x="505" y="287"/>
                    <a:pt x="469" y="276"/>
                    <a:pt x="434" y="265"/>
                  </a:cubicBezTo>
                  <a:cubicBezTo>
                    <a:pt x="398" y="254"/>
                    <a:pt x="362" y="244"/>
                    <a:pt x="326" y="235"/>
                  </a:cubicBezTo>
                  <a:cubicBezTo>
                    <a:pt x="290" y="225"/>
                    <a:pt x="254" y="217"/>
                    <a:pt x="217" y="209"/>
                  </a:cubicBezTo>
                  <a:cubicBezTo>
                    <a:pt x="181" y="201"/>
                    <a:pt x="144" y="195"/>
                    <a:pt x="108" y="187"/>
                  </a:cubicBezTo>
                  <a:cubicBezTo>
                    <a:pt x="90" y="183"/>
                    <a:pt x="72" y="179"/>
                    <a:pt x="54" y="173"/>
                  </a:cubicBezTo>
                  <a:cubicBezTo>
                    <a:pt x="45" y="170"/>
                    <a:pt x="37" y="167"/>
                    <a:pt x="28" y="163"/>
                  </a:cubicBezTo>
                  <a:cubicBezTo>
                    <a:pt x="20" y="159"/>
                    <a:pt x="12" y="154"/>
                    <a:pt x="7" y="147"/>
                  </a:cubicBezTo>
                  <a:cubicBezTo>
                    <a:pt x="5" y="143"/>
                    <a:pt x="4" y="139"/>
                    <a:pt x="5" y="135"/>
                  </a:cubicBezTo>
                  <a:cubicBezTo>
                    <a:pt x="5" y="134"/>
                    <a:pt x="5" y="133"/>
                    <a:pt x="5" y="132"/>
                  </a:cubicBezTo>
                  <a:cubicBezTo>
                    <a:pt x="6" y="131"/>
                    <a:pt x="6" y="130"/>
                    <a:pt x="7" y="129"/>
                  </a:cubicBezTo>
                  <a:cubicBezTo>
                    <a:pt x="8" y="128"/>
                    <a:pt x="10" y="126"/>
                    <a:pt x="12" y="125"/>
                  </a:cubicBezTo>
                  <a:cubicBezTo>
                    <a:pt x="19" y="120"/>
                    <a:pt x="28" y="117"/>
                    <a:pt x="37" y="114"/>
                  </a:cubicBezTo>
                  <a:cubicBezTo>
                    <a:pt x="55" y="109"/>
                    <a:pt x="73" y="106"/>
                    <a:pt x="91" y="102"/>
                  </a:cubicBezTo>
                  <a:cubicBezTo>
                    <a:pt x="128" y="96"/>
                    <a:pt x="165" y="91"/>
                    <a:pt x="202" y="87"/>
                  </a:cubicBezTo>
                  <a:cubicBezTo>
                    <a:pt x="257" y="80"/>
                    <a:pt x="257" y="80"/>
                    <a:pt x="257" y="80"/>
                  </a:cubicBezTo>
                  <a:cubicBezTo>
                    <a:pt x="275" y="78"/>
                    <a:pt x="294" y="76"/>
                    <a:pt x="312" y="74"/>
                  </a:cubicBezTo>
                  <a:cubicBezTo>
                    <a:pt x="386" y="67"/>
                    <a:pt x="461" y="61"/>
                    <a:pt x="535" y="55"/>
                  </a:cubicBezTo>
                  <a:cubicBezTo>
                    <a:pt x="609" y="49"/>
                    <a:pt x="683" y="43"/>
                    <a:pt x="757" y="38"/>
                  </a:cubicBezTo>
                  <a:cubicBezTo>
                    <a:pt x="832" y="32"/>
                    <a:pt x="906" y="27"/>
                    <a:pt x="980" y="21"/>
                  </a:cubicBezTo>
                  <a:cubicBezTo>
                    <a:pt x="1054" y="16"/>
                    <a:pt x="1299" y="4"/>
                    <a:pt x="1373" y="0"/>
                  </a:cubicBezTo>
                  <a:cubicBezTo>
                    <a:pt x="1299" y="4"/>
                    <a:pt x="1054" y="16"/>
                    <a:pt x="980" y="21"/>
                  </a:cubicBezTo>
                  <a:cubicBezTo>
                    <a:pt x="906" y="26"/>
                    <a:pt x="832" y="31"/>
                    <a:pt x="757" y="3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74" name="Freeform 13">
              <a:extLst>
                <a:ext uri="{FF2B5EF4-FFF2-40B4-BE49-F238E27FC236}">
                  <a16:creationId xmlns:a16="http://schemas.microsoft.com/office/drawing/2014/main" id="{B80ABAFB-1ACB-F3A3-D5EC-84D96B864A17}"/>
                </a:ext>
              </a:extLst>
            </p:cNvPr>
            <p:cNvSpPr>
              <a:spLocks/>
            </p:cNvSpPr>
            <p:nvPr/>
          </p:nvSpPr>
          <p:spPr bwMode="auto">
            <a:xfrm>
              <a:off x="9623536" y="1530365"/>
              <a:ext cx="244487" cy="20097"/>
            </a:xfrm>
            <a:custGeom>
              <a:avLst/>
              <a:gdLst>
                <a:gd name="T0" fmla="*/ 70 w 77"/>
                <a:gd name="T1" fmla="*/ 0 h 4"/>
                <a:gd name="T2" fmla="*/ 77 w 77"/>
                <a:gd name="T3" fmla="*/ 2 h 4"/>
                <a:gd name="T4" fmla="*/ 60 w 77"/>
                <a:gd name="T5" fmla="*/ 3 h 4"/>
                <a:gd name="T6" fmla="*/ 43 w 77"/>
                <a:gd name="T7" fmla="*/ 3 h 4"/>
                <a:gd name="T8" fmla="*/ 25 w 77"/>
                <a:gd name="T9" fmla="*/ 4 h 4"/>
                <a:gd name="T10" fmla="*/ 7 w 77"/>
                <a:gd name="T11" fmla="*/ 4 h 4"/>
                <a:gd name="T12" fmla="*/ 0 w 77"/>
                <a:gd name="T13" fmla="*/ 2 h 4"/>
                <a:gd name="T14" fmla="*/ 18 w 77"/>
                <a:gd name="T15" fmla="*/ 2 h 4"/>
                <a:gd name="T16" fmla="*/ 36 w 77"/>
                <a:gd name="T17" fmla="*/ 1 h 4"/>
                <a:gd name="T18" fmla="*/ 53 w 77"/>
                <a:gd name="T19" fmla="*/ 0 h 4"/>
                <a:gd name="T20" fmla="*/ 70 w 77"/>
                <a:gd name="T21"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7" h="4">
                  <a:moveTo>
                    <a:pt x="70" y="0"/>
                  </a:moveTo>
                  <a:cubicBezTo>
                    <a:pt x="77" y="2"/>
                    <a:pt x="77" y="2"/>
                    <a:pt x="77" y="2"/>
                  </a:cubicBezTo>
                  <a:cubicBezTo>
                    <a:pt x="71" y="2"/>
                    <a:pt x="66" y="2"/>
                    <a:pt x="60" y="3"/>
                  </a:cubicBezTo>
                  <a:cubicBezTo>
                    <a:pt x="54" y="3"/>
                    <a:pt x="48" y="3"/>
                    <a:pt x="43" y="3"/>
                  </a:cubicBezTo>
                  <a:cubicBezTo>
                    <a:pt x="37" y="3"/>
                    <a:pt x="31" y="4"/>
                    <a:pt x="25" y="4"/>
                  </a:cubicBezTo>
                  <a:cubicBezTo>
                    <a:pt x="19" y="4"/>
                    <a:pt x="13" y="4"/>
                    <a:pt x="7" y="4"/>
                  </a:cubicBezTo>
                  <a:cubicBezTo>
                    <a:pt x="0" y="2"/>
                    <a:pt x="0" y="2"/>
                    <a:pt x="0" y="2"/>
                  </a:cubicBezTo>
                  <a:cubicBezTo>
                    <a:pt x="6" y="2"/>
                    <a:pt x="12" y="2"/>
                    <a:pt x="18" y="2"/>
                  </a:cubicBezTo>
                  <a:cubicBezTo>
                    <a:pt x="24" y="1"/>
                    <a:pt x="30" y="1"/>
                    <a:pt x="36" y="1"/>
                  </a:cubicBezTo>
                  <a:cubicBezTo>
                    <a:pt x="42" y="1"/>
                    <a:pt x="47" y="1"/>
                    <a:pt x="53" y="0"/>
                  </a:cubicBezTo>
                  <a:cubicBezTo>
                    <a:pt x="59" y="0"/>
                    <a:pt x="65" y="0"/>
                    <a:pt x="7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76" name="Freeform 14">
              <a:extLst>
                <a:ext uri="{FF2B5EF4-FFF2-40B4-BE49-F238E27FC236}">
                  <a16:creationId xmlns:a16="http://schemas.microsoft.com/office/drawing/2014/main" id="{868C9AE7-B10E-2262-5BCB-2C1109E83B34}"/>
                </a:ext>
              </a:extLst>
            </p:cNvPr>
            <p:cNvSpPr>
              <a:spLocks/>
            </p:cNvSpPr>
            <p:nvPr/>
          </p:nvSpPr>
          <p:spPr bwMode="auto">
            <a:xfrm>
              <a:off x="9174208" y="1554481"/>
              <a:ext cx="247130" cy="24116"/>
            </a:xfrm>
            <a:custGeom>
              <a:avLst/>
              <a:gdLst>
                <a:gd name="T0" fmla="*/ 0 w 78"/>
                <a:gd name="T1" fmla="*/ 3 h 5"/>
                <a:gd name="T2" fmla="*/ 18 w 78"/>
                <a:gd name="T3" fmla="*/ 2 h 5"/>
                <a:gd name="T4" fmla="*/ 36 w 78"/>
                <a:gd name="T5" fmla="*/ 1 h 5"/>
                <a:gd name="T6" fmla="*/ 54 w 78"/>
                <a:gd name="T7" fmla="*/ 1 h 5"/>
                <a:gd name="T8" fmla="*/ 72 w 78"/>
                <a:gd name="T9" fmla="*/ 0 h 5"/>
                <a:gd name="T10" fmla="*/ 78 w 78"/>
                <a:gd name="T11" fmla="*/ 2 h 5"/>
                <a:gd name="T12" fmla="*/ 61 w 78"/>
                <a:gd name="T13" fmla="*/ 3 h 5"/>
                <a:gd name="T14" fmla="*/ 43 w 78"/>
                <a:gd name="T15" fmla="*/ 4 h 5"/>
                <a:gd name="T16" fmla="*/ 25 w 78"/>
                <a:gd name="T17" fmla="*/ 4 h 5"/>
                <a:gd name="T18" fmla="*/ 6 w 78"/>
                <a:gd name="T19" fmla="*/ 5 h 5"/>
                <a:gd name="T20" fmla="*/ 0 w 78"/>
                <a:gd name="T21" fmla="*/ 3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8" h="5">
                  <a:moveTo>
                    <a:pt x="0" y="3"/>
                  </a:moveTo>
                  <a:cubicBezTo>
                    <a:pt x="6" y="3"/>
                    <a:pt x="12" y="2"/>
                    <a:pt x="18" y="2"/>
                  </a:cubicBezTo>
                  <a:cubicBezTo>
                    <a:pt x="24" y="2"/>
                    <a:pt x="30" y="2"/>
                    <a:pt x="36" y="1"/>
                  </a:cubicBezTo>
                  <a:cubicBezTo>
                    <a:pt x="42" y="1"/>
                    <a:pt x="48" y="1"/>
                    <a:pt x="54" y="1"/>
                  </a:cubicBezTo>
                  <a:cubicBezTo>
                    <a:pt x="60" y="0"/>
                    <a:pt x="66" y="0"/>
                    <a:pt x="72" y="0"/>
                  </a:cubicBezTo>
                  <a:cubicBezTo>
                    <a:pt x="78" y="2"/>
                    <a:pt x="78" y="2"/>
                    <a:pt x="78" y="2"/>
                  </a:cubicBezTo>
                  <a:cubicBezTo>
                    <a:pt x="73" y="2"/>
                    <a:pt x="67" y="3"/>
                    <a:pt x="61" y="3"/>
                  </a:cubicBezTo>
                  <a:cubicBezTo>
                    <a:pt x="55" y="3"/>
                    <a:pt x="49" y="3"/>
                    <a:pt x="43" y="4"/>
                  </a:cubicBezTo>
                  <a:cubicBezTo>
                    <a:pt x="37" y="4"/>
                    <a:pt x="31" y="4"/>
                    <a:pt x="25" y="4"/>
                  </a:cubicBezTo>
                  <a:cubicBezTo>
                    <a:pt x="19" y="5"/>
                    <a:pt x="13" y="5"/>
                    <a:pt x="6" y="5"/>
                  </a:cubicBezTo>
                  <a:lnTo>
                    <a:pt x="0"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77" name="Freeform 15">
              <a:extLst>
                <a:ext uri="{FF2B5EF4-FFF2-40B4-BE49-F238E27FC236}">
                  <a16:creationId xmlns:a16="http://schemas.microsoft.com/office/drawing/2014/main" id="{F4C46E3F-D76D-2681-AD2B-5EBA10D5A02A}"/>
                </a:ext>
              </a:extLst>
            </p:cNvPr>
            <p:cNvSpPr>
              <a:spLocks/>
            </p:cNvSpPr>
            <p:nvPr/>
          </p:nvSpPr>
          <p:spPr bwMode="auto">
            <a:xfrm>
              <a:off x="8705057" y="1584625"/>
              <a:ext cx="256381" cy="32155"/>
            </a:xfrm>
            <a:custGeom>
              <a:avLst/>
              <a:gdLst>
                <a:gd name="T0" fmla="*/ 0 w 81"/>
                <a:gd name="T1" fmla="*/ 4 h 7"/>
                <a:gd name="T2" fmla="*/ 19 w 81"/>
                <a:gd name="T3" fmla="*/ 3 h 7"/>
                <a:gd name="T4" fmla="*/ 37 w 81"/>
                <a:gd name="T5" fmla="*/ 2 h 7"/>
                <a:gd name="T6" fmla="*/ 56 w 81"/>
                <a:gd name="T7" fmla="*/ 1 h 7"/>
                <a:gd name="T8" fmla="*/ 75 w 81"/>
                <a:gd name="T9" fmla="*/ 0 h 7"/>
                <a:gd name="T10" fmla="*/ 81 w 81"/>
                <a:gd name="T11" fmla="*/ 3 h 7"/>
                <a:gd name="T12" fmla="*/ 62 w 81"/>
                <a:gd name="T13" fmla="*/ 4 h 7"/>
                <a:gd name="T14" fmla="*/ 44 w 81"/>
                <a:gd name="T15" fmla="*/ 5 h 7"/>
                <a:gd name="T16" fmla="*/ 25 w 81"/>
                <a:gd name="T17" fmla="*/ 6 h 7"/>
                <a:gd name="T18" fmla="*/ 6 w 81"/>
                <a:gd name="T19" fmla="*/ 7 h 7"/>
                <a:gd name="T20" fmla="*/ 0 w 81"/>
                <a:gd name="T21"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1" h="7">
                  <a:moveTo>
                    <a:pt x="0" y="4"/>
                  </a:moveTo>
                  <a:cubicBezTo>
                    <a:pt x="6" y="4"/>
                    <a:pt x="12" y="4"/>
                    <a:pt x="19" y="3"/>
                  </a:cubicBezTo>
                  <a:cubicBezTo>
                    <a:pt x="25" y="3"/>
                    <a:pt x="31" y="3"/>
                    <a:pt x="37" y="2"/>
                  </a:cubicBezTo>
                  <a:cubicBezTo>
                    <a:pt x="44" y="2"/>
                    <a:pt x="50" y="2"/>
                    <a:pt x="56" y="1"/>
                  </a:cubicBezTo>
                  <a:cubicBezTo>
                    <a:pt x="62" y="1"/>
                    <a:pt x="68" y="1"/>
                    <a:pt x="75" y="0"/>
                  </a:cubicBezTo>
                  <a:cubicBezTo>
                    <a:pt x="81" y="3"/>
                    <a:pt x="81" y="3"/>
                    <a:pt x="81" y="3"/>
                  </a:cubicBezTo>
                  <a:cubicBezTo>
                    <a:pt x="75" y="3"/>
                    <a:pt x="69" y="3"/>
                    <a:pt x="62" y="4"/>
                  </a:cubicBezTo>
                  <a:cubicBezTo>
                    <a:pt x="56" y="4"/>
                    <a:pt x="50" y="4"/>
                    <a:pt x="44" y="5"/>
                  </a:cubicBezTo>
                  <a:cubicBezTo>
                    <a:pt x="37" y="5"/>
                    <a:pt x="31" y="5"/>
                    <a:pt x="25" y="6"/>
                  </a:cubicBezTo>
                  <a:cubicBezTo>
                    <a:pt x="19" y="6"/>
                    <a:pt x="12" y="6"/>
                    <a:pt x="6" y="7"/>
                  </a:cubicBez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78" name="Freeform 16">
              <a:extLst>
                <a:ext uri="{FF2B5EF4-FFF2-40B4-BE49-F238E27FC236}">
                  <a16:creationId xmlns:a16="http://schemas.microsoft.com/office/drawing/2014/main" id="{71C34306-5910-342B-BADE-EBD8B50FCF35}"/>
                </a:ext>
              </a:extLst>
            </p:cNvPr>
            <p:cNvSpPr>
              <a:spLocks/>
            </p:cNvSpPr>
            <p:nvPr/>
          </p:nvSpPr>
          <p:spPr bwMode="auto">
            <a:xfrm>
              <a:off x="8210797" y="1626829"/>
              <a:ext cx="269596" cy="34165"/>
            </a:xfrm>
            <a:custGeom>
              <a:avLst/>
              <a:gdLst>
                <a:gd name="T0" fmla="*/ 0 w 85"/>
                <a:gd name="T1" fmla="*/ 4 h 7"/>
                <a:gd name="T2" fmla="*/ 20 w 85"/>
                <a:gd name="T3" fmla="*/ 3 h 7"/>
                <a:gd name="T4" fmla="*/ 40 w 85"/>
                <a:gd name="T5" fmla="*/ 2 h 7"/>
                <a:gd name="T6" fmla="*/ 59 w 85"/>
                <a:gd name="T7" fmla="*/ 1 h 7"/>
                <a:gd name="T8" fmla="*/ 79 w 85"/>
                <a:gd name="T9" fmla="*/ 0 h 7"/>
                <a:gd name="T10" fmla="*/ 85 w 85"/>
                <a:gd name="T11" fmla="*/ 2 h 7"/>
                <a:gd name="T12" fmla="*/ 65 w 85"/>
                <a:gd name="T13" fmla="*/ 3 h 7"/>
                <a:gd name="T14" fmla="*/ 46 w 85"/>
                <a:gd name="T15" fmla="*/ 4 h 7"/>
                <a:gd name="T16" fmla="*/ 26 w 85"/>
                <a:gd name="T17" fmla="*/ 6 h 7"/>
                <a:gd name="T18" fmla="*/ 6 w 85"/>
                <a:gd name="T19" fmla="*/ 7 h 7"/>
                <a:gd name="T20" fmla="*/ 0 w 85"/>
                <a:gd name="T21" fmla="*/ 4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7">
                  <a:moveTo>
                    <a:pt x="0" y="4"/>
                  </a:moveTo>
                  <a:cubicBezTo>
                    <a:pt x="7" y="4"/>
                    <a:pt x="13" y="4"/>
                    <a:pt x="20" y="3"/>
                  </a:cubicBezTo>
                  <a:cubicBezTo>
                    <a:pt x="26" y="3"/>
                    <a:pt x="33" y="2"/>
                    <a:pt x="40" y="2"/>
                  </a:cubicBezTo>
                  <a:cubicBezTo>
                    <a:pt x="46" y="2"/>
                    <a:pt x="53" y="1"/>
                    <a:pt x="59" y="1"/>
                  </a:cubicBezTo>
                  <a:cubicBezTo>
                    <a:pt x="66" y="0"/>
                    <a:pt x="72" y="0"/>
                    <a:pt x="79" y="0"/>
                  </a:cubicBezTo>
                  <a:cubicBezTo>
                    <a:pt x="85" y="2"/>
                    <a:pt x="85" y="2"/>
                    <a:pt x="85" y="2"/>
                  </a:cubicBezTo>
                  <a:cubicBezTo>
                    <a:pt x="78" y="2"/>
                    <a:pt x="72" y="3"/>
                    <a:pt x="65" y="3"/>
                  </a:cubicBezTo>
                  <a:cubicBezTo>
                    <a:pt x="59" y="4"/>
                    <a:pt x="52" y="4"/>
                    <a:pt x="46" y="4"/>
                  </a:cubicBezTo>
                  <a:cubicBezTo>
                    <a:pt x="39" y="5"/>
                    <a:pt x="32" y="5"/>
                    <a:pt x="26" y="6"/>
                  </a:cubicBezTo>
                  <a:cubicBezTo>
                    <a:pt x="19" y="6"/>
                    <a:pt x="13" y="7"/>
                    <a:pt x="6" y="7"/>
                  </a:cubicBezTo>
                  <a:lnTo>
                    <a:pt x="0" y="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79" name="Freeform 17">
              <a:extLst>
                <a:ext uri="{FF2B5EF4-FFF2-40B4-BE49-F238E27FC236}">
                  <a16:creationId xmlns:a16="http://schemas.microsoft.com/office/drawing/2014/main" id="{026FCFFA-194B-AA77-2A73-CF31CD1EB9B0}"/>
                </a:ext>
              </a:extLst>
            </p:cNvPr>
            <p:cNvSpPr>
              <a:spLocks/>
            </p:cNvSpPr>
            <p:nvPr/>
          </p:nvSpPr>
          <p:spPr bwMode="auto">
            <a:xfrm>
              <a:off x="7688785" y="1675061"/>
              <a:ext cx="284134" cy="38184"/>
            </a:xfrm>
            <a:custGeom>
              <a:avLst/>
              <a:gdLst>
                <a:gd name="T0" fmla="*/ 0 w 90"/>
                <a:gd name="T1" fmla="*/ 6 h 8"/>
                <a:gd name="T2" fmla="*/ 21 w 90"/>
                <a:gd name="T3" fmla="*/ 4 h 8"/>
                <a:gd name="T4" fmla="*/ 42 w 90"/>
                <a:gd name="T5" fmla="*/ 3 h 8"/>
                <a:gd name="T6" fmla="*/ 63 w 90"/>
                <a:gd name="T7" fmla="*/ 1 h 8"/>
                <a:gd name="T8" fmla="*/ 84 w 90"/>
                <a:gd name="T9" fmla="*/ 0 h 8"/>
                <a:gd name="T10" fmla="*/ 90 w 90"/>
                <a:gd name="T11" fmla="*/ 2 h 8"/>
                <a:gd name="T12" fmla="*/ 69 w 90"/>
                <a:gd name="T13" fmla="*/ 4 h 8"/>
                <a:gd name="T14" fmla="*/ 48 w 90"/>
                <a:gd name="T15" fmla="*/ 5 h 8"/>
                <a:gd name="T16" fmla="*/ 27 w 90"/>
                <a:gd name="T17" fmla="*/ 7 h 8"/>
                <a:gd name="T18" fmla="*/ 6 w 90"/>
                <a:gd name="T19" fmla="*/ 8 h 8"/>
                <a:gd name="T20" fmla="*/ 0 w 90"/>
                <a:gd name="T21"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8">
                  <a:moveTo>
                    <a:pt x="0" y="6"/>
                  </a:moveTo>
                  <a:cubicBezTo>
                    <a:pt x="7" y="5"/>
                    <a:pt x="14" y="5"/>
                    <a:pt x="21" y="4"/>
                  </a:cubicBezTo>
                  <a:cubicBezTo>
                    <a:pt x="28" y="4"/>
                    <a:pt x="35" y="3"/>
                    <a:pt x="42" y="3"/>
                  </a:cubicBezTo>
                  <a:cubicBezTo>
                    <a:pt x="49" y="2"/>
                    <a:pt x="56" y="2"/>
                    <a:pt x="63" y="1"/>
                  </a:cubicBezTo>
                  <a:cubicBezTo>
                    <a:pt x="70" y="1"/>
                    <a:pt x="77" y="0"/>
                    <a:pt x="84" y="0"/>
                  </a:cubicBezTo>
                  <a:cubicBezTo>
                    <a:pt x="90" y="2"/>
                    <a:pt x="90" y="2"/>
                    <a:pt x="90" y="2"/>
                  </a:cubicBezTo>
                  <a:cubicBezTo>
                    <a:pt x="83" y="3"/>
                    <a:pt x="76" y="3"/>
                    <a:pt x="69" y="4"/>
                  </a:cubicBezTo>
                  <a:cubicBezTo>
                    <a:pt x="62" y="4"/>
                    <a:pt x="55" y="5"/>
                    <a:pt x="48" y="5"/>
                  </a:cubicBezTo>
                  <a:cubicBezTo>
                    <a:pt x="41" y="6"/>
                    <a:pt x="34" y="6"/>
                    <a:pt x="27" y="7"/>
                  </a:cubicBezTo>
                  <a:cubicBezTo>
                    <a:pt x="20" y="7"/>
                    <a:pt x="13" y="8"/>
                    <a:pt x="6" y="8"/>
                  </a:cubicBez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0" name="Freeform 18">
              <a:extLst>
                <a:ext uri="{FF2B5EF4-FFF2-40B4-BE49-F238E27FC236}">
                  <a16:creationId xmlns:a16="http://schemas.microsoft.com/office/drawing/2014/main" id="{F27765D5-9FD7-2A69-38A3-FCD129D5C7B6}"/>
                </a:ext>
              </a:extLst>
            </p:cNvPr>
            <p:cNvSpPr>
              <a:spLocks/>
            </p:cNvSpPr>
            <p:nvPr/>
          </p:nvSpPr>
          <p:spPr bwMode="auto">
            <a:xfrm>
              <a:off x="7133733" y="1733341"/>
              <a:ext cx="297349" cy="48232"/>
            </a:xfrm>
            <a:custGeom>
              <a:avLst/>
              <a:gdLst>
                <a:gd name="T0" fmla="*/ 0 w 94"/>
                <a:gd name="T1" fmla="*/ 7 h 10"/>
                <a:gd name="T2" fmla="*/ 22 w 94"/>
                <a:gd name="T3" fmla="*/ 5 h 10"/>
                <a:gd name="T4" fmla="*/ 44 w 94"/>
                <a:gd name="T5" fmla="*/ 4 h 10"/>
                <a:gd name="T6" fmla="*/ 66 w 94"/>
                <a:gd name="T7" fmla="*/ 2 h 10"/>
                <a:gd name="T8" fmla="*/ 89 w 94"/>
                <a:gd name="T9" fmla="*/ 0 h 10"/>
                <a:gd name="T10" fmla="*/ 94 w 94"/>
                <a:gd name="T11" fmla="*/ 3 h 10"/>
                <a:gd name="T12" fmla="*/ 72 w 94"/>
                <a:gd name="T13" fmla="*/ 5 h 10"/>
                <a:gd name="T14" fmla="*/ 50 w 94"/>
                <a:gd name="T15" fmla="*/ 6 h 10"/>
                <a:gd name="T16" fmla="*/ 27 w 94"/>
                <a:gd name="T17" fmla="*/ 8 h 10"/>
                <a:gd name="T18" fmla="*/ 5 w 94"/>
                <a:gd name="T19" fmla="*/ 10 h 10"/>
                <a:gd name="T20" fmla="*/ 0 w 94"/>
                <a:gd name="T21" fmla="*/ 7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10">
                  <a:moveTo>
                    <a:pt x="0" y="7"/>
                  </a:moveTo>
                  <a:cubicBezTo>
                    <a:pt x="7" y="7"/>
                    <a:pt x="14" y="6"/>
                    <a:pt x="22" y="5"/>
                  </a:cubicBezTo>
                  <a:cubicBezTo>
                    <a:pt x="29" y="5"/>
                    <a:pt x="37" y="4"/>
                    <a:pt x="44" y="4"/>
                  </a:cubicBezTo>
                  <a:cubicBezTo>
                    <a:pt x="52" y="3"/>
                    <a:pt x="59" y="2"/>
                    <a:pt x="66" y="2"/>
                  </a:cubicBezTo>
                  <a:cubicBezTo>
                    <a:pt x="74" y="1"/>
                    <a:pt x="81" y="1"/>
                    <a:pt x="89" y="0"/>
                  </a:cubicBezTo>
                  <a:cubicBezTo>
                    <a:pt x="94" y="3"/>
                    <a:pt x="94" y="3"/>
                    <a:pt x="94" y="3"/>
                  </a:cubicBezTo>
                  <a:cubicBezTo>
                    <a:pt x="87" y="3"/>
                    <a:pt x="80" y="4"/>
                    <a:pt x="72" y="5"/>
                  </a:cubicBezTo>
                  <a:cubicBezTo>
                    <a:pt x="65" y="5"/>
                    <a:pt x="57" y="6"/>
                    <a:pt x="50" y="6"/>
                  </a:cubicBezTo>
                  <a:cubicBezTo>
                    <a:pt x="42" y="7"/>
                    <a:pt x="35" y="8"/>
                    <a:pt x="27" y="8"/>
                  </a:cubicBezTo>
                  <a:cubicBezTo>
                    <a:pt x="20" y="9"/>
                    <a:pt x="12" y="9"/>
                    <a:pt x="5" y="10"/>
                  </a:cubicBezTo>
                  <a:lnTo>
                    <a:pt x="0" y="7"/>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2" name="Freeform 19">
              <a:extLst>
                <a:ext uri="{FF2B5EF4-FFF2-40B4-BE49-F238E27FC236}">
                  <a16:creationId xmlns:a16="http://schemas.microsoft.com/office/drawing/2014/main" id="{A267E3DB-B257-191E-172A-6D57BB774DEB}"/>
                </a:ext>
              </a:extLst>
            </p:cNvPr>
            <p:cNvSpPr>
              <a:spLocks/>
            </p:cNvSpPr>
            <p:nvPr/>
          </p:nvSpPr>
          <p:spPr bwMode="auto">
            <a:xfrm>
              <a:off x="6535070" y="1809708"/>
              <a:ext cx="319815" cy="58281"/>
            </a:xfrm>
            <a:custGeom>
              <a:avLst/>
              <a:gdLst>
                <a:gd name="T0" fmla="*/ 0 w 101"/>
                <a:gd name="T1" fmla="*/ 9 h 12"/>
                <a:gd name="T2" fmla="*/ 24 w 101"/>
                <a:gd name="T3" fmla="*/ 7 h 12"/>
                <a:gd name="T4" fmla="*/ 48 w 101"/>
                <a:gd name="T5" fmla="*/ 4 h 12"/>
                <a:gd name="T6" fmla="*/ 72 w 101"/>
                <a:gd name="T7" fmla="*/ 2 h 12"/>
                <a:gd name="T8" fmla="*/ 96 w 101"/>
                <a:gd name="T9" fmla="*/ 0 h 12"/>
                <a:gd name="T10" fmla="*/ 101 w 101"/>
                <a:gd name="T11" fmla="*/ 2 h 12"/>
                <a:gd name="T12" fmla="*/ 77 w 101"/>
                <a:gd name="T13" fmla="*/ 5 h 12"/>
                <a:gd name="T14" fmla="*/ 53 w 101"/>
                <a:gd name="T15" fmla="*/ 7 h 12"/>
                <a:gd name="T16" fmla="*/ 29 w 101"/>
                <a:gd name="T17" fmla="*/ 10 h 12"/>
                <a:gd name="T18" fmla="*/ 6 w 101"/>
                <a:gd name="T19" fmla="*/ 12 h 12"/>
                <a:gd name="T20" fmla="*/ 0 w 101"/>
                <a:gd name="T21" fmla="*/ 9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12">
                  <a:moveTo>
                    <a:pt x="0" y="9"/>
                  </a:moveTo>
                  <a:cubicBezTo>
                    <a:pt x="8" y="8"/>
                    <a:pt x="16" y="7"/>
                    <a:pt x="24" y="7"/>
                  </a:cubicBezTo>
                  <a:cubicBezTo>
                    <a:pt x="32" y="6"/>
                    <a:pt x="39" y="5"/>
                    <a:pt x="48" y="4"/>
                  </a:cubicBezTo>
                  <a:cubicBezTo>
                    <a:pt x="55" y="3"/>
                    <a:pt x="64" y="3"/>
                    <a:pt x="72" y="2"/>
                  </a:cubicBezTo>
                  <a:cubicBezTo>
                    <a:pt x="80" y="1"/>
                    <a:pt x="88" y="0"/>
                    <a:pt x="96" y="0"/>
                  </a:cubicBezTo>
                  <a:cubicBezTo>
                    <a:pt x="101" y="2"/>
                    <a:pt x="101" y="2"/>
                    <a:pt x="101" y="2"/>
                  </a:cubicBezTo>
                  <a:cubicBezTo>
                    <a:pt x="93" y="3"/>
                    <a:pt x="85" y="4"/>
                    <a:pt x="77" y="5"/>
                  </a:cubicBezTo>
                  <a:cubicBezTo>
                    <a:pt x="69" y="6"/>
                    <a:pt x="61" y="6"/>
                    <a:pt x="53" y="7"/>
                  </a:cubicBezTo>
                  <a:cubicBezTo>
                    <a:pt x="45" y="8"/>
                    <a:pt x="37" y="9"/>
                    <a:pt x="29" y="10"/>
                  </a:cubicBezTo>
                  <a:cubicBezTo>
                    <a:pt x="21" y="10"/>
                    <a:pt x="13" y="11"/>
                    <a:pt x="6" y="12"/>
                  </a:cubicBezTo>
                  <a:lnTo>
                    <a:pt x="0" y="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3" name="Freeform 20">
              <a:extLst>
                <a:ext uri="{FF2B5EF4-FFF2-40B4-BE49-F238E27FC236}">
                  <a16:creationId xmlns:a16="http://schemas.microsoft.com/office/drawing/2014/main" id="{25D63D33-D573-8B20-EF34-D9B69B5EEFE6}"/>
                </a:ext>
              </a:extLst>
            </p:cNvPr>
            <p:cNvSpPr>
              <a:spLocks/>
            </p:cNvSpPr>
            <p:nvPr/>
          </p:nvSpPr>
          <p:spPr bwMode="auto">
            <a:xfrm>
              <a:off x="5891475" y="1906172"/>
              <a:ext cx="346246" cy="82397"/>
            </a:xfrm>
            <a:custGeom>
              <a:avLst/>
              <a:gdLst>
                <a:gd name="T0" fmla="*/ 103 w 109"/>
                <a:gd name="T1" fmla="*/ 0 h 17"/>
                <a:gd name="T2" fmla="*/ 109 w 109"/>
                <a:gd name="T3" fmla="*/ 3 h 17"/>
                <a:gd name="T4" fmla="*/ 82 w 109"/>
                <a:gd name="T5" fmla="*/ 7 h 17"/>
                <a:gd name="T6" fmla="*/ 56 w 109"/>
                <a:gd name="T7" fmla="*/ 10 h 17"/>
                <a:gd name="T8" fmla="*/ 31 w 109"/>
                <a:gd name="T9" fmla="*/ 13 h 17"/>
                <a:gd name="T10" fmla="*/ 7 w 109"/>
                <a:gd name="T11" fmla="*/ 17 h 17"/>
                <a:gd name="T12" fmla="*/ 0 w 109"/>
                <a:gd name="T13" fmla="*/ 14 h 17"/>
                <a:gd name="T14" fmla="*/ 25 w 109"/>
                <a:gd name="T15" fmla="*/ 10 h 17"/>
                <a:gd name="T16" fmla="*/ 50 w 109"/>
                <a:gd name="T17" fmla="*/ 7 h 17"/>
                <a:gd name="T18" fmla="*/ 76 w 109"/>
                <a:gd name="T19" fmla="*/ 4 h 17"/>
                <a:gd name="T20" fmla="*/ 103 w 109"/>
                <a:gd name="T21"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9" h="17">
                  <a:moveTo>
                    <a:pt x="103" y="0"/>
                  </a:moveTo>
                  <a:cubicBezTo>
                    <a:pt x="109" y="3"/>
                    <a:pt x="109" y="3"/>
                    <a:pt x="109" y="3"/>
                  </a:cubicBezTo>
                  <a:cubicBezTo>
                    <a:pt x="100" y="4"/>
                    <a:pt x="91" y="6"/>
                    <a:pt x="82" y="7"/>
                  </a:cubicBezTo>
                  <a:cubicBezTo>
                    <a:pt x="74" y="8"/>
                    <a:pt x="65" y="9"/>
                    <a:pt x="56" y="10"/>
                  </a:cubicBezTo>
                  <a:cubicBezTo>
                    <a:pt x="48" y="11"/>
                    <a:pt x="39" y="12"/>
                    <a:pt x="31" y="13"/>
                  </a:cubicBezTo>
                  <a:cubicBezTo>
                    <a:pt x="23" y="15"/>
                    <a:pt x="15" y="16"/>
                    <a:pt x="7" y="17"/>
                  </a:cubicBezTo>
                  <a:cubicBezTo>
                    <a:pt x="0" y="14"/>
                    <a:pt x="0" y="14"/>
                    <a:pt x="0" y="14"/>
                  </a:cubicBezTo>
                  <a:cubicBezTo>
                    <a:pt x="8" y="13"/>
                    <a:pt x="17" y="12"/>
                    <a:pt x="25" y="10"/>
                  </a:cubicBezTo>
                  <a:cubicBezTo>
                    <a:pt x="33" y="9"/>
                    <a:pt x="42" y="8"/>
                    <a:pt x="50" y="7"/>
                  </a:cubicBezTo>
                  <a:cubicBezTo>
                    <a:pt x="59" y="6"/>
                    <a:pt x="68" y="5"/>
                    <a:pt x="76" y="4"/>
                  </a:cubicBezTo>
                  <a:cubicBezTo>
                    <a:pt x="85" y="2"/>
                    <a:pt x="94" y="1"/>
                    <a:pt x="103"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4" name="Freeform 21">
              <a:extLst>
                <a:ext uri="{FF2B5EF4-FFF2-40B4-BE49-F238E27FC236}">
                  <a16:creationId xmlns:a16="http://schemas.microsoft.com/office/drawing/2014/main" id="{57357171-3BD3-DDCE-4FAD-ACED47CE757D}"/>
                </a:ext>
              </a:extLst>
            </p:cNvPr>
            <p:cNvSpPr>
              <a:spLocks/>
            </p:cNvSpPr>
            <p:nvPr/>
          </p:nvSpPr>
          <p:spPr bwMode="auto">
            <a:xfrm>
              <a:off x="5280918" y="2089053"/>
              <a:ext cx="313208" cy="136658"/>
            </a:xfrm>
            <a:custGeom>
              <a:avLst/>
              <a:gdLst>
                <a:gd name="T0" fmla="*/ 99 w 99"/>
                <a:gd name="T1" fmla="*/ 3 h 28"/>
                <a:gd name="T2" fmla="*/ 71 w 99"/>
                <a:gd name="T3" fmla="*/ 9 h 28"/>
                <a:gd name="T4" fmla="*/ 47 w 99"/>
                <a:gd name="T5" fmla="*/ 15 h 28"/>
                <a:gd name="T6" fmla="*/ 28 w 99"/>
                <a:gd name="T7" fmla="*/ 22 h 28"/>
                <a:gd name="T8" fmla="*/ 14 w 99"/>
                <a:gd name="T9" fmla="*/ 28 h 28"/>
                <a:gd name="T10" fmla="*/ 0 w 99"/>
                <a:gd name="T11" fmla="*/ 27 h 28"/>
                <a:gd name="T12" fmla="*/ 15 w 99"/>
                <a:gd name="T13" fmla="*/ 20 h 28"/>
                <a:gd name="T14" fmla="*/ 36 w 99"/>
                <a:gd name="T15" fmla="*/ 13 h 28"/>
                <a:gd name="T16" fmla="*/ 61 w 99"/>
                <a:gd name="T17" fmla="*/ 6 h 28"/>
                <a:gd name="T18" fmla="*/ 91 w 99"/>
                <a:gd name="T19" fmla="*/ 0 h 28"/>
                <a:gd name="T20" fmla="*/ 99 w 99"/>
                <a:gd name="T21" fmla="*/ 3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28">
                  <a:moveTo>
                    <a:pt x="99" y="3"/>
                  </a:moveTo>
                  <a:cubicBezTo>
                    <a:pt x="89" y="5"/>
                    <a:pt x="80" y="7"/>
                    <a:pt x="71" y="9"/>
                  </a:cubicBezTo>
                  <a:cubicBezTo>
                    <a:pt x="62" y="11"/>
                    <a:pt x="54" y="13"/>
                    <a:pt x="47" y="15"/>
                  </a:cubicBezTo>
                  <a:cubicBezTo>
                    <a:pt x="40" y="18"/>
                    <a:pt x="33" y="20"/>
                    <a:pt x="28" y="22"/>
                  </a:cubicBezTo>
                  <a:cubicBezTo>
                    <a:pt x="23" y="24"/>
                    <a:pt x="18" y="26"/>
                    <a:pt x="14" y="28"/>
                  </a:cubicBezTo>
                  <a:cubicBezTo>
                    <a:pt x="0" y="27"/>
                    <a:pt x="0" y="27"/>
                    <a:pt x="0" y="27"/>
                  </a:cubicBezTo>
                  <a:cubicBezTo>
                    <a:pt x="4" y="25"/>
                    <a:pt x="9" y="22"/>
                    <a:pt x="15" y="20"/>
                  </a:cubicBezTo>
                  <a:cubicBezTo>
                    <a:pt x="21" y="18"/>
                    <a:pt x="28" y="15"/>
                    <a:pt x="36" y="13"/>
                  </a:cubicBezTo>
                  <a:cubicBezTo>
                    <a:pt x="44" y="11"/>
                    <a:pt x="52" y="9"/>
                    <a:pt x="61" y="6"/>
                  </a:cubicBezTo>
                  <a:cubicBezTo>
                    <a:pt x="70" y="4"/>
                    <a:pt x="80" y="2"/>
                    <a:pt x="91" y="0"/>
                  </a:cubicBezTo>
                  <a:lnTo>
                    <a:pt x="99" y="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5" name="Freeform 22">
              <a:extLst>
                <a:ext uri="{FF2B5EF4-FFF2-40B4-BE49-F238E27FC236}">
                  <a16:creationId xmlns:a16="http://schemas.microsoft.com/office/drawing/2014/main" id="{318ACAAB-1700-B991-F03F-B0794EECDA54}"/>
                </a:ext>
              </a:extLst>
            </p:cNvPr>
            <p:cNvSpPr>
              <a:spLocks/>
            </p:cNvSpPr>
            <p:nvPr/>
          </p:nvSpPr>
          <p:spPr bwMode="auto">
            <a:xfrm>
              <a:off x="5192374" y="2398542"/>
              <a:ext cx="170481" cy="188909"/>
            </a:xfrm>
            <a:custGeom>
              <a:avLst/>
              <a:gdLst>
                <a:gd name="T0" fmla="*/ 54 w 54"/>
                <a:gd name="T1" fmla="*/ 36 h 39"/>
                <a:gd name="T2" fmla="*/ 39 w 54"/>
                <a:gd name="T3" fmla="*/ 39 h 39"/>
                <a:gd name="T4" fmla="*/ 23 w 54"/>
                <a:gd name="T5" fmla="*/ 30 h 39"/>
                <a:gd name="T6" fmla="*/ 11 w 54"/>
                <a:gd name="T7" fmla="*/ 21 h 39"/>
                <a:gd name="T8" fmla="*/ 3 w 54"/>
                <a:gd name="T9" fmla="*/ 11 h 39"/>
                <a:gd name="T10" fmla="*/ 0 w 54"/>
                <a:gd name="T11" fmla="*/ 1 h 39"/>
                <a:gd name="T12" fmla="*/ 17 w 54"/>
                <a:gd name="T13" fmla="*/ 0 h 39"/>
                <a:gd name="T14" fmla="*/ 20 w 54"/>
                <a:gd name="T15" fmla="*/ 9 h 39"/>
                <a:gd name="T16" fmla="*/ 28 w 54"/>
                <a:gd name="T17" fmla="*/ 18 h 39"/>
                <a:gd name="T18" fmla="*/ 39 w 54"/>
                <a:gd name="T19" fmla="*/ 27 h 39"/>
                <a:gd name="T20" fmla="*/ 54 w 54"/>
                <a:gd name="T21" fmla="*/ 36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4" h="39">
                  <a:moveTo>
                    <a:pt x="54" y="36"/>
                  </a:moveTo>
                  <a:cubicBezTo>
                    <a:pt x="39" y="39"/>
                    <a:pt x="39" y="39"/>
                    <a:pt x="39" y="39"/>
                  </a:cubicBezTo>
                  <a:cubicBezTo>
                    <a:pt x="33" y="36"/>
                    <a:pt x="27" y="33"/>
                    <a:pt x="23" y="30"/>
                  </a:cubicBezTo>
                  <a:cubicBezTo>
                    <a:pt x="18" y="27"/>
                    <a:pt x="14" y="24"/>
                    <a:pt x="11" y="21"/>
                  </a:cubicBezTo>
                  <a:cubicBezTo>
                    <a:pt x="8" y="18"/>
                    <a:pt x="5" y="14"/>
                    <a:pt x="3" y="11"/>
                  </a:cubicBezTo>
                  <a:cubicBezTo>
                    <a:pt x="2" y="8"/>
                    <a:pt x="1" y="4"/>
                    <a:pt x="0" y="1"/>
                  </a:cubicBezTo>
                  <a:cubicBezTo>
                    <a:pt x="17" y="0"/>
                    <a:pt x="17" y="0"/>
                    <a:pt x="17" y="0"/>
                  </a:cubicBezTo>
                  <a:cubicBezTo>
                    <a:pt x="18" y="3"/>
                    <a:pt x="19" y="6"/>
                    <a:pt x="20" y="9"/>
                  </a:cubicBezTo>
                  <a:cubicBezTo>
                    <a:pt x="22" y="12"/>
                    <a:pt x="25" y="15"/>
                    <a:pt x="28" y="18"/>
                  </a:cubicBezTo>
                  <a:cubicBezTo>
                    <a:pt x="31" y="21"/>
                    <a:pt x="35" y="24"/>
                    <a:pt x="39" y="27"/>
                  </a:cubicBezTo>
                  <a:cubicBezTo>
                    <a:pt x="44" y="30"/>
                    <a:pt x="49" y="33"/>
                    <a:pt x="54" y="3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6" name="Freeform 23">
              <a:extLst>
                <a:ext uri="{FF2B5EF4-FFF2-40B4-BE49-F238E27FC236}">
                  <a16:creationId xmlns:a16="http://schemas.microsoft.com/office/drawing/2014/main" id="{F05E23D8-5E56-F6C3-A338-DD7053D43A63}"/>
                </a:ext>
              </a:extLst>
            </p:cNvPr>
            <p:cNvSpPr>
              <a:spLocks/>
            </p:cNvSpPr>
            <p:nvPr/>
          </p:nvSpPr>
          <p:spPr bwMode="auto">
            <a:xfrm>
              <a:off x="5607341" y="2722098"/>
              <a:ext cx="401752" cy="158765"/>
            </a:xfrm>
            <a:custGeom>
              <a:avLst/>
              <a:gdLst>
                <a:gd name="T0" fmla="*/ 13 w 127"/>
                <a:gd name="T1" fmla="*/ 0 h 33"/>
                <a:gd name="T2" fmla="*/ 39 w 127"/>
                <a:gd name="T3" fmla="*/ 7 h 33"/>
                <a:gd name="T4" fmla="*/ 67 w 127"/>
                <a:gd name="T5" fmla="*/ 14 h 33"/>
                <a:gd name="T6" fmla="*/ 96 w 127"/>
                <a:gd name="T7" fmla="*/ 21 h 33"/>
                <a:gd name="T8" fmla="*/ 127 w 127"/>
                <a:gd name="T9" fmla="*/ 28 h 33"/>
                <a:gd name="T10" fmla="*/ 115 w 127"/>
                <a:gd name="T11" fmla="*/ 33 h 33"/>
                <a:gd name="T12" fmla="*/ 84 w 127"/>
                <a:gd name="T13" fmla="*/ 26 h 33"/>
                <a:gd name="T14" fmla="*/ 55 w 127"/>
                <a:gd name="T15" fmla="*/ 19 h 33"/>
                <a:gd name="T16" fmla="*/ 26 w 127"/>
                <a:gd name="T17" fmla="*/ 12 h 33"/>
                <a:gd name="T18" fmla="*/ 0 w 127"/>
                <a:gd name="T19" fmla="*/ 4 h 33"/>
                <a:gd name="T20" fmla="*/ 13 w 127"/>
                <a:gd name="T21"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7" h="33">
                  <a:moveTo>
                    <a:pt x="13" y="0"/>
                  </a:moveTo>
                  <a:cubicBezTo>
                    <a:pt x="21" y="2"/>
                    <a:pt x="30" y="4"/>
                    <a:pt x="39" y="7"/>
                  </a:cubicBezTo>
                  <a:cubicBezTo>
                    <a:pt x="48" y="9"/>
                    <a:pt x="57" y="11"/>
                    <a:pt x="67" y="14"/>
                  </a:cubicBezTo>
                  <a:cubicBezTo>
                    <a:pt x="77" y="16"/>
                    <a:pt x="86" y="18"/>
                    <a:pt x="96" y="21"/>
                  </a:cubicBezTo>
                  <a:cubicBezTo>
                    <a:pt x="106" y="23"/>
                    <a:pt x="117" y="25"/>
                    <a:pt x="127" y="28"/>
                  </a:cubicBezTo>
                  <a:cubicBezTo>
                    <a:pt x="115" y="33"/>
                    <a:pt x="115" y="33"/>
                    <a:pt x="115" y="33"/>
                  </a:cubicBezTo>
                  <a:cubicBezTo>
                    <a:pt x="105" y="31"/>
                    <a:pt x="94" y="28"/>
                    <a:pt x="84" y="26"/>
                  </a:cubicBezTo>
                  <a:cubicBezTo>
                    <a:pt x="74" y="23"/>
                    <a:pt x="64" y="21"/>
                    <a:pt x="55" y="19"/>
                  </a:cubicBezTo>
                  <a:cubicBezTo>
                    <a:pt x="45" y="16"/>
                    <a:pt x="36" y="14"/>
                    <a:pt x="26" y="12"/>
                  </a:cubicBezTo>
                  <a:cubicBezTo>
                    <a:pt x="17" y="9"/>
                    <a:pt x="8" y="7"/>
                    <a:pt x="0" y="4"/>
                  </a:cubicBezTo>
                  <a:lnTo>
                    <a:pt x="1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7" name="Freeform 24">
              <a:extLst>
                <a:ext uri="{FF2B5EF4-FFF2-40B4-BE49-F238E27FC236}">
                  <a16:creationId xmlns:a16="http://schemas.microsoft.com/office/drawing/2014/main" id="{0D72795F-AA4A-1E05-A7A5-026CEFFEA376}"/>
                </a:ext>
              </a:extLst>
            </p:cNvPr>
            <p:cNvSpPr>
              <a:spLocks/>
            </p:cNvSpPr>
            <p:nvPr/>
          </p:nvSpPr>
          <p:spPr bwMode="auto">
            <a:xfrm>
              <a:off x="6363268" y="3001443"/>
              <a:ext cx="432148" cy="202977"/>
            </a:xfrm>
            <a:custGeom>
              <a:avLst/>
              <a:gdLst>
                <a:gd name="T0" fmla="*/ 0 w 136"/>
                <a:gd name="T1" fmla="*/ 5 h 42"/>
                <a:gd name="T2" fmla="*/ 12 w 136"/>
                <a:gd name="T3" fmla="*/ 0 h 42"/>
                <a:gd name="T4" fmla="*/ 43 w 136"/>
                <a:gd name="T5" fmla="*/ 8 h 42"/>
                <a:gd name="T6" fmla="*/ 74 w 136"/>
                <a:gd name="T7" fmla="*/ 17 h 42"/>
                <a:gd name="T8" fmla="*/ 105 w 136"/>
                <a:gd name="T9" fmla="*/ 26 h 42"/>
                <a:gd name="T10" fmla="*/ 136 w 136"/>
                <a:gd name="T11" fmla="*/ 37 h 42"/>
                <a:gd name="T12" fmla="*/ 123 w 136"/>
                <a:gd name="T13" fmla="*/ 42 h 42"/>
                <a:gd name="T14" fmla="*/ 92 w 136"/>
                <a:gd name="T15" fmla="*/ 32 h 42"/>
                <a:gd name="T16" fmla="*/ 62 w 136"/>
                <a:gd name="T17" fmla="*/ 22 h 42"/>
                <a:gd name="T18" fmla="*/ 31 w 136"/>
                <a:gd name="T19" fmla="*/ 14 h 42"/>
                <a:gd name="T20" fmla="*/ 0 w 136"/>
                <a:gd name="T21" fmla="*/ 5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6" h="42">
                  <a:moveTo>
                    <a:pt x="0" y="5"/>
                  </a:moveTo>
                  <a:cubicBezTo>
                    <a:pt x="12" y="0"/>
                    <a:pt x="12" y="0"/>
                    <a:pt x="12" y="0"/>
                  </a:cubicBezTo>
                  <a:cubicBezTo>
                    <a:pt x="22" y="2"/>
                    <a:pt x="32" y="5"/>
                    <a:pt x="43" y="8"/>
                  </a:cubicBezTo>
                  <a:cubicBezTo>
                    <a:pt x="53" y="11"/>
                    <a:pt x="64" y="14"/>
                    <a:pt x="74" y="17"/>
                  </a:cubicBezTo>
                  <a:cubicBezTo>
                    <a:pt x="84" y="20"/>
                    <a:pt x="95" y="23"/>
                    <a:pt x="105" y="26"/>
                  </a:cubicBezTo>
                  <a:cubicBezTo>
                    <a:pt x="116" y="30"/>
                    <a:pt x="126" y="33"/>
                    <a:pt x="136" y="37"/>
                  </a:cubicBezTo>
                  <a:cubicBezTo>
                    <a:pt x="123" y="42"/>
                    <a:pt x="123" y="42"/>
                    <a:pt x="123" y="42"/>
                  </a:cubicBezTo>
                  <a:cubicBezTo>
                    <a:pt x="113" y="39"/>
                    <a:pt x="103" y="35"/>
                    <a:pt x="92" y="32"/>
                  </a:cubicBezTo>
                  <a:cubicBezTo>
                    <a:pt x="82" y="29"/>
                    <a:pt x="72" y="26"/>
                    <a:pt x="62" y="22"/>
                  </a:cubicBezTo>
                  <a:cubicBezTo>
                    <a:pt x="51" y="19"/>
                    <a:pt x="41" y="17"/>
                    <a:pt x="31" y="14"/>
                  </a:cubicBezTo>
                  <a:cubicBezTo>
                    <a:pt x="20" y="11"/>
                    <a:pt x="10" y="8"/>
                    <a:pt x="0" y="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8" name="Freeform 25">
              <a:extLst>
                <a:ext uri="{FF2B5EF4-FFF2-40B4-BE49-F238E27FC236}">
                  <a16:creationId xmlns:a16="http://schemas.microsoft.com/office/drawing/2014/main" id="{77FDB2EE-BB17-A53C-30BD-81427BFA4CDE}"/>
                </a:ext>
              </a:extLst>
            </p:cNvPr>
            <p:cNvSpPr>
              <a:spLocks/>
            </p:cNvSpPr>
            <p:nvPr/>
          </p:nvSpPr>
          <p:spPr bwMode="auto">
            <a:xfrm>
              <a:off x="7111266" y="3415435"/>
              <a:ext cx="362105" cy="333605"/>
            </a:xfrm>
            <a:custGeom>
              <a:avLst/>
              <a:gdLst>
                <a:gd name="T0" fmla="*/ 114 w 114"/>
                <a:gd name="T1" fmla="*/ 66 h 69"/>
                <a:gd name="T2" fmla="*/ 93 w 114"/>
                <a:gd name="T3" fmla="*/ 69 h 69"/>
                <a:gd name="T4" fmla="*/ 72 w 114"/>
                <a:gd name="T5" fmla="*/ 51 h 69"/>
                <a:gd name="T6" fmla="*/ 49 w 114"/>
                <a:gd name="T7" fmla="*/ 34 h 69"/>
                <a:gd name="T8" fmla="*/ 25 w 114"/>
                <a:gd name="T9" fmla="*/ 18 h 69"/>
                <a:gd name="T10" fmla="*/ 0 w 114"/>
                <a:gd name="T11" fmla="*/ 4 h 69"/>
                <a:gd name="T12" fmla="*/ 17 w 114"/>
                <a:gd name="T13" fmla="*/ 0 h 69"/>
                <a:gd name="T14" fmla="*/ 42 w 114"/>
                <a:gd name="T15" fmla="*/ 14 h 69"/>
                <a:gd name="T16" fmla="*/ 67 w 114"/>
                <a:gd name="T17" fmla="*/ 29 h 69"/>
                <a:gd name="T18" fmla="*/ 91 w 114"/>
                <a:gd name="T19" fmla="*/ 47 h 69"/>
                <a:gd name="T20" fmla="*/ 114 w 114"/>
                <a:gd name="T21" fmla="*/ 6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4" h="69">
                  <a:moveTo>
                    <a:pt x="114" y="66"/>
                  </a:moveTo>
                  <a:cubicBezTo>
                    <a:pt x="93" y="69"/>
                    <a:pt x="93" y="69"/>
                    <a:pt x="93" y="69"/>
                  </a:cubicBezTo>
                  <a:cubicBezTo>
                    <a:pt x="86" y="63"/>
                    <a:pt x="79" y="56"/>
                    <a:pt x="72" y="51"/>
                  </a:cubicBezTo>
                  <a:cubicBezTo>
                    <a:pt x="64" y="45"/>
                    <a:pt x="57" y="39"/>
                    <a:pt x="49" y="34"/>
                  </a:cubicBezTo>
                  <a:cubicBezTo>
                    <a:pt x="41" y="28"/>
                    <a:pt x="33" y="23"/>
                    <a:pt x="25" y="18"/>
                  </a:cubicBezTo>
                  <a:cubicBezTo>
                    <a:pt x="17" y="14"/>
                    <a:pt x="9" y="9"/>
                    <a:pt x="0" y="4"/>
                  </a:cubicBezTo>
                  <a:cubicBezTo>
                    <a:pt x="17" y="0"/>
                    <a:pt x="17" y="0"/>
                    <a:pt x="17" y="0"/>
                  </a:cubicBezTo>
                  <a:cubicBezTo>
                    <a:pt x="25" y="4"/>
                    <a:pt x="34" y="9"/>
                    <a:pt x="42" y="14"/>
                  </a:cubicBezTo>
                  <a:cubicBezTo>
                    <a:pt x="51" y="19"/>
                    <a:pt x="59" y="24"/>
                    <a:pt x="67" y="29"/>
                  </a:cubicBezTo>
                  <a:cubicBezTo>
                    <a:pt x="75" y="35"/>
                    <a:pt x="83" y="41"/>
                    <a:pt x="91" y="47"/>
                  </a:cubicBezTo>
                  <a:cubicBezTo>
                    <a:pt x="99" y="53"/>
                    <a:pt x="106" y="59"/>
                    <a:pt x="114" y="66"/>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89" name="Freeform 26">
              <a:extLst>
                <a:ext uri="{FF2B5EF4-FFF2-40B4-BE49-F238E27FC236}">
                  <a16:creationId xmlns:a16="http://schemas.microsoft.com/office/drawing/2014/main" id="{8949AC73-EDA9-E572-AF61-E4D1F688CD81}"/>
                </a:ext>
              </a:extLst>
            </p:cNvPr>
            <p:cNvSpPr>
              <a:spLocks/>
            </p:cNvSpPr>
            <p:nvPr/>
          </p:nvSpPr>
          <p:spPr bwMode="auto">
            <a:xfrm>
              <a:off x="7612135" y="4142936"/>
              <a:ext cx="126869" cy="516486"/>
            </a:xfrm>
            <a:custGeom>
              <a:avLst/>
              <a:gdLst>
                <a:gd name="T0" fmla="*/ 5 w 40"/>
                <a:gd name="T1" fmla="*/ 103 h 107"/>
                <a:gd name="T2" fmla="*/ 12 w 40"/>
                <a:gd name="T3" fmla="*/ 77 h 107"/>
                <a:gd name="T4" fmla="*/ 13 w 40"/>
                <a:gd name="T5" fmla="*/ 51 h 107"/>
                <a:gd name="T6" fmla="*/ 9 w 40"/>
                <a:gd name="T7" fmla="*/ 26 h 107"/>
                <a:gd name="T8" fmla="*/ 0 w 40"/>
                <a:gd name="T9" fmla="*/ 2 h 107"/>
                <a:gd name="T10" fmla="*/ 24 w 40"/>
                <a:gd name="T11" fmla="*/ 0 h 107"/>
                <a:gd name="T12" fmla="*/ 34 w 40"/>
                <a:gd name="T13" fmla="*/ 26 h 107"/>
                <a:gd name="T14" fmla="*/ 39 w 40"/>
                <a:gd name="T15" fmla="*/ 52 h 107"/>
                <a:gd name="T16" fmla="*/ 38 w 40"/>
                <a:gd name="T17" fmla="*/ 79 h 107"/>
                <a:gd name="T18" fmla="*/ 31 w 40"/>
                <a:gd name="T19" fmla="*/ 107 h 107"/>
                <a:gd name="T20" fmla="*/ 5 w 40"/>
                <a:gd name="T21" fmla="*/ 103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 h="107">
                  <a:moveTo>
                    <a:pt x="5" y="103"/>
                  </a:moveTo>
                  <a:cubicBezTo>
                    <a:pt x="8" y="94"/>
                    <a:pt x="10" y="86"/>
                    <a:pt x="12" y="77"/>
                  </a:cubicBezTo>
                  <a:cubicBezTo>
                    <a:pt x="13" y="68"/>
                    <a:pt x="14" y="60"/>
                    <a:pt x="13" y="51"/>
                  </a:cubicBezTo>
                  <a:cubicBezTo>
                    <a:pt x="13" y="43"/>
                    <a:pt x="12" y="34"/>
                    <a:pt x="9" y="26"/>
                  </a:cubicBezTo>
                  <a:cubicBezTo>
                    <a:pt x="7" y="18"/>
                    <a:pt x="4" y="10"/>
                    <a:pt x="0" y="2"/>
                  </a:cubicBezTo>
                  <a:cubicBezTo>
                    <a:pt x="24" y="0"/>
                    <a:pt x="24" y="0"/>
                    <a:pt x="24" y="0"/>
                  </a:cubicBezTo>
                  <a:cubicBezTo>
                    <a:pt x="29" y="9"/>
                    <a:pt x="32" y="17"/>
                    <a:pt x="34" y="26"/>
                  </a:cubicBezTo>
                  <a:cubicBezTo>
                    <a:pt x="37" y="35"/>
                    <a:pt x="39" y="43"/>
                    <a:pt x="39" y="52"/>
                  </a:cubicBezTo>
                  <a:cubicBezTo>
                    <a:pt x="40" y="61"/>
                    <a:pt x="39" y="70"/>
                    <a:pt x="38" y="79"/>
                  </a:cubicBezTo>
                  <a:cubicBezTo>
                    <a:pt x="37" y="89"/>
                    <a:pt x="35" y="98"/>
                    <a:pt x="31" y="107"/>
                  </a:cubicBezTo>
                  <a:lnTo>
                    <a:pt x="5" y="10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90" name="Freeform 27">
              <a:extLst>
                <a:ext uri="{FF2B5EF4-FFF2-40B4-BE49-F238E27FC236}">
                  <a16:creationId xmlns:a16="http://schemas.microsoft.com/office/drawing/2014/main" id="{03FCF01F-8859-DC2E-3790-289E4D910660}"/>
                </a:ext>
              </a:extLst>
            </p:cNvPr>
            <p:cNvSpPr>
              <a:spLocks/>
            </p:cNvSpPr>
            <p:nvPr/>
          </p:nvSpPr>
          <p:spPr bwMode="auto">
            <a:xfrm>
              <a:off x="6813918" y="5179926"/>
              <a:ext cx="621129" cy="631036"/>
            </a:xfrm>
            <a:custGeom>
              <a:avLst/>
              <a:gdLst>
                <a:gd name="T0" fmla="*/ 0 w 196"/>
                <a:gd name="T1" fmla="*/ 115 h 131"/>
                <a:gd name="T2" fmla="*/ 52 w 196"/>
                <a:gd name="T3" fmla="*/ 85 h 131"/>
                <a:gd name="T4" fmla="*/ 97 w 196"/>
                <a:gd name="T5" fmla="*/ 56 h 131"/>
                <a:gd name="T6" fmla="*/ 136 w 196"/>
                <a:gd name="T7" fmla="*/ 28 h 131"/>
                <a:gd name="T8" fmla="*/ 170 w 196"/>
                <a:gd name="T9" fmla="*/ 0 h 131"/>
                <a:gd name="T10" fmla="*/ 196 w 196"/>
                <a:gd name="T11" fmla="*/ 11 h 131"/>
                <a:gd name="T12" fmla="*/ 161 w 196"/>
                <a:gd name="T13" fmla="*/ 40 h 131"/>
                <a:gd name="T14" fmla="*/ 121 w 196"/>
                <a:gd name="T15" fmla="*/ 69 h 131"/>
                <a:gd name="T16" fmla="*/ 75 w 196"/>
                <a:gd name="T17" fmla="*/ 100 h 131"/>
                <a:gd name="T18" fmla="*/ 23 w 196"/>
                <a:gd name="T19" fmla="*/ 131 h 131"/>
                <a:gd name="T20" fmla="*/ 0 w 196"/>
                <a:gd name="T21" fmla="*/ 115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6" h="131">
                  <a:moveTo>
                    <a:pt x="0" y="115"/>
                  </a:moveTo>
                  <a:cubicBezTo>
                    <a:pt x="18" y="105"/>
                    <a:pt x="36" y="95"/>
                    <a:pt x="52" y="85"/>
                  </a:cubicBezTo>
                  <a:cubicBezTo>
                    <a:pt x="68" y="76"/>
                    <a:pt x="83" y="66"/>
                    <a:pt x="97" y="56"/>
                  </a:cubicBezTo>
                  <a:cubicBezTo>
                    <a:pt x="111" y="47"/>
                    <a:pt x="124" y="37"/>
                    <a:pt x="136" y="28"/>
                  </a:cubicBezTo>
                  <a:cubicBezTo>
                    <a:pt x="148" y="19"/>
                    <a:pt x="160" y="10"/>
                    <a:pt x="170" y="0"/>
                  </a:cubicBezTo>
                  <a:cubicBezTo>
                    <a:pt x="196" y="11"/>
                    <a:pt x="196" y="11"/>
                    <a:pt x="196" y="11"/>
                  </a:cubicBezTo>
                  <a:cubicBezTo>
                    <a:pt x="185" y="20"/>
                    <a:pt x="174" y="30"/>
                    <a:pt x="161" y="40"/>
                  </a:cubicBezTo>
                  <a:cubicBezTo>
                    <a:pt x="149" y="50"/>
                    <a:pt x="135" y="59"/>
                    <a:pt x="121" y="69"/>
                  </a:cubicBezTo>
                  <a:cubicBezTo>
                    <a:pt x="107" y="79"/>
                    <a:pt x="91" y="90"/>
                    <a:pt x="75" y="100"/>
                  </a:cubicBezTo>
                  <a:cubicBezTo>
                    <a:pt x="58" y="110"/>
                    <a:pt x="41" y="121"/>
                    <a:pt x="23" y="131"/>
                  </a:cubicBezTo>
                  <a:lnTo>
                    <a:pt x="0" y="1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91" name="Freeform 28">
              <a:extLst>
                <a:ext uri="{FF2B5EF4-FFF2-40B4-BE49-F238E27FC236}">
                  <a16:creationId xmlns:a16="http://schemas.microsoft.com/office/drawing/2014/main" id="{699829FA-93B4-687B-7956-9E547D82B7CD}"/>
                </a:ext>
              </a:extLst>
            </p:cNvPr>
            <p:cNvSpPr>
              <a:spLocks/>
            </p:cNvSpPr>
            <p:nvPr/>
          </p:nvSpPr>
          <p:spPr bwMode="auto">
            <a:xfrm>
              <a:off x="5086650" y="6293283"/>
              <a:ext cx="1017594" cy="564718"/>
            </a:xfrm>
            <a:custGeom>
              <a:avLst/>
              <a:gdLst>
                <a:gd name="T0" fmla="*/ 94 w 321"/>
                <a:gd name="T1" fmla="*/ 112 h 117"/>
                <a:gd name="T2" fmla="*/ 175 w 321"/>
                <a:gd name="T3" fmla="*/ 81 h 117"/>
                <a:gd name="T4" fmla="*/ 251 w 321"/>
                <a:gd name="T5" fmla="*/ 51 h 117"/>
                <a:gd name="T6" fmla="*/ 321 w 321"/>
                <a:gd name="T7" fmla="*/ 21 h 117"/>
                <a:gd name="T8" fmla="*/ 305 w 321"/>
                <a:gd name="T9" fmla="*/ 0 h 117"/>
                <a:gd name="T10" fmla="*/ 236 w 321"/>
                <a:gd name="T11" fmla="*/ 28 h 117"/>
                <a:gd name="T12" fmla="*/ 162 w 321"/>
                <a:gd name="T13" fmla="*/ 58 h 117"/>
                <a:gd name="T14" fmla="*/ 83 w 321"/>
                <a:gd name="T15" fmla="*/ 87 h 117"/>
                <a:gd name="T16" fmla="*/ 0 w 321"/>
                <a:gd name="T17" fmla="*/ 117 h 117"/>
                <a:gd name="T18" fmla="*/ 82 w 321"/>
                <a:gd name="T19" fmla="*/ 117 h 117"/>
                <a:gd name="T20" fmla="*/ 94 w 321"/>
                <a:gd name="T21" fmla="*/ 112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21" h="117">
                  <a:moveTo>
                    <a:pt x="94" y="112"/>
                  </a:moveTo>
                  <a:cubicBezTo>
                    <a:pt x="122" y="102"/>
                    <a:pt x="149" y="92"/>
                    <a:pt x="175" y="81"/>
                  </a:cubicBezTo>
                  <a:cubicBezTo>
                    <a:pt x="201" y="71"/>
                    <a:pt x="226" y="61"/>
                    <a:pt x="251" y="51"/>
                  </a:cubicBezTo>
                  <a:cubicBezTo>
                    <a:pt x="275" y="41"/>
                    <a:pt x="299" y="31"/>
                    <a:pt x="321" y="21"/>
                  </a:cubicBezTo>
                  <a:cubicBezTo>
                    <a:pt x="305" y="0"/>
                    <a:pt x="305" y="0"/>
                    <a:pt x="305" y="0"/>
                  </a:cubicBezTo>
                  <a:cubicBezTo>
                    <a:pt x="282" y="9"/>
                    <a:pt x="259" y="19"/>
                    <a:pt x="236" y="28"/>
                  </a:cubicBezTo>
                  <a:cubicBezTo>
                    <a:pt x="212" y="38"/>
                    <a:pt x="187" y="48"/>
                    <a:pt x="162" y="58"/>
                  </a:cubicBezTo>
                  <a:cubicBezTo>
                    <a:pt x="136" y="67"/>
                    <a:pt x="110" y="77"/>
                    <a:pt x="83" y="87"/>
                  </a:cubicBezTo>
                  <a:cubicBezTo>
                    <a:pt x="56" y="97"/>
                    <a:pt x="29" y="107"/>
                    <a:pt x="0" y="117"/>
                  </a:cubicBezTo>
                  <a:cubicBezTo>
                    <a:pt x="82" y="117"/>
                    <a:pt x="82" y="117"/>
                    <a:pt x="82" y="117"/>
                  </a:cubicBezTo>
                  <a:cubicBezTo>
                    <a:pt x="86" y="115"/>
                    <a:pt x="90" y="114"/>
                    <a:pt x="94" y="11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92" name="Freeform 29">
              <a:extLst>
                <a:ext uri="{FF2B5EF4-FFF2-40B4-BE49-F238E27FC236}">
                  <a16:creationId xmlns:a16="http://schemas.microsoft.com/office/drawing/2014/main" id="{EEDA553F-0597-264E-F4D1-856910914CD1}"/>
                </a:ext>
              </a:extLst>
            </p:cNvPr>
            <p:cNvSpPr>
              <a:spLocks/>
            </p:cNvSpPr>
            <p:nvPr/>
          </p:nvSpPr>
          <p:spPr bwMode="auto">
            <a:xfrm>
              <a:off x="10020001" y="1516296"/>
              <a:ext cx="133477" cy="20097"/>
            </a:xfrm>
            <a:custGeom>
              <a:avLst/>
              <a:gdLst>
                <a:gd name="T0" fmla="*/ 35 w 42"/>
                <a:gd name="T1" fmla="*/ 0 h 4"/>
                <a:gd name="T2" fmla="*/ 18 w 42"/>
                <a:gd name="T3" fmla="*/ 1 h 4"/>
                <a:gd name="T4" fmla="*/ 0 w 42"/>
                <a:gd name="T5" fmla="*/ 2 h 4"/>
                <a:gd name="T6" fmla="*/ 7 w 42"/>
                <a:gd name="T7" fmla="*/ 4 h 4"/>
                <a:gd name="T8" fmla="*/ 24 w 42"/>
                <a:gd name="T9" fmla="*/ 3 h 4"/>
                <a:gd name="T10" fmla="*/ 42 w 42"/>
                <a:gd name="T11" fmla="*/ 2 h 4"/>
                <a:gd name="T12" fmla="*/ 42 w 42"/>
                <a:gd name="T13" fmla="*/ 2 h 4"/>
                <a:gd name="T14" fmla="*/ 42 w 42"/>
                <a:gd name="T15" fmla="*/ 0 h 4"/>
                <a:gd name="T16" fmla="*/ 35 w 42"/>
                <a:gd name="T17" fmla="*/ 0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2" h="4">
                  <a:moveTo>
                    <a:pt x="35" y="0"/>
                  </a:moveTo>
                  <a:cubicBezTo>
                    <a:pt x="29" y="0"/>
                    <a:pt x="23" y="1"/>
                    <a:pt x="18" y="1"/>
                  </a:cubicBezTo>
                  <a:cubicBezTo>
                    <a:pt x="12" y="1"/>
                    <a:pt x="6" y="1"/>
                    <a:pt x="0" y="2"/>
                  </a:cubicBezTo>
                  <a:cubicBezTo>
                    <a:pt x="7" y="4"/>
                    <a:pt x="7" y="4"/>
                    <a:pt x="7" y="4"/>
                  </a:cubicBezTo>
                  <a:cubicBezTo>
                    <a:pt x="12" y="3"/>
                    <a:pt x="18" y="3"/>
                    <a:pt x="24" y="3"/>
                  </a:cubicBezTo>
                  <a:cubicBezTo>
                    <a:pt x="30" y="3"/>
                    <a:pt x="36" y="3"/>
                    <a:pt x="42" y="2"/>
                  </a:cubicBezTo>
                  <a:cubicBezTo>
                    <a:pt x="42" y="2"/>
                    <a:pt x="42" y="2"/>
                    <a:pt x="42" y="2"/>
                  </a:cubicBezTo>
                  <a:cubicBezTo>
                    <a:pt x="42" y="0"/>
                    <a:pt x="42" y="0"/>
                    <a:pt x="42" y="0"/>
                  </a:cubicBezTo>
                  <a:cubicBezTo>
                    <a:pt x="40" y="0"/>
                    <a:pt x="37" y="0"/>
                    <a:pt x="35"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ru-RU"/>
            </a:p>
          </p:txBody>
        </p:sp>
        <p:sp>
          <p:nvSpPr>
            <p:cNvPr id="93" name="Rectangle 138">
              <a:extLst>
                <a:ext uri="{FF2B5EF4-FFF2-40B4-BE49-F238E27FC236}">
                  <a16:creationId xmlns:a16="http://schemas.microsoft.com/office/drawing/2014/main" id="{34974B4C-D334-5890-6511-96D6B3FB78E1}"/>
                </a:ext>
              </a:extLst>
            </p:cNvPr>
            <p:cNvSpPr/>
            <p:nvPr/>
          </p:nvSpPr>
          <p:spPr>
            <a:xfrm>
              <a:off x="10133155" y="1524111"/>
              <a:ext cx="2062229" cy="234741"/>
            </a:xfrm>
            <a:custGeom>
              <a:avLst/>
              <a:gdLst>
                <a:gd name="connsiteX0" fmla="*/ 0 w 2038523"/>
                <a:gd name="connsiteY0" fmla="*/ 0 h 243631"/>
                <a:gd name="connsiteX1" fmla="*/ 2038523 w 2038523"/>
                <a:gd name="connsiteY1" fmla="*/ 0 h 243631"/>
                <a:gd name="connsiteX2" fmla="*/ 2038523 w 2038523"/>
                <a:gd name="connsiteY2" fmla="*/ 243631 h 243631"/>
                <a:gd name="connsiteX3" fmla="*/ 0 w 2038523"/>
                <a:gd name="connsiteY3" fmla="*/ 243631 h 243631"/>
                <a:gd name="connsiteX4" fmla="*/ 0 w 2038523"/>
                <a:gd name="connsiteY4" fmla="*/ 0 h 243631"/>
                <a:gd name="connsiteX0" fmla="*/ 0 w 2048683"/>
                <a:gd name="connsiteY0" fmla="*/ 132080 h 375711"/>
                <a:gd name="connsiteX1" fmla="*/ 2048683 w 2048683"/>
                <a:gd name="connsiteY1" fmla="*/ 0 h 375711"/>
                <a:gd name="connsiteX2" fmla="*/ 2038523 w 2048683"/>
                <a:gd name="connsiteY2" fmla="*/ 375711 h 375711"/>
                <a:gd name="connsiteX3" fmla="*/ 0 w 2048683"/>
                <a:gd name="connsiteY3" fmla="*/ 375711 h 375711"/>
                <a:gd name="connsiteX4" fmla="*/ 0 w 2048683"/>
                <a:gd name="connsiteY4" fmla="*/ 132080 h 375711"/>
                <a:gd name="connsiteX0" fmla="*/ 0 w 2084243"/>
                <a:gd name="connsiteY0" fmla="*/ 132080 h 375711"/>
                <a:gd name="connsiteX1" fmla="*/ 2048683 w 2084243"/>
                <a:gd name="connsiteY1" fmla="*/ 0 h 375711"/>
                <a:gd name="connsiteX2" fmla="*/ 2084243 w 2084243"/>
                <a:gd name="connsiteY2" fmla="*/ 121711 h 375711"/>
                <a:gd name="connsiteX3" fmla="*/ 0 w 2084243"/>
                <a:gd name="connsiteY3" fmla="*/ 375711 h 375711"/>
                <a:gd name="connsiteX4" fmla="*/ 0 w 2084243"/>
                <a:gd name="connsiteY4" fmla="*/ 132080 h 375711"/>
                <a:gd name="connsiteX0" fmla="*/ 0 w 2084243"/>
                <a:gd name="connsiteY0" fmla="*/ 132080 h 228391"/>
                <a:gd name="connsiteX1" fmla="*/ 2048683 w 2084243"/>
                <a:gd name="connsiteY1" fmla="*/ 0 h 228391"/>
                <a:gd name="connsiteX2" fmla="*/ 2084243 w 2084243"/>
                <a:gd name="connsiteY2" fmla="*/ 121711 h 228391"/>
                <a:gd name="connsiteX3" fmla="*/ 30480 w 2084243"/>
                <a:gd name="connsiteY3" fmla="*/ 228391 h 228391"/>
                <a:gd name="connsiteX4" fmla="*/ 0 w 2084243"/>
                <a:gd name="connsiteY4" fmla="*/ 132080 h 228391"/>
                <a:gd name="connsiteX0" fmla="*/ 20320 w 2104563"/>
                <a:gd name="connsiteY0" fmla="*/ 132080 h 228391"/>
                <a:gd name="connsiteX1" fmla="*/ 2069003 w 2104563"/>
                <a:gd name="connsiteY1" fmla="*/ 0 h 228391"/>
                <a:gd name="connsiteX2" fmla="*/ 2104563 w 2104563"/>
                <a:gd name="connsiteY2" fmla="*/ 121711 h 228391"/>
                <a:gd name="connsiteX3" fmla="*/ 0 w 2104563"/>
                <a:gd name="connsiteY3" fmla="*/ 228391 h 228391"/>
                <a:gd name="connsiteX4" fmla="*/ 20320 w 2104563"/>
                <a:gd name="connsiteY4" fmla="*/ 132080 h 228391"/>
                <a:gd name="connsiteX0" fmla="*/ 7620 w 2104563"/>
                <a:gd name="connsiteY0" fmla="*/ 127317 h 228391"/>
                <a:gd name="connsiteX1" fmla="*/ 2069003 w 2104563"/>
                <a:gd name="connsiteY1" fmla="*/ 0 h 228391"/>
                <a:gd name="connsiteX2" fmla="*/ 2104563 w 2104563"/>
                <a:gd name="connsiteY2" fmla="*/ 121711 h 228391"/>
                <a:gd name="connsiteX3" fmla="*/ 0 w 2104563"/>
                <a:gd name="connsiteY3" fmla="*/ 228391 h 228391"/>
                <a:gd name="connsiteX4" fmla="*/ 7620 w 2104563"/>
                <a:gd name="connsiteY4" fmla="*/ 127317 h 228391"/>
                <a:gd name="connsiteX0" fmla="*/ 7620 w 2104563"/>
                <a:gd name="connsiteY0" fmla="*/ 127317 h 228391"/>
                <a:gd name="connsiteX1" fmla="*/ 2069003 w 2104563"/>
                <a:gd name="connsiteY1" fmla="*/ 0 h 228391"/>
                <a:gd name="connsiteX2" fmla="*/ 2104563 w 2104563"/>
                <a:gd name="connsiteY2" fmla="*/ 121711 h 228391"/>
                <a:gd name="connsiteX3" fmla="*/ 0 w 2104563"/>
                <a:gd name="connsiteY3" fmla="*/ 228391 h 228391"/>
                <a:gd name="connsiteX4" fmla="*/ 7620 w 2104563"/>
                <a:gd name="connsiteY4" fmla="*/ 127317 h 228391"/>
                <a:gd name="connsiteX0" fmla="*/ 7620 w 2070696"/>
                <a:gd name="connsiteY0" fmla="*/ 127317 h 228391"/>
                <a:gd name="connsiteX1" fmla="*/ 2069003 w 2070696"/>
                <a:gd name="connsiteY1" fmla="*/ 0 h 228391"/>
                <a:gd name="connsiteX2" fmla="*/ 2070696 w 2070696"/>
                <a:gd name="connsiteY2" fmla="*/ 119595 h 228391"/>
                <a:gd name="connsiteX3" fmla="*/ 0 w 2070696"/>
                <a:gd name="connsiteY3" fmla="*/ 228391 h 228391"/>
                <a:gd name="connsiteX4" fmla="*/ 7620 w 2070696"/>
                <a:gd name="connsiteY4" fmla="*/ 127317 h 228391"/>
                <a:gd name="connsiteX0" fmla="*/ 7620 w 2069031"/>
                <a:gd name="connsiteY0" fmla="*/ 127317 h 228391"/>
                <a:gd name="connsiteX1" fmla="*/ 2069003 w 2069031"/>
                <a:gd name="connsiteY1" fmla="*/ 0 h 228391"/>
                <a:gd name="connsiteX2" fmla="*/ 2062229 w 2069031"/>
                <a:gd name="connsiteY2" fmla="*/ 121712 h 228391"/>
                <a:gd name="connsiteX3" fmla="*/ 0 w 2069031"/>
                <a:gd name="connsiteY3" fmla="*/ 228391 h 228391"/>
                <a:gd name="connsiteX4" fmla="*/ 7620 w 2069031"/>
                <a:gd name="connsiteY4" fmla="*/ 127317 h 228391"/>
                <a:gd name="connsiteX0" fmla="*/ 7620 w 2062229"/>
                <a:gd name="connsiteY0" fmla="*/ 127317 h 228391"/>
                <a:gd name="connsiteX1" fmla="*/ 2056303 w 2062229"/>
                <a:gd name="connsiteY1" fmla="*/ 0 h 228391"/>
                <a:gd name="connsiteX2" fmla="*/ 2062229 w 2062229"/>
                <a:gd name="connsiteY2" fmla="*/ 121712 h 228391"/>
                <a:gd name="connsiteX3" fmla="*/ 0 w 2062229"/>
                <a:gd name="connsiteY3" fmla="*/ 228391 h 228391"/>
                <a:gd name="connsiteX4" fmla="*/ 7620 w 2062229"/>
                <a:gd name="connsiteY4" fmla="*/ 127317 h 228391"/>
                <a:gd name="connsiteX0" fmla="*/ 7620 w 2062229"/>
                <a:gd name="connsiteY0" fmla="*/ 133667 h 234741"/>
                <a:gd name="connsiteX1" fmla="*/ 2058420 w 2062229"/>
                <a:gd name="connsiteY1" fmla="*/ 0 h 234741"/>
                <a:gd name="connsiteX2" fmla="*/ 2062229 w 2062229"/>
                <a:gd name="connsiteY2" fmla="*/ 128062 h 234741"/>
                <a:gd name="connsiteX3" fmla="*/ 0 w 2062229"/>
                <a:gd name="connsiteY3" fmla="*/ 234741 h 234741"/>
                <a:gd name="connsiteX4" fmla="*/ 7620 w 2062229"/>
                <a:gd name="connsiteY4" fmla="*/ 133667 h 2347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62229" h="234741">
                  <a:moveTo>
                    <a:pt x="7620" y="133667"/>
                  </a:moveTo>
                  <a:lnTo>
                    <a:pt x="2058420" y="0"/>
                  </a:lnTo>
                  <a:cubicBezTo>
                    <a:pt x="2058984" y="39865"/>
                    <a:pt x="2061665" y="88197"/>
                    <a:pt x="2062229" y="128062"/>
                  </a:cubicBezTo>
                  <a:lnTo>
                    <a:pt x="0" y="234741"/>
                  </a:lnTo>
                  <a:lnTo>
                    <a:pt x="7620" y="133667"/>
                  </a:lnTo>
                  <a:close/>
                </a:path>
              </a:pathLst>
            </a:custGeom>
            <a:solidFill>
              <a:srgbClr val="1B1B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94" name="Teardrop 93">
            <a:extLst>
              <a:ext uri="{FF2B5EF4-FFF2-40B4-BE49-F238E27FC236}">
                <a16:creationId xmlns:a16="http://schemas.microsoft.com/office/drawing/2014/main" id="{2B7E7383-7FE3-F127-FB0D-F8AD2B365D39}"/>
              </a:ext>
            </a:extLst>
          </p:cNvPr>
          <p:cNvSpPr/>
          <p:nvPr/>
        </p:nvSpPr>
        <p:spPr>
          <a:xfrm rot="8312827">
            <a:off x="4157979" y="4513688"/>
            <a:ext cx="944364" cy="944364"/>
          </a:xfrm>
          <a:prstGeom prst="teardrop">
            <a:avLst>
              <a:gd name="adj" fmla="val 92103"/>
            </a:avLst>
          </a:prstGeom>
          <a:solidFill>
            <a:schemeClr val="bg2">
              <a:lumMod val="10000"/>
            </a:schemeClr>
          </a:solidFill>
          <a:ln w="28575">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5" name="Oval 94">
            <a:extLst>
              <a:ext uri="{FF2B5EF4-FFF2-40B4-BE49-F238E27FC236}">
                <a16:creationId xmlns:a16="http://schemas.microsoft.com/office/drawing/2014/main" id="{7030CAAB-CEAE-F499-C2CB-A96F28B6E3AD}"/>
              </a:ext>
            </a:extLst>
          </p:cNvPr>
          <p:cNvSpPr/>
          <p:nvPr/>
        </p:nvSpPr>
        <p:spPr>
          <a:xfrm>
            <a:off x="4227461" y="4583170"/>
            <a:ext cx="805401" cy="80540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solidFill>
                  <a:schemeClr val="bg2">
                    <a:lumMod val="10000"/>
                  </a:schemeClr>
                </a:solidFill>
              </a:rPr>
              <a:t>1</a:t>
            </a:r>
          </a:p>
        </p:txBody>
      </p:sp>
      <p:sp>
        <p:nvSpPr>
          <p:cNvPr id="96" name="Teardrop 95">
            <a:extLst>
              <a:ext uri="{FF2B5EF4-FFF2-40B4-BE49-F238E27FC236}">
                <a16:creationId xmlns:a16="http://schemas.microsoft.com/office/drawing/2014/main" id="{76360B2C-7333-DD82-13B6-D40B6266FDFC}"/>
              </a:ext>
            </a:extLst>
          </p:cNvPr>
          <p:cNvSpPr/>
          <p:nvPr/>
        </p:nvSpPr>
        <p:spPr>
          <a:xfrm rot="7857851">
            <a:off x="8167477" y="3388762"/>
            <a:ext cx="944364" cy="944364"/>
          </a:xfrm>
          <a:prstGeom prst="teardrop">
            <a:avLst>
              <a:gd name="adj" fmla="val 92103"/>
            </a:avLst>
          </a:prstGeom>
          <a:solidFill>
            <a:schemeClr val="bg2">
              <a:lumMod val="10000"/>
            </a:schemeClr>
          </a:solidFill>
          <a:ln w="28575">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7" name="Oval 96">
            <a:extLst>
              <a:ext uri="{FF2B5EF4-FFF2-40B4-BE49-F238E27FC236}">
                <a16:creationId xmlns:a16="http://schemas.microsoft.com/office/drawing/2014/main" id="{24C6B741-09D2-C14E-6A2C-7F5CFAC15DE6}"/>
              </a:ext>
            </a:extLst>
          </p:cNvPr>
          <p:cNvSpPr/>
          <p:nvPr/>
        </p:nvSpPr>
        <p:spPr>
          <a:xfrm rot="21564248">
            <a:off x="8236959" y="3458244"/>
            <a:ext cx="805401" cy="80540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solidFill>
                  <a:schemeClr val="bg2">
                    <a:lumMod val="10000"/>
                  </a:schemeClr>
                </a:solidFill>
              </a:rPr>
              <a:t>2</a:t>
            </a:r>
          </a:p>
        </p:txBody>
      </p:sp>
      <p:sp>
        <p:nvSpPr>
          <p:cNvPr id="98" name="Teardrop 97">
            <a:extLst>
              <a:ext uri="{FF2B5EF4-FFF2-40B4-BE49-F238E27FC236}">
                <a16:creationId xmlns:a16="http://schemas.microsoft.com/office/drawing/2014/main" id="{9324AEB7-9026-6631-9F15-1E376B569C69}"/>
              </a:ext>
            </a:extLst>
          </p:cNvPr>
          <p:cNvSpPr/>
          <p:nvPr/>
        </p:nvSpPr>
        <p:spPr>
          <a:xfrm rot="8282177">
            <a:off x="4307885" y="1484354"/>
            <a:ext cx="944364" cy="944364"/>
          </a:xfrm>
          <a:prstGeom prst="teardrop">
            <a:avLst>
              <a:gd name="adj" fmla="val 92103"/>
            </a:avLst>
          </a:prstGeom>
          <a:solidFill>
            <a:schemeClr val="bg2">
              <a:lumMod val="10000"/>
            </a:schemeClr>
          </a:solidFill>
          <a:ln w="28575">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9" name="Oval 98">
            <a:extLst>
              <a:ext uri="{FF2B5EF4-FFF2-40B4-BE49-F238E27FC236}">
                <a16:creationId xmlns:a16="http://schemas.microsoft.com/office/drawing/2014/main" id="{A2048B67-AD74-E049-6E29-EE165A681DBD}"/>
              </a:ext>
            </a:extLst>
          </p:cNvPr>
          <p:cNvSpPr/>
          <p:nvPr/>
        </p:nvSpPr>
        <p:spPr>
          <a:xfrm rot="170127">
            <a:off x="4377367" y="1553836"/>
            <a:ext cx="805401" cy="80540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solidFill>
                  <a:schemeClr val="bg2">
                    <a:lumMod val="10000"/>
                  </a:schemeClr>
                </a:solidFill>
              </a:rPr>
              <a:t>3</a:t>
            </a:r>
          </a:p>
        </p:txBody>
      </p:sp>
      <p:sp>
        <p:nvSpPr>
          <p:cNvPr id="101" name="TextBox 100">
            <a:extLst>
              <a:ext uri="{FF2B5EF4-FFF2-40B4-BE49-F238E27FC236}">
                <a16:creationId xmlns:a16="http://schemas.microsoft.com/office/drawing/2014/main" id="{CA38309C-B464-3775-C997-0D02DA91AAD3}"/>
              </a:ext>
            </a:extLst>
          </p:cNvPr>
          <p:cNvSpPr txBox="1"/>
          <p:nvPr/>
        </p:nvSpPr>
        <p:spPr>
          <a:xfrm>
            <a:off x="818866" y="4809496"/>
            <a:ext cx="3238857" cy="615553"/>
          </a:xfrm>
          <a:prstGeom prst="rect">
            <a:avLst/>
          </a:prstGeom>
          <a:noFill/>
        </p:spPr>
        <p:txBody>
          <a:bodyPr wrap="square" lIns="0" tIns="0" rIns="0" bIns="0" rtlCol="0">
            <a:spAutoFit/>
          </a:bodyPr>
          <a:lstStyle>
            <a:defPPr>
              <a:defRPr lang="en-US"/>
            </a:defPPr>
            <a:lvl1pPr algn="r">
              <a:defRPr sz="2000">
                <a:solidFill>
                  <a:schemeClr val="bg2">
                    <a:lumMod val="10000"/>
                  </a:schemeClr>
                </a:solidFill>
              </a:defRPr>
            </a:lvl1pPr>
          </a:lstStyle>
          <a:p>
            <a:r>
              <a:rPr lang="en-IN" dirty="0"/>
              <a:t>1. Introduction to Generative AI, Transformers &amp; LLMs</a:t>
            </a:r>
          </a:p>
        </p:txBody>
      </p:sp>
      <p:sp>
        <p:nvSpPr>
          <p:cNvPr id="102" name="TextBox 101">
            <a:extLst>
              <a:ext uri="{FF2B5EF4-FFF2-40B4-BE49-F238E27FC236}">
                <a16:creationId xmlns:a16="http://schemas.microsoft.com/office/drawing/2014/main" id="{8E1EF386-B678-0D23-8786-23A592B6716C}"/>
              </a:ext>
            </a:extLst>
          </p:cNvPr>
          <p:cNvSpPr txBox="1"/>
          <p:nvPr/>
        </p:nvSpPr>
        <p:spPr>
          <a:xfrm>
            <a:off x="9229270" y="3821090"/>
            <a:ext cx="2656064" cy="615553"/>
          </a:xfrm>
          <a:prstGeom prst="rect">
            <a:avLst/>
          </a:prstGeom>
          <a:noFill/>
        </p:spPr>
        <p:txBody>
          <a:bodyPr wrap="square" lIns="0" tIns="0" rIns="0" bIns="0" rtlCol="0">
            <a:spAutoFit/>
          </a:bodyPr>
          <a:lstStyle>
            <a:defPPr>
              <a:defRPr lang="en-US"/>
            </a:defPPr>
            <a:lvl1pPr algn="r">
              <a:defRPr sz="2000">
                <a:solidFill>
                  <a:schemeClr val="bg2">
                    <a:lumMod val="10000"/>
                  </a:schemeClr>
                </a:solidFill>
              </a:defRPr>
            </a:lvl1pPr>
          </a:lstStyle>
          <a:p>
            <a:pPr algn="l"/>
            <a:r>
              <a:rPr lang="en-IN" dirty="0"/>
              <a:t>2. Training and Fine-tuning LLMs</a:t>
            </a:r>
          </a:p>
        </p:txBody>
      </p:sp>
      <p:sp>
        <p:nvSpPr>
          <p:cNvPr id="103" name="TextBox 102">
            <a:extLst>
              <a:ext uri="{FF2B5EF4-FFF2-40B4-BE49-F238E27FC236}">
                <a16:creationId xmlns:a16="http://schemas.microsoft.com/office/drawing/2014/main" id="{8D4F398E-7C8C-ABA1-F24A-C14C3D3884DD}"/>
              </a:ext>
            </a:extLst>
          </p:cNvPr>
          <p:cNvSpPr txBox="1"/>
          <p:nvPr/>
        </p:nvSpPr>
        <p:spPr>
          <a:xfrm>
            <a:off x="1317776" y="1781573"/>
            <a:ext cx="2913136" cy="615553"/>
          </a:xfrm>
          <a:prstGeom prst="rect">
            <a:avLst/>
          </a:prstGeom>
          <a:noFill/>
        </p:spPr>
        <p:txBody>
          <a:bodyPr wrap="square" lIns="0" tIns="0" rIns="0" bIns="0" rtlCol="0">
            <a:spAutoFit/>
          </a:bodyPr>
          <a:lstStyle>
            <a:defPPr>
              <a:defRPr lang="en-US"/>
            </a:defPPr>
            <a:lvl1pPr algn="r">
              <a:defRPr sz="2000">
                <a:solidFill>
                  <a:schemeClr val="bg2">
                    <a:lumMod val="10000"/>
                  </a:schemeClr>
                </a:solidFill>
              </a:defRPr>
            </a:lvl1pPr>
          </a:lstStyle>
          <a:p>
            <a:r>
              <a:rPr lang="en-US" dirty="0"/>
              <a:t>3. Advanced Fine-tuning and Model Evaluation</a:t>
            </a:r>
          </a:p>
        </p:txBody>
      </p:sp>
      <p:sp>
        <p:nvSpPr>
          <p:cNvPr id="104" name="TextBox 103">
            <a:extLst>
              <a:ext uri="{FF2B5EF4-FFF2-40B4-BE49-F238E27FC236}">
                <a16:creationId xmlns:a16="http://schemas.microsoft.com/office/drawing/2014/main" id="{5511D254-9298-393A-FB36-F88E5F6E0708}"/>
              </a:ext>
            </a:extLst>
          </p:cNvPr>
          <p:cNvSpPr txBox="1"/>
          <p:nvPr/>
        </p:nvSpPr>
        <p:spPr>
          <a:xfrm>
            <a:off x="9034124" y="1939216"/>
            <a:ext cx="3138744" cy="615553"/>
          </a:xfrm>
          <a:prstGeom prst="rect">
            <a:avLst/>
          </a:prstGeom>
          <a:noFill/>
        </p:spPr>
        <p:txBody>
          <a:bodyPr wrap="square" lIns="0" tIns="0" rIns="0" bIns="0" rtlCol="0">
            <a:spAutoFit/>
          </a:bodyPr>
          <a:lstStyle>
            <a:defPPr>
              <a:defRPr lang="en-US"/>
            </a:defPPr>
            <a:lvl1pPr algn="r">
              <a:defRPr sz="2000">
                <a:solidFill>
                  <a:schemeClr val="bg2">
                    <a:lumMod val="10000"/>
                  </a:schemeClr>
                </a:solidFill>
              </a:defRPr>
            </a:lvl1pPr>
          </a:lstStyle>
          <a:p>
            <a:r>
              <a:rPr lang="en-US" dirty="0"/>
              <a:t>4. Building a Real-Life Chatbot with </a:t>
            </a:r>
            <a:r>
              <a:rPr lang="en-US" dirty="0" err="1"/>
              <a:t>Gradio</a:t>
            </a:r>
            <a:r>
              <a:rPr lang="en-US" dirty="0"/>
              <a:t> Deployment</a:t>
            </a:r>
          </a:p>
        </p:txBody>
      </p:sp>
      <p:sp>
        <p:nvSpPr>
          <p:cNvPr id="105" name="Teardrop 104">
            <a:extLst>
              <a:ext uri="{FF2B5EF4-FFF2-40B4-BE49-F238E27FC236}">
                <a16:creationId xmlns:a16="http://schemas.microsoft.com/office/drawing/2014/main" id="{83766362-1A40-BABB-EF12-D86F8E2F6147}"/>
              </a:ext>
            </a:extLst>
          </p:cNvPr>
          <p:cNvSpPr/>
          <p:nvPr/>
        </p:nvSpPr>
        <p:spPr>
          <a:xfrm rot="7857851">
            <a:off x="9710835" y="380278"/>
            <a:ext cx="944364" cy="944364"/>
          </a:xfrm>
          <a:prstGeom prst="teardrop">
            <a:avLst>
              <a:gd name="adj" fmla="val 92103"/>
            </a:avLst>
          </a:prstGeom>
          <a:solidFill>
            <a:schemeClr val="bg2">
              <a:lumMod val="10000"/>
            </a:schemeClr>
          </a:solidFill>
          <a:ln w="28575">
            <a:solidFill>
              <a:schemeClr val="bg2">
                <a:lumMod val="1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Oval 105">
            <a:extLst>
              <a:ext uri="{FF2B5EF4-FFF2-40B4-BE49-F238E27FC236}">
                <a16:creationId xmlns:a16="http://schemas.microsoft.com/office/drawing/2014/main" id="{FC676FD6-462F-9469-F9DC-717133E4BF75}"/>
              </a:ext>
            </a:extLst>
          </p:cNvPr>
          <p:cNvSpPr/>
          <p:nvPr/>
        </p:nvSpPr>
        <p:spPr>
          <a:xfrm rot="21564248">
            <a:off x="9780317" y="449760"/>
            <a:ext cx="805401" cy="80540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3600" dirty="0">
                <a:solidFill>
                  <a:schemeClr val="bg2">
                    <a:lumMod val="10000"/>
                  </a:schemeClr>
                </a:solidFill>
              </a:rPr>
              <a:t>4</a:t>
            </a:r>
          </a:p>
        </p:txBody>
      </p:sp>
    </p:spTree>
    <p:extLst>
      <p:ext uri="{BB962C8B-B14F-4D97-AF65-F5344CB8AC3E}">
        <p14:creationId xmlns:p14="http://schemas.microsoft.com/office/powerpoint/2010/main" val="3925341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p:txBody>
          <a:bodyPr/>
          <a:lstStyle/>
          <a:p>
            <a:r>
              <a:rPr lang="en-IN" dirty="0"/>
              <a:t>Agenda</a:t>
            </a:r>
          </a:p>
        </p:txBody>
      </p:sp>
      <p:sp>
        <p:nvSpPr>
          <p:cNvPr id="5" name="Content Placeholder 2">
            <a:extLst>
              <a:ext uri="{FF2B5EF4-FFF2-40B4-BE49-F238E27FC236}">
                <a16:creationId xmlns:a16="http://schemas.microsoft.com/office/drawing/2014/main" id="{A9AAC721-0665-1382-22BD-DF794AA9B8D6}"/>
              </a:ext>
            </a:extLst>
          </p:cNvPr>
          <p:cNvSpPr txBox="1">
            <a:spLocks/>
          </p:cNvSpPr>
          <p:nvPr/>
        </p:nvSpPr>
        <p:spPr>
          <a:xfrm>
            <a:off x="679450" y="1405768"/>
            <a:ext cx="10833100" cy="3825874"/>
          </a:xfrm>
          <a:prstGeom prst="rect">
            <a:avLst/>
          </a:prstGeom>
        </p:spPr>
        <p:txBody>
          <a:bodyPr vert="horz" lIns="0" tIns="0" rIns="0" bIns="0" numCol="2" spcCol="720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t>Overview of </a:t>
            </a:r>
            <a:r>
              <a:rPr lang="en-US" sz="2400" b="1" dirty="0"/>
              <a:t>Generative AI</a:t>
            </a:r>
          </a:p>
          <a:p>
            <a:pPr>
              <a:lnSpc>
                <a:spcPct val="100000"/>
              </a:lnSpc>
            </a:pPr>
            <a:r>
              <a:rPr lang="en-US" sz="2400" dirty="0"/>
              <a:t>Key features of generative models</a:t>
            </a:r>
          </a:p>
          <a:p>
            <a:pPr>
              <a:lnSpc>
                <a:spcPct val="100000"/>
              </a:lnSpc>
            </a:pPr>
            <a:r>
              <a:rPr lang="en-US" sz="2400" dirty="0"/>
              <a:t>Applications across industries</a:t>
            </a:r>
          </a:p>
          <a:p>
            <a:pPr>
              <a:lnSpc>
                <a:spcPct val="100000"/>
              </a:lnSpc>
            </a:pPr>
            <a:r>
              <a:rPr lang="en-US" sz="2400" dirty="0"/>
              <a:t>Ethical considerations and biases</a:t>
            </a:r>
          </a:p>
          <a:p>
            <a:pPr>
              <a:lnSpc>
                <a:spcPct val="100000"/>
              </a:lnSpc>
            </a:pPr>
            <a:r>
              <a:rPr lang="en-US" sz="2400" dirty="0"/>
              <a:t>Transformer architecture and components</a:t>
            </a:r>
          </a:p>
          <a:p>
            <a:pPr>
              <a:lnSpc>
                <a:spcPct val="100000"/>
              </a:lnSpc>
            </a:pPr>
            <a:r>
              <a:rPr lang="en-US" sz="2400" dirty="0"/>
              <a:t>Pre-training and fine-tuning of LLMs</a:t>
            </a:r>
          </a:p>
          <a:p>
            <a:pPr>
              <a:lnSpc>
                <a:spcPct val="100000"/>
              </a:lnSpc>
            </a:pPr>
            <a:r>
              <a:rPr lang="en-US" sz="2400" dirty="0"/>
              <a:t>Comparison of LLM Models (e.g., GPT-3, T5, Jurassic-1 Jumbo)</a:t>
            </a:r>
          </a:p>
          <a:p>
            <a:pPr>
              <a:lnSpc>
                <a:spcPct val="100000"/>
              </a:lnSpc>
            </a:pPr>
            <a:r>
              <a:rPr lang="en-US" sz="2400" dirty="0"/>
              <a:t>Hands-on with Hugging Face: Environment setup and model exploration</a:t>
            </a:r>
          </a:p>
          <a:p>
            <a:pPr>
              <a:lnSpc>
                <a:spcPct val="100000"/>
              </a:lnSpc>
            </a:pPr>
            <a:r>
              <a:rPr lang="en-US" sz="2400" dirty="0"/>
              <a:t>Text generation and summarization tasks implementation</a:t>
            </a:r>
          </a:p>
          <a:p>
            <a:pPr>
              <a:lnSpc>
                <a:spcPct val="100000"/>
              </a:lnSpc>
            </a:pPr>
            <a:r>
              <a:rPr lang="en-US" sz="2400" dirty="0"/>
              <a:t>Analyzing strengths and limitations of different approaches</a:t>
            </a:r>
          </a:p>
        </p:txBody>
      </p:sp>
    </p:spTree>
    <p:extLst>
      <p:ext uri="{BB962C8B-B14F-4D97-AF65-F5344CB8AC3E}">
        <p14:creationId xmlns:p14="http://schemas.microsoft.com/office/powerpoint/2010/main" val="2272459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pPr algn="l"/>
            <a:r>
              <a:rPr lang="en-IN" dirty="0"/>
              <a:t>What is Generative AI?</a:t>
            </a:r>
            <a:endParaRPr lang="en-US" dirty="0"/>
          </a:p>
        </p:txBody>
      </p:sp>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462760"/>
          </a:xfrm>
          <a:prstGeom prst="rect">
            <a:avLst/>
          </a:prstGeom>
          <a:noFill/>
        </p:spPr>
        <p:txBody>
          <a:bodyPr wrap="square">
            <a:spAutoFit/>
          </a:bodyPr>
          <a:lstStyle/>
          <a:p>
            <a:pPr algn="l"/>
            <a:r>
              <a:rPr lang="en-US" sz="2000" b="0" i="0" dirty="0">
                <a:solidFill>
                  <a:srgbClr val="1F1F1F"/>
                </a:solidFill>
                <a:effectLst/>
              </a:rPr>
              <a:t>Generative AI is a transformative technology that utilizes machine learning to analyze existing data and generate entirely new content. This includes diverse modalities such as:</a:t>
            </a:r>
          </a:p>
          <a:p>
            <a:pPr algn="l"/>
            <a:endParaRPr lang="en-US" sz="2000" b="0" i="0" dirty="0">
              <a:solidFill>
                <a:srgbClr val="1F1F1F"/>
              </a:solidFill>
              <a:effectLst/>
            </a:endParaRPr>
          </a:p>
          <a:p>
            <a:pPr marL="342900" indent="-342900" algn="l">
              <a:buFont typeface="Arial" panose="020B0604020202020204" pitchFamily="34" charset="0"/>
              <a:buChar char="•"/>
            </a:pPr>
            <a:r>
              <a:rPr lang="en-US" sz="2000" b="1" i="0" dirty="0">
                <a:solidFill>
                  <a:srgbClr val="1F1F1F"/>
                </a:solidFill>
                <a:effectLst/>
              </a:rPr>
              <a:t>Text: </a:t>
            </a:r>
            <a:r>
              <a:rPr lang="en-US" sz="2000" b="0" i="0" dirty="0">
                <a:solidFill>
                  <a:srgbClr val="1F1F1F"/>
                </a:solidFill>
                <a:effectLst/>
              </a:rPr>
              <a:t>Generate compelling stories, realistic news articles, poems, and scripts.</a:t>
            </a:r>
          </a:p>
          <a:p>
            <a:pPr marL="342900" indent="-342900" algn="l">
              <a:buFont typeface="Arial" panose="020B0604020202020204" pitchFamily="34" charset="0"/>
              <a:buChar char="•"/>
            </a:pPr>
            <a:r>
              <a:rPr lang="en-US" sz="2000" b="1" i="0" dirty="0">
                <a:solidFill>
                  <a:srgbClr val="1F1F1F"/>
                </a:solidFill>
                <a:effectLst/>
              </a:rPr>
              <a:t>Images: </a:t>
            </a:r>
            <a:r>
              <a:rPr lang="en-US" sz="2000" b="0" i="0" dirty="0">
                <a:solidFill>
                  <a:srgbClr val="1F1F1F"/>
                </a:solidFill>
                <a:effectLst/>
              </a:rPr>
              <a:t>Create high-quality images of objects, landscapes, and even people that don't exist.</a:t>
            </a:r>
          </a:p>
          <a:p>
            <a:pPr marL="342900" indent="-342900" algn="l">
              <a:buFont typeface="Arial" panose="020B0604020202020204" pitchFamily="34" charset="0"/>
              <a:buChar char="•"/>
            </a:pPr>
            <a:r>
              <a:rPr lang="en-US" sz="2000" b="1" i="0" dirty="0">
                <a:solidFill>
                  <a:srgbClr val="1F1F1F"/>
                </a:solidFill>
                <a:effectLst/>
              </a:rPr>
              <a:t>Music: </a:t>
            </a:r>
            <a:r>
              <a:rPr lang="en-US" sz="2000" b="0" i="0" dirty="0">
                <a:solidFill>
                  <a:srgbClr val="1F1F1F"/>
                </a:solidFill>
                <a:effectLst/>
              </a:rPr>
              <a:t>Compose unique and original pieces in various styles and genres.</a:t>
            </a:r>
          </a:p>
          <a:p>
            <a:pPr algn="l"/>
            <a:endParaRPr lang="en-US" sz="2000" b="0" i="0" dirty="0">
              <a:solidFill>
                <a:srgbClr val="1F1F1F"/>
              </a:solidFill>
              <a:effectLst/>
            </a:endParaRPr>
          </a:p>
          <a:p>
            <a:pPr algn="l"/>
            <a:r>
              <a:rPr lang="en-US" sz="2200" b="1" i="0" dirty="0">
                <a:solidFill>
                  <a:srgbClr val="1F1F1F"/>
                </a:solidFill>
                <a:effectLst/>
              </a:rPr>
              <a:t>Key features</a:t>
            </a:r>
          </a:p>
          <a:p>
            <a:pPr marL="342900" indent="-342900" algn="l">
              <a:buFont typeface="Arial" panose="020B0604020202020204" pitchFamily="34" charset="0"/>
              <a:buChar char="•"/>
            </a:pPr>
            <a:r>
              <a:rPr lang="en-US" sz="2000" b="1" i="0" dirty="0">
                <a:solidFill>
                  <a:srgbClr val="1F1F1F"/>
                </a:solidFill>
                <a:effectLst/>
              </a:rPr>
              <a:t>Creativity: </a:t>
            </a:r>
            <a:r>
              <a:rPr lang="en-US" sz="2000" b="0" i="0" dirty="0">
                <a:solidFill>
                  <a:srgbClr val="1F1F1F"/>
                </a:solidFill>
                <a:effectLst/>
              </a:rPr>
              <a:t>Unleash the power of AI to push the boundaries of human imagination and artistic expression.</a:t>
            </a:r>
          </a:p>
          <a:p>
            <a:pPr marL="342900" indent="-342900" algn="l">
              <a:buFont typeface="Arial" panose="020B0604020202020204" pitchFamily="34" charset="0"/>
              <a:buChar char="•"/>
            </a:pPr>
            <a:r>
              <a:rPr lang="en-US" sz="2000" b="1" i="0" dirty="0">
                <a:solidFill>
                  <a:srgbClr val="1F1F1F"/>
                </a:solidFill>
                <a:effectLst/>
              </a:rPr>
              <a:t>Diversity: </a:t>
            </a:r>
            <a:r>
              <a:rPr lang="en-US" sz="2000" b="0" i="0" dirty="0">
                <a:solidFill>
                  <a:srgbClr val="1F1F1F"/>
                </a:solidFill>
                <a:effectLst/>
              </a:rPr>
              <a:t>Explore hidden patterns and uncover new possibilities with a vast range of outputs from limited datasets.</a:t>
            </a:r>
          </a:p>
          <a:p>
            <a:pPr marL="342900" indent="-342900" algn="l">
              <a:buFont typeface="Arial" panose="020B0604020202020204" pitchFamily="34" charset="0"/>
              <a:buChar char="•"/>
            </a:pPr>
            <a:r>
              <a:rPr lang="en-US" sz="2000" b="1" i="0" dirty="0">
                <a:solidFill>
                  <a:srgbClr val="1F1F1F"/>
                </a:solidFill>
                <a:effectLst/>
              </a:rPr>
              <a:t>Adaptability</a:t>
            </a:r>
            <a:r>
              <a:rPr lang="en-US" sz="2000" b="0" i="0" dirty="0">
                <a:solidFill>
                  <a:srgbClr val="1F1F1F"/>
                </a:solidFill>
                <a:effectLst/>
              </a:rPr>
              <a:t>: Solve complex problems across diverse fields by training models on various data types and adapting them to specific tasks.</a:t>
            </a:r>
          </a:p>
        </p:txBody>
      </p:sp>
    </p:spTree>
    <p:extLst>
      <p:ext uri="{BB962C8B-B14F-4D97-AF65-F5344CB8AC3E}">
        <p14:creationId xmlns:p14="http://schemas.microsoft.com/office/powerpoint/2010/main" val="31245107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816429"/>
          </a:xfrm>
          <a:prstGeom prst="rect">
            <a:avLst/>
          </a:prstGeom>
          <a:noFill/>
        </p:spPr>
        <p:txBody>
          <a:bodyPr wrap="square">
            <a:spAutoFit/>
          </a:bodyPr>
          <a:lstStyle/>
          <a:p>
            <a:pPr algn="l"/>
            <a:r>
              <a:rPr lang="en-US" sz="2200" b="1" i="0" dirty="0">
                <a:solidFill>
                  <a:srgbClr val="1F1F1F"/>
                </a:solidFill>
                <a:effectLst/>
                <a:latin typeface="Google Sans"/>
              </a:rPr>
              <a:t>Examples</a:t>
            </a:r>
          </a:p>
          <a:p>
            <a:pPr algn="l"/>
            <a:endParaRPr lang="en-US" sz="2200" b="1" i="0" dirty="0">
              <a:solidFill>
                <a:srgbClr val="1F1F1F"/>
              </a:solidFill>
              <a:effectLst/>
              <a:latin typeface="Google Sans"/>
            </a:endParaRPr>
          </a:p>
          <a:p>
            <a:pPr marL="342900" indent="-342900" algn="l">
              <a:buFont typeface="Arial" panose="020B0604020202020204" pitchFamily="34" charset="0"/>
              <a:buChar char="•"/>
            </a:pPr>
            <a:r>
              <a:rPr lang="en-US" sz="2200" b="1" i="0" dirty="0">
                <a:solidFill>
                  <a:srgbClr val="1F1F1F"/>
                </a:solidFill>
                <a:effectLst/>
                <a:latin typeface="Google Sans"/>
              </a:rPr>
              <a:t>Text Generation: </a:t>
            </a:r>
            <a:r>
              <a:rPr lang="en-US" sz="2200" b="0" i="0" dirty="0">
                <a:solidFill>
                  <a:srgbClr val="1F1F1F"/>
                </a:solidFill>
                <a:effectLst/>
                <a:latin typeface="Google Sans"/>
              </a:rPr>
              <a:t>Craft realistic and coherent text for news articles, poems, scripts, and other forms of creative writing.</a:t>
            </a:r>
          </a:p>
          <a:p>
            <a:pPr marL="342900" indent="-342900" algn="l">
              <a:buFont typeface="Arial" panose="020B0604020202020204" pitchFamily="34" charset="0"/>
              <a:buChar char="•"/>
            </a:pPr>
            <a:r>
              <a:rPr lang="en-US" sz="2200" b="1" i="0" dirty="0">
                <a:solidFill>
                  <a:srgbClr val="1F1F1F"/>
                </a:solidFill>
                <a:effectLst/>
                <a:latin typeface="Google Sans"/>
              </a:rPr>
              <a:t>Image Synthesis: </a:t>
            </a:r>
            <a:r>
              <a:rPr lang="en-US" sz="2200" b="0" i="0" dirty="0">
                <a:solidFill>
                  <a:srgbClr val="1F1F1F"/>
                </a:solidFill>
                <a:effectLst/>
                <a:latin typeface="Google Sans"/>
              </a:rPr>
              <a:t>Generate high-quality, original images of objects, landscapes, and even people, revolutionizing design, advertising, and virtual environments.</a:t>
            </a:r>
          </a:p>
          <a:p>
            <a:pPr marL="342900" indent="-342900" algn="l">
              <a:buFont typeface="Arial" panose="020B0604020202020204" pitchFamily="34" charset="0"/>
              <a:buChar char="•"/>
            </a:pPr>
            <a:r>
              <a:rPr lang="en-US" sz="2200" b="1" i="0" dirty="0">
                <a:solidFill>
                  <a:srgbClr val="1F1F1F"/>
                </a:solidFill>
                <a:effectLst/>
                <a:latin typeface="Google Sans"/>
              </a:rPr>
              <a:t>Music Composition: </a:t>
            </a:r>
            <a:r>
              <a:rPr lang="en-US" sz="2200" b="0" i="0" dirty="0">
                <a:solidFill>
                  <a:srgbClr val="1F1F1F"/>
                </a:solidFill>
                <a:effectLst/>
                <a:latin typeface="Google Sans"/>
              </a:rPr>
              <a:t>Compose unique and novel pieces in various styles and genres, impacting the music industry with innovative forms of expression.</a:t>
            </a:r>
          </a:p>
          <a:p>
            <a:pPr marL="342900" indent="-342900" algn="l">
              <a:buFont typeface="Arial" panose="020B0604020202020204" pitchFamily="34" charset="0"/>
              <a:buChar char="•"/>
            </a:pPr>
            <a:endParaRPr lang="en-US" sz="2200" b="0" i="0" dirty="0">
              <a:solidFill>
                <a:srgbClr val="1F1F1F"/>
              </a:solidFill>
              <a:effectLst/>
              <a:latin typeface="Google Sans"/>
            </a:endParaRPr>
          </a:p>
          <a:p>
            <a:pPr algn="l"/>
            <a:r>
              <a:rPr lang="en-US" sz="2200" b="0" i="0" dirty="0">
                <a:solidFill>
                  <a:srgbClr val="1F1F1F"/>
                </a:solidFill>
                <a:effectLst/>
                <a:latin typeface="Google Sans"/>
              </a:rPr>
              <a:t>Generative AI represents a transformative technology with the potential to unlock significant advancements across industries and enhance creative endeavors.</a:t>
            </a: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lstStyle/>
          <a:p>
            <a:r>
              <a:rPr lang="en-IN" dirty="0"/>
              <a:t>Cont…</a:t>
            </a:r>
          </a:p>
        </p:txBody>
      </p:sp>
    </p:spTree>
    <p:extLst>
      <p:ext uri="{BB962C8B-B14F-4D97-AF65-F5344CB8AC3E}">
        <p14:creationId xmlns:p14="http://schemas.microsoft.com/office/powerpoint/2010/main" val="735692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093428"/>
          </a:xfrm>
          <a:prstGeom prst="rect">
            <a:avLst/>
          </a:prstGeom>
          <a:noFill/>
        </p:spPr>
        <p:txBody>
          <a:bodyPr wrap="square">
            <a:spAutoFit/>
          </a:bodyPr>
          <a:lstStyle/>
          <a:p>
            <a:pPr algn="l"/>
            <a:r>
              <a:rPr lang="en-US" sz="2000" b="0" i="0" dirty="0">
                <a:solidFill>
                  <a:srgbClr val="1F1F1F"/>
                </a:solidFill>
                <a:effectLst/>
              </a:rPr>
              <a:t>Generative AI's applications extend far beyond mere content creation, transforming various industries with its innovative capabilities.</a:t>
            </a:r>
          </a:p>
          <a:p>
            <a:pPr algn="l"/>
            <a:endParaRPr lang="en-US" sz="2000" dirty="0">
              <a:solidFill>
                <a:srgbClr val="1F1F1F"/>
              </a:solidFill>
            </a:endParaRPr>
          </a:p>
          <a:p>
            <a:pPr algn="l"/>
            <a:r>
              <a:rPr lang="en-IN" sz="2000" b="1" i="0" dirty="0">
                <a:solidFill>
                  <a:srgbClr val="1F1F1F"/>
                </a:solidFill>
                <a:effectLst/>
              </a:rPr>
              <a:t>Healthcare</a:t>
            </a:r>
            <a:endParaRPr lang="en-US" sz="2000" b="1" i="0" dirty="0">
              <a:solidFill>
                <a:srgbClr val="1F1F1F"/>
              </a:solidFill>
              <a:effectLst/>
            </a:endParaRPr>
          </a:p>
          <a:p>
            <a:pPr marL="342900" indent="-342900" algn="l">
              <a:buFont typeface="Arial" panose="020B0604020202020204" pitchFamily="34" charset="0"/>
              <a:buChar char="•"/>
            </a:pPr>
            <a:r>
              <a:rPr lang="en-US" sz="2000" b="1" i="0" dirty="0">
                <a:solidFill>
                  <a:srgbClr val="1F1F1F"/>
                </a:solidFill>
                <a:effectLst/>
              </a:rPr>
              <a:t>Medical Report Generation: </a:t>
            </a:r>
            <a:r>
              <a:rPr lang="en-US" sz="2000" b="0" i="0" dirty="0">
                <a:solidFill>
                  <a:srgbClr val="1F1F1F"/>
                </a:solidFill>
                <a:effectLst/>
              </a:rPr>
              <a:t>Generate accurate and detailed medical reports, freeing up physicians' time for patient care.</a:t>
            </a:r>
          </a:p>
          <a:p>
            <a:pPr marL="342900" indent="-342900" algn="l">
              <a:buFont typeface="Arial" panose="020B0604020202020204" pitchFamily="34" charset="0"/>
              <a:buChar char="•"/>
            </a:pPr>
            <a:r>
              <a:rPr lang="en-US" sz="2000" b="1" i="0" dirty="0">
                <a:solidFill>
                  <a:srgbClr val="1F1F1F"/>
                </a:solidFill>
                <a:effectLst/>
              </a:rPr>
              <a:t>Drug Discovery: </a:t>
            </a:r>
            <a:r>
              <a:rPr lang="en-US" sz="2000" b="0" i="0" dirty="0">
                <a:solidFill>
                  <a:srgbClr val="1F1F1F"/>
                </a:solidFill>
                <a:effectLst/>
              </a:rPr>
              <a:t>Accelerate drug discovery by generating new molecules and simulating complex biological processes. </a:t>
            </a:r>
          </a:p>
          <a:p>
            <a:pPr algn="l">
              <a:buFont typeface="Arial" panose="020B0604020202020204" pitchFamily="34" charset="0"/>
              <a:buChar char="•"/>
            </a:pPr>
            <a:endParaRPr lang="en-US" sz="2000" dirty="0">
              <a:solidFill>
                <a:srgbClr val="1F1F1F"/>
              </a:solidFill>
            </a:endParaRPr>
          </a:p>
          <a:p>
            <a:pPr algn="l"/>
            <a:r>
              <a:rPr lang="en-IN" sz="2000" b="1" i="0" dirty="0">
                <a:solidFill>
                  <a:srgbClr val="1F1F1F"/>
                </a:solidFill>
                <a:effectLst/>
              </a:rPr>
              <a:t>Finance</a:t>
            </a:r>
          </a:p>
          <a:p>
            <a:pPr marL="342900" indent="-342900" algn="l">
              <a:buFont typeface="Arial" panose="020B0604020202020204" pitchFamily="34" charset="0"/>
              <a:buChar char="•"/>
            </a:pPr>
            <a:r>
              <a:rPr lang="en-IN" sz="2000" b="1" i="0" dirty="0">
                <a:solidFill>
                  <a:srgbClr val="1F1F1F"/>
                </a:solidFill>
                <a:effectLst/>
              </a:rPr>
              <a:t>Risk Assessment: </a:t>
            </a:r>
            <a:r>
              <a:rPr lang="en-IN" sz="2000" b="0" i="0" dirty="0">
                <a:solidFill>
                  <a:srgbClr val="1F1F1F"/>
                </a:solidFill>
                <a:effectLst/>
              </a:rPr>
              <a:t>Predict market trends and assess investment risks with enhanced accuracy.</a:t>
            </a:r>
          </a:p>
          <a:p>
            <a:pPr marL="342900" indent="-342900" algn="l">
              <a:buFont typeface="Arial" panose="020B0604020202020204" pitchFamily="34" charset="0"/>
              <a:buChar char="•"/>
            </a:pPr>
            <a:r>
              <a:rPr lang="en-IN" sz="2000" b="1" i="0" dirty="0">
                <a:solidFill>
                  <a:srgbClr val="1F1F1F"/>
                </a:solidFill>
                <a:effectLst/>
              </a:rPr>
              <a:t>Fraud Detection: </a:t>
            </a:r>
            <a:r>
              <a:rPr lang="en-IN" sz="2000" b="0" i="0" dirty="0">
                <a:solidFill>
                  <a:srgbClr val="1F1F1F"/>
                </a:solidFill>
                <a:effectLst/>
              </a:rPr>
              <a:t>Identify fraudulent activities faster and more efficiently, safeguarding financial systems.</a:t>
            </a:r>
            <a:endParaRPr lang="en-US" sz="2000" b="0" i="0" dirty="0">
              <a:solidFill>
                <a:srgbClr val="1F1F1F"/>
              </a:solidFill>
              <a:effectLst/>
            </a:endParaRPr>
          </a:p>
        </p:txBody>
      </p:sp>
      <p:sp>
        <p:nvSpPr>
          <p:cNvPr id="6" name="Title 1">
            <a:extLst>
              <a:ext uri="{FF2B5EF4-FFF2-40B4-BE49-F238E27FC236}">
                <a16:creationId xmlns:a16="http://schemas.microsoft.com/office/drawing/2014/main" id="{212039B1-E6E7-15CD-4055-55EBDA4566B4}"/>
              </a:ext>
            </a:extLst>
          </p:cNvPr>
          <p:cNvSpPr>
            <a:spLocks noGrp="1"/>
          </p:cNvSpPr>
          <p:nvPr>
            <p:ph type="title"/>
          </p:nvPr>
        </p:nvSpPr>
        <p:spPr>
          <a:xfrm>
            <a:off x="678881" y="603665"/>
            <a:ext cx="10834234" cy="612775"/>
          </a:xfrm>
        </p:spPr>
        <p:txBody>
          <a:bodyPr>
            <a:normAutofit/>
          </a:bodyPr>
          <a:lstStyle/>
          <a:p>
            <a:pPr algn="l"/>
            <a:r>
              <a:rPr lang="en-US" dirty="0"/>
              <a:t>Generative AI's Impact Across Industries</a:t>
            </a:r>
            <a:endParaRPr lang="en-IN" dirty="0"/>
          </a:p>
        </p:txBody>
      </p:sp>
    </p:spTree>
    <p:extLst>
      <p:ext uri="{BB962C8B-B14F-4D97-AF65-F5344CB8AC3E}">
        <p14:creationId xmlns:p14="http://schemas.microsoft.com/office/powerpoint/2010/main" val="2971854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4708981"/>
          </a:xfrm>
          <a:prstGeom prst="rect">
            <a:avLst/>
          </a:prstGeom>
          <a:noFill/>
        </p:spPr>
        <p:txBody>
          <a:bodyPr wrap="square">
            <a:spAutoFit/>
          </a:bodyPr>
          <a:lstStyle/>
          <a:p>
            <a:pPr algn="l"/>
            <a:r>
              <a:rPr lang="en-US" sz="2000" b="1" i="0" dirty="0">
                <a:solidFill>
                  <a:srgbClr val="1F1F1F"/>
                </a:solidFill>
                <a:effectLst/>
                <a:latin typeface="Google Sans"/>
              </a:rPr>
              <a:t>Content Creation</a:t>
            </a:r>
          </a:p>
          <a:p>
            <a:pPr marL="342900" indent="-342900" algn="l">
              <a:buFont typeface="Arial" panose="020B0604020202020204" pitchFamily="34" charset="0"/>
              <a:buChar char="•"/>
            </a:pPr>
            <a:r>
              <a:rPr lang="en-US" sz="2000" b="1" i="0" dirty="0">
                <a:solidFill>
                  <a:srgbClr val="1F1F1F"/>
                </a:solidFill>
                <a:effectLst/>
                <a:latin typeface="Google Sans"/>
              </a:rPr>
              <a:t>Writing Assistance: </a:t>
            </a:r>
            <a:r>
              <a:rPr lang="en-US" sz="2000" b="0" i="0" dirty="0">
                <a:solidFill>
                  <a:srgbClr val="1F1F1F"/>
                </a:solidFill>
                <a:effectLst/>
                <a:latin typeface="Google Sans"/>
              </a:rPr>
              <a:t>Assist writers with crafting content, generating outlines, and overcoming writer's block.</a:t>
            </a:r>
          </a:p>
          <a:p>
            <a:pPr marL="342900" indent="-342900" algn="l">
              <a:buFont typeface="Arial" panose="020B0604020202020204" pitchFamily="34" charset="0"/>
              <a:buChar char="•"/>
            </a:pPr>
            <a:r>
              <a:rPr lang="en-US" sz="2000" b="1" i="0" dirty="0">
                <a:solidFill>
                  <a:srgbClr val="1F1F1F"/>
                </a:solidFill>
                <a:effectLst/>
                <a:latin typeface="Google Sans"/>
              </a:rPr>
              <a:t>Creative Content Generation: </a:t>
            </a:r>
            <a:r>
              <a:rPr lang="en-US" sz="2000" b="0" i="0" dirty="0">
                <a:solidFill>
                  <a:srgbClr val="1F1F1F"/>
                </a:solidFill>
                <a:effectLst/>
                <a:latin typeface="Google Sans"/>
              </a:rPr>
              <a:t>Produce engaging and original content, including poems, scripts, and marketing materials</a:t>
            </a:r>
          </a:p>
          <a:p>
            <a:pPr algn="l"/>
            <a:endParaRPr lang="en-US" sz="2000" dirty="0">
              <a:solidFill>
                <a:srgbClr val="1F1F1F"/>
              </a:solidFill>
              <a:latin typeface="Google Sans"/>
            </a:endParaRPr>
          </a:p>
          <a:p>
            <a:pPr algn="l"/>
            <a:r>
              <a:rPr lang="en-US" sz="2000" b="1" i="0" dirty="0">
                <a:solidFill>
                  <a:srgbClr val="1F1F1F"/>
                </a:solidFill>
                <a:effectLst/>
                <a:latin typeface="Google Sans"/>
              </a:rPr>
              <a:t>Conversational Agents</a:t>
            </a:r>
          </a:p>
          <a:p>
            <a:pPr marL="342900" indent="-342900" algn="l">
              <a:buFont typeface="Arial" panose="020B0604020202020204" pitchFamily="34" charset="0"/>
              <a:buChar char="•"/>
            </a:pPr>
            <a:r>
              <a:rPr lang="en-US" sz="2000" b="1" i="0" dirty="0">
                <a:solidFill>
                  <a:srgbClr val="1F1F1F"/>
                </a:solidFill>
                <a:effectLst/>
                <a:latin typeface="Google Sans"/>
              </a:rPr>
              <a:t>Chatbots: </a:t>
            </a:r>
            <a:r>
              <a:rPr lang="en-US" sz="2000" b="0" i="0" dirty="0">
                <a:solidFill>
                  <a:srgbClr val="1F1F1F"/>
                </a:solidFill>
                <a:effectLst/>
                <a:latin typeface="Google Sans"/>
              </a:rPr>
              <a:t>Develop engaging and helpful chatbots that can provide customer service 24/7.</a:t>
            </a:r>
          </a:p>
          <a:p>
            <a:pPr marL="342900" indent="-342900" algn="l">
              <a:buFont typeface="Arial" panose="020B0604020202020204" pitchFamily="34" charset="0"/>
              <a:buChar char="•"/>
            </a:pPr>
            <a:r>
              <a:rPr lang="en-US" sz="2000" b="1" i="0" dirty="0">
                <a:solidFill>
                  <a:srgbClr val="1F1F1F"/>
                </a:solidFill>
                <a:effectLst/>
                <a:latin typeface="Google Sans"/>
              </a:rPr>
              <a:t>Virtual Assistants: </a:t>
            </a:r>
            <a:r>
              <a:rPr lang="en-US" sz="2000" b="0" i="0" dirty="0">
                <a:solidFill>
                  <a:srgbClr val="1F1F1F"/>
                </a:solidFill>
                <a:effectLst/>
                <a:latin typeface="Google Sans"/>
              </a:rPr>
              <a:t>Enhance user experience with personalized virtual assistants that can handle various tasks</a:t>
            </a:r>
          </a:p>
          <a:p>
            <a:pPr algn="l">
              <a:buFont typeface="Arial" panose="020B0604020202020204" pitchFamily="34" charset="0"/>
              <a:buChar char="•"/>
            </a:pPr>
            <a:endParaRPr lang="en-US" sz="2000" b="0" i="0" dirty="0">
              <a:solidFill>
                <a:srgbClr val="1F1F1F"/>
              </a:solidFill>
              <a:effectLst/>
              <a:latin typeface="Google Sans"/>
            </a:endParaRPr>
          </a:p>
          <a:p>
            <a:pPr algn="l"/>
            <a:r>
              <a:rPr lang="en-US" sz="2000" b="1" i="0" dirty="0">
                <a:solidFill>
                  <a:srgbClr val="1F1F1F"/>
                </a:solidFill>
                <a:effectLst/>
                <a:latin typeface="Google Sans"/>
              </a:rPr>
              <a:t>Research</a:t>
            </a:r>
          </a:p>
          <a:p>
            <a:pPr marL="342900" indent="-342900" algn="l">
              <a:buFont typeface="Arial" panose="020B0604020202020204" pitchFamily="34" charset="0"/>
              <a:buChar char="•"/>
            </a:pPr>
            <a:r>
              <a:rPr lang="en-US" sz="2000" b="1" i="0" dirty="0">
                <a:solidFill>
                  <a:srgbClr val="1F1F1F"/>
                </a:solidFill>
                <a:effectLst/>
                <a:latin typeface="Google Sans"/>
              </a:rPr>
              <a:t>Data Augmentation: </a:t>
            </a:r>
            <a:r>
              <a:rPr lang="en-US" sz="2000" b="0" i="0" dirty="0">
                <a:solidFill>
                  <a:srgbClr val="1F1F1F"/>
                </a:solidFill>
                <a:effectLst/>
                <a:latin typeface="Google Sans"/>
              </a:rPr>
              <a:t>Generate synthetic data to enhance research studies and improve model performance.</a:t>
            </a:r>
          </a:p>
          <a:p>
            <a:pPr marL="342900" indent="-342900" algn="l">
              <a:buFont typeface="Arial" panose="020B0604020202020204" pitchFamily="34" charset="0"/>
              <a:buChar char="•"/>
            </a:pPr>
            <a:r>
              <a:rPr lang="en-US" sz="2000" b="1" i="0" dirty="0">
                <a:solidFill>
                  <a:srgbClr val="1F1F1F"/>
                </a:solidFill>
                <a:effectLst/>
                <a:latin typeface="Google Sans"/>
              </a:rPr>
              <a:t>Hypothesis Generation: </a:t>
            </a:r>
            <a:r>
              <a:rPr lang="en-US" sz="2000" b="0" i="0" dirty="0">
                <a:solidFill>
                  <a:srgbClr val="1F1F1F"/>
                </a:solidFill>
                <a:effectLst/>
                <a:latin typeface="Google Sans"/>
              </a:rPr>
              <a:t>Formulate new and innovative research hypotheses based on vast datasets. </a:t>
            </a:r>
          </a:p>
        </p:txBody>
      </p:sp>
      <p:sp>
        <p:nvSpPr>
          <p:cNvPr id="7" name="Title 1">
            <a:extLst>
              <a:ext uri="{FF2B5EF4-FFF2-40B4-BE49-F238E27FC236}">
                <a16:creationId xmlns:a16="http://schemas.microsoft.com/office/drawing/2014/main" id="{E64D2AFC-2AC1-C34E-9656-23810142862C}"/>
              </a:ext>
            </a:extLst>
          </p:cNvPr>
          <p:cNvSpPr>
            <a:spLocks noGrp="1"/>
          </p:cNvSpPr>
          <p:nvPr>
            <p:ph type="title"/>
          </p:nvPr>
        </p:nvSpPr>
        <p:spPr>
          <a:xfrm>
            <a:off x="678881" y="603665"/>
            <a:ext cx="10834234" cy="612775"/>
          </a:xfrm>
        </p:spPr>
        <p:txBody>
          <a:bodyPr/>
          <a:lstStyle/>
          <a:p>
            <a:r>
              <a:rPr lang="en-IN" dirty="0"/>
              <a:t>Cont…</a:t>
            </a:r>
          </a:p>
        </p:txBody>
      </p:sp>
    </p:spTree>
    <p:extLst>
      <p:ext uri="{BB962C8B-B14F-4D97-AF65-F5344CB8AC3E}">
        <p14:creationId xmlns:p14="http://schemas.microsoft.com/office/powerpoint/2010/main" val="3072462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816429"/>
          </a:xfrm>
          <a:prstGeom prst="rect">
            <a:avLst/>
          </a:prstGeom>
          <a:noFill/>
        </p:spPr>
        <p:txBody>
          <a:bodyPr wrap="square">
            <a:spAutoFit/>
          </a:bodyPr>
          <a:lstStyle/>
          <a:p>
            <a:pPr marL="342900" indent="-342900" algn="l">
              <a:buFont typeface="Arial" panose="020B0604020202020204" pitchFamily="34" charset="0"/>
              <a:buChar char="•"/>
            </a:pPr>
            <a:r>
              <a:rPr lang="en-US" sz="2200" b="1" i="0" dirty="0">
                <a:solidFill>
                  <a:srgbClr val="1F1F1F"/>
                </a:solidFill>
                <a:effectLst/>
                <a:latin typeface="Google Sans"/>
              </a:rPr>
              <a:t>Bias: </a:t>
            </a:r>
            <a:r>
              <a:rPr lang="en-US" sz="2200" b="0" i="0" dirty="0">
                <a:solidFill>
                  <a:srgbClr val="1F1F1F"/>
                </a:solidFill>
                <a:effectLst/>
                <a:latin typeface="Google Sans"/>
              </a:rPr>
              <a:t>AI models are trained on data, and any biases in that data can be reflected in the outputs they generate. This can lead to unfair or discriminatory results.</a:t>
            </a:r>
          </a:p>
          <a:p>
            <a:pPr marL="342900" indent="-342900" algn="l">
              <a:buFont typeface="Arial" panose="020B0604020202020204" pitchFamily="34" charset="0"/>
              <a:buChar char="•"/>
            </a:pPr>
            <a:endParaRPr lang="en-US" sz="2200" b="0" i="0" dirty="0">
              <a:solidFill>
                <a:srgbClr val="1F1F1F"/>
              </a:solidFill>
              <a:effectLst/>
              <a:latin typeface="Google Sans"/>
            </a:endParaRPr>
          </a:p>
          <a:p>
            <a:pPr marL="342900" indent="-342900" algn="l">
              <a:buFont typeface="Arial" panose="020B0604020202020204" pitchFamily="34" charset="0"/>
              <a:buChar char="•"/>
            </a:pPr>
            <a:r>
              <a:rPr lang="en-US" sz="2200" b="1" i="0" dirty="0">
                <a:solidFill>
                  <a:srgbClr val="1F1F1F"/>
                </a:solidFill>
                <a:effectLst/>
                <a:latin typeface="Google Sans"/>
              </a:rPr>
              <a:t>Mitigation: </a:t>
            </a:r>
            <a:r>
              <a:rPr lang="en-US" sz="2200" b="0" i="0" dirty="0">
                <a:solidFill>
                  <a:srgbClr val="1F1F1F"/>
                </a:solidFill>
                <a:effectLst/>
                <a:latin typeface="Google Sans"/>
              </a:rPr>
              <a:t>Developers can use various techniques to mitigate bias, such as diversifying training data and using debiasing algorithms.</a:t>
            </a:r>
          </a:p>
          <a:p>
            <a:pPr marL="342900" indent="-342900" algn="l">
              <a:buFont typeface="Arial" panose="020B0604020202020204" pitchFamily="34" charset="0"/>
              <a:buChar char="•"/>
            </a:pPr>
            <a:endParaRPr lang="en-US" sz="2200" b="0" i="0" dirty="0">
              <a:solidFill>
                <a:srgbClr val="1F1F1F"/>
              </a:solidFill>
              <a:effectLst/>
              <a:latin typeface="Google Sans"/>
            </a:endParaRPr>
          </a:p>
          <a:p>
            <a:pPr marL="342900" indent="-342900" algn="l">
              <a:buFont typeface="Arial" panose="020B0604020202020204" pitchFamily="34" charset="0"/>
              <a:buChar char="•"/>
            </a:pPr>
            <a:r>
              <a:rPr lang="en-US" sz="2200" b="1" i="0" dirty="0">
                <a:solidFill>
                  <a:srgbClr val="1F1F1F"/>
                </a:solidFill>
                <a:effectLst/>
                <a:latin typeface="Google Sans"/>
              </a:rPr>
              <a:t>Monitoring: </a:t>
            </a:r>
            <a:r>
              <a:rPr lang="en-US" sz="2200" b="0" i="0" dirty="0">
                <a:solidFill>
                  <a:srgbClr val="1F1F1F"/>
                </a:solidFill>
                <a:effectLst/>
                <a:latin typeface="Google Sans"/>
              </a:rPr>
              <a:t>It is important to continuously monitor AI models for bias and take corrective action as needed.</a:t>
            </a:r>
          </a:p>
          <a:p>
            <a:pPr marL="342900" indent="-342900" algn="l">
              <a:buFont typeface="Arial" panose="020B0604020202020204" pitchFamily="34" charset="0"/>
              <a:buChar char="•"/>
            </a:pPr>
            <a:endParaRPr lang="en-US" sz="2200" b="0" i="0" dirty="0">
              <a:solidFill>
                <a:srgbClr val="1F1F1F"/>
              </a:solidFill>
              <a:effectLst/>
              <a:latin typeface="Google Sans"/>
            </a:endParaRPr>
          </a:p>
          <a:p>
            <a:pPr marL="342900" indent="-342900" algn="l">
              <a:buFont typeface="Arial" panose="020B0604020202020204" pitchFamily="34" charset="0"/>
              <a:buChar char="•"/>
            </a:pPr>
            <a:r>
              <a:rPr lang="en-US" sz="2200" b="1" i="0" dirty="0">
                <a:solidFill>
                  <a:srgbClr val="1F1F1F"/>
                </a:solidFill>
                <a:effectLst/>
                <a:latin typeface="Google Sans"/>
              </a:rPr>
              <a:t>Guidelines: </a:t>
            </a:r>
            <a:r>
              <a:rPr lang="en-US" sz="2200" b="0" i="0" dirty="0">
                <a:solidFill>
                  <a:srgbClr val="1F1F1F"/>
                </a:solidFill>
                <a:effectLst/>
                <a:latin typeface="Google Sans"/>
              </a:rPr>
              <a:t>We need ethical guidelines for the development and deployment of AI, to ensure it is used responsibly and benefits everyone.</a:t>
            </a:r>
          </a:p>
        </p:txBody>
      </p:sp>
      <p:sp>
        <p:nvSpPr>
          <p:cNvPr id="7" name="Title 1">
            <a:extLst>
              <a:ext uri="{FF2B5EF4-FFF2-40B4-BE49-F238E27FC236}">
                <a16:creationId xmlns:a16="http://schemas.microsoft.com/office/drawing/2014/main" id="{E64D2AFC-2AC1-C34E-9656-23810142862C}"/>
              </a:ext>
            </a:extLst>
          </p:cNvPr>
          <p:cNvSpPr>
            <a:spLocks noGrp="1"/>
          </p:cNvSpPr>
          <p:nvPr>
            <p:ph type="title"/>
          </p:nvPr>
        </p:nvSpPr>
        <p:spPr>
          <a:xfrm>
            <a:off x="678881" y="603665"/>
            <a:ext cx="10834234" cy="612775"/>
          </a:xfrm>
        </p:spPr>
        <p:txBody>
          <a:bodyPr>
            <a:normAutofit/>
          </a:bodyPr>
          <a:lstStyle/>
          <a:p>
            <a:pPr algn="l" rtl="0"/>
            <a:r>
              <a:rPr lang="en-US" dirty="0"/>
              <a:t>Ethical Considerations and Potential Biases</a:t>
            </a:r>
            <a:endParaRPr lang="en-IN" dirty="0"/>
          </a:p>
        </p:txBody>
      </p:sp>
    </p:spTree>
    <p:extLst>
      <p:ext uri="{BB962C8B-B14F-4D97-AF65-F5344CB8AC3E}">
        <p14:creationId xmlns:p14="http://schemas.microsoft.com/office/powerpoint/2010/main" val="432419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139321"/>
          </a:xfrm>
          <a:prstGeom prst="rect">
            <a:avLst/>
          </a:prstGeom>
          <a:noFill/>
        </p:spPr>
        <p:txBody>
          <a:bodyPr wrap="square">
            <a:spAutoFit/>
          </a:bodyPr>
          <a:lstStyle/>
          <a:p>
            <a:pPr algn="l"/>
            <a:r>
              <a:rPr lang="en-US" sz="2200" b="1" i="0" dirty="0">
                <a:solidFill>
                  <a:srgbClr val="1F1F1F"/>
                </a:solidFill>
                <a:effectLst/>
              </a:rPr>
              <a:t>Evolving Beyond RNNs</a:t>
            </a:r>
          </a:p>
          <a:p>
            <a:pPr algn="l"/>
            <a:endParaRPr lang="en-US" sz="2200" b="1" i="0" dirty="0">
              <a:solidFill>
                <a:srgbClr val="1F1F1F"/>
              </a:solidFill>
              <a:effectLst/>
            </a:endParaRPr>
          </a:p>
          <a:p>
            <a:pPr algn="l"/>
            <a:r>
              <a:rPr lang="en-US" sz="2200" b="0" i="0" dirty="0">
                <a:solidFill>
                  <a:srgbClr val="1F1F1F"/>
                </a:solidFill>
                <a:effectLst/>
              </a:rPr>
              <a:t>For a long time, Recurrent Neural Networks (RNNs) were the dominant architecture for processing sequential data like text. However, they suffered from limitations such as:</a:t>
            </a:r>
          </a:p>
          <a:p>
            <a:pPr algn="l"/>
            <a:endParaRPr lang="en-US" sz="2200" b="0" i="0" dirty="0">
              <a:solidFill>
                <a:srgbClr val="1F1F1F"/>
              </a:solidFill>
              <a:effectLst/>
            </a:endParaRPr>
          </a:p>
          <a:p>
            <a:pPr marL="342900" indent="-342900" algn="l">
              <a:buFont typeface="Arial" panose="020B0604020202020204" pitchFamily="34" charset="0"/>
              <a:buChar char="•"/>
            </a:pPr>
            <a:r>
              <a:rPr lang="en-US" sz="2200" b="1" i="0" dirty="0">
                <a:solidFill>
                  <a:srgbClr val="1F1F1F"/>
                </a:solidFill>
                <a:effectLst/>
              </a:rPr>
              <a:t>Vanishing gradients: </a:t>
            </a:r>
            <a:r>
              <a:rPr lang="en-US" sz="2200" b="0" i="0" dirty="0">
                <a:solidFill>
                  <a:srgbClr val="1F1F1F"/>
                </a:solidFill>
                <a:effectLst/>
              </a:rPr>
              <a:t>Long sequences could cause gradients to become too small, hindering learning.</a:t>
            </a:r>
          </a:p>
          <a:p>
            <a:pPr marL="342900" indent="-342900" algn="l">
              <a:buFont typeface="Arial" panose="020B0604020202020204" pitchFamily="34" charset="0"/>
              <a:buChar char="•"/>
            </a:pPr>
            <a:r>
              <a:rPr lang="en-US" sz="2200" b="1" i="0" dirty="0">
                <a:solidFill>
                  <a:srgbClr val="1F1F1F"/>
                </a:solidFill>
                <a:effectLst/>
              </a:rPr>
              <a:t>Serial processing: </a:t>
            </a:r>
            <a:r>
              <a:rPr lang="en-US" sz="2200" b="0" i="0" dirty="0">
                <a:solidFill>
                  <a:srgbClr val="1F1F1F"/>
                </a:solidFill>
                <a:effectLst/>
              </a:rPr>
              <a:t>RNNs need to process each element in a sequence sequentially, limiting their speed.</a:t>
            </a:r>
          </a:p>
        </p:txBody>
      </p:sp>
      <p:sp>
        <p:nvSpPr>
          <p:cNvPr id="7" name="Title 1">
            <a:extLst>
              <a:ext uri="{FF2B5EF4-FFF2-40B4-BE49-F238E27FC236}">
                <a16:creationId xmlns:a16="http://schemas.microsoft.com/office/drawing/2014/main" id="{E64D2AFC-2AC1-C34E-9656-23810142862C}"/>
              </a:ext>
            </a:extLst>
          </p:cNvPr>
          <p:cNvSpPr>
            <a:spLocks noGrp="1"/>
          </p:cNvSpPr>
          <p:nvPr>
            <p:ph type="title"/>
          </p:nvPr>
        </p:nvSpPr>
        <p:spPr>
          <a:xfrm>
            <a:off x="678881" y="603665"/>
            <a:ext cx="10834234" cy="612775"/>
          </a:xfrm>
        </p:spPr>
        <p:txBody>
          <a:bodyPr>
            <a:normAutofit/>
          </a:bodyPr>
          <a:lstStyle/>
          <a:p>
            <a:pPr algn="l" rtl="0"/>
            <a:r>
              <a:rPr lang="en-IN" dirty="0"/>
              <a:t>Introduction to Transformers</a:t>
            </a:r>
          </a:p>
        </p:txBody>
      </p:sp>
    </p:spTree>
    <p:extLst>
      <p:ext uri="{BB962C8B-B14F-4D97-AF65-F5344CB8AC3E}">
        <p14:creationId xmlns:p14="http://schemas.microsoft.com/office/powerpoint/2010/main" val="30967279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64108" y="1384322"/>
            <a:ext cx="10949010" cy="3816429"/>
          </a:xfrm>
          <a:prstGeom prst="rect">
            <a:avLst/>
          </a:prstGeom>
          <a:noFill/>
        </p:spPr>
        <p:txBody>
          <a:bodyPr wrap="square">
            <a:spAutoFit/>
          </a:bodyPr>
          <a:lstStyle/>
          <a:p>
            <a:pPr algn="l"/>
            <a:r>
              <a:rPr lang="en-US" sz="2200" b="1" i="0" dirty="0">
                <a:solidFill>
                  <a:srgbClr val="1F1F1F"/>
                </a:solidFill>
                <a:effectLst/>
              </a:rPr>
              <a:t>The Transformer's Arrival</a:t>
            </a:r>
          </a:p>
          <a:p>
            <a:pPr algn="l"/>
            <a:endParaRPr lang="en-US" sz="2200" b="1" i="0" dirty="0">
              <a:solidFill>
                <a:srgbClr val="1F1F1F"/>
              </a:solidFill>
              <a:effectLst/>
            </a:endParaRPr>
          </a:p>
          <a:p>
            <a:pPr algn="l"/>
            <a:r>
              <a:rPr lang="en-US" sz="2200" b="0" i="0" dirty="0">
                <a:solidFill>
                  <a:srgbClr val="1F1F1F"/>
                </a:solidFill>
                <a:effectLst/>
              </a:rPr>
              <a:t>The Transformer architecture, introduced in 2017, revolutionized NLP by overcoming RNNs' limitations. It utilizes:</a:t>
            </a:r>
          </a:p>
          <a:p>
            <a:pPr algn="l"/>
            <a:endParaRPr lang="en-US" sz="2200" b="0" i="0" dirty="0">
              <a:solidFill>
                <a:srgbClr val="1F1F1F"/>
              </a:solidFill>
              <a:effectLst/>
            </a:endParaRPr>
          </a:p>
          <a:p>
            <a:pPr marL="342900" indent="-342900" algn="l">
              <a:buFont typeface="Arial" panose="020B0604020202020204" pitchFamily="34" charset="0"/>
              <a:buChar char="•"/>
            </a:pPr>
            <a:r>
              <a:rPr lang="en-US" sz="2200" b="1" i="0" dirty="0">
                <a:solidFill>
                  <a:srgbClr val="1F1F1F"/>
                </a:solidFill>
                <a:effectLst/>
              </a:rPr>
              <a:t>Self-attention mechanism: </a:t>
            </a:r>
            <a:r>
              <a:rPr lang="en-US" sz="2200" b="0" i="0" dirty="0">
                <a:solidFill>
                  <a:srgbClr val="1F1F1F"/>
                </a:solidFill>
                <a:effectLst/>
              </a:rPr>
              <a:t>Allows each element in the sequence to attend to all other elements, capturing long-range dependencies effectively.</a:t>
            </a:r>
          </a:p>
          <a:p>
            <a:pPr marL="342900" indent="-342900" algn="l">
              <a:buFont typeface="Arial" panose="020B0604020202020204" pitchFamily="34" charset="0"/>
              <a:buChar char="•"/>
            </a:pPr>
            <a:r>
              <a:rPr lang="en-US" sz="2200" b="1" i="0" dirty="0">
                <a:solidFill>
                  <a:srgbClr val="1F1F1F"/>
                </a:solidFill>
                <a:effectLst/>
              </a:rPr>
              <a:t>Encoder-decoder structure: </a:t>
            </a:r>
            <a:r>
              <a:rPr lang="en-US" sz="2200" b="0" i="0" dirty="0">
                <a:solidFill>
                  <a:srgbClr val="1F1F1F"/>
                </a:solidFill>
                <a:effectLst/>
              </a:rPr>
              <a:t>Encodes the input sequence and then decodes it to generate the desired output.</a:t>
            </a:r>
          </a:p>
          <a:p>
            <a:pPr marL="342900" indent="-342900" algn="l">
              <a:buFont typeface="Arial" panose="020B0604020202020204" pitchFamily="34" charset="0"/>
              <a:buChar char="•"/>
            </a:pPr>
            <a:r>
              <a:rPr lang="en-US" sz="2200" b="1" i="0" dirty="0">
                <a:solidFill>
                  <a:srgbClr val="1F1F1F"/>
                </a:solidFill>
                <a:effectLst/>
              </a:rPr>
              <a:t>Parallelization: </a:t>
            </a:r>
            <a:r>
              <a:rPr lang="en-US" sz="2200" b="0" i="0" dirty="0">
                <a:solidFill>
                  <a:srgbClr val="1F1F1F"/>
                </a:solidFill>
                <a:effectLst/>
              </a:rPr>
              <a:t>Computes attention scores simultaneously, allowing for much faster training and inference compared to RNNs.</a:t>
            </a:r>
          </a:p>
        </p:txBody>
      </p:sp>
      <p:sp>
        <p:nvSpPr>
          <p:cNvPr id="4" name="Title 1">
            <a:extLst>
              <a:ext uri="{FF2B5EF4-FFF2-40B4-BE49-F238E27FC236}">
                <a16:creationId xmlns:a16="http://schemas.microsoft.com/office/drawing/2014/main" id="{53E891D3-DDC4-A33E-CA88-66D385CBEEE2}"/>
              </a:ext>
            </a:extLst>
          </p:cNvPr>
          <p:cNvSpPr>
            <a:spLocks noGrp="1"/>
          </p:cNvSpPr>
          <p:nvPr>
            <p:ph type="title"/>
          </p:nvPr>
        </p:nvSpPr>
        <p:spPr>
          <a:xfrm>
            <a:off x="678881" y="603665"/>
            <a:ext cx="10834234" cy="612775"/>
          </a:xfrm>
        </p:spPr>
        <p:txBody>
          <a:bodyPr/>
          <a:lstStyle/>
          <a:p>
            <a:r>
              <a:rPr lang="en-IN" dirty="0"/>
              <a:t>Cont…</a:t>
            </a:r>
          </a:p>
        </p:txBody>
      </p:sp>
    </p:spTree>
    <p:extLst>
      <p:ext uri="{BB962C8B-B14F-4D97-AF65-F5344CB8AC3E}">
        <p14:creationId xmlns:p14="http://schemas.microsoft.com/office/powerpoint/2010/main" val="2070934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E891D3-DDC4-A33E-CA88-66D385CBEEE2}"/>
              </a:ext>
            </a:extLst>
          </p:cNvPr>
          <p:cNvSpPr>
            <a:spLocks noGrp="1"/>
          </p:cNvSpPr>
          <p:nvPr>
            <p:ph type="title"/>
          </p:nvPr>
        </p:nvSpPr>
        <p:spPr>
          <a:xfrm>
            <a:off x="678881" y="603665"/>
            <a:ext cx="10834234" cy="612775"/>
          </a:xfrm>
        </p:spPr>
        <p:txBody>
          <a:bodyPr/>
          <a:lstStyle/>
          <a:p>
            <a:r>
              <a:rPr lang="en-IN" dirty="0"/>
              <a:t>Cont…</a:t>
            </a:r>
          </a:p>
        </p:txBody>
      </p:sp>
      <p:pic>
        <p:nvPicPr>
          <p:cNvPr id="11" name="Picture 10" descr="A diagram of a teacher teaching&#10;&#10;Description automatically generated">
            <a:extLst>
              <a:ext uri="{FF2B5EF4-FFF2-40B4-BE49-F238E27FC236}">
                <a16:creationId xmlns:a16="http://schemas.microsoft.com/office/drawing/2014/main" id="{0BAD8D2E-E716-CFE1-ED4B-0D76A7817061}"/>
              </a:ext>
            </a:extLst>
          </p:cNvPr>
          <p:cNvPicPr>
            <a:picLocks noChangeAspect="1"/>
          </p:cNvPicPr>
          <p:nvPr/>
        </p:nvPicPr>
        <p:blipFill rotWithShape="1">
          <a:blip r:embed="rId3">
            <a:extLst>
              <a:ext uri="{28A0092B-C50C-407E-A947-70E740481C1C}">
                <a14:useLocalDpi xmlns:a14="http://schemas.microsoft.com/office/drawing/2010/main" val="0"/>
              </a:ext>
            </a:extLst>
          </a:blip>
          <a:srcRect l="31737" r="16380"/>
          <a:stretch/>
        </p:blipFill>
        <p:spPr>
          <a:xfrm>
            <a:off x="7458633" y="1080547"/>
            <a:ext cx="4426005" cy="4798497"/>
          </a:xfrm>
          <a:prstGeom prst="rect">
            <a:avLst/>
          </a:prstGeom>
        </p:spPr>
      </p:pic>
      <p:sp>
        <p:nvSpPr>
          <p:cNvPr id="12" name="TextBox 11">
            <a:extLst>
              <a:ext uri="{FF2B5EF4-FFF2-40B4-BE49-F238E27FC236}">
                <a16:creationId xmlns:a16="http://schemas.microsoft.com/office/drawing/2014/main" id="{323CB577-0381-1389-2E29-8C7A31A70D27}"/>
              </a:ext>
            </a:extLst>
          </p:cNvPr>
          <p:cNvSpPr txBox="1"/>
          <p:nvPr/>
        </p:nvSpPr>
        <p:spPr>
          <a:xfrm>
            <a:off x="482172" y="1279194"/>
            <a:ext cx="6469957" cy="4401205"/>
          </a:xfrm>
          <a:prstGeom prst="rect">
            <a:avLst/>
          </a:prstGeom>
          <a:noFill/>
        </p:spPr>
        <p:txBody>
          <a:bodyPr wrap="square">
            <a:spAutoFit/>
          </a:bodyPr>
          <a:lstStyle/>
          <a:p>
            <a:pPr algn="l"/>
            <a:r>
              <a:rPr lang="en-US" sz="2000" b="1" i="0" dirty="0">
                <a:solidFill>
                  <a:srgbClr val="1F1F1F"/>
                </a:solidFill>
                <a:effectLst/>
              </a:rPr>
              <a:t>Self Attention Mechanism</a:t>
            </a:r>
          </a:p>
          <a:p>
            <a:pPr algn="l"/>
            <a:endParaRPr lang="en-US" sz="2000" b="1" i="0" dirty="0">
              <a:solidFill>
                <a:srgbClr val="1F1F1F"/>
              </a:solidFill>
              <a:effectLst/>
            </a:endParaRPr>
          </a:p>
          <a:p>
            <a:pPr algn="l"/>
            <a:r>
              <a:rPr lang="en-US" sz="2000" b="1" i="0" dirty="0">
                <a:solidFill>
                  <a:srgbClr val="1F1F1F"/>
                </a:solidFill>
                <a:effectLst/>
              </a:rPr>
              <a:t>What it does:</a:t>
            </a:r>
          </a:p>
          <a:p>
            <a:pPr marL="742950" lvl="1" indent="-285750" algn="l">
              <a:buFont typeface="Arial" panose="020B0604020202020204" pitchFamily="34" charset="0"/>
              <a:buChar char="•"/>
            </a:pPr>
            <a:r>
              <a:rPr lang="en-US" sz="2000" b="0" i="0" dirty="0">
                <a:solidFill>
                  <a:srgbClr val="1F1F1F"/>
                </a:solidFill>
                <a:effectLst/>
              </a:rPr>
              <a:t>Captures long-range dependencies between words.</a:t>
            </a:r>
          </a:p>
          <a:p>
            <a:pPr marL="742950" lvl="1" indent="-285750" algn="l">
              <a:buFont typeface="Arial" panose="020B0604020202020204" pitchFamily="34" charset="0"/>
              <a:buChar char="•"/>
            </a:pPr>
            <a:r>
              <a:rPr lang="en-US" sz="2000" b="0" i="0" dirty="0">
                <a:solidFill>
                  <a:srgbClr val="1F1F1F"/>
                </a:solidFill>
                <a:effectLst/>
              </a:rPr>
              <a:t>Understands context for richer interpretations.</a:t>
            </a:r>
          </a:p>
          <a:p>
            <a:pPr marL="742950" lvl="1" indent="-285750" algn="l">
              <a:buFont typeface="Arial" panose="020B0604020202020204" pitchFamily="34" charset="0"/>
              <a:buChar char="•"/>
            </a:pPr>
            <a:r>
              <a:rPr lang="en-US" sz="2000" b="0" i="0" dirty="0">
                <a:solidFill>
                  <a:srgbClr val="1F1F1F"/>
                </a:solidFill>
                <a:effectLst/>
              </a:rPr>
              <a:t>Enables efficient parallelization for faster training and inference.</a:t>
            </a:r>
          </a:p>
          <a:p>
            <a:pPr lvl="1" algn="l"/>
            <a:endParaRPr lang="en-US" sz="2000" b="0" i="0" dirty="0">
              <a:solidFill>
                <a:srgbClr val="1F1F1F"/>
              </a:solidFill>
              <a:effectLst/>
            </a:endParaRPr>
          </a:p>
          <a:p>
            <a:pPr algn="l"/>
            <a:r>
              <a:rPr lang="en-US" sz="2000" b="1" i="0" dirty="0">
                <a:solidFill>
                  <a:srgbClr val="1F1F1F"/>
                </a:solidFill>
                <a:effectLst/>
              </a:rPr>
              <a:t>How it works:</a:t>
            </a:r>
          </a:p>
          <a:p>
            <a:pPr marL="742950" lvl="1" indent="-285750" algn="l">
              <a:buFont typeface="Arial" panose="020B0604020202020204" pitchFamily="34" charset="0"/>
              <a:buChar char="•"/>
            </a:pPr>
            <a:r>
              <a:rPr lang="en-US" sz="2000" b="0" i="0" dirty="0">
                <a:solidFill>
                  <a:srgbClr val="1F1F1F"/>
                </a:solidFill>
                <a:effectLst/>
              </a:rPr>
              <a:t>Each word gets "query," "key," and "value" vectors.</a:t>
            </a:r>
          </a:p>
          <a:p>
            <a:pPr marL="742950" lvl="1" indent="-285750" algn="l">
              <a:buFont typeface="Arial" panose="020B0604020202020204" pitchFamily="34" charset="0"/>
              <a:buChar char="•"/>
            </a:pPr>
            <a:r>
              <a:rPr lang="en-US" sz="2000" b="0" i="0" dirty="0">
                <a:solidFill>
                  <a:srgbClr val="1F1F1F"/>
                </a:solidFill>
                <a:effectLst/>
              </a:rPr>
              <a:t>Attention scores measure how relevant each word is to others.</a:t>
            </a:r>
          </a:p>
          <a:p>
            <a:pPr marL="742950" lvl="1" indent="-285750" algn="l">
              <a:buFont typeface="Arial" panose="020B0604020202020204" pitchFamily="34" charset="0"/>
              <a:buChar char="•"/>
            </a:pPr>
            <a:r>
              <a:rPr lang="en-US" sz="2000" b="0" i="0" dirty="0">
                <a:solidFill>
                  <a:srgbClr val="1F1F1F"/>
                </a:solidFill>
                <a:effectLst/>
              </a:rPr>
              <a:t>Words are combined based on their relevance, creating richer representations.</a:t>
            </a:r>
          </a:p>
        </p:txBody>
      </p:sp>
    </p:spTree>
    <p:extLst>
      <p:ext uri="{BB962C8B-B14F-4D97-AF65-F5344CB8AC3E}">
        <p14:creationId xmlns:p14="http://schemas.microsoft.com/office/powerpoint/2010/main" val="16307439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D65E8A-8191-8F57-DAF1-09FDF14FDAFA}"/>
              </a:ext>
            </a:extLst>
          </p:cNvPr>
          <p:cNvSpPr txBox="1"/>
          <p:nvPr/>
        </p:nvSpPr>
        <p:spPr>
          <a:xfrm>
            <a:off x="550661" y="1285710"/>
            <a:ext cx="11090010" cy="4154984"/>
          </a:xfrm>
          <a:prstGeom prst="rect">
            <a:avLst/>
          </a:prstGeom>
          <a:noFill/>
        </p:spPr>
        <p:txBody>
          <a:bodyPr wrap="square">
            <a:spAutoFit/>
          </a:bodyPr>
          <a:lstStyle/>
          <a:p>
            <a:pPr algn="l"/>
            <a:r>
              <a:rPr lang="en-US" sz="2200" b="1" i="0" dirty="0">
                <a:solidFill>
                  <a:srgbClr val="1F1F1F"/>
                </a:solidFill>
                <a:effectLst/>
                <a:latin typeface="Google Sans"/>
              </a:rPr>
              <a:t>Parallel Processing Power</a:t>
            </a:r>
          </a:p>
          <a:p>
            <a:pPr algn="l"/>
            <a:endParaRPr lang="en-US" sz="2200" b="1" i="0" dirty="0">
              <a:solidFill>
                <a:srgbClr val="1F1F1F"/>
              </a:solidFill>
              <a:effectLst/>
              <a:latin typeface="Google Sans"/>
            </a:endParaRPr>
          </a:p>
          <a:p>
            <a:pPr algn="l"/>
            <a:r>
              <a:rPr lang="en-US" sz="2200" b="0" i="0" dirty="0">
                <a:solidFill>
                  <a:srgbClr val="1F1F1F"/>
                </a:solidFill>
                <a:effectLst/>
                <a:latin typeface="Google Sans"/>
              </a:rPr>
              <a:t>Unlike RNNs, which process elements sequentially, transformers can calculate attention scores for all pairs of elements simultaneously. This enables them to take advantage of parallel processing capabilities of modern hardware, significantly accelerating training and inference.</a:t>
            </a:r>
          </a:p>
          <a:p>
            <a:pPr algn="l"/>
            <a:endParaRPr lang="en-US" sz="2200" b="0" i="0" dirty="0">
              <a:solidFill>
                <a:srgbClr val="1F1F1F"/>
              </a:solidFill>
              <a:effectLst/>
              <a:latin typeface="Google Sans"/>
            </a:endParaRPr>
          </a:p>
          <a:p>
            <a:pPr algn="l"/>
            <a:r>
              <a:rPr lang="en-US" sz="2200" b="0" i="0" dirty="0">
                <a:solidFill>
                  <a:srgbClr val="1F1F1F"/>
                </a:solidFill>
                <a:effectLst/>
                <a:latin typeface="Google Sans"/>
              </a:rPr>
              <a:t>Transformers have become the fundamental building block for many NLP applications, including:</a:t>
            </a:r>
          </a:p>
          <a:p>
            <a:pPr marL="800100" lvl="1" indent="-342900">
              <a:buFont typeface="Arial" panose="020B0604020202020204" pitchFamily="34" charset="0"/>
              <a:buChar char="•"/>
            </a:pPr>
            <a:r>
              <a:rPr lang="en-US" sz="2200" b="0" i="0" dirty="0">
                <a:solidFill>
                  <a:srgbClr val="1F1F1F"/>
                </a:solidFill>
                <a:effectLst/>
                <a:latin typeface="Google Sans"/>
              </a:rPr>
              <a:t>Machine translation</a:t>
            </a:r>
          </a:p>
          <a:p>
            <a:pPr marL="800100" lvl="1" indent="-342900">
              <a:buFont typeface="Arial" panose="020B0604020202020204" pitchFamily="34" charset="0"/>
              <a:buChar char="•"/>
            </a:pPr>
            <a:r>
              <a:rPr lang="en-US" sz="2200" b="0" i="0" dirty="0">
                <a:solidFill>
                  <a:srgbClr val="1F1F1F"/>
                </a:solidFill>
                <a:effectLst/>
                <a:latin typeface="Google Sans"/>
              </a:rPr>
              <a:t>Text summarization</a:t>
            </a:r>
          </a:p>
          <a:p>
            <a:pPr marL="800100" lvl="1" indent="-342900">
              <a:buFont typeface="Arial" panose="020B0604020202020204" pitchFamily="34" charset="0"/>
              <a:buChar char="•"/>
            </a:pPr>
            <a:r>
              <a:rPr lang="en-US" sz="2200" b="0" i="0" dirty="0">
                <a:solidFill>
                  <a:srgbClr val="1F1F1F"/>
                </a:solidFill>
                <a:effectLst/>
                <a:latin typeface="Google Sans"/>
              </a:rPr>
              <a:t>Question answering</a:t>
            </a:r>
          </a:p>
          <a:p>
            <a:pPr marL="800100" lvl="1" indent="-342900">
              <a:buFont typeface="Arial" panose="020B0604020202020204" pitchFamily="34" charset="0"/>
              <a:buChar char="•"/>
            </a:pPr>
            <a:r>
              <a:rPr lang="en-US" sz="2200" b="0" i="0" dirty="0">
                <a:solidFill>
                  <a:srgbClr val="1F1F1F"/>
                </a:solidFill>
                <a:effectLst/>
                <a:latin typeface="Google Sans"/>
              </a:rPr>
              <a:t>Dialogue generation</a:t>
            </a:r>
          </a:p>
          <a:p>
            <a:pPr marL="800100" lvl="1" indent="-342900">
              <a:buFont typeface="Arial" panose="020B0604020202020204" pitchFamily="34" charset="0"/>
              <a:buChar char="•"/>
            </a:pPr>
            <a:r>
              <a:rPr lang="en-US" sz="2200" b="0" i="0" dirty="0">
                <a:solidFill>
                  <a:srgbClr val="1F1F1F"/>
                </a:solidFill>
                <a:effectLst/>
                <a:latin typeface="Google Sans"/>
              </a:rPr>
              <a:t>Text generation</a:t>
            </a:r>
          </a:p>
        </p:txBody>
      </p:sp>
      <p:sp>
        <p:nvSpPr>
          <p:cNvPr id="4" name="Title 1">
            <a:extLst>
              <a:ext uri="{FF2B5EF4-FFF2-40B4-BE49-F238E27FC236}">
                <a16:creationId xmlns:a16="http://schemas.microsoft.com/office/drawing/2014/main" id="{48F689AB-A479-808B-0349-8844C74BE9BF}"/>
              </a:ext>
            </a:extLst>
          </p:cNvPr>
          <p:cNvSpPr>
            <a:spLocks noGrp="1"/>
          </p:cNvSpPr>
          <p:nvPr>
            <p:ph type="title"/>
          </p:nvPr>
        </p:nvSpPr>
        <p:spPr>
          <a:xfrm>
            <a:off x="678881" y="603665"/>
            <a:ext cx="10834234" cy="612775"/>
          </a:xfrm>
        </p:spPr>
        <p:txBody>
          <a:bodyPr/>
          <a:lstStyle/>
          <a:p>
            <a:r>
              <a:rPr lang="en-IN" dirty="0"/>
              <a:t>Cont…</a:t>
            </a:r>
          </a:p>
        </p:txBody>
      </p:sp>
    </p:spTree>
    <p:extLst>
      <p:ext uri="{BB962C8B-B14F-4D97-AF65-F5344CB8AC3E}">
        <p14:creationId xmlns:p14="http://schemas.microsoft.com/office/powerpoint/2010/main" val="2886033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E891D3-DDC4-A33E-CA88-66D385CBEEE2}"/>
              </a:ext>
            </a:extLst>
          </p:cNvPr>
          <p:cNvSpPr>
            <a:spLocks noGrp="1"/>
          </p:cNvSpPr>
          <p:nvPr>
            <p:ph type="title"/>
          </p:nvPr>
        </p:nvSpPr>
        <p:spPr>
          <a:xfrm>
            <a:off x="678881" y="603665"/>
            <a:ext cx="10834234" cy="612775"/>
          </a:xfrm>
        </p:spPr>
        <p:txBody>
          <a:bodyPr/>
          <a:lstStyle/>
          <a:p>
            <a:r>
              <a:rPr lang="en-IN" dirty="0"/>
              <a:t>Cont…</a:t>
            </a:r>
          </a:p>
        </p:txBody>
      </p:sp>
      <p:pic>
        <p:nvPicPr>
          <p:cNvPr id="3" name="Picture 2">
            <a:extLst>
              <a:ext uri="{FF2B5EF4-FFF2-40B4-BE49-F238E27FC236}">
                <a16:creationId xmlns:a16="http://schemas.microsoft.com/office/drawing/2014/main" id="{8B73391A-4055-BAA7-C396-89688CF8E746}"/>
              </a:ext>
            </a:extLst>
          </p:cNvPr>
          <p:cNvPicPr>
            <a:picLocks noChangeAspect="1"/>
          </p:cNvPicPr>
          <p:nvPr/>
        </p:nvPicPr>
        <p:blipFill>
          <a:blip r:embed="rId3"/>
          <a:stretch>
            <a:fillRect/>
          </a:stretch>
        </p:blipFill>
        <p:spPr>
          <a:xfrm>
            <a:off x="8553906" y="910052"/>
            <a:ext cx="3366783" cy="4963238"/>
          </a:xfrm>
          <a:prstGeom prst="rect">
            <a:avLst/>
          </a:prstGeom>
        </p:spPr>
      </p:pic>
      <p:sp>
        <p:nvSpPr>
          <p:cNvPr id="5" name="TextBox 4">
            <a:extLst>
              <a:ext uri="{FF2B5EF4-FFF2-40B4-BE49-F238E27FC236}">
                <a16:creationId xmlns:a16="http://schemas.microsoft.com/office/drawing/2014/main" id="{A9AB4300-B126-33AC-3389-78CA9DAC1BE3}"/>
              </a:ext>
            </a:extLst>
          </p:cNvPr>
          <p:cNvSpPr txBox="1"/>
          <p:nvPr/>
        </p:nvSpPr>
        <p:spPr>
          <a:xfrm>
            <a:off x="678881" y="1336119"/>
            <a:ext cx="8231176" cy="4185761"/>
          </a:xfrm>
          <a:prstGeom prst="rect">
            <a:avLst/>
          </a:prstGeom>
          <a:noFill/>
        </p:spPr>
        <p:txBody>
          <a:bodyPr wrap="square">
            <a:spAutoFit/>
          </a:bodyPr>
          <a:lstStyle/>
          <a:p>
            <a:pPr algn="l"/>
            <a:r>
              <a:rPr lang="en-IN" sz="2400" b="1" i="0" dirty="0">
                <a:effectLst/>
                <a:latin typeface="Söhne"/>
              </a:rPr>
              <a:t>Overview &amp; Key Components of Transformers Architecture</a:t>
            </a:r>
            <a:endParaRPr lang="en-US" sz="2200" b="1" i="0" dirty="0">
              <a:solidFill>
                <a:srgbClr val="374151"/>
              </a:solidFill>
              <a:effectLst/>
            </a:endParaRPr>
          </a:p>
          <a:p>
            <a:pPr algn="l"/>
            <a:endParaRPr lang="en-US" sz="2200" b="1" dirty="0">
              <a:solidFill>
                <a:srgbClr val="374151"/>
              </a:solidFill>
            </a:endParaRPr>
          </a:p>
          <a:p>
            <a:pPr algn="l"/>
            <a:r>
              <a:rPr lang="en-US" sz="2200" b="1" i="0" dirty="0">
                <a:solidFill>
                  <a:srgbClr val="374151"/>
                </a:solidFill>
                <a:effectLst/>
              </a:rPr>
              <a:t>Encoder</a:t>
            </a:r>
            <a:endParaRPr lang="en-US" sz="2200" b="0" i="0" dirty="0">
              <a:solidFill>
                <a:srgbClr val="374151"/>
              </a:solidFill>
              <a:effectLst/>
            </a:endParaRPr>
          </a:p>
          <a:p>
            <a:pPr marL="457200" indent="-457200" algn="l">
              <a:buFont typeface="+mj-lt"/>
              <a:buAutoNum type="arabicPeriod"/>
            </a:pPr>
            <a:r>
              <a:rPr lang="en-US" sz="2000" b="1" i="0" dirty="0">
                <a:solidFill>
                  <a:srgbClr val="374151"/>
                </a:solidFill>
                <a:effectLst/>
              </a:rPr>
              <a:t>Input Embedding:</a:t>
            </a:r>
            <a:r>
              <a:rPr lang="en-US" sz="2000" b="0" i="0" dirty="0">
                <a:solidFill>
                  <a:srgbClr val="374151"/>
                </a:solidFill>
                <a:effectLst/>
              </a:rPr>
              <a:t> Convert words into vector representations, capturing meaning and context.</a:t>
            </a:r>
          </a:p>
          <a:p>
            <a:pPr marL="457200" indent="-457200" algn="l">
              <a:buFont typeface="+mj-lt"/>
              <a:buAutoNum type="arabicPeriod"/>
            </a:pPr>
            <a:r>
              <a:rPr lang="en-US" sz="2000" b="1" i="0" dirty="0">
                <a:solidFill>
                  <a:srgbClr val="374151"/>
                </a:solidFill>
                <a:effectLst/>
              </a:rPr>
              <a:t>Positional Encoding:</a:t>
            </a:r>
            <a:r>
              <a:rPr lang="en-US" sz="2000" b="0" i="0" dirty="0">
                <a:solidFill>
                  <a:srgbClr val="374151"/>
                </a:solidFill>
                <a:effectLst/>
              </a:rPr>
              <a:t> Add positional information to understand word order.</a:t>
            </a:r>
          </a:p>
          <a:p>
            <a:pPr marL="457200" indent="-457200" algn="l">
              <a:buFont typeface="+mj-lt"/>
              <a:buAutoNum type="arabicPeriod"/>
            </a:pPr>
            <a:r>
              <a:rPr lang="en-US" sz="2000" b="1" i="0" dirty="0">
                <a:solidFill>
                  <a:srgbClr val="374151"/>
                </a:solidFill>
                <a:effectLst/>
              </a:rPr>
              <a:t>Multi-Head Attention:</a:t>
            </a:r>
            <a:r>
              <a:rPr lang="en-US" sz="2000" b="0" i="0" dirty="0">
                <a:solidFill>
                  <a:srgbClr val="374151"/>
                </a:solidFill>
                <a:effectLst/>
              </a:rPr>
              <a:t> Allow words to attend to others simultaneously, capturing diverse relationships.</a:t>
            </a:r>
          </a:p>
          <a:p>
            <a:pPr marL="457200" indent="-457200" algn="l">
              <a:buFont typeface="+mj-lt"/>
              <a:buAutoNum type="arabicPeriod"/>
            </a:pPr>
            <a:r>
              <a:rPr lang="en-US" sz="2000" b="1" i="0" dirty="0">
                <a:solidFill>
                  <a:srgbClr val="374151"/>
                </a:solidFill>
                <a:effectLst/>
              </a:rPr>
              <a:t>Feed-Forward Network:</a:t>
            </a:r>
            <a:r>
              <a:rPr lang="en-US" sz="2000" b="0" i="0" dirty="0">
                <a:solidFill>
                  <a:srgbClr val="374151"/>
                </a:solidFill>
                <a:effectLst/>
              </a:rPr>
              <a:t> Refine element representations through fully-connected layers.</a:t>
            </a:r>
          </a:p>
          <a:p>
            <a:pPr marL="457200" indent="-457200" algn="l">
              <a:buFont typeface="+mj-lt"/>
              <a:buAutoNum type="arabicPeriod"/>
            </a:pPr>
            <a:r>
              <a:rPr lang="en-US" sz="2000" b="1" i="0" dirty="0">
                <a:solidFill>
                  <a:srgbClr val="374151"/>
                </a:solidFill>
                <a:effectLst/>
              </a:rPr>
              <a:t>Normalization and Residual Connection:</a:t>
            </a:r>
            <a:r>
              <a:rPr lang="en-US" sz="2000" b="0" i="0" dirty="0">
                <a:solidFill>
                  <a:srgbClr val="374151"/>
                </a:solidFill>
                <a:effectLst/>
              </a:rPr>
              <a:t> Stabilize learning with layer normalization and prevent vanishing gradients with residual connections.</a:t>
            </a:r>
          </a:p>
        </p:txBody>
      </p:sp>
    </p:spTree>
    <p:extLst>
      <p:ext uri="{BB962C8B-B14F-4D97-AF65-F5344CB8AC3E}">
        <p14:creationId xmlns:p14="http://schemas.microsoft.com/office/powerpoint/2010/main" val="7371784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E891D3-DDC4-A33E-CA88-66D385CBEEE2}"/>
              </a:ext>
            </a:extLst>
          </p:cNvPr>
          <p:cNvSpPr>
            <a:spLocks noGrp="1"/>
          </p:cNvSpPr>
          <p:nvPr>
            <p:ph type="title"/>
          </p:nvPr>
        </p:nvSpPr>
        <p:spPr>
          <a:xfrm>
            <a:off x="678881" y="603665"/>
            <a:ext cx="10834234" cy="612775"/>
          </a:xfrm>
        </p:spPr>
        <p:txBody>
          <a:bodyPr/>
          <a:lstStyle/>
          <a:p>
            <a:r>
              <a:rPr lang="en-IN" dirty="0"/>
              <a:t>Cont…</a:t>
            </a:r>
          </a:p>
        </p:txBody>
      </p:sp>
      <p:sp>
        <p:nvSpPr>
          <p:cNvPr id="5" name="TextBox 4">
            <a:extLst>
              <a:ext uri="{FF2B5EF4-FFF2-40B4-BE49-F238E27FC236}">
                <a16:creationId xmlns:a16="http://schemas.microsoft.com/office/drawing/2014/main" id="{A9AB4300-B126-33AC-3389-78CA9DAC1BE3}"/>
              </a:ext>
            </a:extLst>
          </p:cNvPr>
          <p:cNvSpPr txBox="1"/>
          <p:nvPr/>
        </p:nvSpPr>
        <p:spPr>
          <a:xfrm>
            <a:off x="590095" y="1416040"/>
            <a:ext cx="7590199" cy="4739759"/>
          </a:xfrm>
          <a:prstGeom prst="rect">
            <a:avLst/>
          </a:prstGeom>
          <a:noFill/>
        </p:spPr>
        <p:txBody>
          <a:bodyPr wrap="square">
            <a:spAutoFit/>
          </a:bodyPr>
          <a:lstStyle/>
          <a:p>
            <a:pPr algn="l"/>
            <a:r>
              <a:rPr lang="en-US" sz="2200" b="1" i="0" dirty="0">
                <a:solidFill>
                  <a:srgbClr val="374151"/>
                </a:solidFill>
                <a:effectLst/>
              </a:rPr>
              <a:t>Decoder</a:t>
            </a:r>
            <a:endParaRPr lang="en-US" sz="2200" b="0" i="0" dirty="0">
              <a:solidFill>
                <a:srgbClr val="374151"/>
              </a:solidFill>
              <a:effectLst/>
            </a:endParaRPr>
          </a:p>
          <a:p>
            <a:pPr marL="457200" indent="-457200" algn="l">
              <a:buFont typeface="+mj-lt"/>
              <a:buAutoNum type="arabicPeriod"/>
            </a:pPr>
            <a:r>
              <a:rPr lang="en-US" sz="2000" b="1" i="0" dirty="0">
                <a:solidFill>
                  <a:srgbClr val="374151"/>
                </a:solidFill>
                <a:effectLst/>
              </a:rPr>
              <a:t>Decoder Input Embedding:</a:t>
            </a:r>
            <a:r>
              <a:rPr lang="en-US" sz="2000" b="0" i="0" dirty="0">
                <a:solidFill>
                  <a:srgbClr val="374151"/>
                </a:solidFill>
                <a:effectLst/>
              </a:rPr>
              <a:t> Convert target sequence into vector representations.</a:t>
            </a:r>
          </a:p>
          <a:p>
            <a:pPr marL="457200" indent="-457200" algn="l">
              <a:buFont typeface="+mj-lt"/>
              <a:buAutoNum type="arabicPeriod"/>
            </a:pPr>
            <a:r>
              <a:rPr lang="en-US" sz="2000" b="1" i="0" dirty="0">
                <a:solidFill>
                  <a:srgbClr val="374151"/>
                </a:solidFill>
                <a:effectLst/>
              </a:rPr>
              <a:t>Masked Multi-Head Attention:</a:t>
            </a:r>
            <a:r>
              <a:rPr lang="en-US" sz="2000" b="0" i="0" dirty="0">
                <a:solidFill>
                  <a:srgbClr val="374151"/>
                </a:solidFill>
                <a:effectLst/>
              </a:rPr>
              <a:t> Prevent attending to future words, ensuring word-by-word generation.</a:t>
            </a:r>
          </a:p>
          <a:p>
            <a:pPr marL="457200" indent="-457200" algn="l">
              <a:buFont typeface="+mj-lt"/>
              <a:buAutoNum type="arabicPeriod"/>
            </a:pPr>
            <a:r>
              <a:rPr lang="en-US" sz="2000" b="1" i="0" dirty="0">
                <a:solidFill>
                  <a:srgbClr val="374151"/>
                </a:solidFill>
                <a:effectLst/>
              </a:rPr>
              <a:t>Encoder-Decoder Attention:</a:t>
            </a:r>
            <a:r>
              <a:rPr lang="en-US" sz="2000" b="0" i="0" dirty="0">
                <a:solidFill>
                  <a:srgbClr val="374151"/>
                </a:solidFill>
                <a:effectLst/>
              </a:rPr>
              <a:t> Attend to encoded representations for context in target sequence generation.</a:t>
            </a:r>
          </a:p>
          <a:p>
            <a:pPr marL="457200" indent="-457200" algn="l">
              <a:buFont typeface="+mj-lt"/>
              <a:buAutoNum type="arabicPeriod"/>
            </a:pPr>
            <a:r>
              <a:rPr lang="en-US" sz="2000" b="1" i="0" dirty="0">
                <a:solidFill>
                  <a:srgbClr val="374151"/>
                </a:solidFill>
                <a:effectLst/>
              </a:rPr>
              <a:t>Feed-Forward Network and Normalization:</a:t>
            </a:r>
            <a:r>
              <a:rPr lang="en-US" sz="2000" b="0" i="0" dirty="0">
                <a:solidFill>
                  <a:srgbClr val="374151"/>
                </a:solidFill>
                <a:effectLst/>
              </a:rPr>
              <a:t> Refine representations with a feed-forward network and layer normalization.</a:t>
            </a:r>
          </a:p>
          <a:p>
            <a:pPr marL="457200" indent="-457200" algn="l">
              <a:buFont typeface="+mj-lt"/>
              <a:buAutoNum type="arabicPeriod"/>
            </a:pPr>
            <a:r>
              <a:rPr lang="en-US" sz="2000" b="1" i="0" dirty="0">
                <a:solidFill>
                  <a:srgbClr val="374151"/>
                </a:solidFill>
                <a:effectLst/>
              </a:rPr>
              <a:t>Output Projection:</a:t>
            </a:r>
            <a:r>
              <a:rPr lang="en-US" sz="2000" b="0" i="0" dirty="0">
                <a:solidFill>
                  <a:srgbClr val="374151"/>
                </a:solidFill>
                <a:effectLst/>
              </a:rPr>
              <a:t> Project final decoder representation into the output vocabulary for word generation.</a:t>
            </a:r>
          </a:p>
          <a:p>
            <a:pPr algn="l">
              <a:buFont typeface="+mj-lt"/>
              <a:buAutoNum type="arabicPeriod"/>
            </a:pPr>
            <a:endParaRPr lang="en-US" sz="2000" b="0" i="0" dirty="0">
              <a:solidFill>
                <a:srgbClr val="374151"/>
              </a:solidFill>
              <a:effectLst/>
            </a:endParaRPr>
          </a:p>
          <a:p>
            <a:pPr algn="l"/>
            <a:r>
              <a:rPr lang="en-US" sz="2000" b="1" i="0" dirty="0">
                <a:solidFill>
                  <a:srgbClr val="374151"/>
                </a:solidFill>
                <a:effectLst/>
              </a:rPr>
              <a:t>Parallelization:</a:t>
            </a:r>
            <a:r>
              <a:rPr lang="en-US" sz="2000" b="0" i="0" dirty="0">
                <a:solidFill>
                  <a:srgbClr val="374151"/>
                </a:solidFill>
                <a:effectLst/>
              </a:rPr>
              <a:t> Transformers excel in parallel processing, computing attention scores for all pairs simultaneously, accelerating training and inference..</a:t>
            </a:r>
          </a:p>
        </p:txBody>
      </p:sp>
      <p:pic>
        <p:nvPicPr>
          <p:cNvPr id="3074" name="Picture 2" descr="Transformer Encoder-Decoder architecture, taken from Vaswani et al. [9]...  | Download Scientific Diagram">
            <a:extLst>
              <a:ext uri="{FF2B5EF4-FFF2-40B4-BE49-F238E27FC236}">
                <a16:creationId xmlns:a16="http://schemas.microsoft.com/office/drawing/2014/main" id="{59F6D804-BB7E-B4D9-A721-EB89749AD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0294" y="1110920"/>
            <a:ext cx="4011706" cy="4931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8034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3E891D3-DDC4-A33E-CA88-66D385CBEEE2}"/>
              </a:ext>
            </a:extLst>
          </p:cNvPr>
          <p:cNvSpPr>
            <a:spLocks noGrp="1"/>
          </p:cNvSpPr>
          <p:nvPr>
            <p:ph type="title"/>
          </p:nvPr>
        </p:nvSpPr>
        <p:spPr>
          <a:xfrm>
            <a:off x="678881" y="603665"/>
            <a:ext cx="10834234" cy="612775"/>
          </a:xfrm>
        </p:spPr>
        <p:txBody>
          <a:bodyPr/>
          <a:lstStyle/>
          <a:p>
            <a:r>
              <a:rPr lang="en-IN" b="1" i="0" dirty="0">
                <a:effectLst/>
                <a:latin typeface="+mn-lt"/>
              </a:rPr>
              <a:t>Introduction to Large Language Models (LLMs)</a:t>
            </a:r>
            <a:endParaRPr lang="en-IN" dirty="0">
              <a:latin typeface="+mn-lt"/>
            </a:endParaRPr>
          </a:p>
        </p:txBody>
      </p:sp>
      <p:sp>
        <p:nvSpPr>
          <p:cNvPr id="5" name="TextBox 4">
            <a:extLst>
              <a:ext uri="{FF2B5EF4-FFF2-40B4-BE49-F238E27FC236}">
                <a16:creationId xmlns:a16="http://schemas.microsoft.com/office/drawing/2014/main" id="{A9AB4300-B126-33AC-3389-78CA9DAC1BE3}"/>
              </a:ext>
            </a:extLst>
          </p:cNvPr>
          <p:cNvSpPr txBox="1"/>
          <p:nvPr/>
        </p:nvSpPr>
        <p:spPr>
          <a:xfrm>
            <a:off x="590095" y="1416040"/>
            <a:ext cx="10978858" cy="4708981"/>
          </a:xfrm>
          <a:prstGeom prst="rect">
            <a:avLst/>
          </a:prstGeom>
          <a:noFill/>
        </p:spPr>
        <p:txBody>
          <a:bodyPr wrap="square">
            <a:spAutoFit/>
          </a:bodyPr>
          <a:lstStyle/>
          <a:p>
            <a:pPr algn="l"/>
            <a:r>
              <a:rPr lang="en-US" sz="2000" b="0" i="0" dirty="0">
                <a:solidFill>
                  <a:srgbClr val="374151"/>
                </a:solidFill>
                <a:effectLst/>
              </a:rPr>
              <a:t>LLMs, a class of AI models, are trained on vast text datasets, enabling them to perform tasks like text generation, language translation, and answering questions. Key characteristics include large-scale data training, deep learning architectures (like transformers), multimodal capabilities, and adaptability through fine-tuning.</a:t>
            </a:r>
          </a:p>
          <a:p>
            <a:pPr algn="l"/>
            <a:endParaRPr lang="en-US" sz="2000" dirty="0">
              <a:solidFill>
                <a:srgbClr val="374151"/>
              </a:solidFill>
            </a:endParaRPr>
          </a:p>
          <a:p>
            <a:pPr algn="l"/>
            <a:r>
              <a:rPr lang="en-US" sz="2200" b="1" dirty="0">
                <a:solidFill>
                  <a:srgbClr val="374151"/>
                </a:solidFill>
              </a:rPr>
              <a:t>Key Features</a:t>
            </a:r>
          </a:p>
          <a:p>
            <a:pPr marL="457200" indent="-457200" algn="l">
              <a:buFont typeface="+mj-lt"/>
              <a:buAutoNum type="arabicPeriod"/>
            </a:pPr>
            <a:r>
              <a:rPr lang="en-US" sz="2000" b="1" i="0" dirty="0">
                <a:solidFill>
                  <a:srgbClr val="374151"/>
                </a:solidFill>
                <a:effectLst/>
              </a:rPr>
              <a:t>Scale of Data:</a:t>
            </a:r>
            <a:r>
              <a:rPr lang="en-US" sz="2000" b="0" i="0" dirty="0">
                <a:solidFill>
                  <a:srgbClr val="374151"/>
                </a:solidFill>
                <a:effectLst/>
              </a:rPr>
              <a:t> LLMs leverage vast datasets, surpassing hundreds of billions of words, for nuanced language understanding.</a:t>
            </a:r>
          </a:p>
          <a:p>
            <a:pPr marL="457200" indent="-457200" algn="l">
              <a:buFont typeface="+mj-lt"/>
              <a:buAutoNum type="arabicPeriod"/>
            </a:pPr>
            <a:r>
              <a:rPr lang="en-US" sz="2000" b="1" i="0" dirty="0">
                <a:solidFill>
                  <a:srgbClr val="374151"/>
                </a:solidFill>
                <a:effectLst/>
              </a:rPr>
              <a:t>Deep Learning Architectures:</a:t>
            </a:r>
            <a:r>
              <a:rPr lang="en-US" sz="2000" b="0" i="0" dirty="0">
                <a:solidFill>
                  <a:srgbClr val="374151"/>
                </a:solidFill>
                <a:effectLst/>
              </a:rPr>
              <a:t> Utilizing advanced neural networks, especially transformers, LLMs adeptly learn intricate language patterns and relationships.</a:t>
            </a:r>
          </a:p>
          <a:p>
            <a:pPr marL="457200" indent="-457200" algn="l">
              <a:buFont typeface="+mj-lt"/>
              <a:buAutoNum type="arabicPeriod"/>
            </a:pPr>
            <a:r>
              <a:rPr lang="en-US" sz="2000" b="1" i="0" dirty="0">
                <a:solidFill>
                  <a:srgbClr val="374151"/>
                </a:solidFill>
                <a:effectLst/>
              </a:rPr>
              <a:t>Multimodal Capabilities:</a:t>
            </a:r>
            <a:r>
              <a:rPr lang="en-US" sz="2000" b="0" i="0" dirty="0">
                <a:solidFill>
                  <a:srgbClr val="374151"/>
                </a:solidFill>
                <a:effectLst/>
              </a:rPr>
              <a:t> Some LLMs seamlessly integrate beyond text, incorporating images and audio, enhancing their versatility.</a:t>
            </a:r>
          </a:p>
          <a:p>
            <a:pPr marL="457200" indent="-457200" algn="l">
              <a:buFont typeface="+mj-lt"/>
              <a:buAutoNum type="arabicPeriod"/>
            </a:pPr>
            <a:r>
              <a:rPr lang="en-US" sz="2000" b="1" i="0" dirty="0">
                <a:solidFill>
                  <a:srgbClr val="374151"/>
                </a:solidFill>
                <a:effectLst/>
              </a:rPr>
              <a:t>Adaptability:</a:t>
            </a:r>
            <a:r>
              <a:rPr lang="en-US" sz="2000" b="0" i="0" dirty="0">
                <a:solidFill>
                  <a:srgbClr val="374151"/>
                </a:solidFill>
                <a:effectLst/>
              </a:rPr>
              <a:t> Highly versatile, LLMs can be fine-tuned for diverse tasks and domains, serving as adaptable tools across various applications.</a:t>
            </a:r>
          </a:p>
          <a:p>
            <a:pPr algn="l"/>
            <a:endParaRPr lang="en-US" sz="2000" b="0" i="0" dirty="0">
              <a:solidFill>
                <a:srgbClr val="374151"/>
              </a:solidFill>
              <a:effectLst/>
            </a:endParaRPr>
          </a:p>
        </p:txBody>
      </p:sp>
    </p:spTree>
    <p:extLst>
      <p:ext uri="{BB962C8B-B14F-4D97-AF65-F5344CB8AC3E}">
        <p14:creationId xmlns:p14="http://schemas.microsoft.com/office/powerpoint/2010/main" val="42592284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AB4300-B126-33AC-3389-78CA9DAC1BE3}"/>
              </a:ext>
            </a:extLst>
          </p:cNvPr>
          <p:cNvSpPr txBox="1"/>
          <p:nvPr/>
        </p:nvSpPr>
        <p:spPr>
          <a:xfrm>
            <a:off x="534256" y="1317428"/>
            <a:ext cx="11097449" cy="4708981"/>
          </a:xfrm>
          <a:prstGeom prst="rect">
            <a:avLst/>
          </a:prstGeom>
          <a:noFill/>
        </p:spPr>
        <p:txBody>
          <a:bodyPr wrap="square">
            <a:spAutoFit/>
          </a:bodyPr>
          <a:lstStyle/>
          <a:p>
            <a:pPr algn="l"/>
            <a:r>
              <a:rPr lang="en-US" sz="2000" b="1" dirty="0">
                <a:effectLst/>
                <a:latin typeface="Söhne"/>
              </a:rPr>
              <a:t>LLMs and Their Use Cases</a:t>
            </a:r>
          </a:p>
          <a:p>
            <a:pPr algn="l"/>
            <a:endParaRPr lang="en-US" sz="2000" b="1" dirty="0">
              <a:solidFill>
                <a:srgbClr val="374151"/>
              </a:solidFill>
              <a:latin typeface="Söhne"/>
            </a:endParaRPr>
          </a:p>
          <a:p>
            <a:pPr algn="l"/>
            <a:r>
              <a:rPr lang="en-IN" sz="2000" b="1" dirty="0">
                <a:solidFill>
                  <a:srgbClr val="374151"/>
                </a:solidFill>
                <a:effectLst/>
                <a:latin typeface="Söhne"/>
              </a:rPr>
              <a:t>General-purpose LLMs</a:t>
            </a:r>
          </a:p>
          <a:p>
            <a:pPr marL="457200" indent="-457200" algn="l">
              <a:buFont typeface="+mj-lt"/>
              <a:buAutoNum type="arabicPeriod"/>
            </a:pPr>
            <a:r>
              <a:rPr lang="en-IN" sz="2000" b="1" dirty="0">
                <a:solidFill>
                  <a:srgbClr val="374151"/>
                </a:solidFill>
                <a:effectLst/>
                <a:latin typeface="Söhne"/>
              </a:rPr>
              <a:t>Bard (Google AI):</a:t>
            </a:r>
            <a:r>
              <a:rPr lang="en-IN" sz="2000" b="0" dirty="0">
                <a:solidFill>
                  <a:srgbClr val="374151"/>
                </a:solidFill>
                <a:effectLst/>
                <a:latin typeface="Söhne"/>
              </a:rPr>
              <a:t> Versatile for creative text, translation, and question answering.</a:t>
            </a:r>
          </a:p>
          <a:p>
            <a:pPr marL="457200" indent="-457200" algn="l">
              <a:buFont typeface="+mj-lt"/>
              <a:buAutoNum type="arabicPeriod"/>
            </a:pPr>
            <a:r>
              <a:rPr lang="en-IN" sz="2000" b="1" dirty="0">
                <a:solidFill>
                  <a:srgbClr val="374151"/>
                </a:solidFill>
                <a:effectLst/>
                <a:latin typeface="Söhne"/>
              </a:rPr>
              <a:t>Megatron-Turing NLG (Google AI, Nvidia):</a:t>
            </a:r>
            <a:r>
              <a:rPr lang="en-IN" sz="2000" b="0" dirty="0">
                <a:solidFill>
                  <a:srgbClr val="374151"/>
                </a:solidFill>
                <a:effectLst/>
                <a:latin typeface="Söhne"/>
              </a:rPr>
              <a:t> Focuses on natural language generation.</a:t>
            </a:r>
          </a:p>
          <a:p>
            <a:pPr marL="457200" indent="-457200" algn="l">
              <a:buFont typeface="+mj-lt"/>
              <a:buAutoNum type="arabicPeriod"/>
            </a:pPr>
            <a:r>
              <a:rPr lang="en-IN" sz="2000" b="1" dirty="0">
                <a:solidFill>
                  <a:srgbClr val="374151"/>
                </a:solidFill>
                <a:effectLst/>
                <a:latin typeface="Söhne"/>
              </a:rPr>
              <a:t>Jurassic-1 Jumbo (Google AI):</a:t>
            </a:r>
            <a:r>
              <a:rPr lang="en-IN" sz="2000" b="0" dirty="0">
                <a:solidFill>
                  <a:srgbClr val="374151"/>
                </a:solidFill>
                <a:effectLst/>
                <a:latin typeface="Söhne"/>
              </a:rPr>
              <a:t> Known for factual accuracy and informative answers.</a:t>
            </a:r>
          </a:p>
          <a:p>
            <a:pPr marL="457200" indent="-457200" algn="l">
              <a:buFont typeface="+mj-lt"/>
              <a:buAutoNum type="arabicPeriod"/>
            </a:pPr>
            <a:r>
              <a:rPr lang="en-IN" sz="2000" b="1" dirty="0" err="1">
                <a:solidFill>
                  <a:srgbClr val="374151"/>
                </a:solidFill>
                <a:effectLst/>
                <a:latin typeface="Söhne"/>
              </a:rPr>
              <a:t>WuDao</a:t>
            </a:r>
            <a:r>
              <a:rPr lang="en-IN" sz="2000" b="1" dirty="0">
                <a:solidFill>
                  <a:srgbClr val="374151"/>
                </a:solidFill>
                <a:effectLst/>
                <a:latin typeface="Söhne"/>
              </a:rPr>
              <a:t> 2.0 (Beijing Academy of AI):</a:t>
            </a:r>
            <a:r>
              <a:rPr lang="en-IN" sz="2000" b="0" dirty="0">
                <a:solidFill>
                  <a:srgbClr val="374151"/>
                </a:solidFill>
                <a:effectLst/>
                <a:latin typeface="Söhne"/>
              </a:rPr>
              <a:t> Specialized in understanding and generating Chinese text.</a:t>
            </a:r>
          </a:p>
          <a:p>
            <a:pPr marL="457200" indent="-457200" algn="l">
              <a:buFont typeface="+mj-lt"/>
              <a:buAutoNum type="arabicPeriod"/>
            </a:pPr>
            <a:r>
              <a:rPr lang="en-IN" sz="2000" b="1" dirty="0">
                <a:solidFill>
                  <a:srgbClr val="374151"/>
                </a:solidFill>
                <a:effectLst/>
                <a:latin typeface="Söhne"/>
              </a:rPr>
              <a:t>BLOOM (</a:t>
            </a:r>
            <a:r>
              <a:rPr lang="en-IN" sz="2000" b="1" dirty="0" err="1">
                <a:solidFill>
                  <a:srgbClr val="374151"/>
                </a:solidFill>
                <a:effectLst/>
                <a:latin typeface="Söhne"/>
              </a:rPr>
              <a:t>BigScience</a:t>
            </a:r>
            <a:r>
              <a:rPr lang="en-IN" sz="2000" b="1" dirty="0">
                <a:solidFill>
                  <a:srgbClr val="374151"/>
                </a:solidFill>
                <a:effectLst/>
                <a:latin typeface="Söhne"/>
              </a:rPr>
              <a:t>):</a:t>
            </a:r>
            <a:r>
              <a:rPr lang="en-IN" sz="2000" b="0" dirty="0">
                <a:solidFill>
                  <a:srgbClr val="374151"/>
                </a:solidFill>
                <a:effectLst/>
                <a:latin typeface="Söhne"/>
              </a:rPr>
              <a:t> Multilingual, excels in translation and creative text.</a:t>
            </a:r>
          </a:p>
          <a:p>
            <a:pPr algn="l"/>
            <a:endParaRPr lang="en-US" sz="2000" b="1" dirty="0">
              <a:solidFill>
                <a:srgbClr val="374151"/>
              </a:solidFill>
              <a:effectLst/>
              <a:latin typeface="Söhne"/>
            </a:endParaRPr>
          </a:p>
          <a:p>
            <a:pPr algn="l"/>
            <a:r>
              <a:rPr lang="en-IN" sz="2000" b="1" dirty="0">
                <a:solidFill>
                  <a:srgbClr val="374151"/>
                </a:solidFill>
                <a:effectLst/>
                <a:latin typeface="Söhne"/>
              </a:rPr>
              <a:t>Task-specific LLMs</a:t>
            </a:r>
          </a:p>
          <a:p>
            <a:pPr marL="457200" indent="-457200" algn="l">
              <a:buFont typeface="+mj-lt"/>
              <a:buAutoNum type="arabicPeriod"/>
            </a:pPr>
            <a:r>
              <a:rPr lang="en-IN" sz="2000" b="1" dirty="0" err="1">
                <a:solidFill>
                  <a:srgbClr val="374151"/>
                </a:solidFill>
                <a:effectLst/>
                <a:latin typeface="Söhne"/>
              </a:rPr>
              <a:t>LaMDA</a:t>
            </a:r>
            <a:r>
              <a:rPr lang="en-IN" sz="2000" b="1" dirty="0">
                <a:solidFill>
                  <a:srgbClr val="374151"/>
                </a:solidFill>
                <a:effectLst/>
                <a:latin typeface="Söhne"/>
              </a:rPr>
              <a:t> (Google AI):</a:t>
            </a:r>
            <a:r>
              <a:rPr lang="en-IN" sz="2000" b="0" dirty="0">
                <a:solidFill>
                  <a:srgbClr val="374151"/>
                </a:solidFill>
                <a:effectLst/>
                <a:latin typeface="Söhne"/>
              </a:rPr>
              <a:t> Dialogue-focused, excels in realistic conversation.</a:t>
            </a:r>
          </a:p>
          <a:p>
            <a:pPr marL="457200" indent="-457200" algn="l">
              <a:buFont typeface="+mj-lt"/>
              <a:buAutoNum type="arabicPeriod"/>
            </a:pPr>
            <a:r>
              <a:rPr lang="en-IN" sz="2000" b="1" dirty="0" err="1">
                <a:solidFill>
                  <a:srgbClr val="374151"/>
                </a:solidFill>
                <a:effectLst/>
                <a:latin typeface="Söhne"/>
              </a:rPr>
              <a:t>PaLM</a:t>
            </a:r>
            <a:r>
              <a:rPr lang="en-IN" sz="2000" b="1" dirty="0">
                <a:solidFill>
                  <a:srgbClr val="374151"/>
                </a:solidFill>
                <a:effectLst/>
                <a:latin typeface="Söhne"/>
              </a:rPr>
              <a:t> (Google AI):</a:t>
            </a:r>
            <a:r>
              <a:rPr lang="en-IN" sz="2000" b="0" dirty="0">
                <a:solidFill>
                  <a:srgbClr val="374151"/>
                </a:solidFill>
                <a:effectLst/>
                <a:latin typeface="Söhne"/>
              </a:rPr>
              <a:t> General-purpose with a focus on reasoning and problem-solving.</a:t>
            </a:r>
          </a:p>
          <a:p>
            <a:pPr marL="457200" indent="-457200" algn="l">
              <a:buFont typeface="+mj-lt"/>
              <a:buAutoNum type="arabicPeriod"/>
            </a:pPr>
            <a:r>
              <a:rPr lang="en-IN" sz="2000" b="1" dirty="0">
                <a:solidFill>
                  <a:srgbClr val="374151"/>
                </a:solidFill>
                <a:effectLst/>
                <a:latin typeface="Söhne"/>
              </a:rPr>
              <a:t>GPT-3 (OpenAI):</a:t>
            </a:r>
            <a:r>
              <a:rPr lang="en-IN" sz="2000" b="0" dirty="0">
                <a:solidFill>
                  <a:srgbClr val="374151"/>
                </a:solidFill>
                <a:effectLst/>
                <a:latin typeface="Söhne"/>
              </a:rPr>
              <a:t> Creative text generation, code, and translation.</a:t>
            </a:r>
          </a:p>
          <a:p>
            <a:pPr marL="457200" indent="-457200" algn="l">
              <a:buFont typeface="+mj-lt"/>
              <a:buAutoNum type="arabicPeriod"/>
            </a:pPr>
            <a:r>
              <a:rPr lang="en-IN" sz="2000" b="1" dirty="0">
                <a:solidFill>
                  <a:srgbClr val="374151"/>
                </a:solidFill>
                <a:effectLst/>
                <a:latin typeface="Söhne"/>
              </a:rPr>
              <a:t>Megatron-Turing NLG for Healthcare (Google AI, Nvidia):</a:t>
            </a:r>
            <a:r>
              <a:rPr lang="en-IN" sz="2000" b="0" dirty="0">
                <a:solidFill>
                  <a:srgbClr val="374151"/>
                </a:solidFill>
                <a:effectLst/>
                <a:latin typeface="Söhne"/>
              </a:rPr>
              <a:t> Specialized in medical text.</a:t>
            </a:r>
          </a:p>
          <a:p>
            <a:pPr marL="457200" indent="-457200" algn="l">
              <a:buFont typeface="+mj-lt"/>
              <a:buAutoNum type="arabicPeriod"/>
            </a:pPr>
            <a:r>
              <a:rPr lang="en-IN" sz="2000" b="1" dirty="0">
                <a:solidFill>
                  <a:srgbClr val="374151"/>
                </a:solidFill>
                <a:effectLst/>
                <a:latin typeface="Söhne"/>
              </a:rPr>
              <a:t>Jurassic-1 Jumbo for Science (Google AI):</a:t>
            </a:r>
            <a:r>
              <a:rPr lang="en-IN" sz="2000" b="0" dirty="0">
                <a:solidFill>
                  <a:srgbClr val="374151"/>
                </a:solidFill>
                <a:effectLst/>
                <a:latin typeface="Söhne"/>
              </a:rPr>
              <a:t> Specialized in scientific text.</a:t>
            </a:r>
          </a:p>
        </p:txBody>
      </p:sp>
      <p:sp>
        <p:nvSpPr>
          <p:cNvPr id="6" name="Title 1">
            <a:extLst>
              <a:ext uri="{FF2B5EF4-FFF2-40B4-BE49-F238E27FC236}">
                <a16:creationId xmlns:a16="http://schemas.microsoft.com/office/drawing/2014/main" id="{C82C445D-9578-E11E-A6E3-A2FCA23B0289}"/>
              </a:ext>
            </a:extLst>
          </p:cNvPr>
          <p:cNvSpPr>
            <a:spLocks noGrp="1"/>
          </p:cNvSpPr>
          <p:nvPr>
            <p:ph type="title"/>
          </p:nvPr>
        </p:nvSpPr>
        <p:spPr>
          <a:xfrm>
            <a:off x="678881" y="603665"/>
            <a:ext cx="10834234" cy="612775"/>
          </a:xfrm>
        </p:spPr>
        <p:txBody>
          <a:bodyPr/>
          <a:lstStyle/>
          <a:p>
            <a:r>
              <a:rPr lang="en-IN" dirty="0"/>
              <a:t>Cont…</a:t>
            </a:r>
          </a:p>
        </p:txBody>
      </p:sp>
    </p:spTree>
    <p:extLst>
      <p:ext uri="{BB962C8B-B14F-4D97-AF65-F5344CB8AC3E}">
        <p14:creationId xmlns:p14="http://schemas.microsoft.com/office/powerpoint/2010/main" val="29023443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AB4300-B126-33AC-3389-78CA9DAC1BE3}"/>
              </a:ext>
            </a:extLst>
          </p:cNvPr>
          <p:cNvSpPr txBox="1"/>
          <p:nvPr/>
        </p:nvSpPr>
        <p:spPr>
          <a:xfrm>
            <a:off x="534256" y="1317428"/>
            <a:ext cx="11097449" cy="2862322"/>
          </a:xfrm>
          <a:prstGeom prst="rect">
            <a:avLst/>
          </a:prstGeom>
          <a:noFill/>
        </p:spPr>
        <p:txBody>
          <a:bodyPr wrap="square">
            <a:spAutoFit/>
          </a:bodyPr>
          <a:lstStyle/>
          <a:p>
            <a:pPr algn="l"/>
            <a:r>
              <a:rPr lang="en-IN" sz="2000" b="1" dirty="0">
                <a:solidFill>
                  <a:srgbClr val="374151"/>
                </a:solidFill>
                <a:effectLst/>
              </a:rPr>
              <a:t>Code Generation LLMs</a:t>
            </a:r>
          </a:p>
          <a:p>
            <a:pPr marL="457200" indent="-457200" algn="l">
              <a:buFont typeface="+mj-lt"/>
              <a:buAutoNum type="arabicPeriod"/>
            </a:pPr>
            <a:r>
              <a:rPr lang="en-IN" sz="2000" b="1" dirty="0" err="1">
                <a:solidFill>
                  <a:srgbClr val="374151"/>
                </a:solidFill>
                <a:effectLst/>
              </a:rPr>
              <a:t>CodeGen</a:t>
            </a:r>
            <a:r>
              <a:rPr lang="en-IN" sz="2000" b="1" dirty="0">
                <a:solidFill>
                  <a:srgbClr val="374151"/>
                </a:solidFill>
                <a:effectLst/>
              </a:rPr>
              <a:t> (OpenAI):</a:t>
            </a:r>
            <a:r>
              <a:rPr lang="en-IN" sz="2000" b="0" dirty="0">
                <a:solidFill>
                  <a:srgbClr val="374151"/>
                </a:solidFill>
                <a:effectLst/>
              </a:rPr>
              <a:t> Designed for generating code from natural language.</a:t>
            </a:r>
          </a:p>
          <a:p>
            <a:pPr marL="457200" indent="-457200" algn="l">
              <a:buFont typeface="+mj-lt"/>
              <a:buAutoNum type="arabicPeriod"/>
            </a:pPr>
            <a:r>
              <a:rPr lang="en-IN" sz="2000" b="1" dirty="0" err="1">
                <a:solidFill>
                  <a:srgbClr val="374151"/>
                </a:solidFill>
                <a:effectLst/>
              </a:rPr>
              <a:t>DeepCode</a:t>
            </a:r>
            <a:r>
              <a:rPr lang="en-IN" sz="2000" b="1" dirty="0">
                <a:solidFill>
                  <a:srgbClr val="374151"/>
                </a:solidFill>
                <a:effectLst/>
              </a:rPr>
              <a:t> (Google AI):</a:t>
            </a:r>
            <a:r>
              <a:rPr lang="en-IN" sz="2000" b="0" dirty="0">
                <a:solidFill>
                  <a:srgbClr val="374151"/>
                </a:solidFill>
                <a:effectLst/>
              </a:rPr>
              <a:t> Focuses on code understanding, bug detection, and suggestions.</a:t>
            </a:r>
          </a:p>
          <a:p>
            <a:pPr marL="457200" indent="-457200" algn="l">
              <a:buFont typeface="+mj-lt"/>
              <a:buAutoNum type="arabicPeriod"/>
            </a:pPr>
            <a:r>
              <a:rPr lang="en-IN" sz="2000" b="1" dirty="0" err="1">
                <a:solidFill>
                  <a:srgbClr val="374151"/>
                </a:solidFill>
                <a:effectLst/>
              </a:rPr>
              <a:t>AlphaCode</a:t>
            </a:r>
            <a:r>
              <a:rPr lang="en-IN" sz="2000" b="1" dirty="0">
                <a:solidFill>
                  <a:srgbClr val="374151"/>
                </a:solidFill>
                <a:effectLst/>
              </a:rPr>
              <a:t> (DeepMind):</a:t>
            </a:r>
            <a:r>
              <a:rPr lang="en-IN" sz="2000" b="0" dirty="0">
                <a:solidFill>
                  <a:srgbClr val="374151"/>
                </a:solidFill>
                <a:effectLst/>
              </a:rPr>
              <a:t> Generates code from scratch, solving coding challenges.</a:t>
            </a:r>
          </a:p>
          <a:p>
            <a:pPr algn="l">
              <a:buFont typeface="+mj-lt"/>
              <a:buAutoNum type="arabicPeriod"/>
            </a:pPr>
            <a:endParaRPr lang="en-IN" sz="2000" b="0" dirty="0">
              <a:solidFill>
                <a:srgbClr val="374151"/>
              </a:solidFill>
              <a:effectLst/>
            </a:endParaRPr>
          </a:p>
          <a:p>
            <a:pPr algn="l"/>
            <a:r>
              <a:rPr lang="en-IN" sz="2000" b="1" dirty="0">
                <a:solidFill>
                  <a:srgbClr val="374151"/>
                </a:solidFill>
                <a:effectLst/>
              </a:rPr>
              <a:t>Research-focused LLMs</a:t>
            </a:r>
          </a:p>
          <a:p>
            <a:pPr marL="457200" indent="-457200" algn="l">
              <a:buFont typeface="+mj-lt"/>
              <a:buAutoNum type="arabicPeriod"/>
            </a:pPr>
            <a:r>
              <a:rPr lang="en-IN" sz="2000" b="1" dirty="0">
                <a:solidFill>
                  <a:srgbClr val="374151"/>
                </a:solidFill>
                <a:effectLst/>
              </a:rPr>
              <a:t>Switch Transformer (Google AI):</a:t>
            </a:r>
            <a:r>
              <a:rPr lang="en-IN" sz="2000" b="0" dirty="0">
                <a:solidFill>
                  <a:srgbClr val="374151"/>
                </a:solidFill>
                <a:effectLst/>
              </a:rPr>
              <a:t> Focuses on understanding relationships between words.</a:t>
            </a:r>
          </a:p>
          <a:p>
            <a:pPr marL="457200" indent="-457200" algn="l">
              <a:buFont typeface="+mj-lt"/>
              <a:buAutoNum type="arabicPeriod"/>
            </a:pPr>
            <a:r>
              <a:rPr lang="en-IN" sz="2000" b="1" dirty="0">
                <a:solidFill>
                  <a:srgbClr val="374151"/>
                </a:solidFill>
                <a:effectLst/>
              </a:rPr>
              <a:t>Pathway Language Model (</a:t>
            </a:r>
            <a:r>
              <a:rPr lang="en-IN" sz="2000" b="1" dirty="0" err="1">
                <a:solidFill>
                  <a:srgbClr val="374151"/>
                </a:solidFill>
                <a:effectLst/>
              </a:rPr>
              <a:t>PaLM</a:t>
            </a:r>
            <a:r>
              <a:rPr lang="en-IN" sz="2000" b="1" dirty="0">
                <a:solidFill>
                  <a:srgbClr val="374151"/>
                </a:solidFill>
                <a:effectLst/>
              </a:rPr>
              <a:t> - Google AI):</a:t>
            </a:r>
            <a:r>
              <a:rPr lang="en-IN" sz="2000" b="0" dirty="0">
                <a:solidFill>
                  <a:srgbClr val="374151"/>
                </a:solidFill>
                <a:effectLst/>
              </a:rPr>
              <a:t> Excels in reasoning, problem-solving, and research tasks.</a:t>
            </a:r>
          </a:p>
        </p:txBody>
      </p:sp>
      <p:sp>
        <p:nvSpPr>
          <p:cNvPr id="6" name="Title 1">
            <a:extLst>
              <a:ext uri="{FF2B5EF4-FFF2-40B4-BE49-F238E27FC236}">
                <a16:creationId xmlns:a16="http://schemas.microsoft.com/office/drawing/2014/main" id="{C82C445D-9578-E11E-A6E3-A2FCA23B0289}"/>
              </a:ext>
            </a:extLst>
          </p:cNvPr>
          <p:cNvSpPr>
            <a:spLocks noGrp="1"/>
          </p:cNvSpPr>
          <p:nvPr>
            <p:ph type="title"/>
          </p:nvPr>
        </p:nvSpPr>
        <p:spPr>
          <a:xfrm>
            <a:off x="678881" y="603665"/>
            <a:ext cx="10834234" cy="612775"/>
          </a:xfrm>
        </p:spPr>
        <p:txBody>
          <a:bodyPr/>
          <a:lstStyle/>
          <a:p>
            <a:r>
              <a:rPr lang="en-IN" dirty="0"/>
              <a:t>Cont…</a:t>
            </a:r>
          </a:p>
        </p:txBody>
      </p:sp>
      <p:grpSp>
        <p:nvGrpSpPr>
          <p:cNvPr id="14" name="Group 13">
            <a:extLst>
              <a:ext uri="{FF2B5EF4-FFF2-40B4-BE49-F238E27FC236}">
                <a16:creationId xmlns:a16="http://schemas.microsoft.com/office/drawing/2014/main" id="{EBA8BEFF-879D-0586-5497-44B7B22F65DC}"/>
              </a:ext>
            </a:extLst>
          </p:cNvPr>
          <p:cNvGrpSpPr/>
          <p:nvPr/>
        </p:nvGrpSpPr>
        <p:grpSpPr>
          <a:xfrm>
            <a:off x="1655839" y="4437529"/>
            <a:ext cx="8994232" cy="1586983"/>
            <a:chOff x="835568" y="4179750"/>
            <a:chExt cx="10363263" cy="2006127"/>
          </a:xfrm>
        </p:grpSpPr>
        <p:pic>
          <p:nvPicPr>
            <p:cNvPr id="8" name="Picture 7" descr="A logo with stars and text&#10;&#10;Description automatically generated">
              <a:extLst>
                <a:ext uri="{FF2B5EF4-FFF2-40B4-BE49-F238E27FC236}">
                  <a16:creationId xmlns:a16="http://schemas.microsoft.com/office/drawing/2014/main" id="{528E91CD-5305-A0BD-0E6B-8E580065C5A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571" t="29656" r="6690" b="28281"/>
            <a:stretch/>
          </p:blipFill>
          <p:spPr>
            <a:xfrm>
              <a:off x="835568" y="4351777"/>
              <a:ext cx="2070847" cy="736780"/>
            </a:xfrm>
            <a:prstGeom prst="rect">
              <a:avLst/>
            </a:prstGeom>
          </p:spPr>
        </p:pic>
        <p:pic>
          <p:nvPicPr>
            <p:cNvPr id="5128" name="Picture 8" descr="BLOOM">
              <a:extLst>
                <a:ext uri="{FF2B5EF4-FFF2-40B4-BE49-F238E27FC236}">
                  <a16:creationId xmlns:a16="http://schemas.microsoft.com/office/drawing/2014/main" id="{B441215A-5936-66FF-6632-1C1902ABDC7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66959" y="5004428"/>
              <a:ext cx="2307291" cy="984525"/>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ChatGPT Logo PNG Images With Transparent Background">
              <a:extLst>
                <a:ext uri="{FF2B5EF4-FFF2-40B4-BE49-F238E27FC236}">
                  <a16:creationId xmlns:a16="http://schemas.microsoft.com/office/drawing/2014/main" id="{E9A6F527-62E0-8A12-FB64-0EF3471EEDE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96092" y="4236565"/>
              <a:ext cx="2451847" cy="720869"/>
            </a:xfrm>
            <a:prstGeom prst="rect">
              <a:avLst/>
            </a:prstGeom>
            <a:noFill/>
            <a:extLst>
              <a:ext uri="{909E8E84-426E-40DD-AFC4-6F175D3DCCD1}">
                <a14:hiddenFill xmlns:a14="http://schemas.microsoft.com/office/drawing/2010/main">
                  <a:solidFill>
                    <a:srgbClr val="FFFFFF"/>
                  </a:solidFill>
                </a14:hiddenFill>
              </a:ext>
            </a:extLst>
          </p:spPr>
        </p:pic>
        <p:pic>
          <p:nvPicPr>
            <p:cNvPr id="5138" name="Picture 18" descr="SalesForce Taps LLM for Programming Boost with CodeGen">
              <a:extLst>
                <a:ext uri="{FF2B5EF4-FFF2-40B4-BE49-F238E27FC236}">
                  <a16:creationId xmlns:a16="http://schemas.microsoft.com/office/drawing/2014/main" id="{EB9F9938-D221-5A81-1B42-966C9A6D36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8458" y="4974589"/>
              <a:ext cx="2218262" cy="1211288"/>
            </a:xfrm>
            <a:prstGeom prst="rect">
              <a:avLst/>
            </a:prstGeom>
            <a:noFill/>
            <a:extLst>
              <a:ext uri="{909E8E84-426E-40DD-AFC4-6F175D3DCCD1}">
                <a14:hiddenFill xmlns:a14="http://schemas.microsoft.com/office/drawing/2010/main">
                  <a:solidFill>
                    <a:srgbClr val="FFFFFF"/>
                  </a:solidFill>
                </a14:hiddenFill>
              </a:ext>
            </a:extLst>
          </p:spPr>
        </p:pic>
        <p:pic>
          <p:nvPicPr>
            <p:cNvPr id="5140" name="Picture 20" descr="This Is the Model That Will Power Google's Alternative To ChatGPT | by  Jesus Rodriguez | Towards AI">
              <a:extLst>
                <a:ext uri="{FF2B5EF4-FFF2-40B4-BE49-F238E27FC236}">
                  <a16:creationId xmlns:a16="http://schemas.microsoft.com/office/drawing/2014/main" id="{2C856D3C-AC21-B40E-F820-CC4BA2490F1B}"/>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5843" t="16382" r="14921" b="21895"/>
            <a:stretch/>
          </p:blipFill>
          <p:spPr bwMode="auto">
            <a:xfrm>
              <a:off x="9244802" y="4179750"/>
              <a:ext cx="1954029" cy="97986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341843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IN" dirty="0"/>
              <a:t>Types of Transformer Models</a:t>
            </a:r>
            <a:endParaRPr lang="en-US" dirty="0"/>
          </a:p>
        </p:txBody>
      </p:sp>
      <p:sp>
        <p:nvSpPr>
          <p:cNvPr id="5" name="Content Placeholder 4">
            <a:extLst>
              <a:ext uri="{FF2B5EF4-FFF2-40B4-BE49-F238E27FC236}">
                <a16:creationId xmlns:a16="http://schemas.microsoft.com/office/drawing/2014/main" id="{9ACAD317-2D0D-8483-CB52-4F79D1F5CA19}"/>
              </a:ext>
            </a:extLst>
          </p:cNvPr>
          <p:cNvSpPr>
            <a:spLocks noGrp="1"/>
          </p:cNvSpPr>
          <p:nvPr>
            <p:ph idx="1"/>
          </p:nvPr>
        </p:nvSpPr>
        <p:spPr>
          <a:xfrm>
            <a:off x="620612" y="1415099"/>
            <a:ext cx="11190387" cy="4398066"/>
          </a:xfrm>
        </p:spPr>
        <p:txBody>
          <a:bodyPr>
            <a:noAutofit/>
          </a:bodyPr>
          <a:lstStyle/>
          <a:p>
            <a:pPr marL="0" indent="0" algn="l">
              <a:buNone/>
            </a:pPr>
            <a:r>
              <a:rPr lang="en-US" sz="2000" b="1" i="0" dirty="0">
                <a:solidFill>
                  <a:srgbClr val="1F1F1F"/>
                </a:solidFill>
                <a:effectLst/>
                <a:latin typeface="+mn-lt"/>
              </a:rPr>
              <a:t>1. Autoregressive Models: </a:t>
            </a:r>
            <a:r>
              <a:rPr lang="en-US" sz="2000" b="0" i="0" dirty="0">
                <a:solidFill>
                  <a:srgbClr val="1F1F1F"/>
                </a:solidFill>
                <a:effectLst/>
                <a:latin typeface="+mn-lt"/>
              </a:rPr>
              <a:t>These models predict the next token in a sequence based on the previous tokens. They are ideal for creative text generation, code generation, and translation.</a:t>
            </a:r>
          </a:p>
          <a:p>
            <a:pPr marL="0" indent="0" algn="l">
              <a:buNone/>
            </a:pPr>
            <a:r>
              <a:rPr lang="en-US" sz="2000" b="0" i="0" dirty="0">
                <a:solidFill>
                  <a:srgbClr val="1F1F1F"/>
                </a:solidFill>
                <a:effectLst/>
                <a:latin typeface="+mn-lt"/>
              </a:rPr>
              <a:t>Example: GPT-3, BART</a:t>
            </a:r>
          </a:p>
          <a:p>
            <a:pPr marL="0" indent="0" algn="l">
              <a:buNone/>
            </a:pPr>
            <a:endParaRPr lang="en-US" sz="2000" b="0" i="0" dirty="0">
              <a:solidFill>
                <a:srgbClr val="1F1F1F"/>
              </a:solidFill>
              <a:effectLst/>
              <a:latin typeface="+mn-lt"/>
            </a:endParaRPr>
          </a:p>
          <a:p>
            <a:pPr marL="0" indent="0" algn="l">
              <a:buNone/>
            </a:pPr>
            <a:r>
              <a:rPr lang="en-US" sz="2000" b="1" i="0" dirty="0">
                <a:solidFill>
                  <a:srgbClr val="1F1F1F"/>
                </a:solidFill>
                <a:effectLst/>
                <a:latin typeface="+mn-lt"/>
              </a:rPr>
              <a:t>2. Sequence-to-Sequence Models: </a:t>
            </a:r>
            <a:r>
              <a:rPr lang="en-US" sz="2000" b="0" i="0" dirty="0">
                <a:solidFill>
                  <a:srgbClr val="1F1F1F"/>
                </a:solidFill>
                <a:effectLst/>
                <a:latin typeface="+mn-lt"/>
              </a:rPr>
              <a:t>These models process the entire input sequence and generate a target sequence based on the information learned. They are versatile and can be used for text summarization, question answering, and machine translation.</a:t>
            </a:r>
          </a:p>
          <a:p>
            <a:pPr marL="0" indent="0" algn="l">
              <a:buNone/>
            </a:pPr>
            <a:r>
              <a:rPr lang="en-US" sz="2000" b="0" i="0" dirty="0">
                <a:solidFill>
                  <a:srgbClr val="1F1F1F"/>
                </a:solidFill>
                <a:effectLst/>
                <a:latin typeface="+mn-lt"/>
              </a:rPr>
              <a:t>Example: T5, Seq2Seq</a:t>
            </a:r>
          </a:p>
          <a:p>
            <a:pPr marL="0" indent="0" algn="l">
              <a:buNone/>
            </a:pPr>
            <a:endParaRPr lang="en-US" sz="2000" b="0" i="0" dirty="0">
              <a:solidFill>
                <a:srgbClr val="1F1F1F"/>
              </a:solidFill>
              <a:effectLst/>
              <a:latin typeface="+mn-lt"/>
            </a:endParaRPr>
          </a:p>
          <a:p>
            <a:pPr marL="0" indent="0" algn="l">
              <a:buNone/>
            </a:pPr>
            <a:r>
              <a:rPr lang="en-US" sz="2000" b="1" i="0" dirty="0">
                <a:solidFill>
                  <a:srgbClr val="1F1F1F"/>
                </a:solidFill>
                <a:effectLst/>
                <a:latin typeface="+mn-lt"/>
              </a:rPr>
              <a:t>3. Masked Language Models: </a:t>
            </a:r>
            <a:r>
              <a:rPr lang="en-US" sz="2000" b="0" i="0" dirty="0">
                <a:solidFill>
                  <a:srgbClr val="1F1F1F"/>
                </a:solidFill>
                <a:effectLst/>
                <a:latin typeface="+mn-lt"/>
              </a:rPr>
              <a:t>These models learn by predicting masked words in a sentence, helping them understand word relationships and improve language understanding. They are often used as pre-training steps for other transformers.</a:t>
            </a:r>
          </a:p>
          <a:p>
            <a:pPr marL="0" indent="0" algn="l">
              <a:buNone/>
            </a:pPr>
            <a:r>
              <a:rPr lang="en-US" sz="2000" b="0" i="0" dirty="0">
                <a:solidFill>
                  <a:srgbClr val="1F1F1F"/>
                </a:solidFill>
                <a:effectLst/>
                <a:latin typeface="+mn-lt"/>
              </a:rPr>
              <a:t>Example: MLM, </a:t>
            </a:r>
            <a:r>
              <a:rPr lang="en-US" sz="2000" b="0" i="0" dirty="0" err="1">
                <a:solidFill>
                  <a:srgbClr val="1F1F1F"/>
                </a:solidFill>
                <a:effectLst/>
                <a:latin typeface="+mn-lt"/>
              </a:rPr>
              <a:t>XLNet</a:t>
            </a:r>
            <a:endParaRPr lang="en-US" sz="2000" b="0" i="0" dirty="0">
              <a:solidFill>
                <a:srgbClr val="1F1F1F"/>
              </a:solidFill>
              <a:effectLst/>
              <a:latin typeface="+mn-lt"/>
            </a:endParaRPr>
          </a:p>
        </p:txBody>
      </p:sp>
    </p:spTree>
    <p:extLst>
      <p:ext uri="{BB962C8B-B14F-4D97-AF65-F5344CB8AC3E}">
        <p14:creationId xmlns:p14="http://schemas.microsoft.com/office/powerpoint/2010/main" val="2142236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IN" dirty="0"/>
              <a:t>Types of Transformer Models</a:t>
            </a:r>
            <a:endParaRPr lang="en-US" dirty="0"/>
          </a:p>
        </p:txBody>
      </p:sp>
      <p:sp>
        <p:nvSpPr>
          <p:cNvPr id="5" name="Content Placeholder 4">
            <a:extLst>
              <a:ext uri="{FF2B5EF4-FFF2-40B4-BE49-F238E27FC236}">
                <a16:creationId xmlns:a16="http://schemas.microsoft.com/office/drawing/2014/main" id="{9ACAD317-2D0D-8483-CB52-4F79D1F5CA19}"/>
              </a:ext>
            </a:extLst>
          </p:cNvPr>
          <p:cNvSpPr>
            <a:spLocks noGrp="1"/>
          </p:cNvSpPr>
          <p:nvPr>
            <p:ph idx="1"/>
          </p:nvPr>
        </p:nvSpPr>
        <p:spPr>
          <a:xfrm>
            <a:off x="589237" y="1397169"/>
            <a:ext cx="10834234" cy="4398066"/>
          </a:xfrm>
        </p:spPr>
        <p:txBody>
          <a:bodyPr>
            <a:noAutofit/>
          </a:bodyPr>
          <a:lstStyle/>
          <a:p>
            <a:pPr marL="0" indent="0" algn="l">
              <a:buNone/>
            </a:pPr>
            <a:r>
              <a:rPr lang="en-US" sz="2000" b="1" i="0" dirty="0">
                <a:solidFill>
                  <a:srgbClr val="1F1F1F"/>
                </a:solidFill>
                <a:effectLst/>
                <a:latin typeface="+mn-lt"/>
              </a:rPr>
              <a:t>4. Encoder-only Models: </a:t>
            </a:r>
            <a:r>
              <a:rPr lang="en-US" sz="2000" b="0" i="0" dirty="0">
                <a:solidFill>
                  <a:srgbClr val="1F1F1F"/>
                </a:solidFill>
                <a:effectLst/>
                <a:latin typeface="+mn-lt"/>
              </a:rPr>
              <a:t>These models only use the encoder component of the transformer architecture to understand the meaning of text. They are widely used for sentiment analysis, entity recognition, and text classification.</a:t>
            </a:r>
          </a:p>
          <a:p>
            <a:pPr marL="0" indent="0" algn="l">
              <a:buNone/>
            </a:pPr>
            <a:r>
              <a:rPr lang="en-US" sz="2000" b="0" i="0" dirty="0">
                <a:solidFill>
                  <a:srgbClr val="1F1F1F"/>
                </a:solidFill>
                <a:effectLst/>
                <a:latin typeface="+mn-lt"/>
              </a:rPr>
              <a:t>Example: </a:t>
            </a:r>
            <a:r>
              <a:rPr lang="en-US" sz="2000" b="0" i="0" dirty="0" err="1">
                <a:solidFill>
                  <a:srgbClr val="1F1F1F"/>
                </a:solidFill>
                <a:effectLst/>
                <a:latin typeface="+mn-lt"/>
              </a:rPr>
              <a:t>RoBERTa</a:t>
            </a:r>
            <a:r>
              <a:rPr lang="en-US" sz="2000" b="0" i="0" dirty="0">
                <a:solidFill>
                  <a:srgbClr val="1F1F1F"/>
                </a:solidFill>
                <a:effectLst/>
                <a:latin typeface="+mn-lt"/>
              </a:rPr>
              <a:t>, ALBERT</a:t>
            </a:r>
          </a:p>
          <a:p>
            <a:pPr marL="0" indent="0" algn="l">
              <a:buNone/>
            </a:pPr>
            <a:endParaRPr lang="en-US" sz="2000" b="1" i="0" dirty="0">
              <a:solidFill>
                <a:srgbClr val="1F1F1F"/>
              </a:solidFill>
              <a:effectLst/>
              <a:latin typeface="+mn-lt"/>
            </a:endParaRPr>
          </a:p>
          <a:p>
            <a:pPr marL="0" indent="0" algn="l">
              <a:buNone/>
            </a:pPr>
            <a:r>
              <a:rPr lang="en-US" sz="2000" b="1" i="0" dirty="0">
                <a:solidFill>
                  <a:srgbClr val="1F1F1F"/>
                </a:solidFill>
                <a:effectLst/>
                <a:latin typeface="+mn-lt"/>
              </a:rPr>
              <a:t>5. Vision Transformers: </a:t>
            </a:r>
            <a:r>
              <a:rPr lang="en-US" sz="2000" b="0" i="0" dirty="0">
                <a:solidFill>
                  <a:srgbClr val="1F1F1F"/>
                </a:solidFill>
                <a:effectLst/>
                <a:latin typeface="+mn-lt"/>
              </a:rPr>
              <a:t>These models leverage the transformer architecture for image processing tasks. They can analyze and understand images effectively and are used for image classification, detection, and segmentation.</a:t>
            </a:r>
          </a:p>
          <a:p>
            <a:pPr marL="0" indent="0" algn="l">
              <a:buNone/>
            </a:pPr>
            <a:r>
              <a:rPr lang="en-US" sz="2000" b="0" i="0" dirty="0">
                <a:solidFill>
                  <a:srgbClr val="1F1F1F"/>
                </a:solidFill>
                <a:effectLst/>
                <a:latin typeface="+mn-lt"/>
              </a:rPr>
              <a:t>Example: Vision Transformer, </a:t>
            </a:r>
            <a:r>
              <a:rPr lang="en-US" sz="2000" b="0" i="0" dirty="0" err="1">
                <a:solidFill>
                  <a:srgbClr val="1F1F1F"/>
                </a:solidFill>
                <a:effectLst/>
                <a:latin typeface="+mn-lt"/>
              </a:rPr>
              <a:t>DeiT</a:t>
            </a:r>
            <a:endParaRPr lang="en-US" sz="2000" b="0" i="0" dirty="0">
              <a:solidFill>
                <a:srgbClr val="1F1F1F"/>
              </a:solidFill>
              <a:effectLst/>
              <a:latin typeface="+mn-lt"/>
            </a:endParaRPr>
          </a:p>
          <a:p>
            <a:pPr marL="0" indent="0" algn="l">
              <a:buNone/>
            </a:pPr>
            <a:endParaRPr lang="en-US" sz="2000" b="0" i="0" dirty="0">
              <a:solidFill>
                <a:srgbClr val="1F1F1F"/>
              </a:solidFill>
              <a:effectLst/>
              <a:latin typeface="+mn-lt"/>
            </a:endParaRPr>
          </a:p>
          <a:p>
            <a:pPr marL="0" indent="0" algn="l">
              <a:buNone/>
            </a:pPr>
            <a:r>
              <a:rPr lang="en-US" sz="2000" b="1" i="0" dirty="0">
                <a:solidFill>
                  <a:srgbClr val="1F1F1F"/>
                </a:solidFill>
                <a:effectLst/>
                <a:latin typeface="+mn-lt"/>
              </a:rPr>
              <a:t>6. Speech Transformers: </a:t>
            </a:r>
            <a:r>
              <a:rPr lang="en-US" sz="2000" b="0" i="0" dirty="0">
                <a:solidFill>
                  <a:srgbClr val="1F1F1F"/>
                </a:solidFill>
                <a:effectLst/>
                <a:latin typeface="+mn-lt"/>
              </a:rPr>
              <a:t>These models utilize the transformer architecture for processing speech data. They are trained on large amounts of audio data and can achieve high accuracy in speech recognition and synthesis tasks.</a:t>
            </a:r>
          </a:p>
          <a:p>
            <a:pPr marL="0" indent="0" algn="l">
              <a:buNone/>
            </a:pPr>
            <a:r>
              <a:rPr lang="en-US" sz="2000" b="0" i="0" dirty="0">
                <a:solidFill>
                  <a:srgbClr val="1F1F1F"/>
                </a:solidFill>
                <a:effectLst/>
                <a:latin typeface="+mn-lt"/>
              </a:rPr>
              <a:t>Example: Speech Transformer, Conformer</a:t>
            </a:r>
          </a:p>
        </p:txBody>
      </p:sp>
    </p:spTree>
    <p:extLst>
      <p:ext uri="{BB962C8B-B14F-4D97-AF65-F5344CB8AC3E}">
        <p14:creationId xmlns:p14="http://schemas.microsoft.com/office/powerpoint/2010/main" val="7804375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Google </a:t>
            </a:r>
            <a:r>
              <a:rPr lang="en-US" dirty="0" err="1"/>
              <a:t>Colab</a:t>
            </a:r>
            <a:endParaRPr lang="en-US" dirty="0"/>
          </a:p>
        </p:txBody>
      </p:sp>
      <p:sp>
        <p:nvSpPr>
          <p:cNvPr id="5" name="Content Placeholder 4">
            <a:extLst>
              <a:ext uri="{FF2B5EF4-FFF2-40B4-BE49-F238E27FC236}">
                <a16:creationId xmlns:a16="http://schemas.microsoft.com/office/drawing/2014/main" id="{5A276575-74F5-59E0-142C-5FD4846D5105}"/>
              </a:ext>
            </a:extLst>
          </p:cNvPr>
          <p:cNvSpPr>
            <a:spLocks noGrp="1"/>
          </p:cNvSpPr>
          <p:nvPr>
            <p:ph sz="half" idx="1"/>
          </p:nvPr>
        </p:nvSpPr>
        <p:spPr>
          <a:xfrm>
            <a:off x="678881" y="1381929"/>
            <a:ext cx="11051437" cy="4399442"/>
          </a:xfrm>
        </p:spPr>
        <p:txBody>
          <a:bodyPr lIns="0" tIns="0" rIns="0" bIns="0" numCol="1" spcCol="180000">
            <a:normAutofit lnSpcReduction="10000"/>
          </a:bodyPr>
          <a:lstStyle/>
          <a:p>
            <a:pPr marL="0" indent="0">
              <a:lnSpc>
                <a:spcPct val="110000"/>
              </a:lnSpc>
              <a:spcBef>
                <a:spcPts val="600"/>
              </a:spcBef>
              <a:spcAft>
                <a:spcPts val="600"/>
              </a:spcAft>
              <a:buNone/>
            </a:pPr>
            <a:r>
              <a:rPr lang="en-US" sz="2000" b="0" i="0" dirty="0">
                <a:solidFill>
                  <a:srgbClr val="0F0F0F"/>
                </a:solidFill>
                <a:effectLst/>
                <a:latin typeface="+mn-lt"/>
              </a:rPr>
              <a:t>Google </a:t>
            </a:r>
            <a:r>
              <a:rPr lang="en-US" sz="2000" b="0" i="0" dirty="0" err="1">
                <a:solidFill>
                  <a:srgbClr val="0F0F0F"/>
                </a:solidFill>
                <a:effectLst/>
                <a:latin typeface="+mn-lt"/>
              </a:rPr>
              <a:t>Colab</a:t>
            </a:r>
            <a:r>
              <a:rPr lang="en-US" sz="2000" b="0" i="0" dirty="0">
                <a:solidFill>
                  <a:srgbClr val="0F0F0F"/>
                </a:solidFill>
                <a:effectLst/>
                <a:latin typeface="+mn-lt"/>
              </a:rPr>
              <a:t>, also known as Google </a:t>
            </a:r>
            <a:r>
              <a:rPr lang="en-US" sz="2000" b="0" i="0" dirty="0" err="1">
                <a:solidFill>
                  <a:srgbClr val="0F0F0F"/>
                </a:solidFill>
                <a:effectLst/>
                <a:latin typeface="+mn-lt"/>
              </a:rPr>
              <a:t>Colaboratory</a:t>
            </a:r>
            <a:r>
              <a:rPr lang="en-US" sz="2000" b="0" i="0" dirty="0">
                <a:solidFill>
                  <a:srgbClr val="0F0F0F"/>
                </a:solidFill>
                <a:effectLst/>
                <a:latin typeface="+mn-lt"/>
              </a:rPr>
              <a:t>, is a hosted </a:t>
            </a:r>
            <a:r>
              <a:rPr lang="en-US" sz="2000" b="0" i="0" dirty="0" err="1">
                <a:solidFill>
                  <a:srgbClr val="0F0F0F"/>
                </a:solidFill>
                <a:effectLst/>
                <a:latin typeface="+mn-lt"/>
              </a:rPr>
              <a:t>Jupyter</a:t>
            </a:r>
            <a:r>
              <a:rPr lang="en-US" sz="2000" b="0" i="0" dirty="0">
                <a:solidFill>
                  <a:srgbClr val="0F0F0F"/>
                </a:solidFill>
                <a:effectLst/>
                <a:latin typeface="+mn-lt"/>
              </a:rPr>
              <a:t> notebook environment that allows you to write and execute Python code in your browser. It is completely free to use and requires no setup, making it a popular platform for machine learning, data science, and education.</a:t>
            </a:r>
          </a:p>
          <a:p>
            <a:pPr marL="457200" indent="-457200" algn="l">
              <a:buFont typeface="+mj-lt"/>
              <a:buAutoNum type="arabicPeriod"/>
            </a:pPr>
            <a:r>
              <a:rPr lang="en-US" sz="2000" b="1" i="0" dirty="0">
                <a:solidFill>
                  <a:srgbClr val="374151"/>
                </a:solidFill>
                <a:effectLst/>
                <a:latin typeface="+mn-lt"/>
              </a:rPr>
              <a:t>Cloud-based:</a:t>
            </a:r>
            <a:r>
              <a:rPr lang="en-US" sz="2000" b="0" i="0" dirty="0">
                <a:solidFill>
                  <a:srgbClr val="374151"/>
                </a:solidFill>
                <a:effectLst/>
                <a:latin typeface="+mn-lt"/>
              </a:rPr>
              <a:t> No need to install software; runs on Google's servers with access to GPUs and TPUs.</a:t>
            </a:r>
          </a:p>
          <a:p>
            <a:pPr marL="457200" indent="-457200" algn="l">
              <a:buFont typeface="+mj-lt"/>
              <a:buAutoNum type="arabicPeriod"/>
            </a:pPr>
            <a:r>
              <a:rPr lang="en-US" sz="2000" b="1" i="0" dirty="0">
                <a:solidFill>
                  <a:srgbClr val="374151"/>
                </a:solidFill>
                <a:effectLst/>
                <a:latin typeface="+mn-lt"/>
              </a:rPr>
              <a:t>Free to use:</a:t>
            </a:r>
            <a:r>
              <a:rPr lang="en-US" sz="2000" b="0" i="0" dirty="0">
                <a:solidFill>
                  <a:srgbClr val="374151"/>
                </a:solidFill>
                <a:effectLst/>
                <a:latin typeface="+mn-lt"/>
              </a:rPr>
              <a:t> No usage limits or cost; accessible to everyone.</a:t>
            </a:r>
          </a:p>
          <a:p>
            <a:pPr marL="457200" indent="-457200" algn="l">
              <a:buFont typeface="+mj-lt"/>
              <a:buAutoNum type="arabicPeriod"/>
            </a:pPr>
            <a:r>
              <a:rPr lang="en-US" sz="2000" b="1" i="0" dirty="0" err="1">
                <a:solidFill>
                  <a:srgbClr val="374151"/>
                </a:solidFill>
                <a:effectLst/>
                <a:latin typeface="+mn-lt"/>
              </a:rPr>
              <a:t>Jupyter</a:t>
            </a:r>
            <a:r>
              <a:rPr lang="en-US" sz="2000" b="1" i="0" dirty="0">
                <a:solidFill>
                  <a:srgbClr val="374151"/>
                </a:solidFill>
                <a:effectLst/>
                <a:latin typeface="+mn-lt"/>
              </a:rPr>
              <a:t> notebooks:</a:t>
            </a:r>
            <a:r>
              <a:rPr lang="en-US" sz="2000" b="0" i="0" dirty="0">
                <a:solidFill>
                  <a:srgbClr val="374151"/>
                </a:solidFill>
                <a:effectLst/>
                <a:latin typeface="+mn-lt"/>
              </a:rPr>
              <a:t> Supports code, text, images, and multimedia in a single interactive document.</a:t>
            </a:r>
          </a:p>
          <a:p>
            <a:pPr marL="457200" indent="-457200" algn="l">
              <a:buFont typeface="+mj-lt"/>
              <a:buAutoNum type="arabicPeriod"/>
            </a:pPr>
            <a:r>
              <a:rPr lang="en-US" sz="2000" b="1" i="0" dirty="0">
                <a:solidFill>
                  <a:srgbClr val="374151"/>
                </a:solidFill>
                <a:effectLst/>
                <a:latin typeface="+mn-lt"/>
              </a:rPr>
              <a:t>Easy sharing:</a:t>
            </a:r>
            <a:r>
              <a:rPr lang="en-US" sz="2000" b="0" i="0" dirty="0">
                <a:solidFill>
                  <a:srgbClr val="374151"/>
                </a:solidFill>
                <a:effectLst/>
                <a:latin typeface="+mn-lt"/>
              </a:rPr>
              <a:t> Share notebooks via link for seamless collaboration.</a:t>
            </a:r>
          </a:p>
          <a:p>
            <a:pPr marL="457200" indent="-457200" algn="l">
              <a:buFont typeface="+mj-lt"/>
              <a:buAutoNum type="arabicPeriod"/>
            </a:pPr>
            <a:r>
              <a:rPr lang="en-US" sz="2000" b="1" i="0" dirty="0">
                <a:solidFill>
                  <a:srgbClr val="374151"/>
                </a:solidFill>
                <a:effectLst/>
                <a:latin typeface="+mn-lt"/>
              </a:rPr>
              <a:t>Pre-installed libraries:</a:t>
            </a:r>
            <a:r>
              <a:rPr lang="en-US" sz="2000" b="0" i="0" dirty="0">
                <a:solidFill>
                  <a:srgbClr val="374151"/>
                </a:solidFill>
                <a:effectLst/>
                <a:latin typeface="+mn-lt"/>
              </a:rPr>
              <a:t> Comes with popular ML and data science libraries, saving installation time.</a:t>
            </a:r>
          </a:p>
          <a:p>
            <a:pPr marL="457200" indent="-457200" algn="l">
              <a:buFont typeface="+mj-lt"/>
              <a:buAutoNum type="arabicPeriod"/>
            </a:pPr>
            <a:r>
              <a:rPr lang="en-US" sz="2000" b="1" i="0" dirty="0">
                <a:solidFill>
                  <a:srgbClr val="374151"/>
                </a:solidFill>
                <a:effectLst/>
                <a:latin typeface="+mn-lt"/>
              </a:rPr>
              <a:t>Automatic version control:</a:t>
            </a:r>
            <a:r>
              <a:rPr lang="en-US" sz="2000" b="0" i="0" dirty="0">
                <a:solidFill>
                  <a:srgbClr val="374151"/>
                </a:solidFill>
                <a:effectLst/>
                <a:latin typeface="+mn-lt"/>
              </a:rPr>
              <a:t> Saves work to Google Drive for easy progress tracking and collaboration.</a:t>
            </a:r>
          </a:p>
          <a:p>
            <a:pPr marL="457200" indent="-457200" algn="l">
              <a:buFont typeface="+mj-lt"/>
              <a:buAutoNum type="arabicPeriod"/>
            </a:pPr>
            <a:r>
              <a:rPr lang="en-US" sz="2000" b="1" i="0" dirty="0">
                <a:solidFill>
                  <a:srgbClr val="374151"/>
                </a:solidFill>
                <a:effectLst/>
                <a:latin typeface="+mn-lt"/>
              </a:rPr>
              <a:t>Open source:</a:t>
            </a:r>
            <a:r>
              <a:rPr lang="en-US" sz="2000" b="0" i="0" dirty="0">
                <a:solidFill>
                  <a:srgbClr val="374151"/>
                </a:solidFill>
                <a:effectLst/>
                <a:latin typeface="+mn-lt"/>
              </a:rPr>
              <a:t> An open-source project, continuously improved and updated by contributors.</a:t>
            </a:r>
          </a:p>
          <a:p>
            <a:pPr marL="457200" indent="-457200" algn="l">
              <a:buFont typeface="+mj-lt"/>
              <a:buAutoNum type="arabicPeriod"/>
            </a:pPr>
            <a:endParaRPr lang="en-US" sz="2000" dirty="0">
              <a:solidFill>
                <a:srgbClr val="374151"/>
              </a:solidFill>
              <a:latin typeface="+mn-lt"/>
            </a:endParaRPr>
          </a:p>
          <a:p>
            <a:pPr marL="0" indent="0" algn="l">
              <a:buNone/>
            </a:pPr>
            <a:r>
              <a:rPr lang="en-US" sz="2000" b="0" i="0" dirty="0">
                <a:solidFill>
                  <a:srgbClr val="374151"/>
                </a:solidFill>
                <a:effectLst/>
                <a:latin typeface="+mn-lt"/>
                <a:hlinkClick r:id="rId3"/>
              </a:rPr>
              <a:t>Launch Google </a:t>
            </a:r>
            <a:r>
              <a:rPr lang="en-US" sz="2000" b="0" i="0" dirty="0" err="1">
                <a:solidFill>
                  <a:srgbClr val="374151"/>
                </a:solidFill>
                <a:effectLst/>
                <a:latin typeface="+mn-lt"/>
                <a:hlinkClick r:id="rId3"/>
              </a:rPr>
              <a:t>Colab</a:t>
            </a:r>
            <a:endParaRPr lang="en-US" sz="2000" b="0" i="0" dirty="0">
              <a:solidFill>
                <a:srgbClr val="374151"/>
              </a:solidFill>
              <a:effectLst/>
              <a:latin typeface="+mn-lt"/>
            </a:endParaRPr>
          </a:p>
        </p:txBody>
      </p:sp>
      <p:pic>
        <p:nvPicPr>
          <p:cNvPr id="9218" name="Picture 2">
            <a:extLst>
              <a:ext uri="{FF2B5EF4-FFF2-40B4-BE49-F238E27FC236}">
                <a16:creationId xmlns:a16="http://schemas.microsoft.com/office/drawing/2014/main" id="{A3BACF2A-0495-1755-B120-89472676CC1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8104" t="14882" r="18580" b="17866"/>
          <a:stretch/>
        </p:blipFill>
        <p:spPr bwMode="auto">
          <a:xfrm>
            <a:off x="10369775" y="536125"/>
            <a:ext cx="1143339" cy="747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70660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Hugging Face</a:t>
            </a: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0" indent="0">
              <a:buNone/>
            </a:pPr>
            <a:r>
              <a:rPr lang="en-US" sz="1800" b="0" i="0" dirty="0">
                <a:solidFill>
                  <a:srgbClr val="374151"/>
                </a:solidFill>
                <a:effectLst/>
                <a:latin typeface="+mn-lt"/>
              </a:rPr>
              <a:t>Hugging Face is a company and an open-source platform that focuses on Natural Language Processing (NLP) and provides a comprehensive ecosystem of tools and resources for developers, researchers, and students.</a:t>
            </a:r>
          </a:p>
          <a:p>
            <a:pPr marL="0" indent="0">
              <a:buNone/>
            </a:pPr>
            <a:endParaRPr lang="en-US" sz="1800" dirty="0">
              <a:solidFill>
                <a:srgbClr val="374151"/>
              </a:solidFill>
              <a:latin typeface="+mn-lt"/>
            </a:endParaRPr>
          </a:p>
          <a:p>
            <a:r>
              <a:rPr lang="en-US" sz="1800" b="1" i="0" dirty="0">
                <a:solidFill>
                  <a:srgbClr val="374151"/>
                </a:solidFill>
                <a:effectLst/>
                <a:latin typeface="+mn-lt"/>
              </a:rPr>
              <a:t>Open-Source NLP Hub:</a:t>
            </a:r>
            <a:r>
              <a:rPr lang="en-US" sz="1800" b="0" i="0" dirty="0">
                <a:solidFill>
                  <a:srgbClr val="374151"/>
                </a:solidFill>
                <a:effectLst/>
                <a:latin typeface="+mn-lt"/>
              </a:rPr>
              <a:t> Hugging Face is a platform providing open access to a diverse collection of pre-trained NLP models.</a:t>
            </a:r>
          </a:p>
          <a:p>
            <a:r>
              <a:rPr lang="en-US" sz="1800" b="1" i="0" dirty="0">
                <a:solidFill>
                  <a:srgbClr val="374151"/>
                </a:solidFill>
                <a:effectLst/>
                <a:latin typeface="+mn-lt"/>
              </a:rPr>
              <a:t>Transformers Library:</a:t>
            </a:r>
            <a:r>
              <a:rPr lang="en-US" sz="1800" b="0" i="0" dirty="0">
                <a:solidFill>
                  <a:srgbClr val="374151"/>
                </a:solidFill>
                <a:effectLst/>
                <a:latin typeface="+mn-lt"/>
              </a:rPr>
              <a:t> Widely-used open-source library simplifying work with transformer-based models, offering pre-trained models and utilities.</a:t>
            </a:r>
          </a:p>
          <a:p>
            <a:r>
              <a:rPr lang="en-US" sz="1800" b="1" i="0" dirty="0">
                <a:solidFill>
                  <a:srgbClr val="374151"/>
                </a:solidFill>
                <a:effectLst/>
                <a:latin typeface="+mn-lt"/>
              </a:rPr>
              <a:t>Community Collaboration:</a:t>
            </a:r>
            <a:r>
              <a:rPr lang="en-US" sz="1800" b="0" i="0" dirty="0">
                <a:solidFill>
                  <a:srgbClr val="374151"/>
                </a:solidFill>
                <a:effectLst/>
                <a:latin typeface="+mn-lt"/>
              </a:rPr>
              <a:t> Actively encourages collaboration and knowledge-sharing within the global NLP community.</a:t>
            </a:r>
          </a:p>
          <a:p>
            <a:r>
              <a:rPr lang="en-US" sz="1800" b="1" i="0" dirty="0">
                <a:solidFill>
                  <a:srgbClr val="374151"/>
                </a:solidFill>
                <a:effectLst/>
                <a:latin typeface="+mn-lt"/>
              </a:rPr>
              <a:t>Training and Deployment Tools:</a:t>
            </a:r>
            <a:r>
              <a:rPr lang="en-US" sz="1800" b="0" i="0" dirty="0">
                <a:solidFill>
                  <a:srgbClr val="374151"/>
                </a:solidFill>
                <a:effectLst/>
                <a:latin typeface="+mn-lt"/>
              </a:rPr>
              <a:t> Provides tools not just for accessing but also training and deploying NLP models.</a:t>
            </a:r>
          </a:p>
          <a:p>
            <a:r>
              <a:rPr lang="en-US" sz="1800" b="1" i="0" dirty="0">
                <a:solidFill>
                  <a:srgbClr val="374151"/>
                </a:solidFill>
                <a:effectLst/>
                <a:latin typeface="+mn-lt"/>
              </a:rPr>
              <a:t>User-Friendly Interfaces:</a:t>
            </a:r>
            <a:r>
              <a:rPr lang="en-US" sz="1800" b="0" i="0" dirty="0">
                <a:solidFill>
                  <a:srgbClr val="374151"/>
                </a:solidFill>
                <a:effectLst/>
                <a:latin typeface="+mn-lt"/>
              </a:rPr>
              <a:t> Emphasizes user-friendliness with easy-to-use interfaces and APIs for both beginners and experienced practitioners.</a:t>
            </a:r>
          </a:p>
          <a:p>
            <a:r>
              <a:rPr lang="en-US" sz="1800" b="1" i="0" dirty="0">
                <a:solidFill>
                  <a:srgbClr val="374151"/>
                </a:solidFill>
                <a:effectLst/>
                <a:latin typeface="+mn-lt"/>
              </a:rPr>
              <a:t>Educational Resources:</a:t>
            </a:r>
            <a:r>
              <a:rPr lang="en-US" sz="1800" b="0" i="0" dirty="0">
                <a:solidFill>
                  <a:srgbClr val="374151"/>
                </a:solidFill>
                <a:effectLst/>
                <a:latin typeface="+mn-lt"/>
              </a:rPr>
              <a:t> Offers documentation and resources to support users in understanding and utilizing NLP capabilities effectively.</a:t>
            </a:r>
            <a:endParaRPr lang="en-US" sz="1800" dirty="0">
              <a:solidFill>
                <a:srgbClr val="374151"/>
              </a:solidFill>
              <a:latin typeface="+mn-lt"/>
            </a:endParaRPr>
          </a:p>
          <a:p>
            <a:pPr marL="0" indent="0">
              <a:buNone/>
            </a:pPr>
            <a:endParaRPr lang="en-IN" sz="1800" dirty="0">
              <a:latin typeface="+mn-lt"/>
            </a:endParaRPr>
          </a:p>
        </p:txBody>
      </p:sp>
      <p:pic>
        <p:nvPicPr>
          <p:cNvPr id="8200" name="Picture 8" descr="Brand assets - Hugging Face">
            <a:extLst>
              <a:ext uri="{FF2B5EF4-FFF2-40B4-BE49-F238E27FC236}">
                <a16:creationId xmlns:a16="http://schemas.microsoft.com/office/drawing/2014/main" id="{E2355003-084D-2D7A-A856-394A200F87D4}"/>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0403262" y="345141"/>
            <a:ext cx="1040187" cy="10401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1224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err="1"/>
              <a:t>Cont</a:t>
            </a:r>
            <a:r>
              <a:rPr lang="en-US" dirty="0"/>
              <a:t>…</a:t>
            </a: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0" indent="0" algn="l">
              <a:buNone/>
            </a:pPr>
            <a:r>
              <a:rPr lang="en-IN" sz="2200" b="1" i="0" dirty="0">
                <a:solidFill>
                  <a:srgbClr val="1F1F1F"/>
                </a:solidFill>
                <a:effectLst/>
                <a:latin typeface="+mn-lt"/>
              </a:rPr>
              <a:t>Exploring Pre-trained LLM Models</a:t>
            </a:r>
          </a:p>
          <a:p>
            <a:pPr marL="0" indent="0" algn="l">
              <a:buNone/>
            </a:pPr>
            <a:endParaRPr lang="en-IN" sz="2200" b="1" i="0" dirty="0">
              <a:solidFill>
                <a:srgbClr val="1F1F1F"/>
              </a:solidFill>
              <a:effectLst/>
              <a:latin typeface="+mn-lt"/>
            </a:endParaRPr>
          </a:p>
          <a:p>
            <a:pPr marL="0" indent="0" algn="l">
              <a:buNone/>
            </a:pPr>
            <a:r>
              <a:rPr lang="en-US" sz="2000" b="0" i="0" dirty="0">
                <a:solidFill>
                  <a:srgbClr val="1F1F1F"/>
                </a:solidFill>
                <a:effectLst/>
                <a:latin typeface="+mn-lt"/>
              </a:rPr>
              <a:t>Browsing available models on Hugging Face:</a:t>
            </a:r>
          </a:p>
          <a:p>
            <a:pPr algn="l">
              <a:buFont typeface="Arial" panose="020B0604020202020204" pitchFamily="34" charset="0"/>
              <a:buChar char="•"/>
            </a:pPr>
            <a:r>
              <a:rPr lang="en-US" sz="2000" b="0" i="0" dirty="0">
                <a:solidFill>
                  <a:srgbClr val="1F1F1F"/>
                </a:solidFill>
                <a:effectLst/>
                <a:latin typeface="+mn-lt"/>
              </a:rPr>
              <a:t>Explore popular LLM models like Flan-T5, GPT-2, and Jurassic-1 Jumbo.</a:t>
            </a:r>
          </a:p>
          <a:p>
            <a:pPr algn="l">
              <a:buFont typeface="Arial" panose="020B0604020202020204" pitchFamily="34" charset="0"/>
              <a:buChar char="•"/>
            </a:pPr>
            <a:r>
              <a:rPr lang="en-US" sz="2000" b="0" i="0" dirty="0">
                <a:solidFill>
                  <a:srgbClr val="1F1F1F"/>
                </a:solidFill>
                <a:effectLst/>
                <a:latin typeface="+mn-lt"/>
              </a:rPr>
              <a:t>Filter models by task, language, and model size.</a:t>
            </a:r>
          </a:p>
          <a:p>
            <a:pPr algn="l">
              <a:buFont typeface="Arial" panose="020B0604020202020204" pitchFamily="34" charset="0"/>
              <a:buChar char="•"/>
            </a:pPr>
            <a:r>
              <a:rPr lang="en-US" sz="2000" b="0" i="0" dirty="0">
                <a:solidFill>
                  <a:srgbClr val="1F1F1F"/>
                </a:solidFill>
                <a:effectLst/>
                <a:latin typeface="+mn-lt"/>
              </a:rPr>
              <a:t>Read model descriptions and documentation for detailed information.</a:t>
            </a:r>
          </a:p>
          <a:p>
            <a:pPr algn="l">
              <a:buFont typeface="Arial" panose="020B0604020202020204" pitchFamily="34" charset="0"/>
              <a:buChar char="•"/>
            </a:pPr>
            <a:endParaRPr lang="en-US" sz="2000" b="0" i="0" dirty="0">
              <a:solidFill>
                <a:srgbClr val="1F1F1F"/>
              </a:solidFill>
              <a:effectLst/>
              <a:latin typeface="+mn-lt"/>
            </a:endParaRPr>
          </a:p>
          <a:p>
            <a:pPr marL="0" indent="0" algn="l">
              <a:buNone/>
            </a:pPr>
            <a:r>
              <a:rPr lang="en-US" sz="2000" b="0" i="0" dirty="0">
                <a:solidFill>
                  <a:srgbClr val="1F1F1F"/>
                </a:solidFill>
                <a:effectLst/>
                <a:latin typeface="+mn-lt"/>
              </a:rPr>
              <a:t>Understanding model specifications:</a:t>
            </a:r>
          </a:p>
          <a:p>
            <a:pPr algn="l">
              <a:buFont typeface="Arial" panose="020B0604020202020204" pitchFamily="34" charset="0"/>
              <a:buChar char="•"/>
            </a:pPr>
            <a:r>
              <a:rPr lang="en-US" sz="2000" b="0" i="0" dirty="0">
                <a:solidFill>
                  <a:srgbClr val="1F1F1F"/>
                </a:solidFill>
                <a:effectLst/>
                <a:latin typeface="+mn-lt"/>
              </a:rPr>
              <a:t>Familiarize yourself with model parameters like number of parameters, architecture type, and supported tasks.</a:t>
            </a:r>
          </a:p>
          <a:p>
            <a:pPr algn="l">
              <a:buFont typeface="Arial" panose="020B0604020202020204" pitchFamily="34" charset="0"/>
              <a:buChar char="•"/>
            </a:pPr>
            <a:r>
              <a:rPr lang="en-US" sz="2000" b="0" i="0" dirty="0">
                <a:solidFill>
                  <a:srgbClr val="1F1F1F"/>
                </a:solidFill>
                <a:effectLst/>
                <a:latin typeface="+mn-lt"/>
              </a:rPr>
              <a:t>Consider the trade-off between performance and computational resources when choosing a model.</a:t>
            </a:r>
          </a:p>
        </p:txBody>
      </p:sp>
    </p:spTree>
    <p:extLst>
      <p:ext uri="{BB962C8B-B14F-4D97-AF65-F5344CB8AC3E}">
        <p14:creationId xmlns:p14="http://schemas.microsoft.com/office/powerpoint/2010/main" val="42855516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5BA2E58-FEC9-D54D-ACC0-E7CEEF5F42E4}"/>
              </a:ext>
            </a:extLst>
          </p:cNvPr>
          <p:cNvSpPr>
            <a:spLocks noGrp="1"/>
          </p:cNvSpPr>
          <p:nvPr>
            <p:ph type="title"/>
          </p:nvPr>
        </p:nvSpPr>
        <p:spPr/>
        <p:txBody>
          <a:bodyPr>
            <a:normAutofit/>
          </a:bodyPr>
          <a:lstStyle/>
          <a:p>
            <a:r>
              <a:rPr lang="en-US" dirty="0"/>
              <a:t>Practical Exercise</a:t>
            </a:r>
          </a:p>
        </p:txBody>
      </p:sp>
      <p:sp>
        <p:nvSpPr>
          <p:cNvPr id="3" name="Content Placeholder 2">
            <a:extLst>
              <a:ext uri="{FF2B5EF4-FFF2-40B4-BE49-F238E27FC236}">
                <a16:creationId xmlns:a16="http://schemas.microsoft.com/office/drawing/2014/main" id="{CB071890-575E-F98C-E2A4-BC2D1C459837}"/>
              </a:ext>
            </a:extLst>
          </p:cNvPr>
          <p:cNvSpPr>
            <a:spLocks noGrp="1"/>
          </p:cNvSpPr>
          <p:nvPr>
            <p:ph sz="half" idx="1"/>
          </p:nvPr>
        </p:nvSpPr>
        <p:spPr>
          <a:xfrm>
            <a:off x="636489" y="1440200"/>
            <a:ext cx="10876625" cy="4781306"/>
          </a:xfrm>
        </p:spPr>
        <p:txBody>
          <a:bodyPr>
            <a:noAutofit/>
          </a:bodyPr>
          <a:lstStyle/>
          <a:p>
            <a:pPr marL="0" indent="0" algn="l">
              <a:buNone/>
            </a:pPr>
            <a:r>
              <a:rPr lang="en-US" sz="2200" b="0" dirty="0">
                <a:solidFill>
                  <a:srgbClr val="374151"/>
                </a:solidFill>
                <a:effectLst/>
                <a:latin typeface="+mn-lt"/>
              </a:rPr>
              <a:t>Implementing Text Generation, Summarization and translation Tasks</a:t>
            </a:r>
          </a:p>
          <a:p>
            <a:pPr marL="0" indent="0" algn="l">
              <a:buNone/>
            </a:pPr>
            <a:endParaRPr lang="en-US" sz="2200" dirty="0">
              <a:solidFill>
                <a:srgbClr val="374151"/>
              </a:solidFill>
              <a:latin typeface="+mn-lt"/>
            </a:endParaRPr>
          </a:p>
          <a:p>
            <a:pPr marL="0" indent="0" algn="l">
              <a:buNone/>
            </a:pPr>
            <a:r>
              <a:rPr lang="en-US" sz="2200" b="0" dirty="0">
                <a:solidFill>
                  <a:srgbClr val="374151"/>
                </a:solidFill>
                <a:effectLst/>
                <a:latin typeface="+mn-lt"/>
              </a:rPr>
              <a:t>Note: Use Google </a:t>
            </a:r>
            <a:r>
              <a:rPr lang="en-US" sz="2200" b="0" dirty="0" err="1">
                <a:solidFill>
                  <a:srgbClr val="374151"/>
                </a:solidFill>
                <a:effectLst/>
                <a:latin typeface="+mn-lt"/>
              </a:rPr>
              <a:t>Colabotory</a:t>
            </a:r>
            <a:endParaRPr lang="en-US" sz="2200" b="0" dirty="0">
              <a:solidFill>
                <a:srgbClr val="1F1F1F"/>
              </a:solidFill>
              <a:effectLst/>
              <a:latin typeface="+mn-lt"/>
            </a:endParaRPr>
          </a:p>
        </p:txBody>
      </p:sp>
    </p:spTree>
    <p:extLst>
      <p:ext uri="{BB962C8B-B14F-4D97-AF65-F5344CB8AC3E}">
        <p14:creationId xmlns:p14="http://schemas.microsoft.com/office/powerpoint/2010/main" val="878024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55686D848CA8F1468B82D0B10D413C3D" ma:contentTypeVersion="14" ma:contentTypeDescription="Create a new document." ma:contentTypeScope="" ma:versionID="d5b240a91a25ea1080fd952e7479a446">
  <xsd:schema xmlns:xsd="http://www.w3.org/2001/XMLSchema" xmlns:xs="http://www.w3.org/2001/XMLSchema" xmlns:p="http://schemas.microsoft.com/office/2006/metadata/properties" xmlns:ns3="0b87ff7c-3c57-48c1-96bc-a31a6ed1cbcb" xmlns:ns4="a632746c-79dd-4f4d-be17-3d74e0ddabab" targetNamespace="http://schemas.microsoft.com/office/2006/metadata/properties" ma:root="true" ma:fieldsID="aee445f81344f644d5fcf70b16318b60" ns3:_="" ns4:_="">
    <xsd:import namespace="0b87ff7c-3c57-48c1-96bc-a31a6ed1cbcb"/>
    <xsd:import namespace="a632746c-79dd-4f4d-be17-3d74e0ddabab"/>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4:SharedWithUsers" minOccurs="0"/>
                <xsd:element ref="ns4:SharedWithDetails" minOccurs="0"/>
                <xsd:element ref="ns4:SharingHintHash" minOccurs="0"/>
                <xsd:element ref="ns3:MediaLengthInSecond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87ff7c-3c57-48c1-96bc-a31a6ed1cb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632746c-79dd-4f4d-be17-3d74e0ddabab"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35C384-48F3-4C56-BA76-9BAB67B44D39}">
  <ds:schemaRefs>
    <ds:schemaRef ds:uri="http://schemas.microsoft.com/sharepoint/v3/contenttype/forms"/>
  </ds:schemaRefs>
</ds:datastoreItem>
</file>

<file path=customXml/itemProps2.xml><?xml version="1.0" encoding="utf-8"?>
<ds:datastoreItem xmlns:ds="http://schemas.openxmlformats.org/officeDocument/2006/customXml" ds:itemID="{7B179B08-DF72-4C20-A948-2D56E83438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87ff7c-3c57-48c1-96bc-a31a6ed1cbcb"/>
    <ds:schemaRef ds:uri="a632746c-79dd-4f4d-be17-3d74e0ddaba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5398AB8-945C-4DC8-B3D3-036E118D8E9E}">
  <ds:schemaRefs>
    <ds:schemaRef ds:uri="http://purl.org/dc/terms/"/>
    <ds:schemaRef ds:uri="http://schemas.microsoft.com/office/2006/documentManagement/types"/>
    <ds:schemaRef ds:uri="0b87ff7c-3c57-48c1-96bc-a31a6ed1cbcb"/>
    <ds:schemaRef ds:uri="http://purl.org/dc/dcmitype/"/>
    <ds:schemaRef ds:uri="http://schemas.microsoft.com/office/infopath/2007/PartnerControls"/>
    <ds:schemaRef ds:uri="http://schemas.openxmlformats.org/package/2006/metadata/core-properties"/>
    <ds:schemaRef ds:uri="http://purl.org/dc/elements/1.1/"/>
    <ds:schemaRef ds:uri="a632746c-79dd-4f4d-be17-3d74e0ddabab"/>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7742</TotalTime>
  <Words>2182</Words>
  <Application>Microsoft Office PowerPoint</Application>
  <PresentationFormat>Widescreen</PresentationFormat>
  <Paragraphs>234</Paragraphs>
  <Slides>25</Slides>
  <Notes>20</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BIA Template</vt:lpstr>
      <vt:lpstr>PowerPoint Presentation</vt:lpstr>
      <vt:lpstr>Trainer Guidelines for Conducting Class</vt:lpstr>
      <vt:lpstr>PowerPoint Presentation</vt:lpstr>
      <vt:lpstr>Agenda</vt:lpstr>
      <vt:lpstr>What is Generative AI?</vt:lpstr>
      <vt:lpstr>Cont…</vt:lpstr>
      <vt:lpstr>Generative AI's Impact Across Industries</vt:lpstr>
      <vt:lpstr>Cont…</vt:lpstr>
      <vt:lpstr>Ethical Considerations and Potential Biases</vt:lpstr>
      <vt:lpstr>Introduction to Transformers</vt:lpstr>
      <vt:lpstr>Cont…</vt:lpstr>
      <vt:lpstr>Cont…</vt:lpstr>
      <vt:lpstr>Cont…</vt:lpstr>
      <vt:lpstr>Cont…</vt:lpstr>
      <vt:lpstr>Cont…</vt:lpstr>
      <vt:lpstr>Introduction to Large Language Models (LLMs)</vt:lpstr>
      <vt:lpstr>Cont…</vt:lpstr>
      <vt:lpstr>Cont…</vt:lpstr>
      <vt:lpstr>Types of Transformer Models</vt:lpstr>
      <vt:lpstr>Types of Transformer Models</vt:lpstr>
      <vt:lpstr>Google Colab</vt:lpstr>
      <vt:lpstr>Hugging Face</vt:lpstr>
      <vt:lpstr>Cont…</vt:lpstr>
      <vt:lpstr>Practical Exercise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Piyush Akkewar</cp:lastModifiedBy>
  <cp:revision>1983</cp:revision>
  <dcterms:created xsi:type="dcterms:W3CDTF">2020-12-23T13:36:00Z</dcterms:created>
  <dcterms:modified xsi:type="dcterms:W3CDTF">2024-07-16T07:49:49Z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y fmtid="{D5CDD505-2E9C-101B-9397-08002B2CF9AE}" pid="4" name="ContentTypeId">
    <vt:lpwstr>0x01010055686D848CA8F1468B82D0B10D413C3D</vt:lpwstr>
  </property>
</Properties>
</file>