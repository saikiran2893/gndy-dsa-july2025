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23"/>
  </p:notesMasterIdLst>
  <p:sldIdLst>
    <p:sldId id="257" r:id="rId3"/>
    <p:sldId id="566" r:id="rId4"/>
    <p:sldId id="560" r:id="rId5"/>
    <p:sldId id="585" r:id="rId6"/>
    <p:sldId id="586" r:id="rId7"/>
    <p:sldId id="587" r:id="rId8"/>
    <p:sldId id="588" r:id="rId9"/>
    <p:sldId id="589" r:id="rId10"/>
    <p:sldId id="590" r:id="rId11"/>
    <p:sldId id="592" r:id="rId12"/>
    <p:sldId id="591" r:id="rId13"/>
    <p:sldId id="593" r:id="rId14"/>
    <p:sldId id="594" r:id="rId15"/>
    <p:sldId id="595" r:id="rId16"/>
    <p:sldId id="596" r:id="rId17"/>
    <p:sldId id="597" r:id="rId18"/>
    <p:sldId id="598" r:id="rId19"/>
    <p:sldId id="580" r:id="rId20"/>
    <p:sldId id="283" r:id="rId21"/>
    <p:sldId id="40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F03E7-6422-6DD5-CDBE-EADA465B3CF5}" v="1" dt="2024-07-16T07:48:01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3F0199E2-AB24-C591-838A-F63FB9D1C88D}"/>
    <pc:docChg chg="modSld">
      <pc:chgData name="Suraj Chopade" userId="S::suraj.chopade@bostoninstituteofanalytics.org::dcc44ee8-6a65-4538-a5e1-c87e14ca7a61" providerId="AD" clId="Web-{3F0199E2-AB24-C591-838A-F63FB9D1C88D}" dt="2023-10-30T06:41:10.521" v="1" actId="20577"/>
      <pc:docMkLst>
        <pc:docMk/>
      </pc:docMkLst>
      <pc:sldChg chg="modSp">
        <pc:chgData name="Suraj Chopade" userId="S::suraj.chopade@bostoninstituteofanalytics.org::dcc44ee8-6a65-4538-a5e1-c87e14ca7a61" providerId="AD" clId="Web-{3F0199E2-AB24-C591-838A-F63FB9D1C88D}" dt="2023-10-30T06:41:10.521" v="1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3F0199E2-AB24-C591-838A-F63FB9D1C88D}" dt="2023-10-30T06:41:10.521" v="1" actId="20577"/>
          <ac:spMkLst>
            <pc:docMk/>
            <pc:sldMk cId="1192605599" sldId="591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F72C178D-C4B6-DEB8-A6C4-A79DD1327DCC}"/>
    <pc:docChg chg="modSld">
      <pc:chgData name="Suraj Chopade" userId="S::suraj.chopade@bostoninstituteofanalytics.org::dcc44ee8-6a65-4538-a5e1-c87e14ca7a61" providerId="AD" clId="Web-{F72C178D-C4B6-DEB8-A6C4-A79DD1327DCC}" dt="2023-11-01T09:15:23.872" v="3" actId="20577"/>
      <pc:docMkLst>
        <pc:docMk/>
      </pc:docMkLst>
      <pc:sldChg chg="modSp">
        <pc:chgData name="Suraj Chopade" userId="S::suraj.chopade@bostoninstituteofanalytics.org::dcc44ee8-6a65-4538-a5e1-c87e14ca7a61" providerId="AD" clId="Web-{F72C178D-C4B6-DEB8-A6C4-A79DD1327DCC}" dt="2023-11-01T09:15:23.872" v="3" actId="20577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F72C178D-C4B6-DEB8-A6C4-A79DD1327DCC}" dt="2023-11-01T09:15:23.872" v="3" actId="20577"/>
          <ac:spMkLst>
            <pc:docMk/>
            <pc:sldMk cId="1689213287" sldId="588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447F03E7-6422-6DD5-CDBE-EADA465B3CF5}"/>
    <pc:docChg chg="addSld">
      <pc:chgData name="Suraj Chopade" userId="S::suraj.chopade@bostoninstituteofanalytics.org::dcc44ee8-6a65-4538-a5e1-c87e14ca7a61" providerId="AD" clId="Web-{447F03E7-6422-6DD5-CDBE-EADA465B3CF5}" dt="2024-07-16T07:48:01.012" v="0"/>
      <pc:docMkLst>
        <pc:docMk/>
      </pc:docMkLst>
      <pc:sldChg chg="add">
        <pc:chgData name="Suraj Chopade" userId="S::suraj.chopade@bostoninstituteofanalytics.org::dcc44ee8-6a65-4538-a5e1-c87e14ca7a61" providerId="AD" clId="Web-{447F03E7-6422-6DD5-CDBE-EADA465B3CF5}" dt="2024-07-16T07:48:01.012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Rahul Suresh Deshbhratar" userId="S::rahul.deshbhratar@bostoninstituteofanalytics.org::cd971814-19eb-449f-b661-8cc665f4aa4d" providerId="AD" clId="Web-{4733AF34-C8A9-1C8B-F055-5A44BBBAD2C2}"/>
    <pc:docChg chg="modSld">
      <pc:chgData name="Rahul Suresh Deshbhratar" userId="S::rahul.deshbhratar@bostoninstituteofanalytics.org::cd971814-19eb-449f-b661-8cc665f4aa4d" providerId="AD" clId="Web-{4733AF34-C8A9-1C8B-F055-5A44BBBAD2C2}" dt="2023-10-31T13:21:04.764" v="49" actId="20577"/>
      <pc:docMkLst>
        <pc:docMk/>
      </pc:docMkLst>
      <pc:sldChg chg="modSp">
        <pc:chgData name="Rahul Suresh Deshbhratar" userId="S::rahul.deshbhratar@bostoninstituteofanalytics.org::cd971814-19eb-449f-b661-8cc665f4aa4d" providerId="AD" clId="Web-{4733AF34-C8A9-1C8B-F055-5A44BBBAD2C2}" dt="2023-10-31T13:21:04.764" v="49" actId="20577"/>
        <pc:sldMkLst>
          <pc:docMk/>
          <pc:sldMk cId="1689213287" sldId="588"/>
        </pc:sldMkLst>
        <pc:spChg chg="mod">
          <ac:chgData name="Rahul Suresh Deshbhratar" userId="S::rahul.deshbhratar@bostoninstituteofanalytics.org::cd971814-19eb-449f-b661-8cc665f4aa4d" providerId="AD" clId="Web-{4733AF34-C8A9-1C8B-F055-5A44BBBAD2C2}" dt="2023-10-31T13:21:04.764" v="49" actId="20577"/>
          <ac:spMkLst>
            <pc:docMk/>
            <pc:sldMk cId="1689213287" sldId="588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84103B5-6EE0-695D-00E4-D91336C3A81D}"/>
    <pc:docChg chg="delSld">
      <pc:chgData name="Suraj Chopade" userId="S::suraj.chopade@bostoninstituteofanalytics.org::dcc44ee8-6a65-4538-a5e1-c87e14ca7a61" providerId="AD" clId="Web-{584103B5-6EE0-695D-00E4-D91336C3A81D}" dt="2023-11-01T10:22:41.904" v="2"/>
      <pc:docMkLst>
        <pc:docMk/>
      </pc:docMkLst>
      <pc:sldChg chg="del">
        <pc:chgData name="Suraj Chopade" userId="S::suraj.chopade@bostoninstituteofanalytics.org::dcc44ee8-6a65-4538-a5e1-c87e14ca7a61" providerId="AD" clId="Web-{584103B5-6EE0-695D-00E4-D91336C3A81D}" dt="2023-11-01T10:22:41.904" v="2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584103B5-6EE0-695D-00E4-D91336C3A81D}" dt="2023-11-01T10:22:41.904" v="1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584103B5-6EE0-695D-00E4-D91336C3A81D}" dt="2023-11-01T10:22:41.904" v="0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Desktop/Text%20Preprocessing%20-%20NLP.ipynb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Desktop/Text%20Classification%20-%20Email%20(Spam-Ham).ipynb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Desktop/Sentiment%20Analysis%20(NLP)%20-%20IMBD%20Movie%20Review.ipynb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Note:- Use </a:t>
            </a:r>
            <a:r>
              <a:rPr lang="en-US" dirty="0" err="1"/>
              <a:t>Jupyter</a:t>
            </a:r>
            <a:r>
              <a:rPr lang="en-US" dirty="0"/>
              <a:t> file for this question - </a:t>
            </a:r>
            <a:r>
              <a:rPr lang="en-US" dirty="0">
                <a:hlinkClick r:id="rId3"/>
              </a:rPr>
              <a:t>Text Preprocessing - NLP.ipynb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313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Note:- Use </a:t>
            </a:r>
            <a:r>
              <a:rPr lang="en-US" dirty="0" err="1"/>
              <a:t>Jupyter</a:t>
            </a:r>
            <a:r>
              <a:rPr lang="en-US" dirty="0"/>
              <a:t> file for this question - </a:t>
            </a:r>
            <a:r>
              <a:rPr lang="en-US" dirty="0">
                <a:hlinkClick r:id="rId3"/>
              </a:rPr>
              <a:t>Text Classification - Email (Spam-Ham).ipynb</a:t>
            </a:r>
            <a:endParaRPr lang="en-US">
              <a:hlinkClick r:id="rId3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769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Note:- Use </a:t>
            </a:r>
            <a:r>
              <a:rPr lang="en-US" err="1"/>
              <a:t>Jupyter</a:t>
            </a:r>
            <a:r>
              <a:rPr lang="en-US"/>
              <a:t> file for this question - </a:t>
            </a:r>
            <a:r>
              <a:rPr lang="en-US" dirty="0">
                <a:hlinkClick r:id="rId3"/>
              </a:rPr>
              <a:t>Sentiment Analysis (NLP) - IMBD Movie Review.ipynb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6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391113" y="312235"/>
            <a:ext cx="341203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NLP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66193" y="1245476"/>
            <a:ext cx="8592206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Introduction to NLP</a:t>
            </a:r>
            <a:endParaRPr lang="en-US" dirty="0">
              <a:latin typeface="Nunito"/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Challenges in NLP &amp; Key NLP Tasks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Text Preprocessing in NLP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NLP Libraries and Frameworks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Feature Extraction and Representation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Hands-on Exercise: Building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a Text Classification Model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Real-world 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Ethical Considerations &amp; Future of NLP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296521" y="375297"/>
            <a:ext cx="360122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What is NLP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3324" y="1245475"/>
            <a:ext cx="11251322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NLP (Natural Language Processing) is a branch of AI that focuses on computer-human communication using natural language.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Söhne"/>
              <a:cs typeface="Söhne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Understanding and Generating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Language: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enables computers to understand and generate human language.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Applications: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It's used for chatbots, sentiment analysis, language translation, and more.</a:t>
            </a: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Challenges: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faces complexities like language ambiguity and cultural differences.</a:t>
            </a: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Techniques: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It uses machine learning and linguistic rules for tasks like tokenization and sentiment analysis.</a:t>
            </a: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Data: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Large text datasets are essential for training NLP models.</a:t>
            </a:r>
          </a:p>
          <a:p>
            <a:pPr marL="342900" indent="-342900"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Ethical Considerations: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raises concerns about privacy and algorithmic bias.</a:t>
            </a:r>
            <a:endParaRPr lang="en-US" sz="220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323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082576" y="359820"/>
            <a:ext cx="602911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Key Challenges in NLP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3324" y="1340068"/>
            <a:ext cx="11172495" cy="33932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Ambiguity: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Language often has multiple meanings.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Sarcasm and Humor: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Understanding subtleties is tough.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Context Understanding: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Interpreting context correctly is vital.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Multilingual Processing: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needs to work with diverse languages.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Privacy and Ethics: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Data privacy and algorithmic bias are concerns.</a:t>
            </a:r>
            <a:endParaRPr lang="en-US" sz="220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027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149376" y="438648"/>
            <a:ext cx="389551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Key NLP Tasks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3324" y="1340068"/>
            <a:ext cx="11172495" cy="40703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Text Classification: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Categorizing text.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Named Entity Recognition (NER):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Identifying entities.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Sentiment Analysis: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Assessing sentiment.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Machine Translation: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Translating languages.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Language Modeling: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Understanding and generating language.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Question Answering:</a:t>
            </a:r>
            <a:r>
              <a:rPr lang="en-US" sz="22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Answering questions from text.</a:t>
            </a:r>
            <a:endParaRPr lang="en-US" sz="220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765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93845" y="427849"/>
            <a:ext cx="700131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Text Preprocessing in NLP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172495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Text Tokenization: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Breaking text into individual words or tokens, making it more manageable for analysis.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Text Cleaning and Normalization: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Removing unnecessary characters, such as punctuation and special symbols, and converting text to a consistent format (e.g., lowercasing) to reduce noise and variation.</a:t>
            </a:r>
            <a:endParaRPr lang="en-US" sz="2200" dirty="0">
              <a:solidFill>
                <a:srgbClr val="374151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Stop Words Removal: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Eliminating common, low-information words (e.g., "the," "and") that don't contribute significantly to the analysis to reduce noise.</a:t>
            </a:r>
            <a:endParaRPr lang="en-US" sz="2200" dirty="0">
              <a:solidFill>
                <a:srgbClr val="374151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Stemming and Lemmatization: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Reducing words to their base or root form. Stemming simplifies words to a common prefix, while lemmatization reduces them to their dictionary form, improving text consistency and reducing word variations.</a:t>
            </a:r>
            <a:endParaRPr lang="en-US" sz="2200" dirty="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921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073583" y="317490"/>
            <a:ext cx="804184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NLP Libraries and Frameworks 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340068"/>
            <a:ext cx="11172495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NLTK (Natural Language Toolkit):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Comprehensive NLP tools for various tasks.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Cases: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Text classification, tokenization, and linguistic analysis.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spaCy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Fast and efficient NLP library with pre-trained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Cases: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Named entity recognition, part-of-speech tagging, and text tokenization</a:t>
            </a:r>
            <a:endParaRPr lang="en-US" sz="2200" dirty="0">
              <a:solidFill>
                <a:srgbClr val="000000"/>
              </a:solidFill>
              <a:latin typeface="Nunito"/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398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073583" y="317490"/>
            <a:ext cx="804184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NLP Libraries and Frameworks 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172495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3.  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Gensim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Specializes in topic modeling and document similarity.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Cases: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Topic modeling, document similarity, and word embeddings.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4.  Hugging Face Transformers: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Framework for state-of-the-art NLP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Cases: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Text classification, machine translation, and text generation with pre-trained models like BERT and GPT-2.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0" lvl="1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85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43569" y="299098"/>
            <a:ext cx="1010186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Feature Extraction and Representation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17249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A)  Bag of Words (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BoW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):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BoW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represents a document as an unordered collection of words, ignoring grammar and word order but counting word frequency.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Example: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Consider two simple sentences: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Sentence 1: "I like cats."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Sentence 2: "I love dogs and cats."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lvl="1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BoW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representation for these sentences might look like this:</a:t>
            </a:r>
            <a:endParaRPr lang="en-US" sz="2200" dirty="0">
              <a:latin typeface="Nunit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FAED3-E700-D5FB-30F0-D04E2C263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47484"/>
              </p:ext>
            </p:extLst>
          </p:nvPr>
        </p:nvGraphicFramePr>
        <p:xfrm>
          <a:off x="1655379" y="4451131"/>
          <a:ext cx="7964298" cy="2032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0788">
                  <a:extLst>
                    <a:ext uri="{9D8B030D-6E8A-4147-A177-3AD203B41FA5}">
                      <a16:colId xmlns:a16="http://schemas.microsoft.com/office/drawing/2014/main" val="1656183653"/>
                    </a:ext>
                  </a:extLst>
                </a:gridCol>
                <a:gridCol w="1254702">
                  <a:extLst>
                    <a:ext uri="{9D8B030D-6E8A-4147-A177-3AD203B41FA5}">
                      <a16:colId xmlns:a16="http://schemas.microsoft.com/office/drawing/2014/main" val="3829691018"/>
                    </a:ext>
                  </a:extLst>
                </a:gridCol>
                <a:gridCol w="1254702">
                  <a:extLst>
                    <a:ext uri="{9D8B030D-6E8A-4147-A177-3AD203B41FA5}">
                      <a16:colId xmlns:a16="http://schemas.microsoft.com/office/drawing/2014/main" val="3311053123"/>
                    </a:ext>
                  </a:extLst>
                </a:gridCol>
                <a:gridCol w="1254702">
                  <a:extLst>
                    <a:ext uri="{9D8B030D-6E8A-4147-A177-3AD203B41FA5}">
                      <a16:colId xmlns:a16="http://schemas.microsoft.com/office/drawing/2014/main" val="1274122113"/>
                    </a:ext>
                  </a:extLst>
                </a:gridCol>
                <a:gridCol w="1254702">
                  <a:extLst>
                    <a:ext uri="{9D8B030D-6E8A-4147-A177-3AD203B41FA5}">
                      <a16:colId xmlns:a16="http://schemas.microsoft.com/office/drawing/2014/main" val="2907076731"/>
                    </a:ext>
                  </a:extLst>
                </a:gridCol>
                <a:gridCol w="1254702">
                  <a:extLst>
                    <a:ext uri="{9D8B030D-6E8A-4147-A177-3AD203B41FA5}">
                      <a16:colId xmlns:a16="http://schemas.microsoft.com/office/drawing/2014/main" val="3188533821"/>
                    </a:ext>
                  </a:extLst>
                </a:gridCol>
              </a:tblGrid>
              <a:tr h="602640">
                <a:tc>
                  <a:txBody>
                    <a:bodyPr/>
                    <a:lstStyle/>
                    <a:p>
                      <a:pPr algn="ctr" fontAlgn="b"/>
                      <a:endParaRPr lang="en-US" sz="2200" b="1" dirty="0">
                        <a:solidFill>
                          <a:srgbClr val="000000"/>
                        </a:solidFill>
                        <a:effectLst/>
                        <a:latin typeface="Nuni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cats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dogs</a:t>
                      </a:r>
                      <a:endParaRPr lang="en-US" sz="2200" b="1">
                        <a:solidFill>
                          <a:srgbClr val="000000"/>
                        </a:solidFill>
                        <a:latin typeface="Nuni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575600"/>
                  </a:ext>
                </a:extLst>
              </a:tr>
              <a:tr h="71475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Sentence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220213"/>
                  </a:ext>
                </a:extLst>
              </a:tr>
              <a:tr h="71475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Sentence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288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23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43569" y="299098"/>
            <a:ext cx="1010186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Feature Extraction and Representation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17249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B)  TF-IDF (Term Frequency-Inverse Document Frequency):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Functionality: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TF-IDF assigns a weight to each word based on its frequency in a document (Term Frequency) and its rarity across all documents (Inverse Document Frequency).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Example: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lvl="2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Using the same sentences as above: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727405-ADF6-8F0B-7F45-33E7EE6A3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028575"/>
              </p:ext>
            </p:extLst>
          </p:nvPr>
        </p:nvGraphicFramePr>
        <p:xfrm>
          <a:off x="1508234" y="4193627"/>
          <a:ext cx="8629368" cy="19561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9373">
                  <a:extLst>
                    <a:ext uri="{9D8B030D-6E8A-4147-A177-3AD203B41FA5}">
                      <a16:colId xmlns:a16="http://schemas.microsoft.com/office/drawing/2014/main" val="1985636968"/>
                    </a:ext>
                  </a:extLst>
                </a:gridCol>
                <a:gridCol w="1353999">
                  <a:extLst>
                    <a:ext uri="{9D8B030D-6E8A-4147-A177-3AD203B41FA5}">
                      <a16:colId xmlns:a16="http://schemas.microsoft.com/office/drawing/2014/main" val="3646202703"/>
                    </a:ext>
                  </a:extLst>
                </a:gridCol>
                <a:gridCol w="1353999">
                  <a:extLst>
                    <a:ext uri="{9D8B030D-6E8A-4147-A177-3AD203B41FA5}">
                      <a16:colId xmlns:a16="http://schemas.microsoft.com/office/drawing/2014/main" val="605679731"/>
                    </a:ext>
                  </a:extLst>
                </a:gridCol>
                <a:gridCol w="1353999">
                  <a:extLst>
                    <a:ext uri="{9D8B030D-6E8A-4147-A177-3AD203B41FA5}">
                      <a16:colId xmlns:a16="http://schemas.microsoft.com/office/drawing/2014/main" val="3943269617"/>
                    </a:ext>
                  </a:extLst>
                </a:gridCol>
                <a:gridCol w="1353999">
                  <a:extLst>
                    <a:ext uri="{9D8B030D-6E8A-4147-A177-3AD203B41FA5}">
                      <a16:colId xmlns:a16="http://schemas.microsoft.com/office/drawing/2014/main" val="990781606"/>
                    </a:ext>
                  </a:extLst>
                </a:gridCol>
                <a:gridCol w="1353999">
                  <a:extLst>
                    <a:ext uri="{9D8B030D-6E8A-4147-A177-3AD203B41FA5}">
                      <a16:colId xmlns:a16="http://schemas.microsoft.com/office/drawing/2014/main" val="2686516453"/>
                    </a:ext>
                  </a:extLst>
                </a:gridCol>
              </a:tblGrid>
              <a:tr h="57220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200" b="1" kern="1200" dirty="0">
                        <a:solidFill>
                          <a:srgbClr val="000000"/>
                        </a:solidFill>
                        <a:effectLst/>
                        <a:latin typeface="Nuni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cats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dogs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200208"/>
                  </a:ext>
                </a:extLst>
              </a:tr>
              <a:tr h="69196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Sentence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46157"/>
                  </a:ext>
                </a:extLst>
              </a:tr>
              <a:tr h="69196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b="1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Sentence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kern="1200" dirty="0">
                          <a:solidFill>
                            <a:srgbClr val="000000"/>
                          </a:solidFill>
                          <a:effectLst/>
                          <a:latin typeface="Nunito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606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605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43569" y="299098"/>
            <a:ext cx="1010186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Feature Extraction and Representation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298619" cy="47474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In the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BoW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matrix,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each row represents a document (sentence)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, and each column represents a unique word in the entire dataset. The values in the matrix indicate the presence (1) or absence (0) of each word in the respective document.</a:t>
            </a:r>
            <a:endParaRPr lang="en-US"/>
          </a:p>
          <a:p>
            <a:pPr>
              <a:lnSpc>
                <a:spcPct val="20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Söhne"/>
              <a:cs typeface="Söhne"/>
            </a:endParaRPr>
          </a:p>
          <a:p>
            <a:pPr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In the TF-IDF matrix, t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he values represent the TF-IDF scores for each word in each document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. These scores give more weight to words that are important in a specific document while downplaying words that are common across all documents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5190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54990" y="293843"/>
            <a:ext cx="1127902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Building a Simple Text Classification Model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29861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Creating a binary text classification model for distinguishing spam from non-spam emails:</a:t>
            </a:r>
          </a:p>
          <a:p>
            <a:endParaRPr lang="en-US" sz="2200" dirty="0">
              <a:solidFill>
                <a:srgbClr val="374151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text classification, the goal is to categorize text documents into predefined classes or labels. A binary classification example involves sorting emails into two categories: spam and non-spam.</a:t>
            </a:r>
          </a:p>
        </p:txBody>
      </p:sp>
      <p:pic>
        <p:nvPicPr>
          <p:cNvPr id="6" name="Picture 5" descr="Introduction | Machine Learning | Google for Developers">
            <a:extLst>
              <a:ext uri="{FF2B5EF4-FFF2-40B4-BE49-F238E27FC236}">
                <a16:creationId xmlns:a16="http://schemas.microsoft.com/office/drawing/2014/main" id="{00F75216-0D06-B40A-47DD-B2729DF5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497" y="3332316"/>
            <a:ext cx="6684576" cy="33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5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54990" y="293843"/>
            <a:ext cx="1127902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Building a Simple Text Classification Model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29861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Steps:</a:t>
            </a:r>
          </a:p>
          <a:p>
            <a:pPr marL="457200" indent="-457200">
              <a:buAutoNum type="arabicParenR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Collection and Preprocessing: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Gather a dataset of emails that are labeled as spam or non-spam.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Preprocess the data, which includes tasks like text cleaning, lowercasing, and tokenization.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Split the data into training and testing sets to train and evaluate the model.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endParaRPr lang="en-US" sz="20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2)   Feature Extraction:</a:t>
            </a:r>
            <a:endParaRPr lang="en-US" sz="20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Convert the text data into numerical features that can be used for modeling. Common techniques include Bag of Words (</a:t>
            </a:r>
            <a:r>
              <a:rPr lang="en-US" sz="20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BoW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) or TF-IDF.</a:t>
            </a:r>
            <a:endParaRPr lang="en-US" sz="20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Generate a feature matrix where rows represent emails, and columns represent features (e.g., word frequencies).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Example (</a:t>
            </a:r>
            <a:r>
              <a:rPr lang="en-US" sz="20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BoW</a:t>
            </a: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feature matrix):</a:t>
            </a:r>
            <a:endParaRPr lang="en-US" sz="2000" dirty="0">
              <a:latin typeface="Nunit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082055-694E-7110-5016-DB3A2858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00608"/>
              </p:ext>
            </p:extLst>
          </p:nvPr>
        </p:nvGraphicFramePr>
        <p:xfrm>
          <a:off x="2478634" y="4952909"/>
          <a:ext cx="6824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968">
                  <a:extLst>
                    <a:ext uri="{9D8B030D-6E8A-4147-A177-3AD203B41FA5}">
                      <a16:colId xmlns:a16="http://schemas.microsoft.com/office/drawing/2014/main" val="1486167204"/>
                    </a:ext>
                  </a:extLst>
                </a:gridCol>
                <a:gridCol w="1364968">
                  <a:extLst>
                    <a:ext uri="{9D8B030D-6E8A-4147-A177-3AD203B41FA5}">
                      <a16:colId xmlns:a16="http://schemas.microsoft.com/office/drawing/2014/main" val="3556234727"/>
                    </a:ext>
                  </a:extLst>
                </a:gridCol>
                <a:gridCol w="1364968">
                  <a:extLst>
                    <a:ext uri="{9D8B030D-6E8A-4147-A177-3AD203B41FA5}">
                      <a16:colId xmlns:a16="http://schemas.microsoft.com/office/drawing/2014/main" val="2501894362"/>
                    </a:ext>
                  </a:extLst>
                </a:gridCol>
                <a:gridCol w="1364968">
                  <a:extLst>
                    <a:ext uri="{9D8B030D-6E8A-4147-A177-3AD203B41FA5}">
                      <a16:colId xmlns:a16="http://schemas.microsoft.com/office/drawing/2014/main" val="3402875983"/>
                    </a:ext>
                  </a:extLst>
                </a:gridCol>
                <a:gridCol w="1364968">
                  <a:extLst>
                    <a:ext uri="{9D8B030D-6E8A-4147-A177-3AD203B41FA5}">
                      <a16:colId xmlns:a16="http://schemas.microsoft.com/office/drawing/2014/main" val="3071505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endParaRPr lang="en-US" b="1" dirty="0">
                        <a:solidFill>
                          <a:schemeClr val="tx1"/>
                        </a:solidFill>
                        <a:effectLst/>
                        <a:latin typeface="Nunit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word1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word2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err="1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wordN</a:t>
                      </a:r>
                      <a:endParaRPr lang="en-US" b="1" dirty="0" err="1">
                        <a:solidFill>
                          <a:schemeClr val="tx1"/>
                        </a:solidFill>
                        <a:effectLst/>
                        <a:latin typeface="Nunit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1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Email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490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Email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9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046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Email 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Nunito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7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022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54990" y="293843"/>
            <a:ext cx="1127902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Building a Simple Text Classification Model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67558" y="1213944"/>
            <a:ext cx="11298619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Steps:</a:t>
            </a:r>
          </a:p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3)   Model Selection: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Choose a classification algorithm for the task. Common choices include:</a:t>
            </a:r>
            <a:endParaRPr lang="en-US" sz="2000" dirty="0">
              <a:latin typeface="Nunito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Naive Bayes: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Simple and effective for text classification.</a:t>
            </a:r>
            <a:endParaRPr lang="en-US" sz="2000" dirty="0">
              <a:latin typeface="Nunito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Support Vector Machine (SVM):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 powerful algorithm for binary classification.</a:t>
            </a:r>
            <a:endParaRPr lang="en-US" sz="2000" dirty="0">
              <a:latin typeface="Nunito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Another popular choice for text classification.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Deep Learning (e.g., Neural Networks):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For more complex tasks and large datasets.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1200150" lvl="2" indent="-285750">
              <a:buFont typeface="Arial"/>
              <a:buChar char="•"/>
            </a:pPr>
            <a:endParaRPr lang="en-US" sz="20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4)   Model Training and Evaluation:</a:t>
            </a:r>
            <a:endParaRPr lang="en-US" sz="20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Train the selected model using the training data.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Evaluate the model's performance using the testing data. Common evaluation metrics include accuracy, precision, recall, and F1-score.</a:t>
            </a:r>
            <a:endParaRPr lang="en-US" sz="20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Fine-tune the model parameters or try different algorithms to improve performance.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endParaRPr lang="en-US" sz="20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463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063073" y="325374"/>
            <a:ext cx="792097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Hands-on: Text Preprocessing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32035" y="1565636"/>
            <a:ext cx="112986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For this exercise, we'll use the NLTK library to tokenize the text, perform text cleaning, and remove stop words.</a:t>
            </a:r>
          </a:p>
        </p:txBody>
      </p:sp>
    </p:spTree>
    <p:extLst>
      <p:ext uri="{BB962C8B-B14F-4D97-AF65-F5344CB8AC3E}">
        <p14:creationId xmlns:p14="http://schemas.microsoft.com/office/powerpoint/2010/main" val="699540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063073" y="325374"/>
            <a:ext cx="792097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Hands-on: Text Classification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32035" y="1565636"/>
            <a:ext cx="1129861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Building a simple NLP (Natural Language Processing) model for text classification using.</a:t>
            </a:r>
            <a:endParaRPr lang="en-US" dirty="0">
              <a:solidFill>
                <a:srgbClr val="000000"/>
              </a:solidFill>
              <a:latin typeface="Calibri" panose="020F0502020204030204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This model will classify text messages (email) as either "ham" (not spam) or "spam."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3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032041" y="474464"/>
            <a:ext cx="812684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Hands-on: Sentiment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7A08-D137-FB38-9F03-F4B79E763FA7}"/>
              </a:ext>
            </a:extLst>
          </p:cNvPr>
          <p:cNvSpPr txBox="1"/>
          <p:nvPr/>
        </p:nvSpPr>
        <p:spPr>
          <a:xfrm>
            <a:off x="734126" y="1782655"/>
            <a:ext cx="10720551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Dataset: </a:t>
            </a:r>
            <a:r>
              <a:rPr lang="en-US" sz="2400" b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IMDB Movie Review</a:t>
            </a:r>
            <a:endParaRPr lang="en-US" sz="2200" dirty="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332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298</cp:revision>
  <dcterms:created xsi:type="dcterms:W3CDTF">2020-12-23T13:36:00Z</dcterms:created>
  <dcterms:modified xsi:type="dcterms:W3CDTF">2024-07-16T07:48:01Z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