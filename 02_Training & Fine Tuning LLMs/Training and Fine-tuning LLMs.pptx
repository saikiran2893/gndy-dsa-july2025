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
  <p:sldMasterIdLst>
    <p:sldMasterId id="2147483660" r:id="rId4"/>
  </p:sldMasterIdLst>
  <p:notesMasterIdLst>
    <p:notesMasterId r:id="rId27"/>
  </p:notesMasterIdLst>
  <p:sldIdLst>
    <p:sldId id="256" r:id="rId5"/>
    <p:sldId id="566" r:id="rId6"/>
    <p:sldId id="674" r:id="rId7"/>
    <p:sldId id="587" r:id="rId8"/>
    <p:sldId id="676" r:id="rId9"/>
    <p:sldId id="695" r:id="rId10"/>
    <p:sldId id="696" r:id="rId11"/>
    <p:sldId id="697" r:id="rId12"/>
    <p:sldId id="698" r:id="rId13"/>
    <p:sldId id="700" r:id="rId14"/>
    <p:sldId id="699" r:id="rId15"/>
    <p:sldId id="701" r:id="rId16"/>
    <p:sldId id="702" r:id="rId17"/>
    <p:sldId id="703" r:id="rId18"/>
    <p:sldId id="704" r:id="rId19"/>
    <p:sldId id="693" r:id="rId20"/>
    <p:sldId id="705" r:id="rId21"/>
    <p:sldId id="706" r:id="rId22"/>
    <p:sldId id="707" r:id="rId23"/>
    <p:sldId id="709" r:id="rId24"/>
    <p:sldId id="694" r:id="rId25"/>
    <p:sldId id="303"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BBCFF"/>
    <a:srgbClr val="060912"/>
    <a:srgbClr val="323B8D"/>
    <a:srgbClr val="2F5597"/>
    <a:srgbClr val="011422"/>
    <a:srgbClr val="5B9BD5"/>
    <a:srgbClr val="333F50"/>
    <a:srgbClr val="9DC3E6"/>
    <a:srgbClr val="161A3E"/>
    <a:srgbClr val="1A161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44F737A-0FAD-8F9E-2737-2A396701B12C}" v="1" dt="2024-07-16T07:49:53.52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501" autoAdjust="0"/>
    <p:restoredTop sz="94364" autoAdjust="0"/>
  </p:normalViewPr>
  <p:slideViewPr>
    <p:cSldViewPr snapToGrid="0">
      <p:cViewPr varScale="1">
        <p:scale>
          <a:sx n="71" d="100"/>
          <a:sy n="71" d="100"/>
        </p:scale>
        <p:origin x="392" y="28"/>
      </p:cViewPr>
      <p:guideLst/>
    </p:cSldViewPr>
  </p:slideViewPr>
  <p:notesTextViewPr>
    <p:cViewPr>
      <p:scale>
        <a:sx n="75" d="100"/>
        <a:sy n="75"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theme" Target="theme/theme1.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raj Chopade" userId="S::suraj.chopade@bostoninstituteofanalytics.org::dcc44ee8-6a65-4538-a5e1-c87e14ca7a61" providerId="AD" clId="Web-{F2D0B626-9E6B-ECDE-902D-96D3B00589D8}"/>
    <pc:docChg chg="sldOrd">
      <pc:chgData name="Suraj Chopade" userId="S::suraj.chopade@bostoninstituteofanalytics.org::dcc44ee8-6a65-4538-a5e1-c87e14ca7a61" providerId="AD" clId="Web-{F2D0B626-9E6B-ECDE-902D-96D3B00589D8}" dt="2023-12-30T12:32:57.693" v="0"/>
      <pc:docMkLst>
        <pc:docMk/>
      </pc:docMkLst>
      <pc:sldChg chg="ord">
        <pc:chgData name="Suraj Chopade" userId="S::suraj.chopade@bostoninstituteofanalytics.org::dcc44ee8-6a65-4538-a5e1-c87e14ca7a61" providerId="AD" clId="Web-{F2D0B626-9E6B-ECDE-902D-96D3B00589D8}" dt="2023-12-30T12:32:57.693" v="0"/>
        <pc:sldMkLst>
          <pc:docMk/>
          <pc:sldMk cId="2607901481" sldId="699"/>
        </pc:sldMkLst>
      </pc:sldChg>
    </pc:docChg>
  </pc:docChgLst>
  <pc:docChgLst>
    <pc:chgData name="Suraj Chopade" userId="S::suraj.chopade@bostoninstituteofanalytics.org::dcc44ee8-6a65-4538-a5e1-c87e14ca7a61" providerId="AD" clId="Web-{D44F737A-0FAD-8F9E-2737-2A396701B12C}"/>
    <pc:docChg chg="addSld">
      <pc:chgData name="Suraj Chopade" userId="S::suraj.chopade@bostoninstituteofanalytics.org::dcc44ee8-6a65-4538-a5e1-c87e14ca7a61" providerId="AD" clId="Web-{D44F737A-0FAD-8F9E-2737-2A396701B12C}" dt="2024-07-16T07:49:53.529" v="0"/>
      <pc:docMkLst>
        <pc:docMk/>
      </pc:docMkLst>
      <pc:sldChg chg="add">
        <pc:chgData name="Suraj Chopade" userId="S::suraj.chopade@bostoninstituteofanalytics.org::dcc44ee8-6a65-4538-a5e1-c87e14ca7a61" providerId="AD" clId="Web-{D44F737A-0FAD-8F9E-2737-2A396701B12C}" dt="2024-07-16T07:49:53.529" v="0"/>
        <pc:sldMkLst>
          <pc:docMk/>
          <pc:sldMk cId="228880180" sldId="56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0077D8-B575-4753-B8FD-F5736649C91E}" type="datetimeFigureOut">
              <a:rPr lang="en-IN" smtClean="0"/>
              <a:t>16-07-2024</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FFB008-8E38-46F5-BCB9-8CFEF233CF3A}" type="slidenum">
              <a:rPr lang="en-IN" smtClean="0"/>
              <a:t>‹#›</a:t>
            </a:fld>
            <a:endParaRPr lang="en-IN" dirty="0"/>
          </a:p>
        </p:txBody>
      </p:sp>
    </p:spTree>
    <p:extLst>
      <p:ext uri="{BB962C8B-B14F-4D97-AF65-F5344CB8AC3E}">
        <p14:creationId xmlns:p14="http://schemas.microsoft.com/office/powerpoint/2010/main" val="4034188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3</a:t>
            </a:fld>
            <a:endParaRPr lang="en-IN" dirty="0"/>
          </a:p>
        </p:txBody>
      </p:sp>
    </p:spTree>
    <p:extLst>
      <p:ext uri="{BB962C8B-B14F-4D97-AF65-F5344CB8AC3E}">
        <p14:creationId xmlns:p14="http://schemas.microsoft.com/office/powerpoint/2010/main" val="40699189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4</a:t>
            </a:fld>
            <a:endParaRPr lang="en-IN" dirty="0"/>
          </a:p>
        </p:txBody>
      </p:sp>
    </p:spTree>
    <p:extLst>
      <p:ext uri="{BB962C8B-B14F-4D97-AF65-F5344CB8AC3E}">
        <p14:creationId xmlns:p14="http://schemas.microsoft.com/office/powerpoint/2010/main" val="3781151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5</a:t>
            </a:fld>
            <a:endParaRPr lang="en-IN" dirty="0"/>
          </a:p>
        </p:txBody>
      </p:sp>
    </p:spTree>
    <p:extLst>
      <p:ext uri="{BB962C8B-B14F-4D97-AF65-F5344CB8AC3E}">
        <p14:creationId xmlns:p14="http://schemas.microsoft.com/office/powerpoint/2010/main" val="13715993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6</a:t>
            </a:fld>
            <a:endParaRPr lang="en-IN" dirty="0"/>
          </a:p>
        </p:txBody>
      </p:sp>
    </p:spTree>
    <p:extLst>
      <p:ext uri="{BB962C8B-B14F-4D97-AF65-F5344CB8AC3E}">
        <p14:creationId xmlns:p14="http://schemas.microsoft.com/office/powerpoint/2010/main" val="30196056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7</a:t>
            </a:fld>
            <a:endParaRPr lang="en-IN" dirty="0"/>
          </a:p>
        </p:txBody>
      </p:sp>
    </p:spTree>
    <p:extLst>
      <p:ext uri="{BB962C8B-B14F-4D97-AF65-F5344CB8AC3E}">
        <p14:creationId xmlns:p14="http://schemas.microsoft.com/office/powerpoint/2010/main" val="40976279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8</a:t>
            </a:fld>
            <a:endParaRPr lang="en-IN" dirty="0"/>
          </a:p>
        </p:txBody>
      </p:sp>
    </p:spTree>
    <p:extLst>
      <p:ext uri="{BB962C8B-B14F-4D97-AF65-F5344CB8AC3E}">
        <p14:creationId xmlns:p14="http://schemas.microsoft.com/office/powerpoint/2010/main" val="30920327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9</a:t>
            </a:fld>
            <a:endParaRPr lang="en-IN" dirty="0"/>
          </a:p>
        </p:txBody>
      </p:sp>
    </p:spTree>
    <p:extLst>
      <p:ext uri="{BB962C8B-B14F-4D97-AF65-F5344CB8AC3E}">
        <p14:creationId xmlns:p14="http://schemas.microsoft.com/office/powerpoint/2010/main" val="38285867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10</a:t>
            </a:fld>
            <a:endParaRPr lang="en-IN" dirty="0"/>
          </a:p>
        </p:txBody>
      </p:sp>
    </p:spTree>
    <p:extLst>
      <p:ext uri="{BB962C8B-B14F-4D97-AF65-F5344CB8AC3E}">
        <p14:creationId xmlns:p14="http://schemas.microsoft.com/office/powerpoint/2010/main" val="37284914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11</a:t>
            </a:fld>
            <a:endParaRPr lang="en-IN" dirty="0"/>
          </a:p>
        </p:txBody>
      </p:sp>
    </p:spTree>
    <p:extLst>
      <p:ext uri="{BB962C8B-B14F-4D97-AF65-F5344CB8AC3E}">
        <p14:creationId xmlns:p14="http://schemas.microsoft.com/office/powerpoint/2010/main" val="12851440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12</a:t>
            </a:fld>
            <a:endParaRPr lang="en-IN" dirty="0"/>
          </a:p>
        </p:txBody>
      </p:sp>
    </p:spTree>
    <p:extLst>
      <p:ext uri="{BB962C8B-B14F-4D97-AF65-F5344CB8AC3E}">
        <p14:creationId xmlns:p14="http://schemas.microsoft.com/office/powerpoint/2010/main" val="30283211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13</a:t>
            </a:fld>
            <a:endParaRPr lang="en-IN" dirty="0"/>
          </a:p>
        </p:txBody>
      </p:sp>
    </p:spTree>
    <p:extLst>
      <p:ext uri="{BB962C8B-B14F-4D97-AF65-F5344CB8AC3E}">
        <p14:creationId xmlns:p14="http://schemas.microsoft.com/office/powerpoint/2010/main" val="245374146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14</a:t>
            </a:fld>
            <a:endParaRPr lang="en-IN" dirty="0"/>
          </a:p>
        </p:txBody>
      </p:sp>
    </p:spTree>
    <p:extLst>
      <p:ext uri="{BB962C8B-B14F-4D97-AF65-F5344CB8AC3E}">
        <p14:creationId xmlns:p14="http://schemas.microsoft.com/office/powerpoint/2010/main" val="383548408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15</a:t>
            </a:fld>
            <a:endParaRPr lang="en-IN" dirty="0"/>
          </a:p>
        </p:txBody>
      </p:sp>
    </p:spTree>
    <p:extLst>
      <p:ext uri="{BB962C8B-B14F-4D97-AF65-F5344CB8AC3E}">
        <p14:creationId xmlns:p14="http://schemas.microsoft.com/office/powerpoint/2010/main" val="82503784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16</a:t>
            </a:fld>
            <a:endParaRPr lang="en-IN" dirty="0"/>
          </a:p>
        </p:txBody>
      </p:sp>
    </p:spTree>
    <p:extLst>
      <p:ext uri="{BB962C8B-B14F-4D97-AF65-F5344CB8AC3E}">
        <p14:creationId xmlns:p14="http://schemas.microsoft.com/office/powerpoint/2010/main" val="142786820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17</a:t>
            </a:fld>
            <a:endParaRPr lang="en-IN" dirty="0"/>
          </a:p>
        </p:txBody>
      </p:sp>
    </p:spTree>
    <p:extLst>
      <p:ext uri="{BB962C8B-B14F-4D97-AF65-F5344CB8AC3E}">
        <p14:creationId xmlns:p14="http://schemas.microsoft.com/office/powerpoint/2010/main" val="84065821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18</a:t>
            </a:fld>
            <a:endParaRPr lang="en-IN" dirty="0"/>
          </a:p>
        </p:txBody>
      </p:sp>
    </p:spTree>
    <p:extLst>
      <p:ext uri="{BB962C8B-B14F-4D97-AF65-F5344CB8AC3E}">
        <p14:creationId xmlns:p14="http://schemas.microsoft.com/office/powerpoint/2010/main" val="419400235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19</a:t>
            </a:fld>
            <a:endParaRPr lang="en-IN" dirty="0"/>
          </a:p>
        </p:txBody>
      </p:sp>
    </p:spTree>
    <p:extLst>
      <p:ext uri="{BB962C8B-B14F-4D97-AF65-F5344CB8AC3E}">
        <p14:creationId xmlns:p14="http://schemas.microsoft.com/office/powerpoint/2010/main" val="199358416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dirty="0"/>
              <a:t>Use .</a:t>
            </a:r>
            <a:r>
              <a:rPr lang="en-IN" b="1" dirty="0" err="1"/>
              <a:t>ipynb</a:t>
            </a:r>
            <a:r>
              <a:rPr lang="en-IN" b="1" dirty="0"/>
              <a:t> File for this exercise (in Google </a:t>
            </a:r>
            <a:r>
              <a:rPr lang="en-IN" b="1" dirty="0" err="1"/>
              <a:t>Colab</a:t>
            </a:r>
            <a:r>
              <a:rPr lang="en-IN" b="1" dirty="0"/>
              <a:t>)</a:t>
            </a:r>
          </a:p>
        </p:txBody>
      </p:sp>
      <p:sp>
        <p:nvSpPr>
          <p:cNvPr id="4" name="Slide Number Placeholder 3"/>
          <p:cNvSpPr>
            <a:spLocks noGrp="1"/>
          </p:cNvSpPr>
          <p:nvPr>
            <p:ph type="sldNum" sz="quarter" idx="5"/>
          </p:nvPr>
        </p:nvSpPr>
        <p:spPr/>
        <p:txBody>
          <a:bodyPr/>
          <a:lstStyle/>
          <a:p>
            <a:fld id="{47FFB008-8E38-46F5-BCB9-8CFEF233CF3A}" type="slidenum">
              <a:rPr lang="en-IN" smtClean="0"/>
              <a:t>20</a:t>
            </a:fld>
            <a:endParaRPr lang="en-IN" dirty="0"/>
          </a:p>
        </p:txBody>
      </p:sp>
    </p:spTree>
    <p:extLst>
      <p:ext uri="{BB962C8B-B14F-4D97-AF65-F5344CB8AC3E}">
        <p14:creationId xmlns:p14="http://schemas.microsoft.com/office/powerpoint/2010/main" val="358797259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id="{1D4C31DA-14CA-CFBA-5089-9BCD0585380D}"/>
              </a:ext>
            </a:extLst>
          </p:cNvPr>
          <p:cNvGrpSpPr/>
          <p:nvPr userDrawn="1"/>
        </p:nvGrpSpPr>
        <p:grpSpPr>
          <a:xfrm>
            <a:off x="-21770" y="0"/>
            <a:ext cx="12213771" cy="6858000"/>
            <a:chOff x="-21770" y="0"/>
            <a:chExt cx="12213771" cy="6858000"/>
          </a:xfrm>
        </p:grpSpPr>
        <p:pic>
          <p:nvPicPr>
            <p:cNvPr id="6" name="Picture 5" descr="Tech Background&quot; Images – Browse 8,227 Stock Photos, Vectors, and Video |  Adobe Stock">
              <a:extLst>
                <a:ext uri="{FF2B5EF4-FFF2-40B4-BE49-F238E27FC236}">
                  <a16:creationId xmlns:a16="http://schemas.microsoft.com/office/drawing/2014/main" id="{912EDB8F-0820-57F6-5CDA-EEB6AC9EF35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97530BAD-0593-FBF1-1D42-9B727191475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017794" y="913775"/>
              <a:ext cx="5159490" cy="1423752"/>
            </a:xfrm>
            <a:prstGeom prst="rect">
              <a:avLst/>
            </a:prstGeom>
          </p:spPr>
        </p:pic>
      </p:grpSp>
    </p:spTree>
    <p:extLst>
      <p:ext uri="{BB962C8B-B14F-4D97-AF65-F5344CB8AC3E}">
        <p14:creationId xmlns:p14="http://schemas.microsoft.com/office/powerpoint/2010/main" val="13311268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Content Placeholder 2"/>
          <p:cNvSpPr>
            <a:spLocks noGrp="1"/>
          </p:cNvSpPr>
          <p:nvPr>
            <p:ph idx="1"/>
          </p:nvPr>
        </p:nvSpPr>
        <p:spPr>
          <a:xfrm>
            <a:off x="678884" y="1675075"/>
            <a:ext cx="1083423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126523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e Thir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55269" y="603666"/>
            <a:ext cx="7057847" cy="5454235"/>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2" name="Title 1"/>
          <p:cNvSpPr>
            <a:spLocks noGrp="1"/>
          </p:cNvSpPr>
          <p:nvPr>
            <p:ph type="title"/>
          </p:nvPr>
        </p:nvSpPr>
        <p:spPr>
          <a:xfrm>
            <a:off x="838202" y="2049670"/>
            <a:ext cx="2743200" cy="2562226"/>
          </a:xfrm>
        </p:spPr>
        <p:txBody>
          <a:bodyPr/>
          <a:lstStyle>
            <a:lvl1pPr>
              <a:defRPr>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361238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7055274"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705527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807720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7" name="Picture 6">
            <a:extLst>
              <a:ext uri="{FF2B5EF4-FFF2-40B4-BE49-F238E27FC236}">
                <a16:creationId xmlns:a16="http://schemas.microsoft.com/office/drawing/2014/main" id="{F13DF77B-C435-B418-C899-54652105D04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40135611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Half &amp; Half">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5107239" cy="612775"/>
          </a:xfrm>
        </p:spPr>
        <p:txBody>
          <a:bodyPr/>
          <a:lstStyle/>
          <a:p>
            <a:r>
              <a:rPr lang="en-US" dirty="0"/>
              <a:t>Click to edit Master title style</a:t>
            </a:r>
          </a:p>
        </p:txBody>
      </p:sp>
      <p:sp>
        <p:nvSpPr>
          <p:cNvPr id="3" name="Content Placeholder 2"/>
          <p:cNvSpPr>
            <a:spLocks noGrp="1"/>
          </p:cNvSpPr>
          <p:nvPr>
            <p:ph idx="1"/>
          </p:nvPr>
        </p:nvSpPr>
        <p:spPr>
          <a:xfrm>
            <a:off x="678881" y="1659836"/>
            <a:ext cx="5107239"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6096000" y="0"/>
            <a:ext cx="60960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4" name="Picture 3">
            <a:extLst>
              <a:ext uri="{FF2B5EF4-FFF2-40B4-BE49-F238E27FC236}">
                <a16:creationId xmlns:a16="http://schemas.microsoft.com/office/drawing/2014/main" id="{4258C05D-B60D-14D1-7105-F6719232542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1852858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ne Third Flow Errow">
    <p:spTree>
      <p:nvGrpSpPr>
        <p:cNvPr id="1" name=""/>
        <p:cNvGrpSpPr/>
        <p:nvPr/>
      </p:nvGrpSpPr>
      <p:grpSpPr>
        <a:xfrm>
          <a:off x="0" y="0"/>
          <a:ext cx="0" cy="0"/>
          <a:chOff x="0" y="0"/>
          <a:chExt cx="0" cy="0"/>
        </a:xfrm>
      </p:grpSpPr>
      <p:sp>
        <p:nvSpPr>
          <p:cNvPr id="2" name="Title 1"/>
          <p:cNvSpPr>
            <a:spLocks noGrp="1"/>
          </p:cNvSpPr>
          <p:nvPr>
            <p:ph type="title"/>
          </p:nvPr>
        </p:nvSpPr>
        <p:spPr>
          <a:xfrm>
            <a:off x="4455269" y="603666"/>
            <a:ext cx="7057847" cy="612775"/>
          </a:xfrm>
        </p:spPr>
        <p:txBody>
          <a:body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Arrow: Pentagon 5">
            <a:extLst>
              <a:ext uri="{FF2B5EF4-FFF2-40B4-BE49-F238E27FC236}">
                <a16:creationId xmlns:a16="http://schemas.microsoft.com/office/drawing/2014/main" id="{360409B4-C617-2A18-6BFD-309E9F59F1A6}"/>
              </a:ext>
            </a:extLst>
          </p:cNvPr>
          <p:cNvSpPr/>
          <p:nvPr userDrawn="1"/>
        </p:nvSpPr>
        <p:spPr>
          <a:xfrm>
            <a:off x="1" y="0"/>
            <a:ext cx="4114800" cy="6858000"/>
          </a:xfrm>
          <a:prstGeom prst="homePlate">
            <a:avLst>
              <a:gd name="adj" fmla="val 16049"/>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678882" y="3122614"/>
            <a:ext cx="2978720"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Tree>
    <p:extLst>
      <p:ext uri="{BB962C8B-B14F-4D97-AF65-F5344CB8AC3E}">
        <p14:creationId xmlns:p14="http://schemas.microsoft.com/office/powerpoint/2010/main" val="5999928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One Thir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38200" y="3122614"/>
            <a:ext cx="2819401"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rgbClr val="1D1B58"/>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BC7368D9-5898-B04D-9CD2-C5A3736BFFA6}"/>
              </a:ext>
            </a:extLst>
          </p:cNvPr>
          <p:cNvSpPr/>
          <p:nvPr userDrawn="1"/>
        </p:nvSpPr>
        <p:spPr>
          <a:xfrm>
            <a:off x="3454417" y="0"/>
            <a:ext cx="8737584" cy="6858000"/>
          </a:xfrm>
          <a:custGeom>
            <a:avLst/>
            <a:gdLst>
              <a:gd name="connsiteX0" fmla="*/ 0 w 9601184"/>
              <a:gd name="connsiteY0" fmla="*/ 0 h 6858000"/>
              <a:gd name="connsiteX1" fmla="*/ 9601184 w 9601184"/>
              <a:gd name="connsiteY1" fmla="*/ 0 h 6858000"/>
              <a:gd name="connsiteX2" fmla="*/ 9601184 w 9601184"/>
              <a:gd name="connsiteY2" fmla="*/ 6858000 h 6858000"/>
              <a:gd name="connsiteX3" fmla="*/ 0 w 9601184"/>
              <a:gd name="connsiteY3" fmla="*/ 6858000 h 6858000"/>
              <a:gd name="connsiteX4" fmla="*/ 660384 w 9601184"/>
              <a:gd name="connsiteY4" fmla="*/ 3429000 h 6858000"/>
              <a:gd name="connsiteX5" fmla="*/ 0 w 9601184"/>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01184" h="6858000">
                <a:moveTo>
                  <a:pt x="0" y="0"/>
                </a:moveTo>
                <a:lnTo>
                  <a:pt x="9601184" y="0"/>
                </a:lnTo>
                <a:lnTo>
                  <a:pt x="9601184" y="6858000"/>
                </a:lnTo>
                <a:lnTo>
                  <a:pt x="0" y="6858000"/>
                </a:lnTo>
                <a:lnTo>
                  <a:pt x="660384"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sp>
        <p:nvSpPr>
          <p:cNvPr id="2" name="Title 1"/>
          <p:cNvSpPr>
            <a:spLocks noGrp="1"/>
          </p:cNvSpPr>
          <p:nvPr>
            <p:ph type="title"/>
          </p:nvPr>
        </p:nvSpPr>
        <p:spPr>
          <a:xfrm>
            <a:off x="4455269" y="603666"/>
            <a:ext cx="7057847" cy="612775"/>
          </a:xfrm>
        </p:spPr>
        <p:txBody>
          <a:bodyPr/>
          <a:lstStyle>
            <a:lvl1pPr>
              <a:defRPr>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a:extLst>
              <a:ext uri="{FF2B5EF4-FFF2-40B4-BE49-F238E27FC236}">
                <a16:creationId xmlns:a16="http://schemas.microsoft.com/office/drawing/2014/main" id="{BC1D7751-B046-E6FF-E802-137A168948C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6455390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6687118"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6687118"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567565" y="3064248"/>
            <a:ext cx="3314556"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D78CF48E-B68F-E9BA-8398-FF8CD727D1A9}"/>
              </a:ext>
            </a:extLst>
          </p:cNvPr>
          <p:cNvSpPr/>
          <p:nvPr userDrawn="1"/>
        </p:nvSpPr>
        <p:spPr>
          <a:xfrm>
            <a:off x="7543800" y="0"/>
            <a:ext cx="4648201" cy="6858000"/>
          </a:xfrm>
          <a:custGeom>
            <a:avLst/>
            <a:gdLst>
              <a:gd name="connsiteX0" fmla="*/ 0 w 3818882"/>
              <a:gd name="connsiteY0" fmla="*/ 0 h 6858000"/>
              <a:gd name="connsiteX1" fmla="*/ 3818882 w 3818882"/>
              <a:gd name="connsiteY1" fmla="*/ 0 h 6858000"/>
              <a:gd name="connsiteX2" fmla="*/ 3818882 w 3818882"/>
              <a:gd name="connsiteY2" fmla="*/ 6858000 h 6858000"/>
              <a:gd name="connsiteX3" fmla="*/ 0 w 3818882"/>
              <a:gd name="connsiteY3" fmla="*/ 6858000 h 6858000"/>
              <a:gd name="connsiteX4" fmla="*/ 796282 w 3818882"/>
              <a:gd name="connsiteY4" fmla="*/ 3429000 h 6858000"/>
              <a:gd name="connsiteX5" fmla="*/ 0 w 3818882"/>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18882" h="6858000">
                <a:moveTo>
                  <a:pt x="0" y="0"/>
                </a:moveTo>
                <a:lnTo>
                  <a:pt x="3818882" y="0"/>
                </a:lnTo>
                <a:lnTo>
                  <a:pt x="3818882" y="6858000"/>
                </a:lnTo>
                <a:lnTo>
                  <a:pt x="0" y="6858000"/>
                </a:lnTo>
                <a:lnTo>
                  <a:pt x="796282"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pic>
        <p:nvPicPr>
          <p:cNvPr id="4" name="Picture 3">
            <a:extLst>
              <a:ext uri="{FF2B5EF4-FFF2-40B4-BE49-F238E27FC236}">
                <a16:creationId xmlns:a16="http://schemas.microsoft.com/office/drawing/2014/main" id="{5BC983E8-29C2-9FD4-5029-201C1DDD5E8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907501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8883" y="1709738"/>
            <a:ext cx="10834234" cy="2852737"/>
          </a:xfrm>
        </p:spPr>
        <p:txBody>
          <a:bodyPr anchor="b"/>
          <a:lstStyle>
            <a:lvl1pPr>
              <a:defRPr sz="6000"/>
            </a:lvl1pPr>
          </a:lstStyle>
          <a:p>
            <a:r>
              <a:rPr lang="en-US" dirty="0"/>
              <a:t>Click to edit Master title style</a:t>
            </a:r>
          </a:p>
        </p:txBody>
      </p:sp>
      <p:sp>
        <p:nvSpPr>
          <p:cNvPr id="3" name="Text Placeholder 2"/>
          <p:cNvSpPr>
            <a:spLocks noGrp="1"/>
          </p:cNvSpPr>
          <p:nvPr>
            <p:ph type="body" idx="1"/>
          </p:nvPr>
        </p:nvSpPr>
        <p:spPr>
          <a:xfrm>
            <a:off x="678883" y="4589464"/>
            <a:ext cx="10834234"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072784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10834233" cy="612775"/>
          </a:xfrm>
        </p:spPr>
        <p:txBody>
          <a:bodyPr/>
          <a:lstStyle/>
          <a:p>
            <a:r>
              <a:rPr lang="en-US" dirty="0"/>
              <a:t>Click to edit Master title style</a:t>
            </a:r>
          </a:p>
        </p:txBody>
      </p:sp>
      <p:sp>
        <p:nvSpPr>
          <p:cNvPr id="3" name="Content Placeholder 2"/>
          <p:cNvSpPr>
            <a:spLocks noGrp="1"/>
          </p:cNvSpPr>
          <p:nvPr>
            <p:ph sz="half" idx="1"/>
          </p:nvPr>
        </p:nvSpPr>
        <p:spPr>
          <a:xfrm>
            <a:off x="678881" y="1659835"/>
            <a:ext cx="5340919"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199" y="1659835"/>
            <a:ext cx="5340917"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99343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10834234" cy="612775"/>
          </a:xfrm>
        </p:spPr>
        <p:txBody>
          <a:bodyPr/>
          <a:lstStyle/>
          <a:p>
            <a:r>
              <a:rPr lang="en-US" dirty="0"/>
              <a:t>Click to edit Master title style</a:t>
            </a:r>
          </a:p>
        </p:txBody>
      </p:sp>
      <p:sp>
        <p:nvSpPr>
          <p:cNvPr id="3" name="Text Placeholder 2"/>
          <p:cNvSpPr>
            <a:spLocks noGrp="1"/>
          </p:cNvSpPr>
          <p:nvPr>
            <p:ph type="body" idx="1"/>
          </p:nvPr>
        </p:nvSpPr>
        <p:spPr>
          <a:xfrm>
            <a:off x="678881" y="1659834"/>
            <a:ext cx="5318693"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78881" y="2505075"/>
            <a:ext cx="5318693"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2" y="1659834"/>
            <a:ext cx="5340914"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2" y="2505075"/>
            <a:ext cx="5340914"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197890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a:t>Click to edit Master title style</a:t>
            </a:r>
          </a:p>
        </p:txBody>
      </p:sp>
    </p:spTree>
    <p:extLst>
      <p:ext uri="{BB962C8B-B14F-4D97-AF65-F5344CB8AC3E}">
        <p14:creationId xmlns:p14="http://schemas.microsoft.com/office/powerpoint/2010/main" val="28312565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55931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4093145" cy="1453734"/>
          </a:xfrm>
        </p:spPr>
        <p:txBody>
          <a:bodyPr anchor="b"/>
          <a:lstStyle>
            <a:lvl1pPr>
              <a:defRPr sz="3200"/>
            </a:lvl1pPr>
          </a:lstStyle>
          <a:p>
            <a:r>
              <a:rPr lang="en-US" dirty="0"/>
              <a:t>Click to edit Master title style</a:t>
            </a:r>
          </a:p>
        </p:txBody>
      </p:sp>
      <p:sp>
        <p:nvSpPr>
          <p:cNvPr id="3" name="Content Placeholder 2"/>
          <p:cNvSpPr>
            <a:spLocks noGrp="1"/>
          </p:cNvSpPr>
          <p:nvPr>
            <p:ph idx="1"/>
          </p:nvPr>
        </p:nvSpPr>
        <p:spPr>
          <a:xfrm>
            <a:off x="5183189" y="1659835"/>
            <a:ext cx="6329928" cy="4201215"/>
          </a:xfrm>
          <a:prstGeom prst="rect">
            <a:avLst/>
          </a:prstGeom>
        </p:spPr>
        <p:txBody>
          <a:bodyPr/>
          <a:lstStyle>
            <a:lvl1pPr>
              <a:defRPr sz="3200">
                <a:solidFill>
                  <a:schemeClr val="bg2">
                    <a:lumMod val="10000"/>
                  </a:schemeClr>
                </a:solidFill>
              </a:defRPr>
            </a:lvl1pPr>
            <a:lvl2pPr>
              <a:defRPr sz="2800">
                <a:solidFill>
                  <a:schemeClr val="bg2">
                    <a:lumMod val="10000"/>
                  </a:schemeClr>
                </a:solidFill>
              </a:defRPr>
            </a:lvl2pPr>
            <a:lvl3pPr>
              <a:defRPr sz="2400">
                <a:solidFill>
                  <a:schemeClr val="bg2">
                    <a:lumMod val="10000"/>
                  </a:schemeClr>
                </a:solidFill>
              </a:defRPr>
            </a:lvl3pPr>
            <a:lvl4pPr>
              <a:defRPr sz="2000">
                <a:solidFill>
                  <a:schemeClr val="bg2">
                    <a:lumMod val="10000"/>
                  </a:schemeClr>
                </a:solidFill>
              </a:defRPr>
            </a:lvl4pPr>
            <a:lvl5pPr>
              <a:defRPr sz="2000">
                <a:solidFill>
                  <a:schemeClr val="bg2">
                    <a:lumMod val="10000"/>
                  </a:schemeClr>
                </a:solidFill>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678881" y="2315183"/>
            <a:ext cx="4093145" cy="3553805"/>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Tree>
    <p:extLst>
      <p:ext uri="{BB962C8B-B14F-4D97-AF65-F5344CB8AC3E}">
        <p14:creationId xmlns:p14="http://schemas.microsoft.com/office/powerpoint/2010/main" val="18283493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Vertical Text Placeholder 2"/>
          <p:cNvSpPr>
            <a:spLocks noGrp="1"/>
          </p:cNvSpPr>
          <p:nvPr>
            <p:ph type="body" orient="vert" idx="1"/>
          </p:nvPr>
        </p:nvSpPr>
        <p:spPr>
          <a:xfrm>
            <a:off x="678884" y="1659834"/>
            <a:ext cx="10834234" cy="4166933"/>
          </a:xfrm>
          <a:prstGeom prst="rect">
            <a:avLst/>
          </a:prstGeom>
        </p:spPr>
        <p:txBody>
          <a:bodyPr vert="eaVert"/>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750536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pic>
        <p:nvPicPr>
          <p:cNvPr id="4" name="Picture 3" descr="Tech Background&quot; Images – Browse 8,227 Stock Photos, Vectors, and Video |  Adobe Stock">
            <a:extLst>
              <a:ext uri="{FF2B5EF4-FFF2-40B4-BE49-F238E27FC236}">
                <a16:creationId xmlns:a16="http://schemas.microsoft.com/office/drawing/2014/main" id="{19625874-6531-A345-C3ED-8BD86E0E300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
        <p:nvSpPr>
          <p:cNvPr id="2" name="Vertical Title 1"/>
          <p:cNvSpPr>
            <a:spLocks noGrp="1"/>
          </p:cNvSpPr>
          <p:nvPr>
            <p:ph type="title" orient="vert" hasCustomPrompt="1"/>
          </p:nvPr>
        </p:nvSpPr>
        <p:spPr>
          <a:xfrm rot="16200000">
            <a:off x="4770665" y="-2959994"/>
            <a:ext cx="2628900" cy="12213771"/>
          </a:xfrm>
        </p:spPr>
        <p:txBody>
          <a:bodyPr vert="eaVert">
            <a:normAutofit/>
          </a:bodyPr>
          <a:lstStyle>
            <a:lvl1pPr algn="ctr">
              <a:defRPr sz="8000">
                <a:solidFill>
                  <a:schemeClr val="bg1"/>
                </a:solidFill>
              </a:defRPr>
            </a:lvl1pPr>
          </a:lstStyle>
          <a:p>
            <a:r>
              <a:rPr lang="en-US" dirty="0"/>
              <a:t>Thank You</a:t>
            </a:r>
          </a:p>
        </p:txBody>
      </p:sp>
    </p:spTree>
    <p:extLst>
      <p:ext uri="{BB962C8B-B14F-4D97-AF65-F5344CB8AC3E}">
        <p14:creationId xmlns:p14="http://schemas.microsoft.com/office/powerpoint/2010/main" val="41674742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78884" y="603666"/>
            <a:ext cx="10834232" cy="612775"/>
          </a:xfrm>
          <a:prstGeom prst="rect">
            <a:avLst/>
          </a:prstGeom>
        </p:spPr>
        <p:txBody>
          <a:bodyPr vert="horz" lIns="0" tIns="0" rIns="0" bIns="0" rtlCol="0" anchor="ctr">
            <a:normAutofit/>
          </a:bodyPr>
          <a:lstStyle/>
          <a:p>
            <a:r>
              <a:rPr lang="en-US" dirty="0"/>
              <a:t>Click to edit Master title style</a:t>
            </a:r>
          </a:p>
        </p:txBody>
      </p:sp>
      <p:sp>
        <p:nvSpPr>
          <p:cNvPr id="3" name="Text Placeholder 2"/>
          <p:cNvSpPr>
            <a:spLocks noGrp="1"/>
          </p:cNvSpPr>
          <p:nvPr>
            <p:ph type="body" idx="1"/>
          </p:nvPr>
        </p:nvSpPr>
        <p:spPr>
          <a:xfrm>
            <a:off x="678884" y="1659835"/>
            <a:ext cx="10834234" cy="439806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052" name="Picture 4" descr="Top Ranked Data Science Institute, Classroom Plus Online Training | Boston  Institute of Analytics">
            <a:extLst>
              <a:ext uri="{FF2B5EF4-FFF2-40B4-BE49-F238E27FC236}">
                <a16:creationId xmlns:a16="http://schemas.microsoft.com/office/drawing/2014/main" id="{D55A4135-B2E5-3A1C-9614-E010D1062B85}"/>
              </a:ext>
            </a:extLst>
          </p:cNvPr>
          <p:cNvPicPr>
            <a:picLocks noChangeAspect="1" noChangeArrowheads="1"/>
          </p:cNvPicPr>
          <p:nvPr userDrawn="1"/>
        </p:nvPicPr>
        <p:blipFill rotWithShape="1">
          <a:blip r:embed="rId18" cstate="print">
            <a:extLst>
              <a:ext uri="{28A0092B-C50C-407E-A947-70E740481C1C}">
                <a14:useLocalDpi xmlns:a14="http://schemas.microsoft.com/office/drawing/2010/main" val="0"/>
              </a:ext>
            </a:extLst>
          </a:blip>
          <a:srcRect l="4000" r="3112"/>
          <a:stretch/>
        </p:blipFill>
        <p:spPr bwMode="auto">
          <a:xfrm>
            <a:off x="9493777" y="6115409"/>
            <a:ext cx="2019339" cy="54891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3665DF22-91AD-CE85-A78A-CF35969DE003}"/>
              </a:ext>
            </a:extLst>
          </p:cNvPr>
          <p:cNvSpPr/>
          <p:nvPr userDrawn="1"/>
        </p:nvSpPr>
        <p:spPr>
          <a:xfrm>
            <a:off x="678883" y="6207305"/>
            <a:ext cx="7474517" cy="3651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sz="1100" b="1" dirty="0">
                <a:solidFill>
                  <a:schemeClr val="bg2">
                    <a:lumMod val="75000"/>
                  </a:schemeClr>
                </a:solidFill>
              </a:rPr>
              <a:t>CONFIDENTIAL</a:t>
            </a:r>
            <a:r>
              <a:rPr lang="en-US" sz="1100" dirty="0">
                <a:solidFill>
                  <a:schemeClr val="bg2">
                    <a:lumMod val="75000"/>
                  </a:schemeClr>
                </a:solidFill>
              </a:rPr>
              <a:t>: The information in this document belongs to Boston Institute of Analytics LLC. Any unauthorized sharing of this material is prohibited and subject to legal action under breach of IP and confidentiality clauses. </a:t>
            </a:r>
          </a:p>
        </p:txBody>
      </p:sp>
    </p:spTree>
    <p:extLst>
      <p:ext uri="{BB962C8B-B14F-4D97-AF65-F5344CB8AC3E}">
        <p14:creationId xmlns:p14="http://schemas.microsoft.com/office/powerpoint/2010/main" val="16281783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2" r:id="rId3"/>
    <p:sldLayoutId id="2147483673" r:id="rId4"/>
    <p:sldLayoutId id="2147483674" r:id="rId5"/>
    <p:sldLayoutId id="2147483675" r:id="rId6"/>
    <p:sldLayoutId id="2147483677" r:id="rId7"/>
    <p:sldLayoutId id="2147483676" r:id="rId8"/>
    <p:sldLayoutId id="2147483663" r:id="rId9"/>
    <p:sldLayoutId id="2147483664" r:id="rId10"/>
    <p:sldLayoutId id="2147483665" r:id="rId11"/>
    <p:sldLayoutId id="2147483666" r:id="rId12"/>
    <p:sldLayoutId id="2147483667" r:id="rId13"/>
    <p:sldLayoutId id="2147483668" r:id="rId14"/>
    <p:sldLayoutId id="2147483670" r:id="rId15"/>
    <p:sldLayoutId id="2147483671" r:id="rId16"/>
  </p:sldLayoutIdLst>
  <p:txStyles>
    <p:titleStyle>
      <a:lvl1pPr algn="l" defTabSz="914400" rtl="0" eaLnBrk="1" latinLnBrk="0" hangingPunct="1">
        <a:lnSpc>
          <a:spcPct val="90000"/>
        </a:lnSpc>
        <a:spcBef>
          <a:spcPct val="0"/>
        </a:spcBef>
        <a:buNone/>
        <a:defRPr sz="3400" b="1" kern="1200">
          <a:solidFill>
            <a:schemeClr val="tx1"/>
          </a:solidFill>
          <a:latin typeface="Calibri" panose="020F050202020403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Calibri" panose="020F05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Calibri" panose="020F05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Calibri" panose="020F0502020204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A225F15-9B21-01FF-BD6D-D04F30F7A091}"/>
              </a:ext>
            </a:extLst>
          </p:cNvPr>
          <p:cNvSpPr/>
          <p:nvPr/>
        </p:nvSpPr>
        <p:spPr>
          <a:xfrm>
            <a:off x="1" y="2788290"/>
            <a:ext cx="12192000" cy="81152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latin typeface="Söhne"/>
              </a:rPr>
              <a:t>T</a:t>
            </a:r>
            <a:r>
              <a:rPr lang="en-IN" sz="4400" b="1" dirty="0">
                <a:latin typeface="Söhne"/>
              </a:rPr>
              <a:t>raining &amp; Fine Tuning LLMs</a:t>
            </a:r>
            <a:endParaRPr lang="en-US" sz="4400" b="1" dirty="0">
              <a:latin typeface="Calibri" panose="020F0502020204030204" pitchFamily="34" charset="0"/>
            </a:endParaRPr>
          </a:p>
        </p:txBody>
      </p:sp>
    </p:spTree>
    <p:extLst>
      <p:ext uri="{BB962C8B-B14F-4D97-AF65-F5344CB8AC3E}">
        <p14:creationId xmlns:p14="http://schemas.microsoft.com/office/powerpoint/2010/main" val="10243347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9E2F6A-E89F-45D0-4C37-F8D123D863FF}"/>
              </a:ext>
            </a:extLst>
          </p:cNvPr>
          <p:cNvSpPr>
            <a:spLocks noGrp="1"/>
          </p:cNvSpPr>
          <p:nvPr>
            <p:ph type="title"/>
          </p:nvPr>
        </p:nvSpPr>
        <p:spPr/>
        <p:txBody>
          <a:bodyPr/>
          <a:lstStyle/>
          <a:p>
            <a:r>
              <a:rPr lang="en-US" dirty="0">
                <a:latin typeface="Calibri"/>
                <a:cs typeface="Calibri"/>
              </a:rPr>
              <a:t>Trainer Guidelines for Conducting Class</a:t>
            </a:r>
            <a:endParaRPr lang="en-US" dirty="0"/>
          </a:p>
        </p:txBody>
      </p:sp>
      <p:sp>
        <p:nvSpPr>
          <p:cNvPr id="3" name="Content Placeholder 2">
            <a:extLst>
              <a:ext uri="{FF2B5EF4-FFF2-40B4-BE49-F238E27FC236}">
                <a16:creationId xmlns:a16="http://schemas.microsoft.com/office/drawing/2014/main" id="{9CA356E4-99F9-93BD-8697-B5FE13DDA948}"/>
              </a:ext>
            </a:extLst>
          </p:cNvPr>
          <p:cNvSpPr>
            <a:spLocks noGrp="1"/>
          </p:cNvSpPr>
          <p:nvPr>
            <p:ph idx="1"/>
          </p:nvPr>
        </p:nvSpPr>
        <p:spPr/>
        <p:txBody>
          <a:bodyPr vert="horz" lIns="91440" tIns="45720" rIns="91440" bIns="45720" rtlCol="0" anchor="t">
            <a:normAutofit fontScale="77500" lnSpcReduction="20000"/>
          </a:bodyPr>
          <a:lstStyle/>
          <a:p>
            <a:endParaRPr lang="en-US" dirty="0">
              <a:latin typeface="Calibri"/>
              <a:cs typeface="Calibri"/>
            </a:endParaRPr>
          </a:p>
          <a:p>
            <a:r>
              <a:rPr lang="en-US" dirty="0">
                <a:latin typeface="Calibri"/>
                <a:cs typeface="Calibri"/>
              </a:rPr>
              <a:t>Solve questions live by creating </a:t>
            </a:r>
            <a:r>
              <a:rPr lang="en-US" b="1" dirty="0">
                <a:latin typeface="Calibri"/>
                <a:cs typeface="Calibri"/>
              </a:rPr>
              <a:t>new blank files</a:t>
            </a:r>
            <a:r>
              <a:rPr lang="en-US" dirty="0">
                <a:latin typeface="Calibri"/>
                <a:cs typeface="Calibri"/>
              </a:rPr>
              <a:t> (Excel, Python, </a:t>
            </a:r>
            <a:r>
              <a:rPr lang="en-US" err="1">
                <a:latin typeface="Calibri"/>
                <a:cs typeface="Calibri"/>
              </a:rPr>
              <a:t>Jupyter</a:t>
            </a:r>
            <a:r>
              <a:rPr lang="en-US" dirty="0">
                <a:latin typeface="Calibri"/>
                <a:cs typeface="Calibri"/>
              </a:rPr>
              <a:t> notebook, Dashboard) during the session, rather than sharing completed solutions.</a:t>
            </a:r>
            <a:endParaRPr lang="en-US" dirty="0">
              <a:latin typeface="Calibri"/>
              <a:cs typeface="Calibri" panose="020F0502020204030204" pitchFamily="34" charset="0"/>
            </a:endParaRPr>
          </a:p>
          <a:p>
            <a:endParaRPr lang="en-US" dirty="0">
              <a:latin typeface="Calibri"/>
              <a:cs typeface="Calibri"/>
            </a:endParaRPr>
          </a:p>
          <a:p>
            <a:r>
              <a:rPr lang="en-US" dirty="0">
                <a:latin typeface="Calibri"/>
                <a:cs typeface="Calibri"/>
              </a:rPr>
              <a:t>Review teaching materials and solutions beforehand, and prepare additional examples to reinforce learning.</a:t>
            </a:r>
          </a:p>
          <a:p>
            <a:endParaRPr lang="en-US" dirty="0">
              <a:latin typeface="Calibri"/>
              <a:cs typeface="Calibri"/>
            </a:endParaRPr>
          </a:p>
          <a:p>
            <a:r>
              <a:rPr lang="en-US" dirty="0">
                <a:latin typeface="Calibri"/>
                <a:cs typeface="Calibri"/>
              </a:rPr>
              <a:t>Ensure online students can hear you and see the screen clearly at all times.</a:t>
            </a:r>
          </a:p>
          <a:p>
            <a:endParaRPr lang="en-US" dirty="0">
              <a:latin typeface="Calibri"/>
              <a:cs typeface="Calibri"/>
            </a:endParaRPr>
          </a:p>
          <a:p>
            <a:r>
              <a:rPr lang="en-US" dirty="0">
                <a:latin typeface="Calibri"/>
                <a:cs typeface="Calibri"/>
              </a:rPr>
              <a:t>Test your computer and necessary software before class begins.</a:t>
            </a:r>
          </a:p>
          <a:p>
            <a:endParaRPr lang="en-US" dirty="0">
              <a:latin typeface="Calibri"/>
              <a:cs typeface="Calibri"/>
            </a:endParaRPr>
          </a:p>
          <a:p>
            <a:r>
              <a:rPr lang="en-US" dirty="0">
                <a:latin typeface="Calibri"/>
                <a:cs typeface="Calibri"/>
              </a:rPr>
              <a:t>Check with online students every 15-20 minutes to see if they understand the material and have any questions.</a:t>
            </a:r>
            <a:endParaRPr lang="en-US"/>
          </a:p>
        </p:txBody>
      </p:sp>
    </p:spTree>
    <p:extLst>
      <p:ext uri="{BB962C8B-B14F-4D97-AF65-F5344CB8AC3E}">
        <p14:creationId xmlns:p14="http://schemas.microsoft.com/office/powerpoint/2010/main" val="2288801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853F5-3FF5-F820-B593-B4F4AF27A2B6}"/>
              </a:ext>
            </a:extLst>
          </p:cNvPr>
          <p:cNvSpPr>
            <a:spLocks noGrp="1"/>
          </p:cNvSpPr>
          <p:nvPr>
            <p:ph type="title"/>
          </p:nvPr>
        </p:nvSpPr>
        <p:spPr/>
        <p:txBody>
          <a:bodyPr/>
          <a:lstStyle/>
          <a:p>
            <a:r>
              <a:rPr lang="en-IN" dirty="0"/>
              <a:t>Agenda</a:t>
            </a:r>
          </a:p>
        </p:txBody>
      </p:sp>
      <p:sp>
        <p:nvSpPr>
          <p:cNvPr id="5" name="Content Placeholder 2">
            <a:extLst>
              <a:ext uri="{FF2B5EF4-FFF2-40B4-BE49-F238E27FC236}">
                <a16:creationId xmlns:a16="http://schemas.microsoft.com/office/drawing/2014/main" id="{A9AAC721-0665-1382-22BD-DF794AA9B8D6}"/>
              </a:ext>
            </a:extLst>
          </p:cNvPr>
          <p:cNvSpPr txBox="1">
            <a:spLocks/>
          </p:cNvSpPr>
          <p:nvPr/>
        </p:nvSpPr>
        <p:spPr>
          <a:xfrm>
            <a:off x="679450" y="1405768"/>
            <a:ext cx="10833100" cy="3825874"/>
          </a:xfrm>
          <a:prstGeom prst="rect">
            <a:avLst/>
          </a:prstGeom>
        </p:spPr>
        <p:txBody>
          <a:bodyPr vert="horz" lIns="0" tIns="0" rIns="0" bIns="0" numCol="2" spcCol="72000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Calibri" panose="020F05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Calibri" panose="020F05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Calibri" panose="020F0502020204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dirty="0">
                <a:solidFill>
                  <a:srgbClr val="374151"/>
                </a:solidFill>
                <a:latin typeface="+mn-lt"/>
              </a:rPr>
              <a:t>Overview of Last Session</a:t>
            </a:r>
          </a:p>
          <a:p>
            <a:r>
              <a:rPr lang="en-US" sz="2400" b="1" dirty="0">
                <a:solidFill>
                  <a:srgbClr val="374151"/>
                </a:solidFill>
                <a:latin typeface="+mn-lt"/>
              </a:rPr>
              <a:t>Fine-tuning</a:t>
            </a:r>
            <a:r>
              <a:rPr lang="en-US" sz="2400" dirty="0">
                <a:solidFill>
                  <a:srgbClr val="374151"/>
                </a:solidFill>
                <a:latin typeface="+mn-lt"/>
              </a:rPr>
              <a:t> LLMs for Specific Tasks</a:t>
            </a:r>
            <a:endParaRPr lang="en-IN" sz="2400" dirty="0">
              <a:solidFill>
                <a:srgbClr val="374151"/>
              </a:solidFill>
              <a:latin typeface="+mn-lt"/>
            </a:endParaRPr>
          </a:p>
          <a:p>
            <a:r>
              <a:rPr lang="en-IN" sz="2400" b="1" dirty="0">
                <a:solidFill>
                  <a:srgbClr val="374151"/>
                </a:solidFill>
                <a:latin typeface="+mn-lt"/>
              </a:rPr>
              <a:t>Dataset preparation </a:t>
            </a:r>
            <a:r>
              <a:rPr lang="en-IN" sz="2400" dirty="0">
                <a:solidFill>
                  <a:srgbClr val="374151"/>
                </a:solidFill>
                <a:latin typeface="+mn-lt"/>
              </a:rPr>
              <a:t>and pre-processing techniques</a:t>
            </a:r>
          </a:p>
          <a:p>
            <a:r>
              <a:rPr lang="en-IN" sz="2400" dirty="0">
                <a:solidFill>
                  <a:srgbClr val="374151"/>
                </a:solidFill>
                <a:latin typeface="+mn-lt"/>
              </a:rPr>
              <a:t>Fine-tuning </a:t>
            </a:r>
            <a:r>
              <a:rPr lang="en-IN" sz="2400" b="1" dirty="0">
                <a:solidFill>
                  <a:srgbClr val="374151"/>
                </a:solidFill>
                <a:latin typeface="+mn-lt"/>
              </a:rPr>
              <a:t>hyperparameter optimization</a:t>
            </a:r>
          </a:p>
          <a:p>
            <a:r>
              <a:rPr lang="en-IN" sz="2400" dirty="0">
                <a:solidFill>
                  <a:srgbClr val="374151"/>
                </a:solidFill>
                <a:latin typeface="+mn-lt"/>
              </a:rPr>
              <a:t>Performance evaluation metrics: </a:t>
            </a:r>
            <a:r>
              <a:rPr lang="en-IN" sz="2400" b="1" dirty="0">
                <a:solidFill>
                  <a:srgbClr val="374151"/>
                </a:solidFill>
                <a:latin typeface="+mn-lt"/>
              </a:rPr>
              <a:t>BLEU and ROUGE</a:t>
            </a:r>
          </a:p>
          <a:p>
            <a:r>
              <a:rPr lang="en-IN" sz="2400" dirty="0">
                <a:solidFill>
                  <a:srgbClr val="374151"/>
                </a:solidFill>
                <a:latin typeface="+mn-lt"/>
              </a:rPr>
              <a:t>Introduction to Retrieve, Augment, Generate (</a:t>
            </a:r>
            <a:r>
              <a:rPr lang="en-IN" sz="2400" b="1" dirty="0">
                <a:solidFill>
                  <a:srgbClr val="374151"/>
                </a:solidFill>
                <a:latin typeface="+mn-lt"/>
              </a:rPr>
              <a:t>RAG</a:t>
            </a:r>
            <a:r>
              <a:rPr lang="en-IN" sz="2400" dirty="0">
                <a:solidFill>
                  <a:srgbClr val="374151"/>
                </a:solidFill>
                <a:latin typeface="+mn-lt"/>
              </a:rPr>
              <a:t>) for fine-tuning</a:t>
            </a:r>
          </a:p>
          <a:p>
            <a:r>
              <a:rPr lang="en-IN" sz="2400" b="1" dirty="0">
                <a:solidFill>
                  <a:srgbClr val="374151"/>
                </a:solidFill>
                <a:latin typeface="+mn-lt"/>
              </a:rPr>
              <a:t>Hands-on: </a:t>
            </a:r>
            <a:r>
              <a:rPr lang="en-IN" sz="2400" dirty="0">
                <a:solidFill>
                  <a:srgbClr val="374151"/>
                </a:solidFill>
                <a:latin typeface="+mn-lt"/>
              </a:rPr>
              <a:t>Fine-tuning an LLM with Custom Data</a:t>
            </a:r>
          </a:p>
          <a:p>
            <a:r>
              <a:rPr lang="en-US" sz="2400" dirty="0">
                <a:solidFill>
                  <a:srgbClr val="374151"/>
                </a:solidFill>
                <a:latin typeface="+mn-lt"/>
              </a:rPr>
              <a:t>Selecting an appropriate LLM and dataset for the chosen task</a:t>
            </a:r>
            <a:endParaRPr lang="en-IN" sz="2400" dirty="0">
              <a:solidFill>
                <a:srgbClr val="374151"/>
              </a:solidFill>
              <a:latin typeface="+mn-lt"/>
            </a:endParaRPr>
          </a:p>
          <a:p>
            <a:r>
              <a:rPr lang="en-IN" sz="2400" b="1" dirty="0">
                <a:solidFill>
                  <a:srgbClr val="374151"/>
                </a:solidFill>
                <a:latin typeface="+mn-lt"/>
              </a:rPr>
              <a:t>Evaluating and analysing </a:t>
            </a:r>
            <a:r>
              <a:rPr lang="en-IN" sz="2400" dirty="0">
                <a:solidFill>
                  <a:srgbClr val="374151"/>
                </a:solidFill>
                <a:latin typeface="+mn-lt"/>
              </a:rPr>
              <a:t>the fine-tuned model's performance</a:t>
            </a:r>
          </a:p>
          <a:p>
            <a:r>
              <a:rPr lang="en-IN" sz="2400" dirty="0">
                <a:solidFill>
                  <a:srgbClr val="374151"/>
                </a:solidFill>
                <a:latin typeface="+mn-lt"/>
              </a:rPr>
              <a:t>Comparison with pre-trained models</a:t>
            </a:r>
          </a:p>
        </p:txBody>
      </p:sp>
    </p:spTree>
    <p:extLst>
      <p:ext uri="{BB962C8B-B14F-4D97-AF65-F5344CB8AC3E}">
        <p14:creationId xmlns:p14="http://schemas.microsoft.com/office/powerpoint/2010/main" val="22724594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BA2E58-FEC9-D54D-ACC0-E7CEEF5F42E4}"/>
              </a:ext>
            </a:extLst>
          </p:cNvPr>
          <p:cNvSpPr>
            <a:spLocks noGrp="1"/>
          </p:cNvSpPr>
          <p:nvPr>
            <p:ph type="title"/>
          </p:nvPr>
        </p:nvSpPr>
        <p:spPr/>
        <p:txBody>
          <a:bodyPr>
            <a:normAutofit/>
          </a:bodyPr>
          <a:lstStyle/>
          <a:p>
            <a:pPr algn="l"/>
            <a:r>
              <a:rPr lang="en-US" b="1" i="0" dirty="0">
                <a:effectLst/>
                <a:latin typeface="+mn-lt"/>
              </a:rPr>
              <a:t>Fine-tuning LLMs for Specific Tasks</a:t>
            </a:r>
            <a:endParaRPr lang="en-US" dirty="0">
              <a:latin typeface="+mn-lt"/>
            </a:endParaRPr>
          </a:p>
        </p:txBody>
      </p:sp>
      <p:sp>
        <p:nvSpPr>
          <p:cNvPr id="5" name="TextBox 4">
            <a:extLst>
              <a:ext uri="{FF2B5EF4-FFF2-40B4-BE49-F238E27FC236}">
                <a16:creationId xmlns:a16="http://schemas.microsoft.com/office/drawing/2014/main" id="{AFD65E8A-8191-8F57-DAF1-09FDF14FDAFA}"/>
              </a:ext>
            </a:extLst>
          </p:cNvPr>
          <p:cNvSpPr txBox="1"/>
          <p:nvPr/>
        </p:nvSpPr>
        <p:spPr>
          <a:xfrm>
            <a:off x="564108" y="1384322"/>
            <a:ext cx="10949010" cy="3170099"/>
          </a:xfrm>
          <a:prstGeom prst="rect">
            <a:avLst/>
          </a:prstGeom>
          <a:noFill/>
        </p:spPr>
        <p:txBody>
          <a:bodyPr wrap="square">
            <a:spAutoFit/>
          </a:bodyPr>
          <a:lstStyle/>
          <a:p>
            <a:pPr algn="l"/>
            <a:r>
              <a:rPr lang="en-US" sz="2000" b="1" i="0" dirty="0">
                <a:effectLst/>
              </a:rPr>
              <a:t>Challenges with Pre-trained LLMs for Specific Tasks</a:t>
            </a:r>
          </a:p>
          <a:p>
            <a:pPr marL="457200" indent="-457200" algn="l">
              <a:buFont typeface="+mj-lt"/>
              <a:buAutoNum type="arabicPeriod"/>
            </a:pPr>
            <a:endParaRPr lang="en-US" sz="2000" b="1" i="0" dirty="0">
              <a:effectLst/>
            </a:endParaRPr>
          </a:p>
          <a:p>
            <a:pPr marL="457200" indent="-457200" algn="l">
              <a:buFont typeface="+mj-lt"/>
              <a:buAutoNum type="arabicPeriod"/>
            </a:pPr>
            <a:r>
              <a:rPr lang="en-US" sz="2000" b="1" i="0" dirty="0">
                <a:solidFill>
                  <a:srgbClr val="374151"/>
                </a:solidFill>
                <a:effectLst/>
              </a:rPr>
              <a:t>Generalization Limitations:</a:t>
            </a:r>
            <a:endParaRPr lang="en-US" sz="2000" b="0" i="0" dirty="0">
              <a:solidFill>
                <a:srgbClr val="374151"/>
              </a:solidFill>
              <a:effectLst/>
            </a:endParaRPr>
          </a:p>
          <a:p>
            <a:pPr marL="914400" lvl="1" indent="-457200" algn="l">
              <a:buFont typeface="+mj-lt"/>
              <a:buAutoNum type="arabicPeriod"/>
            </a:pPr>
            <a:r>
              <a:rPr lang="en-US" sz="2000" b="0" i="0" dirty="0">
                <a:solidFill>
                  <a:srgbClr val="374151"/>
                </a:solidFill>
                <a:effectLst/>
              </a:rPr>
              <a:t>Pre-trained Language Models (LLMs), such as GPT-2, Flan T5 are trained on diverse datasets for generic language understanding.</a:t>
            </a:r>
          </a:p>
          <a:p>
            <a:pPr marL="914400" lvl="1" indent="-457200" algn="l">
              <a:buFont typeface="+mj-lt"/>
              <a:buAutoNum type="arabicPeriod"/>
            </a:pPr>
            <a:r>
              <a:rPr lang="en-US" sz="2000" b="0" i="0" dirty="0">
                <a:solidFill>
                  <a:srgbClr val="374151"/>
                </a:solidFill>
                <a:effectLst/>
              </a:rPr>
              <a:t>Lack task-specific nuances and may not excel in specialized domains.</a:t>
            </a:r>
          </a:p>
          <a:p>
            <a:pPr lvl="1" algn="l"/>
            <a:endParaRPr lang="en-US" sz="2000" b="0" i="0" dirty="0">
              <a:solidFill>
                <a:srgbClr val="374151"/>
              </a:solidFill>
              <a:effectLst/>
            </a:endParaRPr>
          </a:p>
          <a:p>
            <a:pPr marL="457200" indent="-457200" algn="l">
              <a:buFont typeface="+mj-lt"/>
              <a:buAutoNum type="arabicPeriod"/>
            </a:pPr>
            <a:r>
              <a:rPr lang="en-US" sz="2000" b="1" i="0" dirty="0">
                <a:solidFill>
                  <a:srgbClr val="374151"/>
                </a:solidFill>
                <a:effectLst/>
              </a:rPr>
              <a:t>Task-specific Requirements:</a:t>
            </a:r>
            <a:endParaRPr lang="en-US" sz="2000" b="0" i="0" dirty="0">
              <a:solidFill>
                <a:srgbClr val="374151"/>
              </a:solidFill>
              <a:effectLst/>
            </a:endParaRPr>
          </a:p>
          <a:p>
            <a:pPr marL="914400" lvl="1" indent="-457200" algn="l">
              <a:buFont typeface="+mj-lt"/>
              <a:buAutoNum type="arabicPeriod"/>
            </a:pPr>
            <a:r>
              <a:rPr lang="en-US" sz="2000" b="0" i="0" dirty="0">
                <a:solidFill>
                  <a:srgbClr val="374151"/>
                </a:solidFill>
                <a:effectLst/>
              </a:rPr>
              <a:t>Some tasks demand domain-specific knowledge or context that pre-trained models might lack.</a:t>
            </a:r>
          </a:p>
          <a:p>
            <a:pPr marL="914400" lvl="1" indent="-457200" algn="l">
              <a:buFont typeface="+mj-lt"/>
              <a:buAutoNum type="arabicPeriod"/>
            </a:pPr>
            <a:r>
              <a:rPr lang="en-US" sz="2000" b="0" i="0" dirty="0">
                <a:solidFill>
                  <a:srgbClr val="374151"/>
                </a:solidFill>
                <a:effectLst/>
              </a:rPr>
              <a:t>Fine-tuning allows adapting models to specific tasks for improved performance.</a:t>
            </a:r>
          </a:p>
        </p:txBody>
      </p:sp>
    </p:spTree>
    <p:extLst>
      <p:ext uri="{BB962C8B-B14F-4D97-AF65-F5344CB8AC3E}">
        <p14:creationId xmlns:p14="http://schemas.microsoft.com/office/powerpoint/2010/main" val="31245107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FD65E8A-8191-8F57-DAF1-09FDF14FDAFA}"/>
              </a:ext>
            </a:extLst>
          </p:cNvPr>
          <p:cNvSpPr txBox="1"/>
          <p:nvPr/>
        </p:nvSpPr>
        <p:spPr>
          <a:xfrm>
            <a:off x="564108" y="1384322"/>
            <a:ext cx="10949010" cy="4493538"/>
          </a:xfrm>
          <a:prstGeom prst="rect">
            <a:avLst/>
          </a:prstGeom>
          <a:noFill/>
        </p:spPr>
        <p:txBody>
          <a:bodyPr wrap="square">
            <a:spAutoFit/>
          </a:bodyPr>
          <a:lstStyle/>
          <a:p>
            <a:pPr algn="l"/>
            <a:r>
              <a:rPr lang="en-IN" sz="2200" b="1" i="0" dirty="0">
                <a:effectLst/>
              </a:rPr>
              <a:t>Fine-tuning Process Overview</a:t>
            </a:r>
            <a:endParaRPr lang="en-US" sz="2200" b="1" dirty="0">
              <a:solidFill>
                <a:srgbClr val="1F1F1F"/>
              </a:solidFill>
            </a:endParaRPr>
          </a:p>
          <a:p>
            <a:pPr algn="l"/>
            <a:endParaRPr lang="en-US" sz="2200" b="1" i="0" dirty="0">
              <a:solidFill>
                <a:srgbClr val="1F1F1F"/>
              </a:solidFill>
              <a:effectLst/>
            </a:endParaRPr>
          </a:p>
          <a:p>
            <a:pPr marL="457200" indent="-457200" algn="l">
              <a:buAutoNum type="arabicPeriod"/>
            </a:pPr>
            <a:r>
              <a:rPr lang="en-US" sz="2200" b="1" i="0" dirty="0">
                <a:effectLst/>
              </a:rPr>
              <a:t>Dataset Preparation and Pre-processing Techniques:</a:t>
            </a:r>
          </a:p>
          <a:p>
            <a:pPr algn="l"/>
            <a:endParaRPr lang="en-US" sz="2200" b="0" i="0" dirty="0">
              <a:effectLst/>
            </a:endParaRPr>
          </a:p>
          <a:p>
            <a:pPr marL="800100" lvl="1" indent="-342900">
              <a:buFont typeface="Arial" panose="020B0604020202020204" pitchFamily="34" charset="0"/>
              <a:buChar char="•"/>
            </a:pPr>
            <a:r>
              <a:rPr lang="en-US" sz="2200" b="1" i="0" dirty="0">
                <a:solidFill>
                  <a:srgbClr val="374151"/>
                </a:solidFill>
                <a:effectLst/>
              </a:rPr>
              <a:t>Task-Specific Data Collection:</a:t>
            </a:r>
            <a:endParaRPr lang="en-US" sz="2200" b="0" i="0" dirty="0">
              <a:solidFill>
                <a:srgbClr val="374151"/>
              </a:solidFill>
              <a:effectLst/>
            </a:endParaRPr>
          </a:p>
          <a:p>
            <a:pPr marL="1257300" lvl="2" indent="-342900">
              <a:buFont typeface="Arial" panose="020B0604020202020204" pitchFamily="34" charset="0"/>
              <a:buChar char="•"/>
            </a:pPr>
            <a:r>
              <a:rPr lang="en-US" sz="2200" b="0" i="0" dirty="0">
                <a:solidFill>
                  <a:srgbClr val="374151"/>
                </a:solidFill>
                <a:effectLst/>
              </a:rPr>
              <a:t>Gather a dataset specifically tailored to the target task to enhance model understanding.</a:t>
            </a:r>
          </a:p>
          <a:p>
            <a:pPr marL="1257300" lvl="2" indent="-342900">
              <a:buFont typeface="Arial" panose="020B0604020202020204" pitchFamily="34" charset="0"/>
              <a:buChar char="•"/>
            </a:pPr>
            <a:endParaRPr lang="en-US" sz="2200" b="0" i="0" dirty="0">
              <a:solidFill>
                <a:srgbClr val="374151"/>
              </a:solidFill>
              <a:effectLst/>
            </a:endParaRPr>
          </a:p>
          <a:p>
            <a:pPr marL="800100" lvl="1" indent="-342900">
              <a:buFont typeface="Arial" panose="020B0604020202020204" pitchFamily="34" charset="0"/>
              <a:buChar char="•"/>
            </a:pPr>
            <a:r>
              <a:rPr lang="en-US" sz="2200" b="1" i="0" dirty="0">
                <a:solidFill>
                  <a:srgbClr val="374151"/>
                </a:solidFill>
                <a:effectLst/>
              </a:rPr>
              <a:t>Data Cleaning and Annotation:</a:t>
            </a:r>
            <a:endParaRPr lang="en-US" sz="2200" b="0" i="0" dirty="0">
              <a:solidFill>
                <a:srgbClr val="374151"/>
              </a:solidFill>
              <a:effectLst/>
            </a:endParaRPr>
          </a:p>
          <a:p>
            <a:pPr marL="1257300" lvl="2" indent="-342900">
              <a:buFont typeface="Arial" panose="020B0604020202020204" pitchFamily="34" charset="0"/>
              <a:buChar char="•"/>
            </a:pPr>
            <a:r>
              <a:rPr lang="en-US" sz="2200" b="0" i="0" dirty="0">
                <a:solidFill>
                  <a:srgbClr val="374151"/>
                </a:solidFill>
                <a:effectLst/>
              </a:rPr>
              <a:t>Ensure high-quality, labeled data for effective fine-tuning.</a:t>
            </a:r>
          </a:p>
          <a:p>
            <a:pPr marL="1257300" lvl="2" indent="-342900">
              <a:buFont typeface="Arial" panose="020B0604020202020204" pitchFamily="34" charset="0"/>
              <a:buChar char="•"/>
            </a:pPr>
            <a:endParaRPr lang="en-US" sz="2200" b="0" i="0" dirty="0">
              <a:solidFill>
                <a:srgbClr val="374151"/>
              </a:solidFill>
              <a:effectLst/>
            </a:endParaRPr>
          </a:p>
          <a:p>
            <a:pPr marL="800100" lvl="1" indent="-342900">
              <a:buFont typeface="Arial" panose="020B0604020202020204" pitchFamily="34" charset="0"/>
              <a:buChar char="•"/>
            </a:pPr>
            <a:r>
              <a:rPr lang="en-US" sz="2200" b="1" i="0" dirty="0">
                <a:solidFill>
                  <a:srgbClr val="374151"/>
                </a:solidFill>
                <a:effectLst/>
              </a:rPr>
              <a:t>Tokenization and Embedding:</a:t>
            </a:r>
            <a:endParaRPr lang="en-US" sz="2200" b="0" i="0" dirty="0">
              <a:solidFill>
                <a:srgbClr val="374151"/>
              </a:solidFill>
              <a:effectLst/>
            </a:endParaRPr>
          </a:p>
          <a:p>
            <a:pPr marL="1257300" lvl="2" indent="-342900">
              <a:buFont typeface="Arial" panose="020B0604020202020204" pitchFamily="34" charset="0"/>
              <a:buChar char="•"/>
            </a:pPr>
            <a:r>
              <a:rPr lang="en-US" sz="2200" b="0" i="0" dirty="0">
                <a:solidFill>
                  <a:srgbClr val="374151"/>
                </a:solidFill>
                <a:effectLst/>
              </a:rPr>
              <a:t>Tokenize text and convert it into embeddings suitable for the model.</a:t>
            </a:r>
          </a:p>
        </p:txBody>
      </p:sp>
      <p:sp>
        <p:nvSpPr>
          <p:cNvPr id="6" name="Title 1">
            <a:extLst>
              <a:ext uri="{FF2B5EF4-FFF2-40B4-BE49-F238E27FC236}">
                <a16:creationId xmlns:a16="http://schemas.microsoft.com/office/drawing/2014/main" id="{212039B1-E6E7-15CD-4055-55EBDA4566B4}"/>
              </a:ext>
            </a:extLst>
          </p:cNvPr>
          <p:cNvSpPr>
            <a:spLocks noGrp="1"/>
          </p:cNvSpPr>
          <p:nvPr>
            <p:ph type="title"/>
          </p:nvPr>
        </p:nvSpPr>
        <p:spPr>
          <a:xfrm>
            <a:off x="678881" y="603665"/>
            <a:ext cx="10834234" cy="612775"/>
          </a:xfrm>
        </p:spPr>
        <p:txBody>
          <a:bodyPr/>
          <a:lstStyle/>
          <a:p>
            <a:r>
              <a:rPr lang="en-IN" dirty="0">
                <a:latin typeface="+mn-lt"/>
              </a:rPr>
              <a:t>Cont…</a:t>
            </a:r>
          </a:p>
        </p:txBody>
      </p:sp>
    </p:spTree>
    <p:extLst>
      <p:ext uri="{BB962C8B-B14F-4D97-AF65-F5344CB8AC3E}">
        <p14:creationId xmlns:p14="http://schemas.microsoft.com/office/powerpoint/2010/main" val="7356923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FD65E8A-8191-8F57-DAF1-09FDF14FDAFA}"/>
              </a:ext>
            </a:extLst>
          </p:cNvPr>
          <p:cNvSpPr txBox="1"/>
          <p:nvPr/>
        </p:nvSpPr>
        <p:spPr>
          <a:xfrm>
            <a:off x="564108" y="1384322"/>
            <a:ext cx="10949010" cy="3477875"/>
          </a:xfrm>
          <a:prstGeom prst="rect">
            <a:avLst/>
          </a:prstGeom>
          <a:noFill/>
        </p:spPr>
        <p:txBody>
          <a:bodyPr wrap="square">
            <a:spAutoFit/>
          </a:bodyPr>
          <a:lstStyle/>
          <a:p>
            <a:pPr algn="l"/>
            <a:r>
              <a:rPr lang="en-IN" sz="2200" b="1" i="0" dirty="0">
                <a:effectLst/>
              </a:rPr>
              <a:t>2. Fine-tuning Hyperparameter Optimization:</a:t>
            </a:r>
          </a:p>
          <a:p>
            <a:pPr algn="l"/>
            <a:endParaRPr lang="en-IN" sz="2200" b="0" i="0" dirty="0">
              <a:effectLst/>
            </a:endParaRPr>
          </a:p>
          <a:p>
            <a:pPr marL="742950" lvl="1" indent="-285750">
              <a:buFont typeface="Arial" panose="020B0604020202020204" pitchFamily="34" charset="0"/>
              <a:buChar char="•"/>
            </a:pPr>
            <a:r>
              <a:rPr lang="en-IN" sz="2200" b="1" i="0" dirty="0">
                <a:solidFill>
                  <a:srgbClr val="374151"/>
                </a:solidFill>
                <a:effectLst/>
              </a:rPr>
              <a:t>Learning Rate Adjustment:</a:t>
            </a:r>
            <a:endParaRPr lang="en-IN" sz="2200" b="0" i="0" dirty="0">
              <a:solidFill>
                <a:srgbClr val="374151"/>
              </a:solidFill>
              <a:effectLst/>
            </a:endParaRPr>
          </a:p>
          <a:p>
            <a:pPr marL="1200150" lvl="2" indent="-285750">
              <a:buFont typeface="Arial" panose="020B0604020202020204" pitchFamily="34" charset="0"/>
              <a:buChar char="•"/>
            </a:pPr>
            <a:r>
              <a:rPr lang="en-IN" sz="2200" b="0" i="0" dirty="0">
                <a:solidFill>
                  <a:srgbClr val="374151"/>
                </a:solidFill>
                <a:effectLst/>
              </a:rPr>
              <a:t>Optimize learning rates for effective model updates during fine-tuning.</a:t>
            </a:r>
          </a:p>
          <a:p>
            <a:pPr marL="1200150" lvl="2" indent="-285750">
              <a:buFont typeface="Arial" panose="020B0604020202020204" pitchFamily="34" charset="0"/>
              <a:buChar char="•"/>
            </a:pPr>
            <a:endParaRPr lang="en-IN" sz="2200" b="0" i="0" dirty="0">
              <a:solidFill>
                <a:srgbClr val="374151"/>
              </a:solidFill>
              <a:effectLst/>
            </a:endParaRPr>
          </a:p>
          <a:p>
            <a:pPr marL="742950" lvl="1" indent="-285750">
              <a:buFont typeface="Arial" panose="020B0604020202020204" pitchFamily="34" charset="0"/>
              <a:buChar char="•"/>
            </a:pPr>
            <a:r>
              <a:rPr lang="en-IN" sz="2200" b="1" i="0" dirty="0">
                <a:solidFill>
                  <a:srgbClr val="374151"/>
                </a:solidFill>
                <a:effectLst/>
              </a:rPr>
              <a:t>Batch Size Tuning:</a:t>
            </a:r>
            <a:endParaRPr lang="en-IN" sz="2200" b="0" i="0" dirty="0">
              <a:solidFill>
                <a:srgbClr val="374151"/>
              </a:solidFill>
              <a:effectLst/>
            </a:endParaRPr>
          </a:p>
          <a:p>
            <a:pPr marL="1200150" lvl="2" indent="-285750">
              <a:buFont typeface="Arial" panose="020B0604020202020204" pitchFamily="34" charset="0"/>
              <a:buChar char="•"/>
            </a:pPr>
            <a:r>
              <a:rPr lang="en-IN" sz="2200" b="0" i="0" dirty="0">
                <a:solidFill>
                  <a:srgbClr val="374151"/>
                </a:solidFill>
                <a:effectLst/>
              </a:rPr>
              <a:t>Adjust batch sizes to balance computational efficiency and model stability.</a:t>
            </a:r>
          </a:p>
          <a:p>
            <a:pPr marL="1200150" lvl="2" indent="-285750">
              <a:buFont typeface="Arial" panose="020B0604020202020204" pitchFamily="34" charset="0"/>
              <a:buChar char="•"/>
            </a:pPr>
            <a:endParaRPr lang="en-IN" sz="2200" b="0" i="0" dirty="0">
              <a:solidFill>
                <a:srgbClr val="374151"/>
              </a:solidFill>
              <a:effectLst/>
            </a:endParaRPr>
          </a:p>
          <a:p>
            <a:pPr marL="742950" lvl="1" indent="-285750">
              <a:buFont typeface="Arial" panose="020B0604020202020204" pitchFamily="34" charset="0"/>
              <a:buChar char="•"/>
            </a:pPr>
            <a:r>
              <a:rPr lang="en-IN" sz="2200" b="1" i="0" dirty="0">
                <a:solidFill>
                  <a:srgbClr val="374151"/>
                </a:solidFill>
                <a:effectLst/>
              </a:rPr>
              <a:t>Regularization Techniques:</a:t>
            </a:r>
            <a:endParaRPr lang="en-IN" sz="2200" b="0" i="0" dirty="0">
              <a:solidFill>
                <a:srgbClr val="374151"/>
              </a:solidFill>
              <a:effectLst/>
            </a:endParaRPr>
          </a:p>
          <a:p>
            <a:pPr marL="1200150" lvl="2" indent="-285750">
              <a:buFont typeface="Arial" panose="020B0604020202020204" pitchFamily="34" charset="0"/>
              <a:buChar char="•"/>
            </a:pPr>
            <a:r>
              <a:rPr lang="en-IN" sz="2200" b="0" i="0" dirty="0">
                <a:solidFill>
                  <a:srgbClr val="374151"/>
                </a:solidFill>
                <a:effectLst/>
              </a:rPr>
              <a:t>Implement techniques like dropout to prevent overfitting during fine-tuning.</a:t>
            </a:r>
          </a:p>
        </p:txBody>
      </p:sp>
      <p:sp>
        <p:nvSpPr>
          <p:cNvPr id="6" name="Title 1">
            <a:extLst>
              <a:ext uri="{FF2B5EF4-FFF2-40B4-BE49-F238E27FC236}">
                <a16:creationId xmlns:a16="http://schemas.microsoft.com/office/drawing/2014/main" id="{212039B1-E6E7-15CD-4055-55EBDA4566B4}"/>
              </a:ext>
            </a:extLst>
          </p:cNvPr>
          <p:cNvSpPr>
            <a:spLocks noGrp="1"/>
          </p:cNvSpPr>
          <p:nvPr>
            <p:ph type="title"/>
          </p:nvPr>
        </p:nvSpPr>
        <p:spPr>
          <a:xfrm>
            <a:off x="678881" y="603665"/>
            <a:ext cx="10834234" cy="612775"/>
          </a:xfrm>
        </p:spPr>
        <p:txBody>
          <a:bodyPr/>
          <a:lstStyle/>
          <a:p>
            <a:r>
              <a:rPr lang="en-IN" dirty="0">
                <a:latin typeface="+mn-lt"/>
              </a:rPr>
              <a:t>Cont…</a:t>
            </a:r>
          </a:p>
        </p:txBody>
      </p:sp>
    </p:spTree>
    <p:extLst>
      <p:ext uri="{BB962C8B-B14F-4D97-AF65-F5344CB8AC3E}">
        <p14:creationId xmlns:p14="http://schemas.microsoft.com/office/powerpoint/2010/main" val="944481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FD65E8A-8191-8F57-DAF1-09FDF14FDAFA}"/>
              </a:ext>
            </a:extLst>
          </p:cNvPr>
          <p:cNvSpPr txBox="1"/>
          <p:nvPr/>
        </p:nvSpPr>
        <p:spPr>
          <a:xfrm>
            <a:off x="564108" y="1384322"/>
            <a:ext cx="10949010" cy="4832092"/>
          </a:xfrm>
          <a:prstGeom prst="rect">
            <a:avLst/>
          </a:prstGeom>
          <a:noFill/>
        </p:spPr>
        <p:txBody>
          <a:bodyPr wrap="square">
            <a:spAutoFit/>
          </a:bodyPr>
          <a:lstStyle/>
          <a:p>
            <a:pPr algn="l"/>
            <a:r>
              <a:rPr lang="en-US" sz="2200" b="1" i="0" dirty="0">
                <a:effectLst/>
              </a:rPr>
              <a:t>3. Model Training and Evaluation:</a:t>
            </a:r>
          </a:p>
          <a:p>
            <a:pPr algn="l"/>
            <a:endParaRPr lang="en-US" sz="2200" b="0" i="0" dirty="0">
              <a:effectLst/>
            </a:endParaRPr>
          </a:p>
          <a:p>
            <a:pPr marL="742950" lvl="1" indent="-285750">
              <a:buFont typeface="Arial" panose="020B0604020202020204" pitchFamily="34" charset="0"/>
              <a:buChar char="•"/>
            </a:pPr>
            <a:r>
              <a:rPr lang="en-US" sz="2200" b="1" i="0" dirty="0">
                <a:solidFill>
                  <a:srgbClr val="374151"/>
                </a:solidFill>
                <a:effectLst/>
              </a:rPr>
              <a:t>Transfer Learning:</a:t>
            </a:r>
            <a:endParaRPr lang="en-US" sz="2200" b="0" i="0" dirty="0">
              <a:solidFill>
                <a:srgbClr val="374151"/>
              </a:solidFill>
              <a:effectLst/>
            </a:endParaRPr>
          </a:p>
          <a:p>
            <a:pPr marL="1200150" lvl="2" indent="-285750">
              <a:buFont typeface="Arial" panose="020B0604020202020204" pitchFamily="34" charset="0"/>
              <a:buChar char="•"/>
            </a:pPr>
            <a:r>
              <a:rPr lang="en-US" sz="2200" b="0" i="0" dirty="0">
                <a:solidFill>
                  <a:srgbClr val="374151"/>
                </a:solidFill>
                <a:effectLst/>
              </a:rPr>
              <a:t>Initialize the model with pre-trained weights to leverage prior knowledge.</a:t>
            </a:r>
          </a:p>
          <a:p>
            <a:pPr marL="1200150" lvl="2" indent="-285750">
              <a:buFont typeface="Arial" panose="020B0604020202020204" pitchFamily="34" charset="0"/>
              <a:buChar char="•"/>
            </a:pPr>
            <a:endParaRPr lang="en-US" sz="2200" b="0" i="0" dirty="0">
              <a:solidFill>
                <a:srgbClr val="374151"/>
              </a:solidFill>
              <a:effectLst/>
            </a:endParaRPr>
          </a:p>
          <a:p>
            <a:pPr marL="742950" lvl="1" indent="-285750">
              <a:buFont typeface="Arial" panose="020B0604020202020204" pitchFamily="34" charset="0"/>
              <a:buChar char="•"/>
            </a:pPr>
            <a:r>
              <a:rPr lang="en-US" sz="2200" b="1" i="0" dirty="0">
                <a:solidFill>
                  <a:srgbClr val="374151"/>
                </a:solidFill>
                <a:effectLst/>
              </a:rPr>
              <a:t>Task-specific Layers:</a:t>
            </a:r>
            <a:endParaRPr lang="en-US" sz="2200" b="0" i="0" dirty="0">
              <a:solidFill>
                <a:srgbClr val="374151"/>
              </a:solidFill>
              <a:effectLst/>
            </a:endParaRPr>
          </a:p>
          <a:p>
            <a:pPr marL="1200150" lvl="2" indent="-285750">
              <a:buFont typeface="Arial" panose="020B0604020202020204" pitchFamily="34" charset="0"/>
              <a:buChar char="•"/>
            </a:pPr>
            <a:r>
              <a:rPr lang="en-US" sz="2200" b="0" i="0" dirty="0">
                <a:solidFill>
                  <a:srgbClr val="374151"/>
                </a:solidFill>
                <a:effectLst/>
              </a:rPr>
              <a:t>Fine-tune only specific layers or parameters relevant to the target task.</a:t>
            </a:r>
          </a:p>
          <a:p>
            <a:pPr marL="1200150" lvl="2" indent="-285750">
              <a:buFont typeface="Arial" panose="020B0604020202020204" pitchFamily="34" charset="0"/>
              <a:buChar char="•"/>
            </a:pPr>
            <a:endParaRPr lang="en-US" sz="2200" b="0" i="0" dirty="0">
              <a:solidFill>
                <a:srgbClr val="374151"/>
              </a:solidFill>
              <a:effectLst/>
            </a:endParaRPr>
          </a:p>
          <a:p>
            <a:pPr marL="742950" lvl="1" indent="-285750">
              <a:buFont typeface="Arial" panose="020B0604020202020204" pitchFamily="34" charset="0"/>
              <a:buChar char="•"/>
            </a:pPr>
            <a:r>
              <a:rPr lang="en-US" sz="2200" b="1" i="0" dirty="0">
                <a:solidFill>
                  <a:srgbClr val="374151"/>
                </a:solidFill>
                <a:effectLst/>
              </a:rPr>
              <a:t>Epoch Iterations:</a:t>
            </a:r>
            <a:endParaRPr lang="en-US" sz="2200" b="0" i="0" dirty="0">
              <a:solidFill>
                <a:srgbClr val="374151"/>
              </a:solidFill>
              <a:effectLst/>
            </a:endParaRPr>
          </a:p>
          <a:p>
            <a:pPr marL="1200150" lvl="2" indent="-285750">
              <a:buFont typeface="Arial" panose="020B0604020202020204" pitchFamily="34" charset="0"/>
              <a:buChar char="•"/>
            </a:pPr>
            <a:r>
              <a:rPr lang="en-US" sz="2200" b="0" i="0" dirty="0">
                <a:solidFill>
                  <a:srgbClr val="374151"/>
                </a:solidFill>
                <a:effectLst/>
              </a:rPr>
              <a:t>Determine the optimal number of epochs to avoid underfitting or overfitting.</a:t>
            </a:r>
          </a:p>
          <a:p>
            <a:pPr marL="1200150" lvl="2" indent="-285750">
              <a:buFont typeface="Arial" panose="020B0604020202020204" pitchFamily="34" charset="0"/>
              <a:buChar char="•"/>
            </a:pPr>
            <a:endParaRPr lang="en-US" sz="2200" b="0" i="0" dirty="0">
              <a:solidFill>
                <a:srgbClr val="374151"/>
              </a:solidFill>
              <a:effectLst/>
            </a:endParaRPr>
          </a:p>
          <a:p>
            <a:pPr marL="742950" lvl="1" indent="-285750">
              <a:buFont typeface="Arial" panose="020B0604020202020204" pitchFamily="34" charset="0"/>
              <a:buChar char="•"/>
            </a:pPr>
            <a:r>
              <a:rPr lang="en-US" sz="2200" b="1" i="0" dirty="0">
                <a:solidFill>
                  <a:srgbClr val="374151"/>
                </a:solidFill>
                <a:effectLst/>
              </a:rPr>
              <a:t>Evaluation Metrics:</a:t>
            </a:r>
            <a:endParaRPr lang="en-US" sz="2200" b="0" i="0" dirty="0">
              <a:solidFill>
                <a:srgbClr val="374151"/>
              </a:solidFill>
              <a:effectLst/>
            </a:endParaRPr>
          </a:p>
          <a:p>
            <a:pPr marL="1200150" lvl="2" indent="-285750">
              <a:buFont typeface="Arial" panose="020B0604020202020204" pitchFamily="34" charset="0"/>
              <a:buChar char="•"/>
            </a:pPr>
            <a:r>
              <a:rPr lang="en-US" sz="2200" b="0" i="0" dirty="0">
                <a:solidFill>
                  <a:srgbClr val="374151"/>
                </a:solidFill>
                <a:effectLst/>
              </a:rPr>
              <a:t>Choose appropriate metrics (e.g., accuracy, precision, recall) for assessing fine-tuned model performance.</a:t>
            </a:r>
          </a:p>
        </p:txBody>
      </p:sp>
      <p:sp>
        <p:nvSpPr>
          <p:cNvPr id="6" name="Title 1">
            <a:extLst>
              <a:ext uri="{FF2B5EF4-FFF2-40B4-BE49-F238E27FC236}">
                <a16:creationId xmlns:a16="http://schemas.microsoft.com/office/drawing/2014/main" id="{212039B1-E6E7-15CD-4055-55EBDA4566B4}"/>
              </a:ext>
            </a:extLst>
          </p:cNvPr>
          <p:cNvSpPr>
            <a:spLocks noGrp="1"/>
          </p:cNvSpPr>
          <p:nvPr>
            <p:ph type="title"/>
          </p:nvPr>
        </p:nvSpPr>
        <p:spPr>
          <a:xfrm>
            <a:off x="678881" y="603665"/>
            <a:ext cx="10834234" cy="612775"/>
          </a:xfrm>
        </p:spPr>
        <p:txBody>
          <a:bodyPr/>
          <a:lstStyle/>
          <a:p>
            <a:r>
              <a:rPr lang="en-IN" dirty="0">
                <a:latin typeface="+mn-lt"/>
              </a:rPr>
              <a:t>Cont…</a:t>
            </a:r>
          </a:p>
        </p:txBody>
      </p:sp>
    </p:spTree>
    <p:extLst>
      <p:ext uri="{BB962C8B-B14F-4D97-AF65-F5344CB8AC3E}">
        <p14:creationId xmlns:p14="http://schemas.microsoft.com/office/powerpoint/2010/main" val="8111623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FD65E8A-8191-8F57-DAF1-09FDF14FDAFA}"/>
              </a:ext>
            </a:extLst>
          </p:cNvPr>
          <p:cNvSpPr txBox="1"/>
          <p:nvPr/>
        </p:nvSpPr>
        <p:spPr>
          <a:xfrm>
            <a:off x="564108" y="1384322"/>
            <a:ext cx="10949010" cy="3816429"/>
          </a:xfrm>
          <a:prstGeom prst="rect">
            <a:avLst/>
          </a:prstGeom>
          <a:noFill/>
        </p:spPr>
        <p:txBody>
          <a:bodyPr wrap="square">
            <a:spAutoFit/>
          </a:bodyPr>
          <a:lstStyle/>
          <a:p>
            <a:pPr algn="l"/>
            <a:r>
              <a:rPr lang="en-US" sz="2200" b="1" i="0" dirty="0">
                <a:effectLst/>
              </a:rPr>
              <a:t>Benefits of Fine-tuning:</a:t>
            </a:r>
          </a:p>
          <a:p>
            <a:pPr algn="l"/>
            <a:endParaRPr lang="en-US" sz="2200" b="1" i="0" dirty="0">
              <a:effectLst/>
            </a:endParaRPr>
          </a:p>
          <a:p>
            <a:pPr marL="457200" indent="-457200" algn="l">
              <a:buFont typeface="+mj-lt"/>
              <a:buAutoNum type="arabicPeriod"/>
            </a:pPr>
            <a:r>
              <a:rPr lang="en-US" sz="2200" i="0" dirty="0">
                <a:effectLst/>
              </a:rPr>
              <a:t>Task Optimization:</a:t>
            </a:r>
          </a:p>
          <a:p>
            <a:pPr marL="914400" lvl="1" indent="-457200">
              <a:buFont typeface="Arial" panose="020B0604020202020204" pitchFamily="34" charset="0"/>
              <a:buChar char="•"/>
            </a:pPr>
            <a:r>
              <a:rPr lang="en-US" sz="2200" i="0" dirty="0">
                <a:effectLst/>
              </a:rPr>
              <a:t>Tailor model parameters to excel in specific tasks, leading to improved performance.</a:t>
            </a:r>
          </a:p>
          <a:p>
            <a:pPr marL="457200" indent="-457200" algn="l">
              <a:buFont typeface="+mj-lt"/>
              <a:buAutoNum type="arabicPeriod"/>
            </a:pPr>
            <a:endParaRPr lang="en-US" sz="2200" i="0" dirty="0">
              <a:effectLst/>
            </a:endParaRPr>
          </a:p>
          <a:p>
            <a:pPr marL="457200" indent="-457200" algn="l">
              <a:buFont typeface="+mj-lt"/>
              <a:buAutoNum type="arabicPeriod"/>
            </a:pPr>
            <a:r>
              <a:rPr lang="en-US" sz="2200" i="0" dirty="0">
                <a:effectLst/>
              </a:rPr>
              <a:t>Resource Efficiency:</a:t>
            </a:r>
          </a:p>
          <a:p>
            <a:pPr marL="914400" lvl="1" indent="-457200">
              <a:buFont typeface="Arial" panose="020B0604020202020204" pitchFamily="34" charset="0"/>
              <a:buChar char="•"/>
            </a:pPr>
            <a:r>
              <a:rPr lang="en-US" sz="2200" i="0" dirty="0">
                <a:effectLst/>
              </a:rPr>
              <a:t>Utilize pre-trained models as a starting point, reducing the need for extensive training on task-specific datasets.</a:t>
            </a:r>
          </a:p>
          <a:p>
            <a:pPr marL="457200" indent="-457200" algn="l">
              <a:buFont typeface="+mj-lt"/>
              <a:buAutoNum type="arabicPeriod"/>
            </a:pPr>
            <a:endParaRPr lang="en-US" sz="2200" i="0" dirty="0">
              <a:effectLst/>
            </a:endParaRPr>
          </a:p>
          <a:p>
            <a:pPr marL="457200" indent="-457200" algn="l">
              <a:buFont typeface="+mj-lt"/>
              <a:buAutoNum type="arabicPeriod"/>
            </a:pPr>
            <a:r>
              <a:rPr lang="en-US" sz="2200" i="0" dirty="0">
                <a:effectLst/>
              </a:rPr>
              <a:t>Adaptability:</a:t>
            </a:r>
          </a:p>
          <a:p>
            <a:pPr marL="914400" lvl="1" indent="-457200">
              <a:buFont typeface="Arial" panose="020B0604020202020204" pitchFamily="34" charset="0"/>
              <a:buChar char="•"/>
            </a:pPr>
            <a:r>
              <a:rPr lang="en-US" sz="2200" i="0" dirty="0">
                <a:effectLst/>
              </a:rPr>
              <a:t>Fine-tuning facilitates adaptation to new tasks without retraining from scratch.</a:t>
            </a:r>
            <a:endParaRPr lang="en-US" sz="2200" i="0" dirty="0">
              <a:solidFill>
                <a:srgbClr val="374151"/>
              </a:solidFill>
              <a:effectLst/>
            </a:endParaRPr>
          </a:p>
        </p:txBody>
      </p:sp>
      <p:sp>
        <p:nvSpPr>
          <p:cNvPr id="6" name="Title 1">
            <a:extLst>
              <a:ext uri="{FF2B5EF4-FFF2-40B4-BE49-F238E27FC236}">
                <a16:creationId xmlns:a16="http://schemas.microsoft.com/office/drawing/2014/main" id="{212039B1-E6E7-15CD-4055-55EBDA4566B4}"/>
              </a:ext>
            </a:extLst>
          </p:cNvPr>
          <p:cNvSpPr>
            <a:spLocks noGrp="1"/>
          </p:cNvSpPr>
          <p:nvPr>
            <p:ph type="title"/>
          </p:nvPr>
        </p:nvSpPr>
        <p:spPr>
          <a:xfrm>
            <a:off x="678881" y="603665"/>
            <a:ext cx="10834234" cy="612775"/>
          </a:xfrm>
        </p:spPr>
        <p:txBody>
          <a:bodyPr/>
          <a:lstStyle/>
          <a:p>
            <a:r>
              <a:rPr lang="en-IN" dirty="0">
                <a:latin typeface="+mn-lt"/>
              </a:rPr>
              <a:t>Cont…</a:t>
            </a:r>
          </a:p>
        </p:txBody>
      </p:sp>
    </p:spTree>
    <p:extLst>
      <p:ext uri="{BB962C8B-B14F-4D97-AF65-F5344CB8AC3E}">
        <p14:creationId xmlns:p14="http://schemas.microsoft.com/office/powerpoint/2010/main" val="42909676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FD65E8A-8191-8F57-DAF1-09FDF14FDAFA}"/>
              </a:ext>
            </a:extLst>
          </p:cNvPr>
          <p:cNvSpPr txBox="1"/>
          <p:nvPr/>
        </p:nvSpPr>
        <p:spPr>
          <a:xfrm>
            <a:off x="564108" y="1384322"/>
            <a:ext cx="10949010" cy="4708981"/>
          </a:xfrm>
          <a:prstGeom prst="rect">
            <a:avLst/>
          </a:prstGeom>
          <a:noFill/>
        </p:spPr>
        <p:txBody>
          <a:bodyPr wrap="square">
            <a:spAutoFit/>
          </a:bodyPr>
          <a:lstStyle/>
          <a:p>
            <a:pPr algn="l"/>
            <a:r>
              <a:rPr lang="en-US" sz="2000" b="1" i="0" dirty="0">
                <a:effectLst/>
              </a:rPr>
              <a:t>High-Quality Data for Fine-tuning Success</a:t>
            </a:r>
          </a:p>
          <a:p>
            <a:pPr algn="l"/>
            <a:endParaRPr lang="en-US" sz="2000" b="1" i="0" dirty="0">
              <a:effectLst/>
            </a:endParaRPr>
          </a:p>
          <a:p>
            <a:pPr marL="285750" indent="-285750" algn="l">
              <a:buFont typeface="Arial" panose="020B0604020202020204" pitchFamily="34" charset="0"/>
              <a:buChar char="•"/>
            </a:pPr>
            <a:r>
              <a:rPr lang="en-US" sz="2000" b="1" i="0" dirty="0">
                <a:solidFill>
                  <a:srgbClr val="374151"/>
                </a:solidFill>
                <a:effectLst/>
              </a:rPr>
              <a:t>Fundamental Aspect:</a:t>
            </a:r>
            <a:endParaRPr lang="en-US" sz="2000" b="0" i="0" dirty="0">
              <a:solidFill>
                <a:srgbClr val="374151"/>
              </a:solidFill>
              <a:effectLst/>
            </a:endParaRPr>
          </a:p>
          <a:p>
            <a:pPr marL="742950" lvl="1" indent="-285750" algn="l">
              <a:buFont typeface="Arial" panose="020B0604020202020204" pitchFamily="34" charset="0"/>
              <a:buChar char="•"/>
            </a:pPr>
            <a:r>
              <a:rPr lang="en-US" sz="2000" b="0" i="0" dirty="0">
                <a:solidFill>
                  <a:srgbClr val="374151"/>
                </a:solidFill>
                <a:effectLst/>
              </a:rPr>
              <a:t>Success in fine-tuning relies on high-quality data, leveraging the pre-trained model's existing knowledge.</a:t>
            </a:r>
          </a:p>
          <a:p>
            <a:pPr marL="285750" indent="-285750" algn="l">
              <a:buFont typeface="Arial" panose="020B0604020202020204" pitchFamily="34" charset="0"/>
              <a:buChar char="•"/>
            </a:pPr>
            <a:r>
              <a:rPr lang="en-US" sz="2000" b="1" i="0" dirty="0">
                <a:solidFill>
                  <a:srgbClr val="374151"/>
                </a:solidFill>
                <a:effectLst/>
              </a:rPr>
              <a:t>Risk of Poor-Quality Data:</a:t>
            </a:r>
            <a:endParaRPr lang="en-US" sz="2000" b="0" i="0" dirty="0">
              <a:solidFill>
                <a:srgbClr val="374151"/>
              </a:solidFill>
              <a:effectLst/>
            </a:endParaRPr>
          </a:p>
          <a:p>
            <a:pPr marL="742950" lvl="1" indent="-285750" algn="l">
              <a:buFont typeface="Arial" panose="020B0604020202020204" pitchFamily="34" charset="0"/>
              <a:buChar char="•"/>
            </a:pPr>
            <a:r>
              <a:rPr lang="en-US" sz="2000" b="0" i="0" dirty="0">
                <a:solidFill>
                  <a:srgbClr val="374151"/>
                </a:solidFill>
                <a:effectLst/>
              </a:rPr>
              <a:t>Low-quality data can impede effective learning and hinder the model's transfer of knowledge to the new task.</a:t>
            </a:r>
          </a:p>
          <a:p>
            <a:pPr marL="285750" indent="-285750" algn="l">
              <a:buFont typeface="Arial" panose="020B0604020202020204" pitchFamily="34" charset="0"/>
              <a:buChar char="•"/>
            </a:pPr>
            <a:r>
              <a:rPr lang="en-US" sz="2000" b="1" i="0" dirty="0">
                <a:solidFill>
                  <a:srgbClr val="374151"/>
                </a:solidFill>
                <a:effectLst/>
              </a:rPr>
              <a:t>Consequences of Poor-Quality Data:</a:t>
            </a:r>
            <a:endParaRPr lang="en-US" sz="2000" b="0" i="0" dirty="0">
              <a:solidFill>
                <a:srgbClr val="374151"/>
              </a:solidFill>
              <a:effectLst/>
            </a:endParaRPr>
          </a:p>
          <a:p>
            <a:pPr marL="742950" lvl="1" indent="-285750" algn="l">
              <a:buFont typeface="Arial" panose="020B0604020202020204" pitchFamily="34" charset="0"/>
              <a:buChar char="•"/>
            </a:pPr>
            <a:r>
              <a:rPr lang="en-US" sz="2000" b="1" i="1" dirty="0">
                <a:solidFill>
                  <a:srgbClr val="374151"/>
                </a:solidFill>
                <a:effectLst/>
              </a:rPr>
              <a:t>Overfitting:</a:t>
            </a:r>
            <a:r>
              <a:rPr lang="en-US" sz="2000" b="0" i="0" dirty="0">
                <a:solidFill>
                  <a:srgbClr val="374151"/>
                </a:solidFill>
                <a:effectLst/>
              </a:rPr>
              <a:t> Model learns specific training data patterns, struggles with generalization.</a:t>
            </a:r>
          </a:p>
          <a:p>
            <a:pPr marL="742950" lvl="1" indent="-285750" algn="l">
              <a:buFont typeface="Arial" panose="020B0604020202020204" pitchFamily="34" charset="0"/>
              <a:buChar char="•"/>
            </a:pPr>
            <a:r>
              <a:rPr lang="en-US" sz="2000" b="1" i="1" dirty="0">
                <a:solidFill>
                  <a:srgbClr val="374151"/>
                </a:solidFill>
                <a:effectLst/>
              </a:rPr>
              <a:t>Underfitting:</a:t>
            </a:r>
            <a:r>
              <a:rPr lang="en-US" sz="2000" b="0" i="0" dirty="0">
                <a:solidFill>
                  <a:srgbClr val="374151"/>
                </a:solidFill>
                <a:effectLst/>
              </a:rPr>
              <a:t> Model fails to capture underlying data patterns, resulting in poor performance.</a:t>
            </a:r>
          </a:p>
          <a:p>
            <a:pPr marL="742950" lvl="1" indent="-285750" algn="l">
              <a:buFont typeface="Arial" panose="020B0604020202020204" pitchFamily="34" charset="0"/>
              <a:buChar char="•"/>
            </a:pPr>
            <a:r>
              <a:rPr lang="en-US" sz="2000" b="1" i="1" dirty="0">
                <a:solidFill>
                  <a:srgbClr val="374151"/>
                </a:solidFill>
                <a:effectLst/>
              </a:rPr>
              <a:t>Incorrect Predictions:</a:t>
            </a:r>
            <a:r>
              <a:rPr lang="en-US" sz="2000" b="1" i="0" dirty="0">
                <a:solidFill>
                  <a:srgbClr val="374151"/>
                </a:solidFill>
                <a:effectLst/>
              </a:rPr>
              <a:t> </a:t>
            </a:r>
            <a:r>
              <a:rPr lang="en-US" sz="2000" b="0" i="0" dirty="0">
                <a:solidFill>
                  <a:srgbClr val="374151"/>
                </a:solidFill>
                <a:effectLst/>
              </a:rPr>
              <a:t>Biases and errors lead to inaccurate model predictions.</a:t>
            </a:r>
          </a:p>
          <a:p>
            <a:pPr marL="285750" indent="-285750" algn="l">
              <a:buFont typeface="Arial" panose="020B0604020202020204" pitchFamily="34" charset="0"/>
              <a:buChar char="•"/>
            </a:pPr>
            <a:r>
              <a:rPr lang="en-US" sz="2000" b="1" i="0" dirty="0">
                <a:solidFill>
                  <a:srgbClr val="374151"/>
                </a:solidFill>
                <a:effectLst/>
              </a:rPr>
              <a:t>Crucial Investment:</a:t>
            </a:r>
            <a:endParaRPr lang="en-US" sz="2000" b="0" i="0" dirty="0">
              <a:solidFill>
                <a:srgbClr val="374151"/>
              </a:solidFill>
              <a:effectLst/>
            </a:endParaRPr>
          </a:p>
          <a:p>
            <a:pPr marL="742950" lvl="1" indent="-285750" algn="l">
              <a:buFont typeface="Arial" panose="020B0604020202020204" pitchFamily="34" charset="0"/>
              <a:buChar char="•"/>
            </a:pPr>
            <a:r>
              <a:rPr lang="en-US" sz="2000" b="0" i="0" dirty="0">
                <a:solidFill>
                  <a:srgbClr val="374151"/>
                </a:solidFill>
                <a:effectLst/>
              </a:rPr>
              <a:t>Investing time and effort in data preparation and pre-processing is essential for successful fine-tuning.</a:t>
            </a:r>
          </a:p>
        </p:txBody>
      </p:sp>
      <p:sp>
        <p:nvSpPr>
          <p:cNvPr id="6" name="Title 1">
            <a:extLst>
              <a:ext uri="{FF2B5EF4-FFF2-40B4-BE49-F238E27FC236}">
                <a16:creationId xmlns:a16="http://schemas.microsoft.com/office/drawing/2014/main" id="{212039B1-E6E7-15CD-4055-55EBDA4566B4}"/>
              </a:ext>
            </a:extLst>
          </p:cNvPr>
          <p:cNvSpPr>
            <a:spLocks noGrp="1"/>
          </p:cNvSpPr>
          <p:nvPr>
            <p:ph type="title"/>
          </p:nvPr>
        </p:nvSpPr>
        <p:spPr>
          <a:xfrm>
            <a:off x="678881" y="603665"/>
            <a:ext cx="10834234" cy="612775"/>
          </a:xfrm>
        </p:spPr>
        <p:txBody>
          <a:bodyPr/>
          <a:lstStyle/>
          <a:p>
            <a:r>
              <a:rPr lang="en-IN" b="1" i="0" dirty="0">
                <a:effectLst/>
                <a:latin typeface="+mn-lt"/>
              </a:rPr>
              <a:t>Dataset Preparation and Pre-processing</a:t>
            </a:r>
            <a:endParaRPr lang="en-IN" dirty="0">
              <a:latin typeface="+mn-lt"/>
            </a:endParaRPr>
          </a:p>
        </p:txBody>
      </p:sp>
    </p:spTree>
    <p:extLst>
      <p:ext uri="{BB962C8B-B14F-4D97-AF65-F5344CB8AC3E}">
        <p14:creationId xmlns:p14="http://schemas.microsoft.com/office/powerpoint/2010/main" val="21468305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FD65E8A-8191-8F57-DAF1-09FDF14FDAFA}"/>
              </a:ext>
            </a:extLst>
          </p:cNvPr>
          <p:cNvSpPr txBox="1"/>
          <p:nvPr/>
        </p:nvSpPr>
        <p:spPr>
          <a:xfrm>
            <a:off x="564108" y="1384322"/>
            <a:ext cx="10949010" cy="4832092"/>
          </a:xfrm>
          <a:prstGeom prst="rect">
            <a:avLst/>
          </a:prstGeom>
          <a:noFill/>
        </p:spPr>
        <p:txBody>
          <a:bodyPr wrap="square">
            <a:spAutoFit/>
          </a:bodyPr>
          <a:lstStyle/>
          <a:p>
            <a:pPr algn="l"/>
            <a:r>
              <a:rPr lang="en-IN" sz="2200" b="1" i="0" dirty="0">
                <a:effectLst/>
              </a:rPr>
              <a:t>Importance of Data Augmentation and Synthetic Data Generation</a:t>
            </a:r>
          </a:p>
          <a:p>
            <a:pPr algn="l"/>
            <a:endParaRPr lang="en-IN" sz="2200" b="1" i="0" dirty="0">
              <a:effectLst/>
            </a:endParaRPr>
          </a:p>
          <a:p>
            <a:pPr marL="342900" indent="-342900" algn="l">
              <a:buFont typeface="+mj-lt"/>
              <a:buAutoNum type="arabicPeriod"/>
            </a:pPr>
            <a:r>
              <a:rPr lang="en-IN" sz="2200" b="1" i="0" dirty="0">
                <a:solidFill>
                  <a:srgbClr val="374151"/>
                </a:solidFill>
                <a:effectLst/>
              </a:rPr>
              <a:t>Data Augmentation:</a:t>
            </a:r>
            <a:endParaRPr lang="en-IN" sz="2200" b="0" i="0" dirty="0">
              <a:solidFill>
                <a:srgbClr val="374151"/>
              </a:solidFill>
              <a:effectLst/>
            </a:endParaRPr>
          </a:p>
          <a:p>
            <a:pPr lvl="1"/>
            <a:r>
              <a:rPr lang="en-IN" sz="2200" b="1" i="0" dirty="0">
                <a:solidFill>
                  <a:srgbClr val="374151"/>
                </a:solidFill>
                <a:effectLst/>
              </a:rPr>
              <a:t>Definition:</a:t>
            </a:r>
            <a:endParaRPr lang="en-IN" sz="2200" dirty="0">
              <a:solidFill>
                <a:srgbClr val="374151"/>
              </a:solidFill>
            </a:endParaRPr>
          </a:p>
          <a:p>
            <a:pPr marL="742950" lvl="1" indent="-285750">
              <a:buFont typeface="Arial" panose="020B0604020202020204" pitchFamily="34" charset="0"/>
              <a:buChar char="•"/>
            </a:pPr>
            <a:r>
              <a:rPr lang="en-IN" sz="2200" b="0" i="0" dirty="0">
                <a:solidFill>
                  <a:srgbClr val="374151"/>
                </a:solidFill>
                <a:effectLst/>
              </a:rPr>
              <a:t>Increase data size and diversity by applying various transformations.</a:t>
            </a:r>
          </a:p>
          <a:p>
            <a:pPr lvl="1"/>
            <a:r>
              <a:rPr lang="en-IN" sz="2200" b="1" i="0" dirty="0">
                <a:solidFill>
                  <a:srgbClr val="374151"/>
                </a:solidFill>
                <a:effectLst/>
              </a:rPr>
              <a:t>Techniques:</a:t>
            </a:r>
            <a:endParaRPr lang="en-IN" sz="2200" dirty="0">
              <a:solidFill>
                <a:srgbClr val="374151"/>
              </a:solidFill>
            </a:endParaRPr>
          </a:p>
          <a:p>
            <a:pPr marL="742950" lvl="1" indent="-285750">
              <a:buFont typeface="Arial" panose="020B0604020202020204" pitchFamily="34" charset="0"/>
              <a:buChar char="•"/>
            </a:pPr>
            <a:r>
              <a:rPr lang="en-IN" sz="2200" b="0" i="0" dirty="0">
                <a:solidFill>
                  <a:srgbClr val="374151"/>
                </a:solidFill>
                <a:effectLst/>
              </a:rPr>
              <a:t>Image transformations (e.g., cropping, flipping) and textual transformations (e.g., synonym replacement).</a:t>
            </a:r>
          </a:p>
          <a:p>
            <a:pPr lvl="2"/>
            <a:endParaRPr lang="en-IN" sz="2200" b="0" i="0" dirty="0">
              <a:solidFill>
                <a:srgbClr val="374151"/>
              </a:solidFill>
              <a:effectLst/>
            </a:endParaRPr>
          </a:p>
          <a:p>
            <a:pPr marL="342900" indent="-342900" algn="l">
              <a:buFont typeface="+mj-lt"/>
              <a:buAutoNum type="arabicPeriod"/>
            </a:pPr>
            <a:r>
              <a:rPr lang="en-IN" sz="2200" b="1" i="0" dirty="0">
                <a:solidFill>
                  <a:srgbClr val="374151"/>
                </a:solidFill>
                <a:effectLst/>
              </a:rPr>
              <a:t>Synthetic Data Generation:</a:t>
            </a:r>
            <a:endParaRPr lang="en-IN" sz="2200" b="0" i="0" dirty="0">
              <a:solidFill>
                <a:srgbClr val="374151"/>
              </a:solidFill>
              <a:effectLst/>
            </a:endParaRPr>
          </a:p>
          <a:p>
            <a:pPr lvl="1"/>
            <a:r>
              <a:rPr lang="en-IN" sz="2200" b="1" i="0" dirty="0">
                <a:solidFill>
                  <a:srgbClr val="374151"/>
                </a:solidFill>
                <a:effectLst/>
              </a:rPr>
              <a:t>Definition:</a:t>
            </a:r>
            <a:endParaRPr lang="en-IN" sz="2200" dirty="0">
              <a:solidFill>
                <a:srgbClr val="374151"/>
              </a:solidFill>
            </a:endParaRPr>
          </a:p>
          <a:p>
            <a:pPr marL="742950" lvl="1" indent="-285750">
              <a:buFont typeface="Arial" panose="020B0604020202020204" pitchFamily="34" charset="0"/>
              <a:buChar char="•"/>
            </a:pPr>
            <a:r>
              <a:rPr lang="en-IN" sz="2200" b="0" i="0" dirty="0">
                <a:solidFill>
                  <a:srgbClr val="374151"/>
                </a:solidFill>
                <a:effectLst/>
              </a:rPr>
              <a:t>Create new, similar data points not existing in reality.</a:t>
            </a:r>
          </a:p>
          <a:p>
            <a:pPr lvl="1"/>
            <a:r>
              <a:rPr lang="en-IN" sz="2200" b="1" i="0" dirty="0">
                <a:solidFill>
                  <a:srgbClr val="374151"/>
                </a:solidFill>
                <a:effectLst/>
              </a:rPr>
              <a:t>Techniques:</a:t>
            </a:r>
            <a:endParaRPr lang="en-IN" sz="2200" dirty="0">
              <a:solidFill>
                <a:srgbClr val="374151"/>
              </a:solidFill>
            </a:endParaRPr>
          </a:p>
          <a:p>
            <a:pPr marL="742950" lvl="1" indent="-285750">
              <a:buFont typeface="Arial" panose="020B0604020202020204" pitchFamily="34" charset="0"/>
              <a:buChar char="•"/>
            </a:pPr>
            <a:r>
              <a:rPr lang="en-IN" sz="2200" b="0" i="0" dirty="0">
                <a:solidFill>
                  <a:srgbClr val="374151"/>
                </a:solidFill>
                <a:effectLst/>
              </a:rPr>
              <a:t>Generative Adversarial Networks (GANs) and Variational Autoencoders (VAEs).</a:t>
            </a:r>
          </a:p>
        </p:txBody>
      </p:sp>
      <p:sp>
        <p:nvSpPr>
          <p:cNvPr id="6" name="Title 1">
            <a:extLst>
              <a:ext uri="{FF2B5EF4-FFF2-40B4-BE49-F238E27FC236}">
                <a16:creationId xmlns:a16="http://schemas.microsoft.com/office/drawing/2014/main" id="{212039B1-E6E7-15CD-4055-55EBDA4566B4}"/>
              </a:ext>
            </a:extLst>
          </p:cNvPr>
          <p:cNvSpPr>
            <a:spLocks noGrp="1"/>
          </p:cNvSpPr>
          <p:nvPr>
            <p:ph type="title"/>
          </p:nvPr>
        </p:nvSpPr>
        <p:spPr>
          <a:xfrm>
            <a:off x="678881" y="603665"/>
            <a:ext cx="10834234" cy="612775"/>
          </a:xfrm>
        </p:spPr>
        <p:txBody>
          <a:bodyPr/>
          <a:lstStyle/>
          <a:p>
            <a:r>
              <a:rPr lang="en-IN" dirty="0">
                <a:latin typeface="+mn-lt"/>
              </a:rPr>
              <a:t>Cont…</a:t>
            </a:r>
          </a:p>
        </p:txBody>
      </p:sp>
    </p:spTree>
    <p:extLst>
      <p:ext uri="{BB962C8B-B14F-4D97-AF65-F5344CB8AC3E}">
        <p14:creationId xmlns:p14="http://schemas.microsoft.com/office/powerpoint/2010/main" val="10949821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FD65E8A-8191-8F57-DAF1-09FDF14FDAFA}"/>
              </a:ext>
            </a:extLst>
          </p:cNvPr>
          <p:cNvSpPr txBox="1"/>
          <p:nvPr/>
        </p:nvSpPr>
        <p:spPr>
          <a:xfrm>
            <a:off x="564108" y="1384322"/>
            <a:ext cx="10949010" cy="3508653"/>
          </a:xfrm>
          <a:prstGeom prst="rect">
            <a:avLst/>
          </a:prstGeom>
          <a:noFill/>
        </p:spPr>
        <p:txBody>
          <a:bodyPr wrap="square">
            <a:spAutoFit/>
          </a:bodyPr>
          <a:lstStyle/>
          <a:p>
            <a:pPr algn="l"/>
            <a:r>
              <a:rPr lang="en-IN" sz="2200" b="1" i="0" dirty="0">
                <a:effectLst/>
              </a:rPr>
              <a:t>Data Pre-processing Techniques</a:t>
            </a:r>
          </a:p>
          <a:p>
            <a:pPr algn="l"/>
            <a:endParaRPr lang="en-IN" sz="2000" b="1" i="0" dirty="0">
              <a:effectLst/>
            </a:endParaRPr>
          </a:p>
          <a:p>
            <a:pPr marL="342900" indent="-342900" algn="l">
              <a:buFont typeface="Arial" panose="020B0604020202020204" pitchFamily="34" charset="0"/>
              <a:buChar char="•"/>
            </a:pPr>
            <a:r>
              <a:rPr lang="en-IN" sz="2000" b="1" i="0" dirty="0">
                <a:solidFill>
                  <a:srgbClr val="374151"/>
                </a:solidFill>
                <a:effectLst/>
              </a:rPr>
              <a:t>Definition:</a:t>
            </a:r>
            <a:endParaRPr lang="en-IN" sz="2000" b="0" i="0" dirty="0">
              <a:solidFill>
                <a:srgbClr val="374151"/>
              </a:solidFill>
              <a:effectLst/>
            </a:endParaRPr>
          </a:p>
          <a:p>
            <a:pPr marL="800100" lvl="1" indent="-342900" algn="l">
              <a:buFont typeface="Arial" panose="020B0604020202020204" pitchFamily="34" charset="0"/>
              <a:buChar char="•"/>
            </a:pPr>
            <a:r>
              <a:rPr lang="en-IN" sz="2000" b="0" i="0" dirty="0">
                <a:solidFill>
                  <a:srgbClr val="374151"/>
                </a:solidFill>
                <a:effectLst/>
              </a:rPr>
              <a:t>Transforming raw data into a format suitable for machine learning algorithms.</a:t>
            </a:r>
          </a:p>
          <a:p>
            <a:pPr lvl="1" algn="l"/>
            <a:endParaRPr lang="en-IN" sz="2000" b="0" i="0" dirty="0">
              <a:solidFill>
                <a:srgbClr val="374151"/>
              </a:solidFill>
              <a:effectLst/>
            </a:endParaRPr>
          </a:p>
          <a:p>
            <a:pPr marL="342900" indent="-342900" algn="l">
              <a:buFont typeface="Arial" panose="020B0604020202020204" pitchFamily="34" charset="0"/>
              <a:buChar char="•"/>
            </a:pPr>
            <a:r>
              <a:rPr lang="en-IN" sz="2000" b="1" i="0" dirty="0">
                <a:solidFill>
                  <a:srgbClr val="374151"/>
                </a:solidFill>
                <a:effectLst/>
              </a:rPr>
              <a:t>Essential Techniques:</a:t>
            </a:r>
            <a:endParaRPr lang="en-IN" sz="2000" b="0" i="0" dirty="0">
              <a:solidFill>
                <a:srgbClr val="374151"/>
              </a:solidFill>
              <a:effectLst/>
            </a:endParaRPr>
          </a:p>
          <a:p>
            <a:pPr marL="800100" lvl="1" indent="-342900" algn="l">
              <a:buFont typeface="Arial" panose="020B0604020202020204" pitchFamily="34" charset="0"/>
              <a:buChar char="•"/>
            </a:pPr>
            <a:r>
              <a:rPr lang="en-IN" sz="2000" b="1" i="1" dirty="0">
                <a:solidFill>
                  <a:srgbClr val="374151"/>
                </a:solidFill>
                <a:effectLst/>
              </a:rPr>
              <a:t>Filtering</a:t>
            </a:r>
            <a:r>
              <a:rPr lang="en-IN" sz="2000" b="0" i="1" dirty="0">
                <a:solidFill>
                  <a:srgbClr val="374151"/>
                </a:solidFill>
                <a:effectLst/>
              </a:rPr>
              <a:t>:</a:t>
            </a:r>
            <a:r>
              <a:rPr lang="en-IN" sz="2000" b="0" i="0" dirty="0">
                <a:solidFill>
                  <a:srgbClr val="374151"/>
                </a:solidFill>
                <a:effectLst/>
              </a:rPr>
              <a:t> Remove outliers, irrelevant data, and duplicates.</a:t>
            </a:r>
          </a:p>
          <a:p>
            <a:pPr marL="800100" lvl="1" indent="-342900" algn="l">
              <a:buFont typeface="Arial" panose="020B0604020202020204" pitchFamily="34" charset="0"/>
              <a:buChar char="•"/>
            </a:pPr>
            <a:r>
              <a:rPr lang="en-IN" sz="2000" b="1" i="1" dirty="0">
                <a:solidFill>
                  <a:srgbClr val="374151"/>
                </a:solidFill>
                <a:effectLst/>
              </a:rPr>
              <a:t>Cleaning</a:t>
            </a:r>
            <a:r>
              <a:rPr lang="en-IN" sz="2000" b="0" i="1" dirty="0">
                <a:solidFill>
                  <a:srgbClr val="374151"/>
                </a:solidFill>
                <a:effectLst/>
              </a:rPr>
              <a:t>:</a:t>
            </a:r>
            <a:r>
              <a:rPr lang="en-IN" sz="2000" b="0" i="0" dirty="0">
                <a:solidFill>
                  <a:srgbClr val="374151"/>
                </a:solidFill>
                <a:effectLst/>
              </a:rPr>
              <a:t> Correct errors, inconsistencies, and missing values.</a:t>
            </a:r>
          </a:p>
          <a:p>
            <a:pPr marL="800100" lvl="1" indent="-342900" algn="l">
              <a:buFont typeface="Arial" panose="020B0604020202020204" pitchFamily="34" charset="0"/>
              <a:buChar char="•"/>
            </a:pPr>
            <a:r>
              <a:rPr lang="en-IN" sz="2000" b="1" i="1" dirty="0">
                <a:solidFill>
                  <a:srgbClr val="374151"/>
                </a:solidFill>
                <a:effectLst/>
              </a:rPr>
              <a:t>Normalization</a:t>
            </a:r>
            <a:r>
              <a:rPr lang="en-IN" sz="2000" b="0" i="1" dirty="0">
                <a:solidFill>
                  <a:srgbClr val="374151"/>
                </a:solidFill>
                <a:effectLst/>
              </a:rPr>
              <a:t>:</a:t>
            </a:r>
            <a:r>
              <a:rPr lang="en-IN" sz="2000" b="0" i="0" dirty="0">
                <a:solidFill>
                  <a:srgbClr val="374151"/>
                </a:solidFill>
                <a:effectLst/>
              </a:rPr>
              <a:t> Scale features to ensure equal influence.</a:t>
            </a:r>
          </a:p>
          <a:p>
            <a:pPr marL="800100" lvl="1" indent="-342900" algn="l">
              <a:buFont typeface="Arial" panose="020B0604020202020204" pitchFamily="34" charset="0"/>
              <a:buChar char="•"/>
            </a:pPr>
            <a:r>
              <a:rPr lang="en-IN" sz="2000" b="1" i="1" dirty="0">
                <a:solidFill>
                  <a:srgbClr val="374151"/>
                </a:solidFill>
                <a:effectLst/>
              </a:rPr>
              <a:t>Feature Engineering:</a:t>
            </a:r>
            <a:r>
              <a:rPr lang="en-IN" sz="2000" b="1" i="0" dirty="0">
                <a:solidFill>
                  <a:srgbClr val="374151"/>
                </a:solidFill>
                <a:effectLst/>
              </a:rPr>
              <a:t> </a:t>
            </a:r>
            <a:r>
              <a:rPr lang="en-IN" sz="2000" b="0" i="0" dirty="0">
                <a:solidFill>
                  <a:srgbClr val="374151"/>
                </a:solidFill>
                <a:effectLst/>
              </a:rPr>
              <a:t>Create new features for more meaningful information.</a:t>
            </a:r>
          </a:p>
          <a:p>
            <a:pPr marL="800100" lvl="1" indent="-342900" algn="l">
              <a:buFont typeface="Arial" panose="020B0604020202020204" pitchFamily="34" charset="0"/>
              <a:buChar char="•"/>
            </a:pPr>
            <a:r>
              <a:rPr lang="en-IN" sz="2000" b="1" i="1" dirty="0">
                <a:solidFill>
                  <a:srgbClr val="374151"/>
                </a:solidFill>
                <a:effectLst/>
              </a:rPr>
              <a:t>Encoding</a:t>
            </a:r>
            <a:r>
              <a:rPr lang="en-IN" sz="2000" b="0" i="1" dirty="0">
                <a:solidFill>
                  <a:srgbClr val="374151"/>
                </a:solidFill>
                <a:effectLst/>
              </a:rPr>
              <a:t>:</a:t>
            </a:r>
            <a:r>
              <a:rPr lang="en-IN" sz="2000" b="0" i="0" dirty="0">
                <a:solidFill>
                  <a:srgbClr val="374151"/>
                </a:solidFill>
                <a:effectLst/>
              </a:rPr>
              <a:t> Transform categorical features into numerical values.</a:t>
            </a:r>
          </a:p>
        </p:txBody>
      </p:sp>
      <p:sp>
        <p:nvSpPr>
          <p:cNvPr id="6" name="Title 1">
            <a:extLst>
              <a:ext uri="{FF2B5EF4-FFF2-40B4-BE49-F238E27FC236}">
                <a16:creationId xmlns:a16="http://schemas.microsoft.com/office/drawing/2014/main" id="{212039B1-E6E7-15CD-4055-55EBDA4566B4}"/>
              </a:ext>
            </a:extLst>
          </p:cNvPr>
          <p:cNvSpPr>
            <a:spLocks noGrp="1"/>
          </p:cNvSpPr>
          <p:nvPr>
            <p:ph type="title"/>
          </p:nvPr>
        </p:nvSpPr>
        <p:spPr>
          <a:xfrm>
            <a:off x="678881" y="603665"/>
            <a:ext cx="10834234" cy="612775"/>
          </a:xfrm>
        </p:spPr>
        <p:txBody>
          <a:bodyPr/>
          <a:lstStyle/>
          <a:p>
            <a:r>
              <a:rPr lang="en-IN" dirty="0">
                <a:latin typeface="+mn-lt"/>
              </a:rPr>
              <a:t>Cont…</a:t>
            </a:r>
          </a:p>
        </p:txBody>
      </p:sp>
    </p:spTree>
    <p:extLst>
      <p:ext uri="{BB962C8B-B14F-4D97-AF65-F5344CB8AC3E}">
        <p14:creationId xmlns:p14="http://schemas.microsoft.com/office/powerpoint/2010/main" val="26079014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FD65E8A-8191-8F57-DAF1-09FDF14FDAFA}"/>
              </a:ext>
            </a:extLst>
          </p:cNvPr>
          <p:cNvSpPr txBox="1"/>
          <p:nvPr/>
        </p:nvSpPr>
        <p:spPr>
          <a:xfrm>
            <a:off x="564108" y="1384322"/>
            <a:ext cx="10949010" cy="4154984"/>
          </a:xfrm>
          <a:prstGeom prst="rect">
            <a:avLst/>
          </a:prstGeom>
          <a:noFill/>
        </p:spPr>
        <p:txBody>
          <a:bodyPr wrap="square">
            <a:spAutoFit/>
          </a:bodyPr>
          <a:lstStyle/>
          <a:p>
            <a:pPr algn="l"/>
            <a:r>
              <a:rPr lang="en-IN" sz="2200" b="1" i="0" dirty="0">
                <a:effectLst/>
              </a:rPr>
              <a:t>Enhancing Model Performance through Augmentation and Synthesis</a:t>
            </a:r>
          </a:p>
          <a:p>
            <a:pPr algn="l"/>
            <a:endParaRPr lang="en-IN" sz="2200" b="1" i="0" dirty="0">
              <a:effectLst/>
            </a:endParaRPr>
          </a:p>
          <a:p>
            <a:pPr algn="l"/>
            <a:r>
              <a:rPr lang="en-IN" sz="2200" b="1" i="0" dirty="0">
                <a:solidFill>
                  <a:srgbClr val="374151"/>
                </a:solidFill>
                <a:effectLst/>
              </a:rPr>
              <a:t>Generalization Improvement:</a:t>
            </a:r>
            <a:endParaRPr lang="en-IN" sz="2200" b="0" i="0" dirty="0">
              <a:solidFill>
                <a:srgbClr val="374151"/>
              </a:solidFill>
              <a:effectLst/>
            </a:endParaRPr>
          </a:p>
          <a:p>
            <a:pPr marL="742950" lvl="1" indent="-285750" algn="l">
              <a:buFont typeface="Arial" panose="020B0604020202020204" pitchFamily="34" charset="0"/>
              <a:buChar char="•"/>
            </a:pPr>
            <a:r>
              <a:rPr lang="en-IN" sz="2200" b="0" i="0" dirty="0">
                <a:solidFill>
                  <a:srgbClr val="374151"/>
                </a:solidFill>
                <a:effectLst/>
              </a:rPr>
              <a:t>Augmentation and synthesis expose models to diverse variations, improving their ability to generalize.</a:t>
            </a:r>
          </a:p>
          <a:p>
            <a:pPr marL="742950" lvl="1" indent="-285750" algn="l">
              <a:buFont typeface="Arial" panose="020B0604020202020204" pitchFamily="34" charset="0"/>
              <a:buChar char="•"/>
            </a:pPr>
            <a:endParaRPr lang="en-IN" sz="2200" b="0" i="0" dirty="0">
              <a:solidFill>
                <a:srgbClr val="374151"/>
              </a:solidFill>
              <a:effectLst/>
            </a:endParaRPr>
          </a:p>
          <a:p>
            <a:pPr algn="l"/>
            <a:r>
              <a:rPr lang="en-IN" sz="2200" b="1" i="0" dirty="0">
                <a:solidFill>
                  <a:srgbClr val="374151"/>
                </a:solidFill>
                <a:effectLst/>
              </a:rPr>
              <a:t>Data Augmentation Techniques:</a:t>
            </a:r>
            <a:endParaRPr lang="en-IN" sz="2200" b="0" i="0" dirty="0">
              <a:solidFill>
                <a:srgbClr val="374151"/>
              </a:solidFill>
              <a:effectLst/>
            </a:endParaRPr>
          </a:p>
          <a:p>
            <a:pPr marL="742950" lvl="1" indent="-285750" algn="l">
              <a:buFont typeface="Arial" panose="020B0604020202020204" pitchFamily="34" charset="0"/>
              <a:buChar char="•"/>
            </a:pPr>
            <a:r>
              <a:rPr lang="en-IN" sz="2200" b="0" i="0" dirty="0">
                <a:solidFill>
                  <a:srgbClr val="374151"/>
                </a:solidFill>
                <a:effectLst/>
              </a:rPr>
              <a:t>Image transformations, textual transformations.</a:t>
            </a:r>
          </a:p>
          <a:p>
            <a:pPr marL="742950" lvl="1" indent="-285750" algn="l">
              <a:buFont typeface="Arial" panose="020B0604020202020204" pitchFamily="34" charset="0"/>
              <a:buChar char="•"/>
            </a:pPr>
            <a:endParaRPr lang="en-IN" sz="2200" b="0" i="0" dirty="0">
              <a:solidFill>
                <a:srgbClr val="374151"/>
              </a:solidFill>
              <a:effectLst/>
            </a:endParaRPr>
          </a:p>
          <a:p>
            <a:pPr algn="l"/>
            <a:r>
              <a:rPr lang="en-IN" sz="2200" b="1" i="0" dirty="0">
                <a:solidFill>
                  <a:srgbClr val="374151"/>
                </a:solidFill>
                <a:effectLst/>
              </a:rPr>
              <a:t>Synthetic Data Generation Techniques:</a:t>
            </a:r>
            <a:endParaRPr lang="en-IN" sz="2200" b="0" i="0" dirty="0">
              <a:solidFill>
                <a:srgbClr val="374151"/>
              </a:solidFill>
              <a:effectLst/>
            </a:endParaRPr>
          </a:p>
          <a:p>
            <a:pPr marL="742950" lvl="1" indent="-285750" algn="l">
              <a:buFont typeface="Arial" panose="020B0604020202020204" pitchFamily="34" charset="0"/>
              <a:buChar char="•"/>
            </a:pPr>
            <a:r>
              <a:rPr lang="en-IN" sz="2200" b="0" i="0" dirty="0">
                <a:solidFill>
                  <a:srgbClr val="374151"/>
                </a:solidFill>
                <a:effectLst/>
              </a:rPr>
              <a:t>GANs create synthetic data by generating and distinguishing from real data.</a:t>
            </a:r>
          </a:p>
          <a:p>
            <a:pPr marL="742950" lvl="1" indent="-285750" algn="l">
              <a:buFont typeface="Arial" panose="020B0604020202020204" pitchFamily="34" charset="0"/>
              <a:buChar char="•"/>
            </a:pPr>
            <a:r>
              <a:rPr lang="en-IN" sz="2200" b="0" i="0" dirty="0">
                <a:solidFill>
                  <a:srgbClr val="374151"/>
                </a:solidFill>
                <a:effectLst/>
              </a:rPr>
              <a:t>VAEs compress data into a latent space for generating new data points.</a:t>
            </a:r>
          </a:p>
        </p:txBody>
      </p:sp>
      <p:sp>
        <p:nvSpPr>
          <p:cNvPr id="6" name="Title 1">
            <a:extLst>
              <a:ext uri="{FF2B5EF4-FFF2-40B4-BE49-F238E27FC236}">
                <a16:creationId xmlns:a16="http://schemas.microsoft.com/office/drawing/2014/main" id="{212039B1-E6E7-15CD-4055-55EBDA4566B4}"/>
              </a:ext>
            </a:extLst>
          </p:cNvPr>
          <p:cNvSpPr>
            <a:spLocks noGrp="1"/>
          </p:cNvSpPr>
          <p:nvPr>
            <p:ph type="title"/>
          </p:nvPr>
        </p:nvSpPr>
        <p:spPr>
          <a:xfrm>
            <a:off x="678881" y="603665"/>
            <a:ext cx="10834234" cy="612775"/>
          </a:xfrm>
        </p:spPr>
        <p:txBody>
          <a:bodyPr/>
          <a:lstStyle/>
          <a:p>
            <a:r>
              <a:rPr lang="en-IN" dirty="0">
                <a:latin typeface="+mn-lt"/>
              </a:rPr>
              <a:t>Cont…</a:t>
            </a:r>
          </a:p>
        </p:txBody>
      </p:sp>
    </p:spTree>
    <p:extLst>
      <p:ext uri="{BB962C8B-B14F-4D97-AF65-F5344CB8AC3E}">
        <p14:creationId xmlns:p14="http://schemas.microsoft.com/office/powerpoint/2010/main" val="30938390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FD65E8A-8191-8F57-DAF1-09FDF14FDAFA}"/>
              </a:ext>
            </a:extLst>
          </p:cNvPr>
          <p:cNvSpPr txBox="1"/>
          <p:nvPr/>
        </p:nvSpPr>
        <p:spPr>
          <a:xfrm>
            <a:off x="564108" y="1384322"/>
            <a:ext cx="10949010" cy="4816703"/>
          </a:xfrm>
          <a:prstGeom prst="rect">
            <a:avLst/>
          </a:prstGeom>
          <a:noFill/>
        </p:spPr>
        <p:txBody>
          <a:bodyPr wrap="square">
            <a:spAutoFit/>
          </a:bodyPr>
          <a:lstStyle/>
          <a:p>
            <a:pPr algn="l"/>
            <a:r>
              <a:rPr lang="en-US" sz="2200" b="1" i="0" dirty="0">
                <a:effectLst/>
              </a:rPr>
              <a:t>Key Hyperparameters for Fine-tuning</a:t>
            </a:r>
          </a:p>
          <a:p>
            <a:pPr algn="l"/>
            <a:endParaRPr lang="en-US" sz="1900" b="1" i="0" dirty="0">
              <a:effectLst/>
            </a:endParaRPr>
          </a:p>
          <a:p>
            <a:pPr marL="457200" indent="-457200" algn="l">
              <a:buFont typeface="+mj-lt"/>
              <a:buAutoNum type="arabicPeriod"/>
            </a:pPr>
            <a:r>
              <a:rPr lang="en-US" sz="1900" b="1" i="0" dirty="0">
                <a:solidFill>
                  <a:srgbClr val="374151"/>
                </a:solidFill>
                <a:effectLst/>
              </a:rPr>
              <a:t>Learning Rate:</a:t>
            </a:r>
            <a:endParaRPr lang="en-US" sz="1900" b="0" i="0" dirty="0">
              <a:solidFill>
                <a:srgbClr val="374151"/>
              </a:solidFill>
              <a:effectLst/>
            </a:endParaRPr>
          </a:p>
          <a:p>
            <a:pPr marL="742950" lvl="1" indent="-285750" algn="l">
              <a:buFont typeface="Arial" panose="020B0604020202020204" pitchFamily="34" charset="0"/>
              <a:buChar char="•"/>
            </a:pPr>
            <a:r>
              <a:rPr lang="en-US" sz="1900" b="0" i="0" dirty="0">
                <a:solidFill>
                  <a:srgbClr val="374151"/>
                </a:solidFill>
                <a:effectLst/>
              </a:rPr>
              <a:t>Controls speed of weight updates. High rates for fast training, but risk of instability and overfitting.</a:t>
            </a:r>
          </a:p>
          <a:p>
            <a:pPr marL="457200" indent="-457200" algn="l">
              <a:buFont typeface="+mj-lt"/>
              <a:buAutoNum type="arabicPeriod"/>
            </a:pPr>
            <a:r>
              <a:rPr lang="en-US" sz="1900" b="1" i="0" dirty="0">
                <a:solidFill>
                  <a:srgbClr val="374151"/>
                </a:solidFill>
                <a:effectLst/>
              </a:rPr>
              <a:t>Batch Size:</a:t>
            </a:r>
            <a:endParaRPr lang="en-US" sz="1900" b="0" i="0" dirty="0">
              <a:solidFill>
                <a:srgbClr val="374151"/>
              </a:solidFill>
              <a:effectLst/>
            </a:endParaRPr>
          </a:p>
          <a:p>
            <a:pPr marL="742950" lvl="1" indent="-285750" algn="l">
              <a:buFont typeface="Arial" panose="020B0604020202020204" pitchFamily="34" charset="0"/>
              <a:buChar char="•"/>
            </a:pPr>
            <a:r>
              <a:rPr lang="en-US" sz="1900" b="0" i="0" dirty="0">
                <a:solidFill>
                  <a:srgbClr val="374151"/>
                </a:solidFill>
                <a:effectLst/>
              </a:rPr>
              <a:t>Number of data points for weight updates. Larger batches enhance efficiency, but potential for underfitting.</a:t>
            </a:r>
          </a:p>
          <a:p>
            <a:pPr marL="457200" indent="-457200" algn="l">
              <a:buFont typeface="+mj-lt"/>
              <a:buAutoNum type="arabicPeriod"/>
            </a:pPr>
            <a:r>
              <a:rPr lang="en-US" sz="1900" b="1" i="0" dirty="0">
                <a:solidFill>
                  <a:srgbClr val="374151"/>
                </a:solidFill>
                <a:effectLst/>
              </a:rPr>
              <a:t>Optimizer:</a:t>
            </a:r>
            <a:endParaRPr lang="en-US" sz="1900" b="0" i="0" dirty="0">
              <a:solidFill>
                <a:srgbClr val="374151"/>
              </a:solidFill>
              <a:effectLst/>
            </a:endParaRPr>
          </a:p>
          <a:p>
            <a:pPr marL="742950" lvl="1" indent="-285750" algn="l">
              <a:buFont typeface="Arial" panose="020B0604020202020204" pitchFamily="34" charset="0"/>
              <a:buChar char="•"/>
            </a:pPr>
            <a:r>
              <a:rPr lang="en-US" sz="1900" b="0" i="0" dirty="0">
                <a:solidFill>
                  <a:srgbClr val="374151"/>
                </a:solidFill>
                <a:effectLst/>
              </a:rPr>
              <a:t>Algorithm updating model weights. Examples: Adam, SGD, RMSprop, each with unique characteristics.</a:t>
            </a:r>
          </a:p>
          <a:p>
            <a:pPr marL="457200" indent="-457200" algn="l">
              <a:buFont typeface="+mj-lt"/>
              <a:buAutoNum type="arabicPeriod"/>
            </a:pPr>
            <a:r>
              <a:rPr lang="en-US" sz="1900" b="1" i="0" dirty="0">
                <a:solidFill>
                  <a:srgbClr val="374151"/>
                </a:solidFill>
                <a:effectLst/>
              </a:rPr>
              <a:t>Warm-up Steps:</a:t>
            </a:r>
            <a:endParaRPr lang="en-US" sz="1900" b="0" i="0" dirty="0">
              <a:solidFill>
                <a:srgbClr val="374151"/>
              </a:solidFill>
              <a:effectLst/>
            </a:endParaRPr>
          </a:p>
          <a:p>
            <a:pPr marL="742950" lvl="1" indent="-285750" algn="l">
              <a:buFont typeface="Arial" panose="020B0604020202020204" pitchFamily="34" charset="0"/>
              <a:buChar char="•"/>
            </a:pPr>
            <a:r>
              <a:rPr lang="en-US" sz="1900" b="0" i="0" dirty="0">
                <a:solidFill>
                  <a:srgbClr val="374151"/>
                </a:solidFill>
                <a:effectLst/>
              </a:rPr>
              <a:t>Gradual learning rate increase from small initial value. Mitigates instability at training onset.</a:t>
            </a:r>
          </a:p>
          <a:p>
            <a:pPr marL="457200" indent="-457200" algn="l">
              <a:buFont typeface="+mj-lt"/>
              <a:buAutoNum type="arabicPeriod"/>
            </a:pPr>
            <a:r>
              <a:rPr lang="en-US" sz="1900" b="1" i="0" dirty="0">
                <a:solidFill>
                  <a:srgbClr val="374151"/>
                </a:solidFill>
                <a:effectLst/>
              </a:rPr>
              <a:t>Number of Epochs:</a:t>
            </a:r>
            <a:endParaRPr lang="en-US" sz="1900" b="0" i="0" dirty="0">
              <a:solidFill>
                <a:srgbClr val="374151"/>
              </a:solidFill>
              <a:effectLst/>
            </a:endParaRPr>
          </a:p>
          <a:p>
            <a:pPr marL="742950" lvl="1" indent="-285750" algn="l">
              <a:buFont typeface="Arial" panose="020B0604020202020204" pitchFamily="34" charset="0"/>
              <a:buChar char="•"/>
            </a:pPr>
            <a:r>
              <a:rPr lang="en-US" sz="1900" b="0" i="0" dirty="0">
                <a:solidFill>
                  <a:srgbClr val="374151"/>
                </a:solidFill>
                <a:effectLst/>
              </a:rPr>
              <a:t>Determines training iterations through entire dataset.</a:t>
            </a:r>
          </a:p>
          <a:p>
            <a:pPr marL="457200" indent="-457200" algn="l">
              <a:buFont typeface="+mj-lt"/>
              <a:buAutoNum type="arabicPeriod"/>
            </a:pPr>
            <a:r>
              <a:rPr lang="en-US" sz="1900" b="1" i="0" dirty="0">
                <a:solidFill>
                  <a:srgbClr val="374151"/>
                </a:solidFill>
                <a:effectLst/>
              </a:rPr>
              <a:t>Fine-tuning Layers:</a:t>
            </a:r>
            <a:endParaRPr lang="en-US" sz="1900" b="0" i="0" dirty="0">
              <a:solidFill>
                <a:srgbClr val="374151"/>
              </a:solidFill>
              <a:effectLst/>
            </a:endParaRPr>
          </a:p>
          <a:p>
            <a:pPr marL="742950" lvl="1" indent="-285750" algn="l">
              <a:buFont typeface="Arial" panose="020B0604020202020204" pitchFamily="34" charset="0"/>
              <a:buChar char="•"/>
            </a:pPr>
            <a:r>
              <a:rPr lang="en-US" sz="1900" b="0" i="0" dirty="0">
                <a:solidFill>
                  <a:srgbClr val="374151"/>
                </a:solidFill>
                <a:effectLst/>
              </a:rPr>
              <a:t>Specifies layers to fine-tune in pre-trained model. Balancing act to avoid overfitting or limiting adaptation</a:t>
            </a:r>
            <a:r>
              <a:rPr lang="en-US" b="0" i="0" dirty="0">
                <a:solidFill>
                  <a:srgbClr val="374151"/>
                </a:solidFill>
                <a:effectLst/>
              </a:rPr>
              <a:t>.</a:t>
            </a:r>
          </a:p>
        </p:txBody>
      </p:sp>
      <p:sp>
        <p:nvSpPr>
          <p:cNvPr id="6" name="Title 1">
            <a:extLst>
              <a:ext uri="{FF2B5EF4-FFF2-40B4-BE49-F238E27FC236}">
                <a16:creationId xmlns:a16="http://schemas.microsoft.com/office/drawing/2014/main" id="{212039B1-E6E7-15CD-4055-55EBDA4566B4}"/>
              </a:ext>
            </a:extLst>
          </p:cNvPr>
          <p:cNvSpPr>
            <a:spLocks noGrp="1"/>
          </p:cNvSpPr>
          <p:nvPr>
            <p:ph type="title"/>
          </p:nvPr>
        </p:nvSpPr>
        <p:spPr>
          <a:xfrm>
            <a:off x="678881" y="603665"/>
            <a:ext cx="10834234" cy="612775"/>
          </a:xfrm>
        </p:spPr>
        <p:txBody>
          <a:bodyPr/>
          <a:lstStyle/>
          <a:p>
            <a:r>
              <a:rPr lang="en-IN" b="1" i="0" dirty="0">
                <a:effectLst/>
                <a:latin typeface="+mn-lt"/>
              </a:rPr>
              <a:t>Fine-tuning Hyperparameter Optimization</a:t>
            </a:r>
            <a:endParaRPr lang="en-IN" dirty="0">
              <a:latin typeface="+mn-lt"/>
            </a:endParaRPr>
          </a:p>
        </p:txBody>
      </p:sp>
    </p:spTree>
    <p:extLst>
      <p:ext uri="{BB962C8B-B14F-4D97-AF65-F5344CB8AC3E}">
        <p14:creationId xmlns:p14="http://schemas.microsoft.com/office/powerpoint/2010/main" val="1463979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FD65E8A-8191-8F57-DAF1-09FDF14FDAFA}"/>
              </a:ext>
            </a:extLst>
          </p:cNvPr>
          <p:cNvSpPr txBox="1"/>
          <p:nvPr/>
        </p:nvSpPr>
        <p:spPr>
          <a:xfrm>
            <a:off x="564108" y="1384322"/>
            <a:ext cx="10949010" cy="4401205"/>
          </a:xfrm>
          <a:prstGeom prst="rect">
            <a:avLst/>
          </a:prstGeom>
          <a:noFill/>
        </p:spPr>
        <p:txBody>
          <a:bodyPr wrap="square">
            <a:spAutoFit/>
          </a:bodyPr>
          <a:lstStyle/>
          <a:p>
            <a:pPr algn="l"/>
            <a:r>
              <a:rPr lang="en-IN" sz="2200" b="1" i="0" dirty="0">
                <a:effectLst/>
                <a:latin typeface="Calibri "/>
              </a:rPr>
              <a:t>Hyperparameter Optimization Techniques</a:t>
            </a:r>
          </a:p>
          <a:p>
            <a:pPr algn="l"/>
            <a:endParaRPr lang="en-IN" sz="2000" b="1" i="0" dirty="0">
              <a:effectLst/>
              <a:latin typeface="Calibri "/>
            </a:endParaRPr>
          </a:p>
          <a:p>
            <a:pPr marL="457200" indent="-457200" algn="l">
              <a:buFont typeface="+mj-lt"/>
              <a:buAutoNum type="arabicPeriod"/>
            </a:pPr>
            <a:r>
              <a:rPr lang="en-IN" sz="2000" b="1" i="0" dirty="0">
                <a:effectLst/>
                <a:latin typeface="Calibri "/>
              </a:rPr>
              <a:t>Grid Search:</a:t>
            </a:r>
            <a:endParaRPr lang="en-IN" sz="2000" b="0" i="0" dirty="0">
              <a:effectLst/>
              <a:latin typeface="Calibri "/>
            </a:endParaRPr>
          </a:p>
          <a:p>
            <a:pPr marL="914400" lvl="1" indent="-457200">
              <a:buFont typeface="Arial" panose="020B0604020202020204" pitchFamily="34" charset="0"/>
              <a:buChar char="•"/>
            </a:pPr>
            <a:r>
              <a:rPr lang="en-IN" sz="2000" b="0" i="0" dirty="0">
                <a:solidFill>
                  <a:srgbClr val="374151"/>
                </a:solidFill>
                <a:effectLst/>
                <a:latin typeface="Calibri "/>
              </a:rPr>
              <a:t>Evaluates all possible hyperparameter combinations.</a:t>
            </a:r>
          </a:p>
          <a:p>
            <a:pPr marL="914400" lvl="1" indent="-457200">
              <a:buFont typeface="Arial" panose="020B0604020202020204" pitchFamily="34" charset="0"/>
              <a:buChar char="•"/>
            </a:pPr>
            <a:r>
              <a:rPr lang="en-IN" sz="2000" b="0" i="0" dirty="0">
                <a:solidFill>
                  <a:srgbClr val="374151"/>
                </a:solidFill>
                <a:effectLst/>
                <a:latin typeface="Calibri "/>
              </a:rPr>
              <a:t>Comprehensive but computationally expensive.</a:t>
            </a:r>
          </a:p>
          <a:p>
            <a:pPr marL="457200" indent="-457200" algn="l">
              <a:buFont typeface="+mj-lt"/>
              <a:buAutoNum type="arabicPeriod"/>
            </a:pPr>
            <a:r>
              <a:rPr lang="en-IN" sz="2000" b="1" i="0" dirty="0">
                <a:effectLst/>
                <a:latin typeface="Calibri "/>
              </a:rPr>
              <a:t>Random Search:</a:t>
            </a:r>
            <a:endParaRPr lang="en-IN" sz="2000" b="0" i="0" dirty="0">
              <a:effectLst/>
              <a:latin typeface="Calibri "/>
            </a:endParaRPr>
          </a:p>
          <a:p>
            <a:pPr marL="914400" lvl="1" indent="-457200">
              <a:buFont typeface="Arial" panose="020B0604020202020204" pitchFamily="34" charset="0"/>
              <a:buChar char="•"/>
            </a:pPr>
            <a:r>
              <a:rPr lang="en-IN" sz="2000" b="0" i="0" dirty="0">
                <a:solidFill>
                  <a:srgbClr val="374151"/>
                </a:solidFill>
                <a:effectLst/>
                <a:latin typeface="Calibri "/>
              </a:rPr>
              <a:t>Samples a random subset of hyperparameter combinations.</a:t>
            </a:r>
          </a:p>
          <a:p>
            <a:pPr marL="914400" lvl="1" indent="-457200">
              <a:buFont typeface="Arial" panose="020B0604020202020204" pitchFamily="34" charset="0"/>
              <a:buChar char="•"/>
            </a:pPr>
            <a:r>
              <a:rPr lang="en-IN" sz="2000" b="0" i="0" dirty="0">
                <a:solidFill>
                  <a:srgbClr val="374151"/>
                </a:solidFill>
                <a:effectLst/>
                <a:latin typeface="Calibri "/>
              </a:rPr>
              <a:t>Efficient alternative to grid search, may miss optimal configuration.</a:t>
            </a:r>
          </a:p>
          <a:p>
            <a:pPr marL="457200" indent="-457200" algn="l">
              <a:buFont typeface="+mj-lt"/>
              <a:buAutoNum type="arabicPeriod"/>
            </a:pPr>
            <a:r>
              <a:rPr lang="en-IN" sz="2000" b="1" i="0" dirty="0">
                <a:effectLst/>
                <a:latin typeface="Calibri "/>
              </a:rPr>
              <a:t>Bayesian Optimization:</a:t>
            </a:r>
            <a:endParaRPr lang="en-IN" sz="2000" b="0" i="0" dirty="0">
              <a:effectLst/>
              <a:latin typeface="Calibri "/>
            </a:endParaRPr>
          </a:p>
          <a:p>
            <a:pPr marL="914400" lvl="1" indent="-457200">
              <a:buFont typeface="Arial" panose="020B0604020202020204" pitchFamily="34" charset="0"/>
              <a:buChar char="•"/>
            </a:pPr>
            <a:r>
              <a:rPr lang="en-IN" sz="2000" b="0" i="0" dirty="0">
                <a:solidFill>
                  <a:srgbClr val="374151"/>
                </a:solidFill>
                <a:effectLst/>
                <a:latin typeface="Calibri "/>
              </a:rPr>
              <a:t>Builds statistical model of objective function.</a:t>
            </a:r>
          </a:p>
          <a:p>
            <a:pPr marL="914400" lvl="1" indent="-457200">
              <a:buFont typeface="Arial" panose="020B0604020202020204" pitchFamily="34" charset="0"/>
              <a:buChar char="•"/>
            </a:pPr>
            <a:r>
              <a:rPr lang="en-IN" sz="2000" b="0" i="0" dirty="0">
                <a:solidFill>
                  <a:srgbClr val="374151"/>
                </a:solidFill>
                <a:effectLst/>
                <a:latin typeface="Calibri "/>
              </a:rPr>
              <a:t>Strategically samples hyperparameters for maximum performance within a budget.</a:t>
            </a:r>
          </a:p>
          <a:p>
            <a:pPr marL="457200" indent="-457200" algn="l">
              <a:buFont typeface="+mj-lt"/>
              <a:buAutoNum type="arabicPeriod"/>
            </a:pPr>
            <a:r>
              <a:rPr lang="en-IN" sz="2000" b="1" i="0" dirty="0">
                <a:effectLst/>
                <a:latin typeface="Calibri "/>
              </a:rPr>
              <a:t>Evolutionary Strategies:</a:t>
            </a:r>
            <a:endParaRPr lang="en-IN" sz="2000" b="0" i="0" dirty="0">
              <a:effectLst/>
              <a:latin typeface="Calibri "/>
            </a:endParaRPr>
          </a:p>
          <a:p>
            <a:pPr marL="914400" lvl="1" indent="-457200">
              <a:buFont typeface="Arial" panose="020B0604020202020204" pitchFamily="34" charset="0"/>
              <a:buChar char="•"/>
            </a:pPr>
            <a:r>
              <a:rPr lang="en-IN" sz="2000" b="0" i="0" dirty="0">
                <a:solidFill>
                  <a:srgbClr val="374151"/>
                </a:solidFill>
                <a:effectLst/>
                <a:latin typeface="Calibri "/>
              </a:rPr>
              <a:t>Mimics natural selection in generating new hyperparameter combinations.</a:t>
            </a:r>
          </a:p>
          <a:p>
            <a:pPr marL="914400" lvl="1" indent="-457200">
              <a:buFont typeface="Arial" panose="020B0604020202020204" pitchFamily="34" charset="0"/>
              <a:buChar char="•"/>
            </a:pPr>
            <a:r>
              <a:rPr lang="en-IN" sz="2000" b="0" i="0" dirty="0">
                <a:solidFill>
                  <a:srgbClr val="374151"/>
                </a:solidFill>
                <a:effectLst/>
                <a:latin typeface="Calibri "/>
              </a:rPr>
              <a:t>Iterative process based on performance in previous generations</a:t>
            </a:r>
            <a:r>
              <a:rPr lang="en-US" sz="2000" b="0" i="0" dirty="0">
                <a:solidFill>
                  <a:srgbClr val="374151"/>
                </a:solidFill>
                <a:effectLst/>
                <a:latin typeface="Calibri "/>
              </a:rPr>
              <a:t>.</a:t>
            </a:r>
          </a:p>
        </p:txBody>
      </p:sp>
      <p:sp>
        <p:nvSpPr>
          <p:cNvPr id="6" name="Title 1">
            <a:extLst>
              <a:ext uri="{FF2B5EF4-FFF2-40B4-BE49-F238E27FC236}">
                <a16:creationId xmlns:a16="http://schemas.microsoft.com/office/drawing/2014/main" id="{212039B1-E6E7-15CD-4055-55EBDA4566B4}"/>
              </a:ext>
            </a:extLst>
          </p:cNvPr>
          <p:cNvSpPr>
            <a:spLocks noGrp="1"/>
          </p:cNvSpPr>
          <p:nvPr>
            <p:ph type="title"/>
          </p:nvPr>
        </p:nvSpPr>
        <p:spPr>
          <a:xfrm>
            <a:off x="678881" y="603665"/>
            <a:ext cx="10834234" cy="612775"/>
          </a:xfrm>
        </p:spPr>
        <p:txBody>
          <a:bodyPr/>
          <a:lstStyle/>
          <a:p>
            <a:r>
              <a:rPr lang="en-IN" b="1" i="0" dirty="0">
                <a:effectLst/>
                <a:latin typeface="Calibri "/>
              </a:rPr>
              <a:t>Cont…</a:t>
            </a:r>
            <a:endParaRPr lang="en-IN" dirty="0">
              <a:latin typeface="Calibri "/>
            </a:endParaRPr>
          </a:p>
        </p:txBody>
      </p:sp>
    </p:spTree>
    <p:extLst>
      <p:ext uri="{BB962C8B-B14F-4D97-AF65-F5344CB8AC3E}">
        <p14:creationId xmlns:p14="http://schemas.microsoft.com/office/powerpoint/2010/main" val="42172122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FD65E8A-8191-8F57-DAF1-09FDF14FDAFA}"/>
              </a:ext>
            </a:extLst>
          </p:cNvPr>
          <p:cNvSpPr txBox="1"/>
          <p:nvPr/>
        </p:nvSpPr>
        <p:spPr>
          <a:xfrm>
            <a:off x="564108" y="1384322"/>
            <a:ext cx="10949010" cy="3847207"/>
          </a:xfrm>
          <a:prstGeom prst="rect">
            <a:avLst/>
          </a:prstGeom>
          <a:noFill/>
        </p:spPr>
        <p:txBody>
          <a:bodyPr wrap="square">
            <a:spAutoFit/>
          </a:bodyPr>
          <a:lstStyle/>
          <a:p>
            <a:pPr algn="l"/>
            <a:r>
              <a:rPr lang="en-IN" sz="2200" b="1" i="0" dirty="0">
                <a:effectLst/>
              </a:rPr>
              <a:t>Benefits of Automated Hyperparameter Tuning Tools</a:t>
            </a:r>
          </a:p>
          <a:p>
            <a:pPr algn="l"/>
            <a:endParaRPr lang="en-IN" sz="2200" b="1" i="0" dirty="0">
              <a:effectLst/>
            </a:endParaRPr>
          </a:p>
          <a:p>
            <a:pPr marL="342900" indent="-342900" algn="l">
              <a:buFont typeface="+mj-lt"/>
              <a:buAutoNum type="arabicPeriod"/>
            </a:pPr>
            <a:r>
              <a:rPr lang="en-IN" sz="2000" b="1" i="0" dirty="0">
                <a:solidFill>
                  <a:srgbClr val="374151"/>
                </a:solidFill>
                <a:effectLst/>
              </a:rPr>
              <a:t>Time and Effort Reduction:</a:t>
            </a:r>
            <a:r>
              <a:rPr lang="en-IN" sz="2000" dirty="0">
                <a:solidFill>
                  <a:srgbClr val="374151"/>
                </a:solidFill>
              </a:rPr>
              <a:t> </a:t>
            </a:r>
            <a:r>
              <a:rPr lang="en-IN" sz="2000" b="0" i="0" dirty="0">
                <a:solidFill>
                  <a:srgbClr val="374151"/>
                </a:solidFill>
                <a:effectLst/>
              </a:rPr>
              <a:t>Automates search, freeing resources for other tasks.</a:t>
            </a:r>
          </a:p>
          <a:p>
            <a:pPr marL="342900" indent="-342900" algn="l">
              <a:buFont typeface="+mj-lt"/>
              <a:buAutoNum type="arabicPeriod"/>
            </a:pPr>
            <a:endParaRPr lang="en-IN" sz="2000" b="0" i="0" dirty="0">
              <a:solidFill>
                <a:srgbClr val="374151"/>
              </a:solidFill>
              <a:effectLst/>
            </a:endParaRPr>
          </a:p>
          <a:p>
            <a:pPr marL="342900" indent="-342900" algn="l">
              <a:buFont typeface="+mj-lt"/>
              <a:buAutoNum type="arabicPeriod"/>
            </a:pPr>
            <a:r>
              <a:rPr lang="en-IN" sz="2000" b="1" i="0" dirty="0">
                <a:solidFill>
                  <a:srgbClr val="374151"/>
                </a:solidFill>
                <a:effectLst/>
              </a:rPr>
              <a:t>Increased Efficiency:</a:t>
            </a:r>
            <a:r>
              <a:rPr lang="en-IN" sz="2000" dirty="0">
                <a:solidFill>
                  <a:srgbClr val="374151"/>
                </a:solidFill>
              </a:rPr>
              <a:t> </a:t>
            </a:r>
            <a:r>
              <a:rPr lang="en-IN" sz="2000" b="0" i="0" dirty="0">
                <a:solidFill>
                  <a:srgbClr val="374151"/>
                </a:solidFill>
                <a:effectLst/>
              </a:rPr>
              <a:t>Explores larger hyperparameter space efficiently. </a:t>
            </a:r>
          </a:p>
          <a:p>
            <a:pPr marL="342900" indent="-342900" algn="l">
              <a:buFont typeface="+mj-lt"/>
              <a:buAutoNum type="arabicPeriod"/>
            </a:pPr>
            <a:endParaRPr lang="en-IN" sz="2000" b="0" i="0" dirty="0">
              <a:solidFill>
                <a:srgbClr val="374151"/>
              </a:solidFill>
              <a:effectLst/>
            </a:endParaRPr>
          </a:p>
          <a:p>
            <a:pPr marL="342900" indent="-342900" algn="l">
              <a:buFont typeface="+mj-lt"/>
              <a:buAutoNum type="arabicPeriod"/>
            </a:pPr>
            <a:r>
              <a:rPr lang="en-IN" sz="2000" b="1" i="0" dirty="0">
                <a:solidFill>
                  <a:srgbClr val="374151"/>
                </a:solidFill>
                <a:effectLst/>
              </a:rPr>
              <a:t>Performance Improvement:</a:t>
            </a:r>
            <a:r>
              <a:rPr lang="en-IN" sz="2000" dirty="0">
                <a:solidFill>
                  <a:srgbClr val="374151"/>
                </a:solidFill>
              </a:rPr>
              <a:t> </a:t>
            </a:r>
            <a:r>
              <a:rPr lang="en-IN" sz="2000" b="0" i="0" dirty="0">
                <a:solidFill>
                  <a:srgbClr val="374151"/>
                </a:solidFill>
                <a:effectLst/>
              </a:rPr>
              <a:t>Identifies optimal hyperparameter combinations for enhanced model performance.</a:t>
            </a:r>
          </a:p>
          <a:p>
            <a:pPr marL="342900" indent="-342900" algn="l">
              <a:buFont typeface="+mj-lt"/>
              <a:buAutoNum type="arabicPeriod"/>
            </a:pPr>
            <a:endParaRPr lang="en-IN" sz="2000" b="0" i="0" dirty="0">
              <a:solidFill>
                <a:srgbClr val="374151"/>
              </a:solidFill>
              <a:effectLst/>
            </a:endParaRPr>
          </a:p>
          <a:p>
            <a:pPr marL="342900" indent="-342900" algn="l">
              <a:buFont typeface="+mj-lt"/>
              <a:buAutoNum type="arabicPeriod"/>
            </a:pPr>
            <a:r>
              <a:rPr lang="en-IN" sz="2000" b="1" i="0" dirty="0">
                <a:solidFill>
                  <a:srgbClr val="374151"/>
                </a:solidFill>
                <a:effectLst/>
              </a:rPr>
              <a:t>Insights into Relationships:</a:t>
            </a:r>
            <a:r>
              <a:rPr lang="en-IN" sz="2000" dirty="0">
                <a:solidFill>
                  <a:srgbClr val="374151"/>
                </a:solidFill>
              </a:rPr>
              <a:t> </a:t>
            </a:r>
            <a:r>
              <a:rPr lang="en-IN" sz="2000" b="0" i="0" dirty="0">
                <a:solidFill>
                  <a:srgbClr val="374151"/>
                </a:solidFill>
                <a:effectLst/>
              </a:rPr>
              <a:t>Offers insights into hyperparameter-model performance relationships. </a:t>
            </a:r>
          </a:p>
          <a:p>
            <a:pPr marL="342900" indent="-342900" algn="l">
              <a:buFont typeface="+mj-lt"/>
              <a:buAutoNum type="arabicPeriod"/>
            </a:pPr>
            <a:endParaRPr lang="en-IN" sz="2000" b="0" i="0" dirty="0">
              <a:solidFill>
                <a:srgbClr val="374151"/>
              </a:solidFill>
              <a:effectLst/>
            </a:endParaRPr>
          </a:p>
          <a:p>
            <a:pPr marL="342900" indent="-342900" algn="l">
              <a:buFont typeface="+mj-lt"/>
              <a:buAutoNum type="arabicPeriod"/>
            </a:pPr>
            <a:r>
              <a:rPr lang="en-IN" sz="2000" b="1" i="0" dirty="0">
                <a:solidFill>
                  <a:srgbClr val="374151"/>
                </a:solidFill>
                <a:effectLst/>
              </a:rPr>
              <a:t>Popular </a:t>
            </a:r>
            <a:r>
              <a:rPr lang="en-IN" sz="2000" b="1" i="0" dirty="0" err="1">
                <a:solidFill>
                  <a:srgbClr val="374151"/>
                </a:solidFill>
                <a:effectLst/>
              </a:rPr>
              <a:t>Tools:</a:t>
            </a:r>
            <a:r>
              <a:rPr lang="en-IN" sz="2000" b="0" i="0" dirty="0" err="1">
                <a:solidFill>
                  <a:srgbClr val="374151"/>
                </a:solidFill>
                <a:effectLst/>
              </a:rPr>
              <a:t>Optuna</a:t>
            </a:r>
            <a:r>
              <a:rPr lang="en-IN" sz="2000" b="0" i="0" dirty="0">
                <a:solidFill>
                  <a:srgbClr val="374151"/>
                </a:solidFill>
                <a:effectLst/>
              </a:rPr>
              <a:t>, </a:t>
            </a:r>
            <a:r>
              <a:rPr lang="en-IN" sz="2000" b="0" i="0" dirty="0" err="1">
                <a:solidFill>
                  <a:srgbClr val="374151"/>
                </a:solidFill>
                <a:effectLst/>
              </a:rPr>
              <a:t>Hyperopt</a:t>
            </a:r>
            <a:r>
              <a:rPr lang="en-IN" sz="2000" b="0" i="0" dirty="0">
                <a:solidFill>
                  <a:srgbClr val="374151"/>
                </a:solidFill>
                <a:effectLst/>
              </a:rPr>
              <a:t>, Ray Tune, Amazon </a:t>
            </a:r>
            <a:r>
              <a:rPr lang="en-IN" sz="2000" b="0" i="0" dirty="0" err="1">
                <a:solidFill>
                  <a:srgbClr val="374151"/>
                </a:solidFill>
                <a:effectLst/>
              </a:rPr>
              <a:t>SageMaker</a:t>
            </a:r>
            <a:r>
              <a:rPr lang="en-IN" sz="2000" b="0" i="0" dirty="0">
                <a:solidFill>
                  <a:srgbClr val="374151"/>
                </a:solidFill>
                <a:effectLst/>
              </a:rPr>
              <a:t> Automatic Model Tuning.</a:t>
            </a:r>
          </a:p>
        </p:txBody>
      </p:sp>
      <p:sp>
        <p:nvSpPr>
          <p:cNvPr id="6" name="Title 1">
            <a:extLst>
              <a:ext uri="{FF2B5EF4-FFF2-40B4-BE49-F238E27FC236}">
                <a16:creationId xmlns:a16="http://schemas.microsoft.com/office/drawing/2014/main" id="{212039B1-E6E7-15CD-4055-55EBDA4566B4}"/>
              </a:ext>
            </a:extLst>
          </p:cNvPr>
          <p:cNvSpPr>
            <a:spLocks noGrp="1"/>
          </p:cNvSpPr>
          <p:nvPr>
            <p:ph type="title"/>
          </p:nvPr>
        </p:nvSpPr>
        <p:spPr>
          <a:xfrm>
            <a:off x="678881" y="603665"/>
            <a:ext cx="10834234" cy="612775"/>
          </a:xfrm>
        </p:spPr>
        <p:txBody>
          <a:bodyPr/>
          <a:lstStyle/>
          <a:p>
            <a:r>
              <a:rPr lang="en-IN" b="1" i="0" dirty="0">
                <a:effectLst/>
                <a:latin typeface="+mn-lt"/>
              </a:rPr>
              <a:t>Cont…</a:t>
            </a:r>
            <a:endParaRPr lang="en-IN" dirty="0">
              <a:latin typeface="+mn-lt"/>
            </a:endParaRPr>
          </a:p>
        </p:txBody>
      </p:sp>
    </p:spTree>
    <p:extLst>
      <p:ext uri="{BB962C8B-B14F-4D97-AF65-F5344CB8AC3E}">
        <p14:creationId xmlns:p14="http://schemas.microsoft.com/office/powerpoint/2010/main" val="30164347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BA2E58-FEC9-D54D-ACC0-E7CEEF5F42E4}"/>
              </a:ext>
            </a:extLst>
          </p:cNvPr>
          <p:cNvSpPr>
            <a:spLocks noGrp="1"/>
          </p:cNvSpPr>
          <p:nvPr>
            <p:ph type="title"/>
          </p:nvPr>
        </p:nvSpPr>
        <p:spPr/>
        <p:txBody>
          <a:bodyPr>
            <a:normAutofit/>
          </a:bodyPr>
          <a:lstStyle/>
          <a:p>
            <a:r>
              <a:rPr lang="en-IN" b="1" i="0" dirty="0">
                <a:effectLst/>
                <a:latin typeface="+mn-lt"/>
              </a:rPr>
              <a:t>Performance Evaluation Metrics</a:t>
            </a:r>
            <a:endParaRPr lang="en-US" dirty="0">
              <a:latin typeface="+mn-lt"/>
            </a:endParaRPr>
          </a:p>
        </p:txBody>
      </p:sp>
      <p:sp>
        <p:nvSpPr>
          <p:cNvPr id="3" name="Content Placeholder 2">
            <a:extLst>
              <a:ext uri="{FF2B5EF4-FFF2-40B4-BE49-F238E27FC236}">
                <a16:creationId xmlns:a16="http://schemas.microsoft.com/office/drawing/2014/main" id="{CB071890-575E-F98C-E2A4-BC2D1C459837}"/>
              </a:ext>
            </a:extLst>
          </p:cNvPr>
          <p:cNvSpPr>
            <a:spLocks noGrp="1"/>
          </p:cNvSpPr>
          <p:nvPr>
            <p:ph sz="half" idx="1"/>
          </p:nvPr>
        </p:nvSpPr>
        <p:spPr>
          <a:xfrm>
            <a:off x="636489" y="1440200"/>
            <a:ext cx="10876625" cy="4781306"/>
          </a:xfrm>
        </p:spPr>
        <p:txBody>
          <a:bodyPr>
            <a:noAutofit/>
          </a:bodyPr>
          <a:lstStyle/>
          <a:p>
            <a:pPr marL="0" indent="0" algn="l">
              <a:buNone/>
            </a:pPr>
            <a:r>
              <a:rPr lang="en-US" sz="2200" b="1" i="0" dirty="0">
                <a:effectLst/>
                <a:latin typeface="+mn-lt"/>
              </a:rPr>
              <a:t>Introduction to BLEU and ROUGE Metrics</a:t>
            </a:r>
          </a:p>
          <a:p>
            <a:pPr marL="0" indent="0" algn="l">
              <a:buNone/>
            </a:pPr>
            <a:endParaRPr lang="en-US" sz="2200" b="1" i="0" dirty="0">
              <a:effectLst/>
              <a:latin typeface="+mn-lt"/>
            </a:endParaRPr>
          </a:p>
          <a:p>
            <a:pPr algn="l">
              <a:buFont typeface="Arial" panose="020B0604020202020204" pitchFamily="34" charset="0"/>
              <a:buChar char="•"/>
            </a:pPr>
            <a:r>
              <a:rPr lang="en-US" sz="2200" b="1" i="0" dirty="0">
                <a:solidFill>
                  <a:srgbClr val="374151"/>
                </a:solidFill>
                <a:effectLst/>
                <a:latin typeface="+mn-lt"/>
              </a:rPr>
              <a:t>BLEU (Bilingual Evaluation Understudy):</a:t>
            </a:r>
            <a:endParaRPr lang="en-US" sz="2200" b="0" i="0" dirty="0">
              <a:solidFill>
                <a:srgbClr val="374151"/>
              </a:solidFill>
              <a:effectLst/>
              <a:latin typeface="+mn-lt"/>
            </a:endParaRPr>
          </a:p>
          <a:p>
            <a:pPr marL="742950" lvl="1" indent="-285750" algn="l">
              <a:buFont typeface="Arial" panose="020B0604020202020204" pitchFamily="34" charset="0"/>
              <a:buChar char="•"/>
            </a:pPr>
            <a:r>
              <a:rPr lang="en-US" sz="2200" b="0" i="0" dirty="0">
                <a:solidFill>
                  <a:srgbClr val="374151"/>
                </a:solidFill>
                <a:effectLst/>
                <a:latin typeface="+mn-lt"/>
              </a:rPr>
              <a:t>Measures n-gram overlap between generated and reference text.</a:t>
            </a:r>
          </a:p>
          <a:p>
            <a:pPr marL="742950" lvl="1" indent="-285750" algn="l">
              <a:buFont typeface="Arial" panose="020B0604020202020204" pitchFamily="34" charset="0"/>
              <a:buChar char="•"/>
            </a:pPr>
            <a:r>
              <a:rPr lang="en-US" sz="2200" b="0" i="0" dirty="0">
                <a:solidFill>
                  <a:srgbClr val="374151"/>
                </a:solidFill>
                <a:effectLst/>
                <a:latin typeface="+mn-lt"/>
              </a:rPr>
              <a:t>Originally designed for machine translation but widely used for text generation tasks.</a:t>
            </a:r>
          </a:p>
          <a:p>
            <a:pPr marL="742950" lvl="1" indent="-285750" algn="l">
              <a:buFont typeface="Arial" panose="020B0604020202020204" pitchFamily="34" charset="0"/>
              <a:buChar char="•"/>
            </a:pPr>
            <a:endParaRPr lang="en-US" sz="2200" b="0" i="0" dirty="0">
              <a:solidFill>
                <a:srgbClr val="374151"/>
              </a:solidFill>
              <a:effectLst/>
              <a:latin typeface="+mn-lt"/>
            </a:endParaRPr>
          </a:p>
          <a:p>
            <a:pPr algn="l">
              <a:buFont typeface="Arial" panose="020B0604020202020204" pitchFamily="34" charset="0"/>
              <a:buChar char="•"/>
            </a:pPr>
            <a:r>
              <a:rPr lang="en-US" sz="2200" b="1" i="0" dirty="0">
                <a:solidFill>
                  <a:srgbClr val="374151"/>
                </a:solidFill>
                <a:effectLst/>
                <a:latin typeface="+mn-lt"/>
              </a:rPr>
              <a:t>ROUGE (Recall-Oriented Understudy for </a:t>
            </a:r>
            <a:r>
              <a:rPr lang="en-US" sz="2200" b="1" i="0" dirty="0" err="1">
                <a:solidFill>
                  <a:srgbClr val="374151"/>
                </a:solidFill>
                <a:effectLst/>
                <a:latin typeface="+mn-lt"/>
              </a:rPr>
              <a:t>Gisting</a:t>
            </a:r>
            <a:r>
              <a:rPr lang="en-US" sz="2200" b="1" i="0" dirty="0">
                <a:solidFill>
                  <a:srgbClr val="374151"/>
                </a:solidFill>
                <a:effectLst/>
                <a:latin typeface="+mn-lt"/>
              </a:rPr>
              <a:t> Evaluation):</a:t>
            </a:r>
            <a:endParaRPr lang="en-US" sz="2200" b="0" i="0" dirty="0">
              <a:solidFill>
                <a:srgbClr val="374151"/>
              </a:solidFill>
              <a:effectLst/>
              <a:latin typeface="+mn-lt"/>
            </a:endParaRPr>
          </a:p>
          <a:p>
            <a:pPr marL="742950" lvl="1" indent="-285750" algn="l">
              <a:buFont typeface="Arial" panose="020B0604020202020204" pitchFamily="34" charset="0"/>
              <a:buChar char="•"/>
            </a:pPr>
            <a:r>
              <a:rPr lang="en-US" sz="2200" b="0" i="0" dirty="0">
                <a:solidFill>
                  <a:srgbClr val="374151"/>
                </a:solidFill>
                <a:effectLst/>
                <a:latin typeface="+mn-lt"/>
              </a:rPr>
              <a:t>Focuses on recall of n-grams and common subsequences.</a:t>
            </a:r>
          </a:p>
          <a:p>
            <a:pPr marL="742950" lvl="1" indent="-285750" algn="l">
              <a:buFont typeface="Arial" panose="020B0604020202020204" pitchFamily="34" charset="0"/>
              <a:buChar char="•"/>
            </a:pPr>
            <a:r>
              <a:rPr lang="en-US" sz="2200" b="0" i="0" dirty="0">
                <a:solidFill>
                  <a:srgbClr val="374151"/>
                </a:solidFill>
                <a:effectLst/>
                <a:latin typeface="+mn-lt"/>
              </a:rPr>
              <a:t>Primarily employed in summarization tasks to evaluate content coverage.</a:t>
            </a:r>
          </a:p>
        </p:txBody>
      </p:sp>
    </p:spTree>
    <p:extLst>
      <p:ext uri="{BB962C8B-B14F-4D97-AF65-F5344CB8AC3E}">
        <p14:creationId xmlns:p14="http://schemas.microsoft.com/office/powerpoint/2010/main" val="42855516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BA2E58-FEC9-D54D-ACC0-E7CEEF5F42E4}"/>
              </a:ext>
            </a:extLst>
          </p:cNvPr>
          <p:cNvSpPr>
            <a:spLocks noGrp="1"/>
          </p:cNvSpPr>
          <p:nvPr>
            <p:ph type="title"/>
          </p:nvPr>
        </p:nvSpPr>
        <p:spPr/>
        <p:txBody>
          <a:bodyPr>
            <a:normAutofit/>
          </a:bodyPr>
          <a:lstStyle/>
          <a:p>
            <a:r>
              <a:rPr lang="en-IN" i="0" dirty="0">
                <a:effectLst/>
                <a:latin typeface="Söhne"/>
              </a:rPr>
              <a:t>Cont…</a:t>
            </a:r>
            <a:endParaRPr lang="en-US" dirty="0"/>
          </a:p>
        </p:txBody>
      </p:sp>
      <p:sp>
        <p:nvSpPr>
          <p:cNvPr id="3" name="Content Placeholder 2">
            <a:extLst>
              <a:ext uri="{FF2B5EF4-FFF2-40B4-BE49-F238E27FC236}">
                <a16:creationId xmlns:a16="http://schemas.microsoft.com/office/drawing/2014/main" id="{CB071890-575E-F98C-E2A4-BC2D1C459837}"/>
              </a:ext>
            </a:extLst>
          </p:cNvPr>
          <p:cNvSpPr>
            <a:spLocks noGrp="1"/>
          </p:cNvSpPr>
          <p:nvPr>
            <p:ph sz="half" idx="1"/>
          </p:nvPr>
        </p:nvSpPr>
        <p:spPr>
          <a:xfrm>
            <a:off x="636489" y="1440200"/>
            <a:ext cx="10876625" cy="4781306"/>
          </a:xfrm>
        </p:spPr>
        <p:txBody>
          <a:bodyPr>
            <a:noAutofit/>
          </a:bodyPr>
          <a:lstStyle/>
          <a:p>
            <a:pPr marL="0" indent="0" algn="l">
              <a:buNone/>
            </a:pPr>
            <a:r>
              <a:rPr lang="en-US" sz="2200" b="1" i="0" dirty="0">
                <a:effectLst/>
                <a:latin typeface="+mn-lt"/>
              </a:rPr>
              <a:t>How These Metrics Measure the Quality of Generated Text</a:t>
            </a:r>
            <a:endParaRPr lang="en-US" b="1" i="0" dirty="0">
              <a:effectLst/>
              <a:latin typeface="+mn-lt"/>
            </a:endParaRPr>
          </a:p>
          <a:p>
            <a:pPr marL="514350" indent="-514350" algn="l">
              <a:buFont typeface="+mj-lt"/>
              <a:buAutoNum type="arabicPeriod"/>
            </a:pPr>
            <a:r>
              <a:rPr lang="en-US" sz="2200" b="1" i="0" dirty="0">
                <a:solidFill>
                  <a:srgbClr val="374151"/>
                </a:solidFill>
                <a:effectLst/>
                <a:latin typeface="+mn-lt"/>
              </a:rPr>
              <a:t>BLEU:</a:t>
            </a:r>
            <a:endParaRPr lang="en-US" sz="2200" b="0" i="0" dirty="0">
              <a:solidFill>
                <a:srgbClr val="374151"/>
              </a:solidFill>
              <a:effectLst/>
              <a:latin typeface="+mn-lt"/>
            </a:endParaRPr>
          </a:p>
          <a:p>
            <a:pPr lvl="1"/>
            <a:r>
              <a:rPr lang="en-US" sz="2200" b="0" i="0" dirty="0">
                <a:solidFill>
                  <a:srgbClr val="374151"/>
                </a:solidFill>
                <a:effectLst/>
                <a:latin typeface="+mn-lt"/>
              </a:rPr>
              <a:t>Counts matching n-grams (word sequences) in the generated and reference text.</a:t>
            </a:r>
          </a:p>
          <a:p>
            <a:pPr lvl="1"/>
            <a:r>
              <a:rPr lang="en-US" sz="2200" b="0" i="0" dirty="0">
                <a:solidFill>
                  <a:srgbClr val="374151"/>
                </a:solidFill>
                <a:effectLst/>
                <a:latin typeface="+mn-lt"/>
              </a:rPr>
              <a:t>Precision-focused, emphasizing the importance of generating the same words as in the reference.</a:t>
            </a:r>
          </a:p>
          <a:p>
            <a:pPr lvl="1"/>
            <a:endParaRPr lang="en-US" sz="2200" b="0" i="0" dirty="0">
              <a:solidFill>
                <a:srgbClr val="374151"/>
              </a:solidFill>
              <a:effectLst/>
              <a:latin typeface="+mn-lt"/>
            </a:endParaRPr>
          </a:p>
          <a:p>
            <a:pPr marL="514350" indent="-514350" algn="l">
              <a:buFont typeface="+mj-lt"/>
              <a:buAutoNum type="arabicPeriod"/>
            </a:pPr>
            <a:r>
              <a:rPr lang="en-US" sz="2200" b="1" i="0" dirty="0">
                <a:solidFill>
                  <a:srgbClr val="374151"/>
                </a:solidFill>
                <a:effectLst/>
                <a:latin typeface="+mn-lt"/>
              </a:rPr>
              <a:t>ROUGE:</a:t>
            </a:r>
            <a:endParaRPr lang="en-US" sz="2200" b="0" i="0" dirty="0">
              <a:solidFill>
                <a:srgbClr val="374151"/>
              </a:solidFill>
              <a:effectLst/>
              <a:latin typeface="+mn-lt"/>
            </a:endParaRPr>
          </a:p>
          <a:p>
            <a:pPr lvl="1"/>
            <a:r>
              <a:rPr lang="en-US" sz="2200" b="0" i="0" dirty="0">
                <a:solidFill>
                  <a:srgbClr val="374151"/>
                </a:solidFill>
                <a:effectLst/>
                <a:latin typeface="+mn-lt"/>
              </a:rPr>
              <a:t>Measures overlap in terms of recall, considering the generated n-grams and their presence in the reference text.</a:t>
            </a:r>
          </a:p>
          <a:p>
            <a:pPr lvl="1"/>
            <a:r>
              <a:rPr lang="en-US" sz="2200" b="0" i="0" dirty="0">
                <a:solidFill>
                  <a:srgbClr val="374151"/>
                </a:solidFill>
                <a:effectLst/>
                <a:latin typeface="+mn-lt"/>
              </a:rPr>
              <a:t>Emphasizes capturing essential information from the source.</a:t>
            </a:r>
            <a:br>
              <a:rPr lang="en-US" dirty="0">
                <a:latin typeface="+mn-lt"/>
              </a:rPr>
            </a:br>
            <a:endParaRPr lang="en-US" sz="2200" b="0" i="0" dirty="0">
              <a:solidFill>
                <a:srgbClr val="374151"/>
              </a:solidFill>
              <a:effectLst/>
              <a:latin typeface="+mn-lt"/>
            </a:endParaRPr>
          </a:p>
        </p:txBody>
      </p:sp>
    </p:spTree>
    <p:extLst>
      <p:ext uri="{BB962C8B-B14F-4D97-AF65-F5344CB8AC3E}">
        <p14:creationId xmlns:p14="http://schemas.microsoft.com/office/powerpoint/2010/main" val="23390553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BA2E58-FEC9-D54D-ACC0-E7CEEF5F42E4}"/>
              </a:ext>
            </a:extLst>
          </p:cNvPr>
          <p:cNvSpPr>
            <a:spLocks noGrp="1"/>
          </p:cNvSpPr>
          <p:nvPr>
            <p:ph type="title"/>
          </p:nvPr>
        </p:nvSpPr>
        <p:spPr/>
        <p:txBody>
          <a:bodyPr>
            <a:normAutofit/>
          </a:bodyPr>
          <a:lstStyle/>
          <a:p>
            <a:r>
              <a:rPr lang="en-IN" b="1" i="0" dirty="0">
                <a:effectLst/>
                <a:latin typeface="+mn-lt"/>
              </a:rPr>
              <a:t>Cont…</a:t>
            </a:r>
            <a:endParaRPr lang="en-US" dirty="0">
              <a:latin typeface="+mn-lt"/>
            </a:endParaRPr>
          </a:p>
        </p:txBody>
      </p:sp>
      <p:sp>
        <p:nvSpPr>
          <p:cNvPr id="3" name="Content Placeholder 2">
            <a:extLst>
              <a:ext uri="{FF2B5EF4-FFF2-40B4-BE49-F238E27FC236}">
                <a16:creationId xmlns:a16="http://schemas.microsoft.com/office/drawing/2014/main" id="{CB071890-575E-F98C-E2A4-BC2D1C459837}"/>
              </a:ext>
            </a:extLst>
          </p:cNvPr>
          <p:cNvSpPr>
            <a:spLocks noGrp="1"/>
          </p:cNvSpPr>
          <p:nvPr>
            <p:ph sz="half" idx="1"/>
          </p:nvPr>
        </p:nvSpPr>
        <p:spPr>
          <a:xfrm>
            <a:off x="636489" y="1440200"/>
            <a:ext cx="10876625" cy="4781306"/>
          </a:xfrm>
        </p:spPr>
        <p:txBody>
          <a:bodyPr>
            <a:noAutofit/>
          </a:bodyPr>
          <a:lstStyle/>
          <a:p>
            <a:pPr marL="0" indent="0" algn="l">
              <a:buNone/>
            </a:pPr>
            <a:r>
              <a:rPr lang="en-US" sz="2200" b="1" i="0" dirty="0">
                <a:effectLst/>
                <a:latin typeface="+mn-lt"/>
              </a:rPr>
              <a:t>Interpreting BLEU and ROUGE Scores</a:t>
            </a:r>
          </a:p>
          <a:p>
            <a:pPr marL="457200" indent="-457200" algn="l">
              <a:buFont typeface="+mj-lt"/>
              <a:buAutoNum type="arabicPeriod"/>
            </a:pPr>
            <a:r>
              <a:rPr lang="en-US" sz="2200" b="1" i="0" dirty="0">
                <a:solidFill>
                  <a:srgbClr val="374151"/>
                </a:solidFill>
                <a:effectLst/>
                <a:latin typeface="+mn-lt"/>
              </a:rPr>
              <a:t>BLEU Scores:</a:t>
            </a:r>
            <a:endParaRPr lang="en-US" sz="2200" b="0" i="0" dirty="0">
              <a:solidFill>
                <a:srgbClr val="374151"/>
              </a:solidFill>
              <a:effectLst/>
              <a:latin typeface="+mn-lt"/>
            </a:endParaRPr>
          </a:p>
          <a:p>
            <a:pPr marL="742950" lvl="1" indent="-285750" algn="l">
              <a:buFont typeface="Arial" panose="020B0604020202020204" pitchFamily="34" charset="0"/>
              <a:buChar char="•"/>
            </a:pPr>
            <a:r>
              <a:rPr lang="en-US" sz="2200" b="0" i="0" dirty="0">
                <a:solidFill>
                  <a:srgbClr val="374151"/>
                </a:solidFill>
                <a:effectLst/>
                <a:latin typeface="+mn-lt"/>
              </a:rPr>
              <a:t>Closer to 1: Higher similarity between generated and reference text.</a:t>
            </a:r>
          </a:p>
          <a:p>
            <a:pPr marL="742950" lvl="1" indent="-285750" algn="l">
              <a:buFont typeface="Arial" panose="020B0604020202020204" pitchFamily="34" charset="0"/>
              <a:buChar char="•"/>
            </a:pPr>
            <a:r>
              <a:rPr lang="en-US" sz="2200" b="0" i="0" dirty="0">
                <a:solidFill>
                  <a:srgbClr val="374151"/>
                </a:solidFill>
                <a:effectLst/>
                <a:latin typeface="+mn-lt"/>
              </a:rPr>
              <a:t>Common threshold: 0.4-0.5 for reasonable performance but varies by task.</a:t>
            </a:r>
          </a:p>
          <a:p>
            <a:pPr marL="457200" indent="-457200" algn="l">
              <a:buFont typeface="+mj-lt"/>
              <a:buAutoNum type="arabicPeriod"/>
            </a:pPr>
            <a:r>
              <a:rPr lang="en-US" sz="2200" b="1" i="0" dirty="0">
                <a:solidFill>
                  <a:srgbClr val="374151"/>
                </a:solidFill>
                <a:effectLst/>
                <a:latin typeface="+mn-lt"/>
              </a:rPr>
              <a:t>ROUGE Scores:</a:t>
            </a:r>
            <a:endParaRPr lang="en-US" sz="2200" b="0" i="0" dirty="0">
              <a:solidFill>
                <a:srgbClr val="374151"/>
              </a:solidFill>
              <a:effectLst/>
              <a:latin typeface="+mn-lt"/>
            </a:endParaRPr>
          </a:p>
          <a:p>
            <a:pPr marL="742950" lvl="1" indent="-285750" algn="l">
              <a:buFont typeface="Arial" panose="020B0604020202020204" pitchFamily="34" charset="0"/>
              <a:buChar char="•"/>
            </a:pPr>
            <a:r>
              <a:rPr lang="en-US" sz="2200" b="0" i="0" dirty="0">
                <a:solidFill>
                  <a:srgbClr val="374151"/>
                </a:solidFill>
                <a:effectLst/>
                <a:latin typeface="+mn-lt"/>
              </a:rPr>
              <a:t>Higher scores indicate better recall of key content.</a:t>
            </a:r>
          </a:p>
          <a:p>
            <a:pPr marL="742950" lvl="1" indent="-285750" algn="l">
              <a:buFont typeface="Arial" panose="020B0604020202020204" pitchFamily="34" charset="0"/>
              <a:buChar char="•"/>
            </a:pPr>
            <a:r>
              <a:rPr lang="en-US" sz="2200" b="0" i="0" dirty="0">
                <a:solidFill>
                  <a:srgbClr val="374151"/>
                </a:solidFill>
                <a:effectLst/>
                <a:latin typeface="+mn-lt"/>
              </a:rPr>
              <a:t>Individual ROUGE metrics (ROUGE-1, ROUGE-2, etc.) provide insight into different n-gram lengths.</a:t>
            </a:r>
            <a:br>
              <a:rPr lang="en-US" sz="2200" dirty="0">
                <a:latin typeface="+mn-lt"/>
              </a:rPr>
            </a:br>
            <a:endParaRPr lang="en-US" sz="2200" b="0" i="0" dirty="0">
              <a:solidFill>
                <a:srgbClr val="374151"/>
              </a:solidFill>
              <a:effectLst/>
              <a:latin typeface="+mn-lt"/>
            </a:endParaRPr>
          </a:p>
        </p:txBody>
      </p:sp>
    </p:spTree>
    <p:extLst>
      <p:ext uri="{BB962C8B-B14F-4D97-AF65-F5344CB8AC3E}">
        <p14:creationId xmlns:p14="http://schemas.microsoft.com/office/powerpoint/2010/main" val="1471786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BA2E58-FEC9-D54D-ACC0-E7CEEF5F42E4}"/>
              </a:ext>
            </a:extLst>
          </p:cNvPr>
          <p:cNvSpPr>
            <a:spLocks noGrp="1"/>
          </p:cNvSpPr>
          <p:nvPr>
            <p:ph type="title"/>
          </p:nvPr>
        </p:nvSpPr>
        <p:spPr/>
        <p:txBody>
          <a:bodyPr>
            <a:normAutofit/>
          </a:bodyPr>
          <a:lstStyle/>
          <a:p>
            <a:pPr algn="l"/>
            <a:r>
              <a:rPr lang="en-US" i="0" dirty="0">
                <a:solidFill>
                  <a:srgbClr val="1F1F1F"/>
                </a:solidFill>
                <a:effectLst/>
                <a:latin typeface="+mn-lt"/>
              </a:rPr>
              <a:t>Introduction to RAG for Fine-tuning</a:t>
            </a:r>
          </a:p>
        </p:txBody>
      </p:sp>
      <p:sp>
        <p:nvSpPr>
          <p:cNvPr id="3" name="Content Placeholder 2">
            <a:extLst>
              <a:ext uri="{FF2B5EF4-FFF2-40B4-BE49-F238E27FC236}">
                <a16:creationId xmlns:a16="http://schemas.microsoft.com/office/drawing/2014/main" id="{CB071890-575E-F98C-E2A4-BC2D1C459837}"/>
              </a:ext>
            </a:extLst>
          </p:cNvPr>
          <p:cNvSpPr>
            <a:spLocks noGrp="1"/>
          </p:cNvSpPr>
          <p:nvPr>
            <p:ph sz="half" idx="1"/>
          </p:nvPr>
        </p:nvSpPr>
        <p:spPr>
          <a:xfrm>
            <a:off x="636489" y="1440200"/>
            <a:ext cx="10876625" cy="4781306"/>
          </a:xfrm>
        </p:spPr>
        <p:txBody>
          <a:bodyPr>
            <a:noAutofit/>
          </a:bodyPr>
          <a:lstStyle/>
          <a:p>
            <a:pPr marL="0" indent="0" algn="l">
              <a:buNone/>
            </a:pPr>
            <a:r>
              <a:rPr lang="en-US" sz="2200" b="1" i="0" dirty="0">
                <a:solidFill>
                  <a:srgbClr val="1F1F1F"/>
                </a:solidFill>
                <a:effectLst/>
                <a:latin typeface="+mn-lt"/>
              </a:rPr>
              <a:t>Retrieve, Augment, Generate (RAG) Framework</a:t>
            </a:r>
          </a:p>
          <a:p>
            <a:pPr marL="0" indent="0" algn="l">
              <a:buNone/>
            </a:pPr>
            <a:endParaRPr lang="en-US" sz="2200" b="1" i="0" dirty="0">
              <a:solidFill>
                <a:srgbClr val="1F1F1F"/>
              </a:solidFill>
              <a:effectLst/>
              <a:latin typeface="+mn-lt"/>
            </a:endParaRPr>
          </a:p>
          <a:p>
            <a:pPr marL="0" indent="0" algn="l">
              <a:buNone/>
            </a:pPr>
            <a:r>
              <a:rPr lang="en-US" sz="2200" b="0" i="0" dirty="0">
                <a:solidFill>
                  <a:srgbClr val="1F1F1F"/>
                </a:solidFill>
                <a:effectLst/>
                <a:latin typeface="+mn-lt"/>
              </a:rPr>
              <a:t>The Retrieve, Augment, Generate (RAG) framework is a powerful approach for fine-tuning large language models (LLMs) by leveraging the strengths of both retrieval and generation techniques. RAG combines three key components:</a:t>
            </a:r>
          </a:p>
          <a:p>
            <a:pPr marL="0" indent="0" algn="l">
              <a:buNone/>
            </a:pPr>
            <a:endParaRPr lang="en-US" sz="2200" b="0" i="0" dirty="0">
              <a:solidFill>
                <a:srgbClr val="1F1F1F"/>
              </a:solidFill>
              <a:effectLst/>
              <a:latin typeface="+mn-lt"/>
            </a:endParaRPr>
          </a:p>
          <a:p>
            <a:pPr algn="l">
              <a:buFont typeface="Arial" panose="020B0604020202020204" pitchFamily="34" charset="0"/>
              <a:buChar char="•"/>
            </a:pPr>
            <a:r>
              <a:rPr lang="en-US" sz="2200" b="1" i="0" dirty="0">
                <a:solidFill>
                  <a:srgbClr val="374151"/>
                </a:solidFill>
                <a:effectLst/>
                <a:latin typeface="+mn-lt"/>
              </a:rPr>
              <a:t>Retriever:</a:t>
            </a:r>
            <a:r>
              <a:rPr lang="en-US" sz="2200" b="0" i="0" dirty="0">
                <a:solidFill>
                  <a:srgbClr val="374151"/>
                </a:solidFill>
                <a:effectLst/>
                <a:latin typeface="+mn-lt"/>
              </a:rPr>
              <a:t> Gathers relevant passages from an external corpus.</a:t>
            </a:r>
          </a:p>
          <a:p>
            <a:pPr algn="l">
              <a:buFont typeface="Arial" panose="020B0604020202020204" pitchFamily="34" charset="0"/>
              <a:buChar char="•"/>
            </a:pPr>
            <a:r>
              <a:rPr lang="en-US" sz="2200" b="1" i="0" dirty="0">
                <a:solidFill>
                  <a:srgbClr val="374151"/>
                </a:solidFill>
                <a:effectLst/>
                <a:latin typeface="+mn-lt"/>
              </a:rPr>
              <a:t>Augmenter:</a:t>
            </a:r>
            <a:r>
              <a:rPr lang="en-US" sz="2200" b="0" i="0" dirty="0">
                <a:solidFill>
                  <a:srgbClr val="374151"/>
                </a:solidFill>
                <a:effectLst/>
                <a:latin typeface="+mn-lt"/>
              </a:rPr>
              <a:t> Processes and filters retrieved passages for relevance.</a:t>
            </a:r>
          </a:p>
          <a:p>
            <a:pPr algn="l">
              <a:buFont typeface="Arial" panose="020B0604020202020204" pitchFamily="34" charset="0"/>
              <a:buChar char="•"/>
            </a:pPr>
            <a:r>
              <a:rPr lang="en-US" sz="2200" b="1" i="0" dirty="0">
                <a:solidFill>
                  <a:srgbClr val="374151"/>
                </a:solidFill>
                <a:effectLst/>
                <a:latin typeface="+mn-lt"/>
              </a:rPr>
              <a:t>Generator:</a:t>
            </a:r>
            <a:r>
              <a:rPr lang="en-US" sz="2200" b="0" i="0" dirty="0">
                <a:solidFill>
                  <a:srgbClr val="374151"/>
                </a:solidFill>
                <a:effectLst/>
                <a:latin typeface="+mn-lt"/>
              </a:rPr>
              <a:t> Utilizes the LLM to generate the final response.</a:t>
            </a:r>
            <a:br>
              <a:rPr lang="en-US" sz="2200" dirty="0">
                <a:latin typeface="+mn-lt"/>
              </a:rPr>
            </a:br>
            <a:endParaRPr lang="en-US" sz="2200" b="0" i="0" dirty="0">
              <a:solidFill>
                <a:srgbClr val="374151"/>
              </a:solidFill>
              <a:effectLst/>
              <a:latin typeface="+mn-lt"/>
            </a:endParaRPr>
          </a:p>
        </p:txBody>
      </p:sp>
    </p:spTree>
    <p:extLst>
      <p:ext uri="{BB962C8B-B14F-4D97-AF65-F5344CB8AC3E}">
        <p14:creationId xmlns:p14="http://schemas.microsoft.com/office/powerpoint/2010/main" val="2871385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BA2E58-FEC9-D54D-ACC0-E7CEEF5F42E4}"/>
              </a:ext>
            </a:extLst>
          </p:cNvPr>
          <p:cNvSpPr>
            <a:spLocks noGrp="1"/>
          </p:cNvSpPr>
          <p:nvPr>
            <p:ph type="title"/>
          </p:nvPr>
        </p:nvSpPr>
        <p:spPr/>
        <p:txBody>
          <a:bodyPr>
            <a:normAutofit/>
          </a:bodyPr>
          <a:lstStyle/>
          <a:p>
            <a:pPr algn="l"/>
            <a:r>
              <a:rPr lang="en-US" i="0" dirty="0">
                <a:solidFill>
                  <a:srgbClr val="1F1F1F"/>
                </a:solidFill>
                <a:effectLst/>
                <a:latin typeface="+mn-lt"/>
              </a:rPr>
              <a:t>Cont…</a:t>
            </a:r>
          </a:p>
        </p:txBody>
      </p:sp>
      <p:sp>
        <p:nvSpPr>
          <p:cNvPr id="3" name="Content Placeholder 2">
            <a:extLst>
              <a:ext uri="{FF2B5EF4-FFF2-40B4-BE49-F238E27FC236}">
                <a16:creationId xmlns:a16="http://schemas.microsoft.com/office/drawing/2014/main" id="{CB071890-575E-F98C-E2A4-BC2D1C459837}"/>
              </a:ext>
            </a:extLst>
          </p:cNvPr>
          <p:cNvSpPr>
            <a:spLocks noGrp="1"/>
          </p:cNvSpPr>
          <p:nvPr>
            <p:ph sz="half" idx="1"/>
          </p:nvPr>
        </p:nvSpPr>
        <p:spPr>
          <a:xfrm>
            <a:off x="636489" y="1440200"/>
            <a:ext cx="10876625" cy="4781306"/>
          </a:xfrm>
        </p:spPr>
        <p:txBody>
          <a:bodyPr>
            <a:noAutofit/>
          </a:bodyPr>
          <a:lstStyle/>
          <a:p>
            <a:pPr marL="0" indent="0" algn="l">
              <a:buNone/>
            </a:pPr>
            <a:r>
              <a:rPr lang="en-IN" sz="2200" b="1" i="0" dirty="0">
                <a:effectLst/>
                <a:latin typeface="Söhne"/>
              </a:rPr>
              <a:t>Advantages of RAG</a:t>
            </a:r>
            <a:endParaRPr lang="en-IN" sz="2200" b="1" dirty="0">
              <a:solidFill>
                <a:srgbClr val="374151"/>
              </a:solidFill>
              <a:latin typeface="Söhne"/>
            </a:endParaRPr>
          </a:p>
          <a:p>
            <a:pPr algn="l">
              <a:buFont typeface="+mj-lt"/>
              <a:buAutoNum type="arabicPeriod"/>
            </a:pPr>
            <a:r>
              <a:rPr lang="en-US" sz="2000" b="1" i="0" dirty="0">
                <a:solidFill>
                  <a:srgbClr val="374151"/>
                </a:solidFill>
                <a:effectLst/>
                <a:latin typeface="Söhne"/>
              </a:rPr>
              <a:t>Improved Accuracy:</a:t>
            </a:r>
            <a:r>
              <a:rPr lang="en-US" sz="2000" dirty="0">
                <a:solidFill>
                  <a:srgbClr val="374151"/>
                </a:solidFill>
                <a:latin typeface="Söhne"/>
              </a:rPr>
              <a:t> </a:t>
            </a:r>
            <a:r>
              <a:rPr lang="en-US" sz="2000" b="0" i="0" dirty="0">
                <a:solidFill>
                  <a:srgbClr val="374151"/>
                </a:solidFill>
                <a:effectLst/>
                <a:latin typeface="Söhne"/>
              </a:rPr>
              <a:t>Additional context enhances response accuracy and correctness.</a:t>
            </a:r>
          </a:p>
          <a:p>
            <a:pPr algn="l">
              <a:buFont typeface="+mj-lt"/>
              <a:buAutoNum type="arabicPeriod"/>
            </a:pPr>
            <a:r>
              <a:rPr lang="en-US" sz="2000" b="1" i="0" dirty="0">
                <a:solidFill>
                  <a:srgbClr val="374151"/>
                </a:solidFill>
                <a:effectLst/>
                <a:latin typeface="Söhne"/>
              </a:rPr>
              <a:t>Reduced Training Data:</a:t>
            </a:r>
            <a:r>
              <a:rPr lang="en-US" sz="2000" dirty="0">
                <a:solidFill>
                  <a:srgbClr val="374151"/>
                </a:solidFill>
                <a:latin typeface="Söhne"/>
              </a:rPr>
              <a:t> </a:t>
            </a:r>
            <a:r>
              <a:rPr lang="en-US" sz="2000" b="0" i="0" dirty="0">
                <a:solidFill>
                  <a:srgbClr val="374151"/>
                </a:solidFill>
                <a:effectLst/>
                <a:latin typeface="Söhne"/>
              </a:rPr>
              <a:t>Requires less labeled data, improving efficiency and cost-effectiveness.</a:t>
            </a:r>
          </a:p>
          <a:p>
            <a:pPr algn="l">
              <a:buFont typeface="+mj-lt"/>
              <a:buAutoNum type="arabicPeriod"/>
            </a:pPr>
            <a:r>
              <a:rPr lang="en-US" sz="2000" b="1" i="0" dirty="0">
                <a:solidFill>
                  <a:srgbClr val="374151"/>
                </a:solidFill>
                <a:effectLst/>
                <a:latin typeface="Söhne"/>
              </a:rPr>
              <a:t>Increased Generalizability:</a:t>
            </a:r>
            <a:r>
              <a:rPr lang="en-US" sz="2000" dirty="0">
                <a:solidFill>
                  <a:srgbClr val="374151"/>
                </a:solidFill>
                <a:latin typeface="Söhne"/>
              </a:rPr>
              <a:t> </a:t>
            </a:r>
            <a:r>
              <a:rPr lang="en-US" sz="2000" b="0" i="0" dirty="0">
                <a:solidFill>
                  <a:srgbClr val="374151"/>
                </a:solidFill>
                <a:effectLst/>
                <a:latin typeface="Söhne"/>
              </a:rPr>
              <a:t>Broad knowledge base allows better generalization to unseen data.</a:t>
            </a:r>
          </a:p>
          <a:p>
            <a:pPr algn="l">
              <a:buFont typeface="+mj-lt"/>
              <a:buAutoNum type="arabicPeriod"/>
            </a:pPr>
            <a:r>
              <a:rPr lang="en-US" sz="2000" b="1" i="0" dirty="0">
                <a:solidFill>
                  <a:srgbClr val="374151"/>
                </a:solidFill>
                <a:effectLst/>
                <a:latin typeface="Söhne"/>
              </a:rPr>
              <a:t>Handling Open-ended Questions:</a:t>
            </a:r>
            <a:r>
              <a:rPr lang="en-US" sz="2000" dirty="0">
                <a:solidFill>
                  <a:srgbClr val="374151"/>
                </a:solidFill>
                <a:latin typeface="Söhne"/>
              </a:rPr>
              <a:t> </a:t>
            </a:r>
            <a:r>
              <a:rPr lang="en-US" sz="2000" b="0" i="0" dirty="0">
                <a:solidFill>
                  <a:srgbClr val="374151"/>
                </a:solidFill>
                <a:effectLst/>
                <a:latin typeface="Söhne"/>
              </a:rPr>
              <a:t>Effectively retrieves relevant information for complex and open-ended queries.</a:t>
            </a:r>
          </a:p>
          <a:p>
            <a:pPr algn="l">
              <a:buFont typeface="+mj-lt"/>
              <a:buAutoNum type="arabicPeriod"/>
            </a:pPr>
            <a:endParaRPr lang="en-US" sz="2000" dirty="0">
              <a:solidFill>
                <a:srgbClr val="374151"/>
              </a:solidFill>
              <a:latin typeface="Söhne"/>
            </a:endParaRPr>
          </a:p>
          <a:p>
            <a:pPr marL="0" indent="0" algn="l">
              <a:buNone/>
            </a:pPr>
            <a:r>
              <a:rPr lang="en-IN" sz="2200" b="1" i="0" dirty="0">
                <a:solidFill>
                  <a:srgbClr val="374151"/>
                </a:solidFill>
                <a:effectLst/>
                <a:latin typeface="Söhne"/>
              </a:rPr>
              <a:t>Applications of RAG:</a:t>
            </a:r>
            <a:endParaRPr lang="en-IN" sz="2200" b="0" i="0" dirty="0">
              <a:solidFill>
                <a:srgbClr val="374151"/>
              </a:solidFill>
              <a:effectLst/>
              <a:latin typeface="Söhne"/>
            </a:endParaRPr>
          </a:p>
          <a:p>
            <a:pPr algn="l">
              <a:buFont typeface="+mj-lt"/>
              <a:buAutoNum type="arabicPeriod"/>
            </a:pPr>
            <a:r>
              <a:rPr lang="en-IN" sz="2000" b="1" i="0" dirty="0">
                <a:solidFill>
                  <a:srgbClr val="374151"/>
                </a:solidFill>
                <a:effectLst/>
                <a:latin typeface="Söhne"/>
              </a:rPr>
              <a:t>Question Answering:</a:t>
            </a:r>
            <a:r>
              <a:rPr lang="en-IN" sz="2000" dirty="0">
                <a:solidFill>
                  <a:srgbClr val="374151"/>
                </a:solidFill>
                <a:latin typeface="Söhne"/>
              </a:rPr>
              <a:t> </a:t>
            </a:r>
            <a:r>
              <a:rPr lang="en-IN" sz="2000" b="0" i="0" dirty="0">
                <a:solidFill>
                  <a:srgbClr val="374151"/>
                </a:solidFill>
                <a:effectLst/>
                <a:latin typeface="Söhne"/>
              </a:rPr>
              <a:t>Outperforms traditional fine-tuning on QA benchmarks.</a:t>
            </a:r>
          </a:p>
          <a:p>
            <a:pPr algn="l">
              <a:buFont typeface="+mj-lt"/>
              <a:buAutoNum type="arabicPeriod"/>
            </a:pPr>
            <a:r>
              <a:rPr lang="en-IN" sz="2000" b="1" i="0" dirty="0">
                <a:solidFill>
                  <a:srgbClr val="374151"/>
                </a:solidFill>
                <a:effectLst/>
                <a:latin typeface="Söhne"/>
              </a:rPr>
              <a:t>Text Summarization:</a:t>
            </a:r>
            <a:r>
              <a:rPr lang="en-IN" sz="2000" dirty="0">
                <a:solidFill>
                  <a:srgbClr val="374151"/>
                </a:solidFill>
                <a:latin typeface="Söhne"/>
              </a:rPr>
              <a:t> </a:t>
            </a:r>
            <a:r>
              <a:rPr lang="en-IN" sz="2000" b="0" i="0" dirty="0">
                <a:solidFill>
                  <a:srgbClr val="374151"/>
                </a:solidFill>
                <a:effectLst/>
                <a:latin typeface="Söhne"/>
              </a:rPr>
              <a:t>Generates more informative and comprehensive summaries.</a:t>
            </a:r>
          </a:p>
          <a:p>
            <a:pPr algn="l">
              <a:buFont typeface="+mj-lt"/>
              <a:buAutoNum type="arabicPeriod"/>
            </a:pPr>
            <a:r>
              <a:rPr lang="en-IN" sz="2000" b="1" i="0" dirty="0">
                <a:solidFill>
                  <a:srgbClr val="374151"/>
                </a:solidFill>
                <a:effectLst/>
                <a:latin typeface="Söhne"/>
              </a:rPr>
              <a:t>Dialogue Generation:</a:t>
            </a:r>
            <a:r>
              <a:rPr lang="en-IN" sz="2000" dirty="0">
                <a:solidFill>
                  <a:srgbClr val="374151"/>
                </a:solidFill>
                <a:latin typeface="Söhne"/>
              </a:rPr>
              <a:t> </a:t>
            </a:r>
            <a:r>
              <a:rPr lang="en-IN" sz="2000" b="0" i="0" dirty="0">
                <a:solidFill>
                  <a:srgbClr val="374151"/>
                </a:solidFill>
                <a:effectLst/>
                <a:latin typeface="Söhne"/>
              </a:rPr>
              <a:t>Creates engaging conversational agents with improved context understanding.</a:t>
            </a:r>
          </a:p>
          <a:p>
            <a:pPr marL="0" indent="0" algn="l">
              <a:buNone/>
            </a:pPr>
            <a:endParaRPr lang="en-US" sz="2000" b="0" i="0" dirty="0">
              <a:solidFill>
                <a:srgbClr val="374151"/>
              </a:solidFill>
              <a:effectLst/>
              <a:latin typeface="Söhne"/>
            </a:endParaRPr>
          </a:p>
          <a:p>
            <a:pPr marL="0" indent="0" algn="l">
              <a:buNone/>
            </a:pPr>
            <a:endParaRPr lang="en-US" sz="2000" b="0" i="0" dirty="0">
              <a:solidFill>
                <a:srgbClr val="374151"/>
              </a:solidFill>
              <a:effectLst/>
              <a:latin typeface="+mn-lt"/>
            </a:endParaRPr>
          </a:p>
        </p:txBody>
      </p:sp>
    </p:spTree>
    <p:extLst>
      <p:ext uri="{BB962C8B-B14F-4D97-AF65-F5344CB8AC3E}">
        <p14:creationId xmlns:p14="http://schemas.microsoft.com/office/powerpoint/2010/main" val="19322893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BA2E58-FEC9-D54D-ACC0-E7CEEF5F42E4}"/>
              </a:ext>
            </a:extLst>
          </p:cNvPr>
          <p:cNvSpPr>
            <a:spLocks noGrp="1"/>
          </p:cNvSpPr>
          <p:nvPr>
            <p:ph type="title"/>
          </p:nvPr>
        </p:nvSpPr>
        <p:spPr/>
        <p:txBody>
          <a:bodyPr>
            <a:normAutofit/>
          </a:bodyPr>
          <a:lstStyle/>
          <a:p>
            <a:r>
              <a:rPr lang="en-US" dirty="0"/>
              <a:t>Practical Exercise</a:t>
            </a:r>
          </a:p>
        </p:txBody>
      </p:sp>
      <p:sp>
        <p:nvSpPr>
          <p:cNvPr id="3" name="Content Placeholder 2">
            <a:extLst>
              <a:ext uri="{FF2B5EF4-FFF2-40B4-BE49-F238E27FC236}">
                <a16:creationId xmlns:a16="http://schemas.microsoft.com/office/drawing/2014/main" id="{CB071890-575E-F98C-E2A4-BC2D1C459837}"/>
              </a:ext>
            </a:extLst>
          </p:cNvPr>
          <p:cNvSpPr>
            <a:spLocks noGrp="1"/>
          </p:cNvSpPr>
          <p:nvPr>
            <p:ph sz="half" idx="1"/>
          </p:nvPr>
        </p:nvSpPr>
        <p:spPr>
          <a:xfrm>
            <a:off x="636489" y="1440200"/>
            <a:ext cx="10876625" cy="4781306"/>
          </a:xfrm>
        </p:spPr>
        <p:txBody>
          <a:bodyPr>
            <a:noAutofit/>
          </a:bodyPr>
          <a:lstStyle/>
          <a:p>
            <a:pPr marL="457200" indent="-457200" algn="l">
              <a:buFont typeface="+mj-lt"/>
              <a:buAutoNum type="arabicPeriod"/>
            </a:pPr>
            <a:r>
              <a:rPr lang="en-US" sz="2200" b="0" dirty="0">
                <a:solidFill>
                  <a:srgbClr val="374151"/>
                </a:solidFill>
                <a:effectLst/>
                <a:latin typeface="+mn-lt"/>
              </a:rPr>
              <a:t>Training/Fine Tuning GPT2 on Indian Food Recipe Dataset and Evaluating on BLUE &amp; ROUGE Score</a:t>
            </a:r>
          </a:p>
          <a:p>
            <a:pPr marL="457200" indent="-457200" algn="l">
              <a:buFont typeface="+mj-lt"/>
              <a:buAutoNum type="arabicPeriod"/>
            </a:pPr>
            <a:endParaRPr lang="en-US" sz="2200" dirty="0">
              <a:solidFill>
                <a:srgbClr val="374151"/>
              </a:solidFill>
              <a:latin typeface="+mn-lt"/>
            </a:endParaRPr>
          </a:p>
          <a:p>
            <a:pPr marL="457200" indent="-457200" algn="l">
              <a:buFont typeface="+mj-lt"/>
              <a:buAutoNum type="arabicPeriod"/>
            </a:pPr>
            <a:r>
              <a:rPr lang="en-US" sz="2200" b="0" dirty="0">
                <a:solidFill>
                  <a:srgbClr val="374151"/>
                </a:solidFill>
                <a:effectLst/>
                <a:latin typeface="+mn-lt"/>
              </a:rPr>
              <a:t>Training /Fine Tuning Flan-T5 on Dialogue on </a:t>
            </a:r>
            <a:r>
              <a:rPr lang="en-US" sz="2200" b="0" dirty="0" err="1">
                <a:solidFill>
                  <a:srgbClr val="374151"/>
                </a:solidFill>
                <a:effectLst/>
                <a:latin typeface="+mn-lt"/>
              </a:rPr>
              <a:t>knkarthick</a:t>
            </a:r>
            <a:r>
              <a:rPr lang="en-US" sz="2200" b="0" dirty="0">
                <a:solidFill>
                  <a:srgbClr val="374151"/>
                </a:solidFill>
                <a:effectLst/>
                <a:latin typeface="+mn-lt"/>
              </a:rPr>
              <a:t> </a:t>
            </a:r>
            <a:r>
              <a:rPr lang="en-US" sz="2200" b="0" dirty="0" err="1">
                <a:solidFill>
                  <a:srgbClr val="374151"/>
                </a:solidFill>
                <a:effectLst/>
                <a:latin typeface="+mn-lt"/>
              </a:rPr>
              <a:t>dialogsum</a:t>
            </a:r>
            <a:r>
              <a:rPr lang="en-US" sz="2200" b="0" dirty="0">
                <a:solidFill>
                  <a:srgbClr val="374151"/>
                </a:solidFill>
                <a:effectLst/>
                <a:latin typeface="+mn-lt"/>
              </a:rPr>
              <a:t> </a:t>
            </a:r>
            <a:r>
              <a:rPr lang="en-US" sz="2200" b="0" dirty="0" err="1">
                <a:solidFill>
                  <a:srgbClr val="374151"/>
                </a:solidFill>
                <a:effectLst/>
                <a:latin typeface="+mn-lt"/>
              </a:rPr>
              <a:t>Datset</a:t>
            </a:r>
            <a:r>
              <a:rPr lang="en-US" sz="2200" b="0" dirty="0">
                <a:solidFill>
                  <a:srgbClr val="374151"/>
                </a:solidFill>
                <a:effectLst/>
                <a:latin typeface="+mn-lt"/>
              </a:rPr>
              <a:t> and </a:t>
            </a:r>
            <a:r>
              <a:rPr lang="en-US" sz="2200" b="0" dirty="0" err="1">
                <a:solidFill>
                  <a:srgbClr val="374151"/>
                </a:solidFill>
                <a:effectLst/>
                <a:latin typeface="+mn-lt"/>
              </a:rPr>
              <a:t>Evaluting</a:t>
            </a:r>
            <a:endParaRPr lang="en-US" sz="2200" b="0" dirty="0">
              <a:solidFill>
                <a:srgbClr val="374151"/>
              </a:solidFill>
              <a:effectLst/>
              <a:latin typeface="+mn-lt"/>
            </a:endParaRPr>
          </a:p>
          <a:p>
            <a:pPr marL="0" indent="0" algn="l">
              <a:buNone/>
            </a:pPr>
            <a:endParaRPr lang="en-US" sz="2200" dirty="0">
              <a:solidFill>
                <a:srgbClr val="374151"/>
              </a:solidFill>
              <a:latin typeface="+mn-lt"/>
            </a:endParaRPr>
          </a:p>
          <a:p>
            <a:pPr marL="0" indent="0" algn="l">
              <a:buNone/>
            </a:pPr>
            <a:r>
              <a:rPr lang="en-US" sz="2200" b="0" dirty="0">
                <a:solidFill>
                  <a:srgbClr val="374151"/>
                </a:solidFill>
                <a:effectLst/>
                <a:latin typeface="+mn-lt"/>
              </a:rPr>
              <a:t>Note: Use Google </a:t>
            </a:r>
            <a:r>
              <a:rPr lang="en-US" sz="2200" b="0" dirty="0" err="1">
                <a:solidFill>
                  <a:srgbClr val="374151"/>
                </a:solidFill>
                <a:effectLst/>
                <a:latin typeface="+mn-lt"/>
              </a:rPr>
              <a:t>Colabotory</a:t>
            </a:r>
            <a:endParaRPr lang="en-US" sz="2200" b="0" dirty="0">
              <a:solidFill>
                <a:srgbClr val="1F1F1F"/>
              </a:solidFill>
              <a:effectLst/>
              <a:latin typeface="+mn-lt"/>
            </a:endParaRPr>
          </a:p>
        </p:txBody>
      </p:sp>
    </p:spTree>
    <p:extLst>
      <p:ext uri="{BB962C8B-B14F-4D97-AF65-F5344CB8AC3E}">
        <p14:creationId xmlns:p14="http://schemas.microsoft.com/office/powerpoint/2010/main" val="878024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1DBBFEC-17D0-1D96-6CDC-0E5B94EF077B}"/>
              </a:ext>
            </a:extLst>
          </p:cNvPr>
          <p:cNvSpPr/>
          <p:nvPr/>
        </p:nvSpPr>
        <p:spPr>
          <a:xfrm>
            <a:off x="0" y="2091872"/>
            <a:ext cx="12192000" cy="17653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600" b="1" dirty="0">
                <a:latin typeface="Calibri" panose="020F0502020204030204" pitchFamily="34" charset="0"/>
              </a:rPr>
              <a:t>Thank You</a:t>
            </a:r>
            <a:endParaRPr lang="en-IN" sz="6600" b="1" dirty="0">
              <a:latin typeface="Calibri" panose="020F0502020204030204" pitchFamily="34" charset="0"/>
            </a:endParaRPr>
          </a:p>
        </p:txBody>
      </p:sp>
    </p:spTree>
    <p:extLst>
      <p:ext uri="{BB962C8B-B14F-4D97-AF65-F5344CB8AC3E}">
        <p14:creationId xmlns:p14="http://schemas.microsoft.com/office/powerpoint/2010/main" val="2438371579"/>
      </p:ext>
    </p:extLst>
  </p:cSld>
  <p:clrMapOvr>
    <a:masterClrMapping/>
  </p:clrMapOvr>
</p:sld>
</file>

<file path=ppt/theme/theme1.xml><?xml version="1.0" encoding="utf-8"?>
<a:theme xmlns:a="http://schemas.openxmlformats.org/drawingml/2006/main" name="BIA Template">
  <a:themeElements>
    <a:clrScheme name="Custom 4">
      <a:dk1>
        <a:srgbClr val="161A3E"/>
      </a:dk1>
      <a:lt1>
        <a:sysClr val="window" lastClr="FFFFFF"/>
      </a:lt1>
      <a:dk2>
        <a:srgbClr val="44546A"/>
      </a:dk2>
      <a:lt2>
        <a:srgbClr val="E7E6E6"/>
      </a:lt2>
      <a:accent1>
        <a:srgbClr val="4472C4"/>
      </a:accent1>
      <a:accent2>
        <a:srgbClr val="ED7D31"/>
      </a:accent2>
      <a:accent3>
        <a:srgbClr val="44546A"/>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55686D848CA8F1468B82D0B10D413C3D" ma:contentTypeVersion="14" ma:contentTypeDescription="Create a new document." ma:contentTypeScope="" ma:versionID="d5b240a91a25ea1080fd952e7479a446">
  <xsd:schema xmlns:xsd="http://www.w3.org/2001/XMLSchema" xmlns:xs="http://www.w3.org/2001/XMLSchema" xmlns:p="http://schemas.microsoft.com/office/2006/metadata/properties" xmlns:ns3="0b87ff7c-3c57-48c1-96bc-a31a6ed1cbcb" xmlns:ns4="a632746c-79dd-4f4d-be17-3d74e0ddabab" targetNamespace="http://schemas.microsoft.com/office/2006/metadata/properties" ma:root="true" ma:fieldsID="aee445f81344f644d5fcf70b16318b60" ns3:_="" ns4:_="">
    <xsd:import namespace="0b87ff7c-3c57-48c1-96bc-a31a6ed1cbcb"/>
    <xsd:import namespace="a632746c-79dd-4f4d-be17-3d74e0ddabab"/>
    <xsd:element name="properties">
      <xsd:complexType>
        <xsd:sequence>
          <xsd:element name="documentManagement">
            <xsd:complexType>
              <xsd:all>
                <xsd:element ref="ns3:MediaServiceMetadata" minOccurs="0"/>
                <xsd:element ref="ns3:MediaServiceFastMetadata" minOccurs="0"/>
                <xsd:element ref="ns3:MediaServiceDateTaken"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4:SharedWithUsers" minOccurs="0"/>
                <xsd:element ref="ns4:SharedWithDetails" minOccurs="0"/>
                <xsd:element ref="ns4:SharingHintHash" minOccurs="0"/>
                <xsd:element ref="ns3:MediaLengthInSeconds"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b87ff7c-3c57-48c1-96bc-a31a6ed1cbc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632746c-79dd-4f4d-be17-3d74e0ddabab"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SharingHintHash" ma:index="19"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F335C384-48F3-4C56-BA76-9BAB67B44D39}">
  <ds:schemaRefs>
    <ds:schemaRef ds:uri="http://schemas.microsoft.com/sharepoint/v3/contenttype/forms"/>
  </ds:schemaRefs>
</ds:datastoreItem>
</file>

<file path=customXml/itemProps2.xml><?xml version="1.0" encoding="utf-8"?>
<ds:datastoreItem xmlns:ds="http://schemas.openxmlformats.org/officeDocument/2006/customXml" ds:itemID="{7B179B08-DF72-4C20-A948-2D56E83438B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b87ff7c-3c57-48c1-96bc-a31a6ed1cbcb"/>
    <ds:schemaRef ds:uri="a632746c-79dd-4f4d-be17-3d74e0ddaba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C5398AB8-945C-4DC8-B3D3-036E118D8E9E}">
  <ds:schemaRefs>
    <ds:schemaRef ds:uri="http://purl.org/dc/terms/"/>
    <ds:schemaRef ds:uri="http://schemas.microsoft.com/office/2006/documentManagement/types"/>
    <ds:schemaRef ds:uri="0b87ff7c-3c57-48c1-96bc-a31a6ed1cbcb"/>
    <ds:schemaRef ds:uri="http://purl.org/dc/dcmitype/"/>
    <ds:schemaRef ds:uri="http://schemas.microsoft.com/office/infopath/2007/PartnerControls"/>
    <ds:schemaRef ds:uri="http://schemas.openxmlformats.org/package/2006/metadata/core-properties"/>
    <ds:schemaRef ds:uri="http://purl.org/dc/elements/1.1/"/>
    <ds:schemaRef ds:uri="a632746c-79dd-4f4d-be17-3d74e0ddabab"/>
    <ds:schemaRef ds:uri="http://schemas.microsoft.com/office/2006/metadata/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Office 2013 - 2022 Theme</Template>
  <TotalTime>9526</TotalTime>
  <Words>1440</Words>
  <Application>Microsoft Office PowerPoint</Application>
  <PresentationFormat>Widescreen</PresentationFormat>
  <Paragraphs>236</Paragraphs>
  <Slides>22</Slides>
  <Notes>18</Notes>
  <HiddenSlides>0</HiddenSlides>
  <MMClips>0</MMClip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BIA Template</vt:lpstr>
      <vt:lpstr>PowerPoint Presentation</vt:lpstr>
      <vt:lpstr>Trainer Guidelines for Conducting Class</vt:lpstr>
      <vt:lpstr>Agenda</vt:lpstr>
      <vt:lpstr>Fine-tuning LLMs for Specific Tasks</vt:lpstr>
      <vt:lpstr>Cont…</vt:lpstr>
      <vt:lpstr>Cont…</vt:lpstr>
      <vt:lpstr>Cont…</vt:lpstr>
      <vt:lpstr>Cont…</vt:lpstr>
      <vt:lpstr>Dataset Preparation and Pre-processing</vt:lpstr>
      <vt:lpstr>Cont…</vt:lpstr>
      <vt:lpstr>Cont…</vt:lpstr>
      <vt:lpstr>Cont…</vt:lpstr>
      <vt:lpstr>Fine-tuning Hyperparameter Optimization</vt:lpstr>
      <vt:lpstr>Cont…</vt:lpstr>
      <vt:lpstr>Cont…</vt:lpstr>
      <vt:lpstr>Performance Evaluation Metrics</vt:lpstr>
      <vt:lpstr>Cont…</vt:lpstr>
      <vt:lpstr>Cont…</vt:lpstr>
      <vt:lpstr>Introduction to RAG for Fine-tuning</vt:lpstr>
      <vt:lpstr>Cont…</vt:lpstr>
      <vt:lpstr>Practical Exercise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Aayush Shah</dc:creator>
  <cp:lastModifiedBy>Piyush Akkewar</cp:lastModifiedBy>
  <cp:revision>1982</cp:revision>
  <dcterms:created xsi:type="dcterms:W3CDTF">2020-12-23T13:36:00Z</dcterms:created>
  <dcterms:modified xsi:type="dcterms:W3CDTF">2024-07-16T07:49:53Z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0B547D39C558497AB25C6414A889D07D</vt:lpwstr>
  </property>
  <property fmtid="{D5CDD505-2E9C-101B-9397-08002B2CF9AE}" pid="3" name="KSOProductBuildVer">
    <vt:lpwstr>1033-11.2.0.11306</vt:lpwstr>
  </property>
  <property fmtid="{D5CDD505-2E9C-101B-9397-08002B2CF9AE}" pid="4" name="ContentTypeId">
    <vt:lpwstr>0x01010055686D848CA8F1468B82D0B10D413C3D</vt:lpwstr>
  </property>
</Properties>
</file>