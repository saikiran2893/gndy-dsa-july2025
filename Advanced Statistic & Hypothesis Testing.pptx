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bookmarkIdSeed="2">
  <p:sldMasterIdLst>
    <p:sldMasterId id="2147483660" r:id="rId1"/>
  </p:sldMasterIdLst>
  <p:notesMasterIdLst>
    <p:notesMasterId r:id="rId71"/>
  </p:notesMasterIdLst>
  <p:sldIdLst>
    <p:sldId id="256" r:id="rId2"/>
    <p:sldId id="668" r:id="rId3"/>
    <p:sldId id="302" r:id="rId4"/>
    <p:sldId id="305" r:id="rId5"/>
    <p:sldId id="587" r:id="rId6"/>
    <p:sldId id="588" r:id="rId7"/>
    <p:sldId id="647" r:id="rId8"/>
    <p:sldId id="590" r:id="rId9"/>
    <p:sldId id="661" r:id="rId10"/>
    <p:sldId id="659" r:id="rId11"/>
    <p:sldId id="660" r:id="rId12"/>
    <p:sldId id="656" r:id="rId13"/>
    <p:sldId id="612" r:id="rId14"/>
    <p:sldId id="613" r:id="rId15"/>
    <p:sldId id="648" r:id="rId16"/>
    <p:sldId id="591" r:id="rId17"/>
    <p:sldId id="589" r:id="rId18"/>
    <p:sldId id="566" r:id="rId19"/>
    <p:sldId id="611" r:id="rId20"/>
    <p:sldId id="614" r:id="rId21"/>
    <p:sldId id="615" r:id="rId22"/>
    <p:sldId id="616" r:id="rId23"/>
    <p:sldId id="617" r:id="rId24"/>
    <p:sldId id="657" r:id="rId25"/>
    <p:sldId id="649" r:id="rId26"/>
    <p:sldId id="567" r:id="rId27"/>
    <p:sldId id="650" r:id="rId28"/>
    <p:sldId id="592" r:id="rId29"/>
    <p:sldId id="602" r:id="rId30"/>
    <p:sldId id="618" r:id="rId31"/>
    <p:sldId id="651" r:id="rId32"/>
    <p:sldId id="619" r:id="rId33"/>
    <p:sldId id="620" r:id="rId34"/>
    <p:sldId id="621" r:id="rId35"/>
    <p:sldId id="622" r:id="rId36"/>
    <p:sldId id="623" r:id="rId37"/>
    <p:sldId id="653" r:id="rId38"/>
    <p:sldId id="624" r:id="rId39"/>
    <p:sldId id="625" r:id="rId40"/>
    <p:sldId id="626" r:id="rId41"/>
    <p:sldId id="627" r:id="rId42"/>
    <p:sldId id="652" r:id="rId43"/>
    <p:sldId id="628" r:id="rId44"/>
    <p:sldId id="662" r:id="rId45"/>
    <p:sldId id="663" r:id="rId46"/>
    <p:sldId id="629" r:id="rId47"/>
    <p:sldId id="630" r:id="rId48"/>
    <p:sldId id="631" r:id="rId49"/>
    <p:sldId id="632" r:id="rId50"/>
    <p:sldId id="633" r:id="rId51"/>
    <p:sldId id="654" r:id="rId52"/>
    <p:sldId id="634" r:id="rId53"/>
    <p:sldId id="635" r:id="rId54"/>
    <p:sldId id="665" r:id="rId55"/>
    <p:sldId id="666" r:id="rId56"/>
    <p:sldId id="664" r:id="rId57"/>
    <p:sldId id="636" r:id="rId58"/>
    <p:sldId id="637" r:id="rId59"/>
    <p:sldId id="638" r:id="rId60"/>
    <p:sldId id="639" r:id="rId61"/>
    <p:sldId id="655" r:id="rId62"/>
    <p:sldId id="640" r:id="rId63"/>
    <p:sldId id="642" r:id="rId64"/>
    <p:sldId id="643" r:id="rId65"/>
    <p:sldId id="667" r:id="rId66"/>
    <p:sldId id="644" r:id="rId67"/>
    <p:sldId id="645" r:id="rId68"/>
    <p:sldId id="646" r:id="rId69"/>
    <p:sldId id="303" r:id="rId7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BBCFF"/>
    <a:srgbClr val="060912"/>
    <a:srgbClr val="323B8D"/>
    <a:srgbClr val="2F5597"/>
    <a:srgbClr val="011422"/>
    <a:srgbClr val="5B9BD5"/>
    <a:srgbClr val="333F50"/>
    <a:srgbClr val="9DC3E6"/>
    <a:srgbClr val="161A3E"/>
    <a:srgbClr val="1A161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6CCED91-B28E-AF08-7057-C72D7558280C}" v="1" dt="2024-07-16T07:40:42.08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718" autoAdjust="0"/>
    <p:restoredTop sz="94364" autoAdjust="0"/>
  </p:normalViewPr>
  <p:slideViewPr>
    <p:cSldViewPr snapToGrid="0">
      <p:cViewPr varScale="1">
        <p:scale>
          <a:sx n="91" d="100"/>
          <a:sy n="91" d="100"/>
        </p:scale>
        <p:origin x="154" y="48"/>
      </p:cViewPr>
      <p:guideLst/>
    </p:cSldViewPr>
  </p:slideViewPr>
  <p:notesTextViewPr>
    <p:cViewPr>
      <p:scale>
        <a:sx n="75" d="100"/>
        <a:sy n="75" d="100"/>
      </p:scale>
      <p:origin x="0" y="0"/>
    </p:cViewPr>
  </p:notesTextViewPr>
  <p:sorterViewPr>
    <p:cViewPr>
      <p:scale>
        <a:sx n="100" d="100"/>
        <a:sy n="100" d="100"/>
      </p:scale>
      <p:origin x="0" y="-108"/>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microsoft.com/office/2015/10/relationships/revisionInfo" Target="revisionInfo.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microsoft.com/office/2016/11/relationships/changesInfo" Target="changesInfos/changesInfo1.xml"/><Relationship Id="rId7" Type="http://schemas.openxmlformats.org/officeDocument/2006/relationships/slide" Target="slides/slide6.xml"/><Relationship Id="rId71" Type="http://schemas.openxmlformats.org/officeDocument/2006/relationships/notesMaster" Target="notesMasters/notesMaster1.xml"/><Relationship Id="rId2" Type="http://schemas.openxmlformats.org/officeDocument/2006/relationships/slide" Target="slides/slide1.xml"/><Relationship Id="rId29" Type="http://schemas.openxmlformats.org/officeDocument/2006/relationships/slide" Target="slides/slide2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uraj Chopade" userId="S::suraj.chopade@bostoninstituteofanalytics.org::dcc44ee8-6a65-4538-a5e1-c87e14ca7a61" providerId="AD" clId="Web-{9A8F9D0B-FA08-52AC-0066-89592D2F01CF}"/>
    <pc:docChg chg="modSld">
      <pc:chgData name="Suraj Chopade" userId="S::suraj.chopade@bostoninstituteofanalytics.org::dcc44ee8-6a65-4538-a5e1-c87e14ca7a61" providerId="AD" clId="Web-{9A8F9D0B-FA08-52AC-0066-89592D2F01CF}" dt="2024-01-26T11:09:07.613" v="2" actId="20577"/>
      <pc:docMkLst>
        <pc:docMk/>
      </pc:docMkLst>
      <pc:sldChg chg="modSp">
        <pc:chgData name="Suraj Chopade" userId="S::suraj.chopade@bostoninstituteofanalytics.org::dcc44ee8-6a65-4538-a5e1-c87e14ca7a61" providerId="AD" clId="Web-{9A8F9D0B-FA08-52AC-0066-89592D2F01CF}" dt="2024-01-26T11:09:07.613" v="2" actId="20577"/>
        <pc:sldMkLst>
          <pc:docMk/>
          <pc:sldMk cId="35205342" sldId="657"/>
        </pc:sldMkLst>
        <pc:spChg chg="mod">
          <ac:chgData name="Suraj Chopade" userId="S::suraj.chopade@bostoninstituteofanalytics.org::dcc44ee8-6a65-4538-a5e1-c87e14ca7a61" providerId="AD" clId="Web-{9A8F9D0B-FA08-52AC-0066-89592D2F01CF}" dt="2024-01-26T11:09:07.613" v="2" actId="20577"/>
          <ac:spMkLst>
            <pc:docMk/>
            <pc:sldMk cId="35205342" sldId="657"/>
            <ac:spMk id="2" creationId="{51BD8EE4-E814-EAE0-BED1-7FC05087C9A5}"/>
          </ac:spMkLst>
        </pc:spChg>
      </pc:sldChg>
    </pc:docChg>
  </pc:docChgLst>
  <pc:docChgLst>
    <pc:chgData name="Suraj Chopade" userId="S::suraj.chopade@bostoninstituteofanalytics.org::dcc44ee8-6a65-4538-a5e1-c87e14ca7a61" providerId="AD" clId="Web-{36CCED91-B28E-AF08-7057-C72D7558280C}"/>
    <pc:docChg chg="addSld">
      <pc:chgData name="Suraj Chopade" userId="S::suraj.chopade@bostoninstituteofanalytics.org::dcc44ee8-6a65-4538-a5e1-c87e14ca7a61" providerId="AD" clId="Web-{36CCED91-B28E-AF08-7057-C72D7558280C}" dt="2024-07-16T07:40:42.086" v="0"/>
      <pc:docMkLst>
        <pc:docMk/>
      </pc:docMkLst>
      <pc:sldChg chg="add">
        <pc:chgData name="Suraj Chopade" userId="S::suraj.chopade@bostoninstituteofanalytics.org::dcc44ee8-6a65-4538-a5e1-c87e14ca7a61" providerId="AD" clId="Web-{36CCED91-B28E-AF08-7057-C72D7558280C}" dt="2024-07-16T07:40:42.086" v="0"/>
        <pc:sldMkLst>
          <pc:docMk/>
          <pc:sldMk cId="228880180" sldId="668"/>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20077D8-B575-4753-B8FD-F5736649C91E}" type="datetimeFigureOut">
              <a:rPr lang="en-IN" smtClean="0"/>
              <a:t>16-07-2024</a:t>
            </a:fld>
            <a:endParaRPr lang="en-IN"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7FFB008-8E38-46F5-BCB9-8CFEF233CF3A}" type="slidenum">
              <a:rPr lang="en-IN" smtClean="0"/>
              <a:t>‹#›</a:t>
            </a:fld>
            <a:endParaRPr lang="en-IN" dirty="0"/>
          </a:p>
        </p:txBody>
      </p:sp>
    </p:spTree>
    <p:extLst>
      <p:ext uri="{BB962C8B-B14F-4D97-AF65-F5344CB8AC3E}">
        <p14:creationId xmlns:p14="http://schemas.microsoft.com/office/powerpoint/2010/main" val="40341884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7FFB008-8E38-46F5-BCB9-8CFEF233CF3A}" type="slidenum">
              <a:rPr lang="en-IN" smtClean="0"/>
              <a:t>4</a:t>
            </a:fld>
            <a:endParaRPr lang="en-IN" dirty="0"/>
          </a:p>
        </p:txBody>
      </p:sp>
    </p:spTree>
    <p:extLst>
      <p:ext uri="{BB962C8B-B14F-4D97-AF65-F5344CB8AC3E}">
        <p14:creationId xmlns:p14="http://schemas.microsoft.com/office/powerpoint/2010/main" val="40699189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7FFB008-8E38-46F5-BCB9-8CFEF233CF3A}" type="slidenum">
              <a:rPr lang="en-IN" smtClean="0"/>
              <a:t>17</a:t>
            </a:fld>
            <a:endParaRPr lang="en-IN" dirty="0"/>
          </a:p>
        </p:txBody>
      </p:sp>
    </p:spTree>
    <p:extLst>
      <p:ext uri="{BB962C8B-B14F-4D97-AF65-F5344CB8AC3E}">
        <p14:creationId xmlns:p14="http://schemas.microsoft.com/office/powerpoint/2010/main" val="122973682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7FFB008-8E38-46F5-BCB9-8CFEF233CF3A}" type="slidenum">
              <a:rPr lang="en-IN" smtClean="0"/>
              <a:t>18</a:t>
            </a:fld>
            <a:endParaRPr lang="en-IN" dirty="0"/>
          </a:p>
        </p:txBody>
      </p:sp>
    </p:spTree>
    <p:extLst>
      <p:ext uri="{BB962C8B-B14F-4D97-AF65-F5344CB8AC3E}">
        <p14:creationId xmlns:p14="http://schemas.microsoft.com/office/powerpoint/2010/main" val="402270408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import </a:t>
            </a:r>
            <a:r>
              <a:rPr lang="en-IN" dirty="0" err="1"/>
              <a:t>numpy</a:t>
            </a:r>
            <a:r>
              <a:rPr lang="en-IN" dirty="0"/>
              <a:t> as np</a:t>
            </a:r>
          </a:p>
          <a:p>
            <a:r>
              <a:rPr lang="en-IN" dirty="0"/>
              <a:t>from </a:t>
            </a:r>
            <a:r>
              <a:rPr lang="en-IN" dirty="0" err="1"/>
              <a:t>scipy.stats</a:t>
            </a:r>
            <a:r>
              <a:rPr lang="en-IN" dirty="0"/>
              <a:t> import f</a:t>
            </a:r>
          </a:p>
          <a:p>
            <a:endParaRPr lang="en-IN" dirty="0"/>
          </a:p>
          <a:p>
            <a:r>
              <a:rPr lang="en-IN" dirty="0"/>
              <a:t># Given data</a:t>
            </a:r>
          </a:p>
          <a:p>
            <a:r>
              <a:rPr lang="en-IN" dirty="0"/>
              <a:t>school_1 = </a:t>
            </a:r>
            <a:r>
              <a:rPr lang="en-IN" dirty="0" err="1"/>
              <a:t>np.array</a:t>
            </a:r>
            <a:r>
              <a:rPr lang="en-IN" dirty="0"/>
              <a:t>([85, 88, 90, 92, 86])</a:t>
            </a:r>
          </a:p>
          <a:p>
            <a:r>
              <a:rPr lang="en-IN" dirty="0"/>
              <a:t>school_2 = </a:t>
            </a:r>
            <a:r>
              <a:rPr lang="en-IN" dirty="0" err="1"/>
              <a:t>np.array</a:t>
            </a:r>
            <a:r>
              <a:rPr lang="en-IN" dirty="0"/>
              <a:t>([78, 82, 80, 85, 88])</a:t>
            </a:r>
          </a:p>
          <a:p>
            <a:r>
              <a:rPr lang="en-IN" dirty="0"/>
              <a:t>school_3 = </a:t>
            </a:r>
            <a:r>
              <a:rPr lang="en-IN" dirty="0" err="1"/>
              <a:t>np.array</a:t>
            </a:r>
            <a:r>
              <a:rPr lang="en-IN" dirty="0"/>
              <a:t>([92, 94, 89, 88, 90])</a:t>
            </a:r>
          </a:p>
          <a:p>
            <a:endParaRPr lang="en-IN" dirty="0"/>
          </a:p>
          <a:p>
            <a:r>
              <a:rPr lang="en-IN" dirty="0"/>
              <a:t># Step 1: Calculate Grand Mean</a:t>
            </a:r>
          </a:p>
          <a:p>
            <a:r>
              <a:rPr lang="en-IN" dirty="0" err="1"/>
              <a:t>all_scores</a:t>
            </a:r>
            <a:r>
              <a:rPr lang="en-IN" dirty="0"/>
              <a:t> = </a:t>
            </a:r>
            <a:r>
              <a:rPr lang="en-IN" dirty="0" err="1"/>
              <a:t>np.concatenate</a:t>
            </a:r>
            <a:r>
              <a:rPr lang="en-IN" dirty="0"/>
              <a:t>([school_1, school_2, school_3])</a:t>
            </a:r>
          </a:p>
          <a:p>
            <a:r>
              <a:rPr lang="en-IN" dirty="0" err="1"/>
              <a:t>grand_mean</a:t>
            </a:r>
            <a:r>
              <a:rPr lang="en-IN" dirty="0"/>
              <a:t> = </a:t>
            </a:r>
            <a:r>
              <a:rPr lang="en-IN" dirty="0" err="1"/>
              <a:t>np.mean</a:t>
            </a:r>
            <a:r>
              <a:rPr lang="en-IN" dirty="0"/>
              <a:t>(</a:t>
            </a:r>
            <a:r>
              <a:rPr lang="en-IN" dirty="0" err="1"/>
              <a:t>all_scores</a:t>
            </a:r>
            <a:r>
              <a:rPr lang="en-IN" dirty="0"/>
              <a:t>)</a:t>
            </a:r>
          </a:p>
          <a:p>
            <a:endParaRPr lang="en-IN" dirty="0"/>
          </a:p>
          <a:p>
            <a:r>
              <a:rPr lang="en-IN" dirty="0"/>
              <a:t># Step 2: Calculate SST</a:t>
            </a:r>
          </a:p>
          <a:p>
            <a:r>
              <a:rPr lang="en-IN" dirty="0" err="1"/>
              <a:t>sst</a:t>
            </a:r>
            <a:r>
              <a:rPr lang="en-IN" dirty="0"/>
              <a:t> = </a:t>
            </a:r>
            <a:r>
              <a:rPr lang="en-IN" dirty="0" err="1"/>
              <a:t>np.sum</a:t>
            </a:r>
            <a:r>
              <a:rPr lang="en-IN" dirty="0"/>
              <a:t>((</a:t>
            </a:r>
            <a:r>
              <a:rPr lang="en-IN" dirty="0" err="1"/>
              <a:t>all_scores</a:t>
            </a:r>
            <a:r>
              <a:rPr lang="en-IN" dirty="0"/>
              <a:t> - </a:t>
            </a:r>
            <a:r>
              <a:rPr lang="en-IN" dirty="0" err="1"/>
              <a:t>grand_mean</a:t>
            </a:r>
            <a:r>
              <a:rPr lang="en-IN" dirty="0"/>
              <a:t>)**2)</a:t>
            </a:r>
          </a:p>
          <a:p>
            <a:endParaRPr lang="en-IN" dirty="0"/>
          </a:p>
          <a:p>
            <a:r>
              <a:rPr lang="en-IN" dirty="0"/>
              <a:t># Step 3: Calculate SSB</a:t>
            </a:r>
          </a:p>
          <a:p>
            <a:r>
              <a:rPr lang="en-IN" dirty="0" err="1"/>
              <a:t>ssb</a:t>
            </a:r>
            <a:r>
              <a:rPr lang="en-IN" dirty="0"/>
              <a:t> = </a:t>
            </a:r>
            <a:r>
              <a:rPr lang="en-IN" dirty="0" err="1"/>
              <a:t>np.sum</a:t>
            </a:r>
            <a:r>
              <a:rPr lang="en-IN" dirty="0"/>
              <a:t>([</a:t>
            </a:r>
            <a:r>
              <a:rPr lang="en-IN" dirty="0" err="1"/>
              <a:t>len</a:t>
            </a:r>
            <a:r>
              <a:rPr lang="en-IN" dirty="0"/>
              <a:t>(school) * (</a:t>
            </a:r>
            <a:r>
              <a:rPr lang="en-IN" dirty="0" err="1"/>
              <a:t>np.mean</a:t>
            </a:r>
            <a:r>
              <a:rPr lang="en-IN" dirty="0"/>
              <a:t>(school) - </a:t>
            </a:r>
            <a:r>
              <a:rPr lang="en-IN" dirty="0" err="1"/>
              <a:t>grand_mean</a:t>
            </a:r>
            <a:r>
              <a:rPr lang="en-IN" dirty="0"/>
              <a:t>)**2 for school in [school_1, school_2, school_3]])</a:t>
            </a:r>
          </a:p>
          <a:p>
            <a:endParaRPr lang="en-IN" dirty="0"/>
          </a:p>
          <a:p>
            <a:r>
              <a:rPr lang="en-IN" dirty="0"/>
              <a:t># Step 4: Calculate SSW</a:t>
            </a:r>
          </a:p>
          <a:p>
            <a:r>
              <a:rPr lang="en-IN" dirty="0" err="1"/>
              <a:t>ssw</a:t>
            </a:r>
            <a:r>
              <a:rPr lang="en-IN" dirty="0"/>
              <a:t> = </a:t>
            </a:r>
            <a:r>
              <a:rPr lang="en-IN" dirty="0" err="1"/>
              <a:t>np.sum</a:t>
            </a:r>
            <a:r>
              <a:rPr lang="en-IN" dirty="0"/>
              <a:t>([(score - </a:t>
            </a:r>
            <a:r>
              <a:rPr lang="en-IN" dirty="0" err="1"/>
              <a:t>np.mean</a:t>
            </a:r>
            <a:r>
              <a:rPr lang="en-IN" dirty="0"/>
              <a:t>(school))**2 for school, scores in zip([school_1, school_2, school_3], [school_1, school_2, school_3]) for score in scores])</a:t>
            </a:r>
          </a:p>
          <a:p>
            <a:endParaRPr lang="en-IN" dirty="0"/>
          </a:p>
          <a:p>
            <a:r>
              <a:rPr lang="en-IN" dirty="0"/>
              <a:t># Step 5: Degrees of Freedom</a:t>
            </a:r>
          </a:p>
          <a:p>
            <a:r>
              <a:rPr lang="en-IN" dirty="0" err="1"/>
              <a:t>df_between</a:t>
            </a:r>
            <a:r>
              <a:rPr lang="en-IN" dirty="0"/>
              <a:t> = 3 - 1</a:t>
            </a:r>
          </a:p>
          <a:p>
            <a:r>
              <a:rPr lang="en-IN" dirty="0" err="1"/>
              <a:t>df_within</a:t>
            </a:r>
            <a:r>
              <a:rPr lang="en-IN" dirty="0"/>
              <a:t> = </a:t>
            </a:r>
            <a:r>
              <a:rPr lang="en-IN" dirty="0" err="1"/>
              <a:t>len</a:t>
            </a:r>
            <a:r>
              <a:rPr lang="en-IN" dirty="0"/>
              <a:t>(</a:t>
            </a:r>
            <a:r>
              <a:rPr lang="en-IN" dirty="0" err="1"/>
              <a:t>all_scores</a:t>
            </a:r>
            <a:r>
              <a:rPr lang="en-IN" dirty="0"/>
              <a:t>) - 3</a:t>
            </a:r>
          </a:p>
          <a:p>
            <a:endParaRPr lang="en-IN" dirty="0"/>
          </a:p>
          <a:p>
            <a:r>
              <a:rPr lang="en-IN" dirty="0"/>
              <a:t># Step 6: Calculate Mean Squares</a:t>
            </a:r>
          </a:p>
          <a:p>
            <a:r>
              <a:rPr lang="en-IN" dirty="0" err="1"/>
              <a:t>msb</a:t>
            </a:r>
            <a:r>
              <a:rPr lang="en-IN" dirty="0"/>
              <a:t> = </a:t>
            </a:r>
            <a:r>
              <a:rPr lang="en-IN" dirty="0" err="1"/>
              <a:t>ssb</a:t>
            </a:r>
            <a:r>
              <a:rPr lang="en-IN" dirty="0"/>
              <a:t> / </a:t>
            </a:r>
            <a:r>
              <a:rPr lang="en-IN" dirty="0" err="1"/>
              <a:t>df_between</a:t>
            </a:r>
            <a:endParaRPr lang="en-IN" dirty="0"/>
          </a:p>
          <a:p>
            <a:r>
              <a:rPr lang="en-IN" dirty="0" err="1"/>
              <a:t>msw</a:t>
            </a:r>
            <a:r>
              <a:rPr lang="en-IN" dirty="0"/>
              <a:t> = </a:t>
            </a:r>
            <a:r>
              <a:rPr lang="en-IN" dirty="0" err="1"/>
              <a:t>ssw</a:t>
            </a:r>
            <a:r>
              <a:rPr lang="en-IN" dirty="0"/>
              <a:t> / </a:t>
            </a:r>
            <a:r>
              <a:rPr lang="en-IN" dirty="0" err="1"/>
              <a:t>df_within</a:t>
            </a:r>
            <a:endParaRPr lang="en-IN" dirty="0"/>
          </a:p>
          <a:p>
            <a:endParaRPr lang="en-IN" dirty="0"/>
          </a:p>
          <a:p>
            <a:r>
              <a:rPr lang="en-IN" dirty="0"/>
              <a:t># Step 7: Calculate F-statistic</a:t>
            </a:r>
          </a:p>
          <a:p>
            <a:r>
              <a:rPr lang="en-IN" dirty="0" err="1"/>
              <a:t>f_statistic</a:t>
            </a:r>
            <a:r>
              <a:rPr lang="en-IN" dirty="0"/>
              <a:t> = </a:t>
            </a:r>
            <a:r>
              <a:rPr lang="en-IN" dirty="0" err="1"/>
              <a:t>msb</a:t>
            </a:r>
            <a:r>
              <a:rPr lang="en-IN" dirty="0"/>
              <a:t> / </a:t>
            </a:r>
            <a:r>
              <a:rPr lang="en-IN" dirty="0" err="1"/>
              <a:t>msw</a:t>
            </a:r>
            <a:endParaRPr lang="en-IN" dirty="0"/>
          </a:p>
          <a:p>
            <a:endParaRPr lang="en-IN" dirty="0"/>
          </a:p>
          <a:p>
            <a:r>
              <a:rPr lang="en-IN" dirty="0"/>
              <a:t># Step 8: Compare with Critical Value or P-value</a:t>
            </a:r>
          </a:p>
          <a:p>
            <a:r>
              <a:rPr lang="en-IN" dirty="0" err="1"/>
              <a:t>p_value</a:t>
            </a:r>
            <a:r>
              <a:rPr lang="en-IN" dirty="0"/>
              <a:t> = 1 - </a:t>
            </a:r>
            <a:r>
              <a:rPr lang="en-IN" dirty="0" err="1"/>
              <a:t>f.cdf</a:t>
            </a:r>
            <a:r>
              <a:rPr lang="en-IN" dirty="0"/>
              <a:t>(</a:t>
            </a:r>
            <a:r>
              <a:rPr lang="en-IN" dirty="0" err="1"/>
              <a:t>f_statistic</a:t>
            </a:r>
            <a:r>
              <a:rPr lang="en-IN" dirty="0"/>
              <a:t>, </a:t>
            </a:r>
            <a:r>
              <a:rPr lang="en-IN" dirty="0" err="1"/>
              <a:t>df_between</a:t>
            </a:r>
            <a:r>
              <a:rPr lang="en-IN" dirty="0"/>
              <a:t>, </a:t>
            </a:r>
            <a:r>
              <a:rPr lang="en-IN" dirty="0" err="1"/>
              <a:t>df_within</a:t>
            </a:r>
            <a:r>
              <a:rPr lang="en-IN" dirty="0"/>
              <a:t>)</a:t>
            </a:r>
          </a:p>
          <a:p>
            <a:endParaRPr lang="en-IN" dirty="0"/>
          </a:p>
          <a:p>
            <a:r>
              <a:rPr lang="en-IN" dirty="0"/>
              <a:t># Print results</a:t>
            </a:r>
          </a:p>
          <a:p>
            <a:r>
              <a:rPr lang="en-IN" dirty="0"/>
              <a:t>print(</a:t>
            </a:r>
            <a:r>
              <a:rPr lang="en-IN" dirty="0" err="1"/>
              <a:t>f"F</a:t>
            </a:r>
            <a:r>
              <a:rPr lang="en-IN" dirty="0"/>
              <a:t>-statistic: {</a:t>
            </a:r>
            <a:r>
              <a:rPr lang="en-IN" dirty="0" err="1"/>
              <a:t>f_statistic</a:t>
            </a:r>
            <a:r>
              <a:rPr lang="en-IN" dirty="0"/>
              <a:t>}")</a:t>
            </a:r>
          </a:p>
          <a:p>
            <a:r>
              <a:rPr lang="en-IN" dirty="0"/>
              <a:t>print(</a:t>
            </a:r>
            <a:r>
              <a:rPr lang="en-IN" dirty="0" err="1"/>
              <a:t>f"P</a:t>
            </a:r>
            <a:r>
              <a:rPr lang="en-IN" dirty="0"/>
              <a:t>-value: {</a:t>
            </a:r>
            <a:r>
              <a:rPr lang="en-IN" dirty="0" err="1"/>
              <a:t>p_value</a:t>
            </a:r>
            <a:r>
              <a:rPr lang="en-IN" dirty="0"/>
              <a:t>}")</a:t>
            </a:r>
          </a:p>
          <a:p>
            <a:endParaRPr lang="en-IN" dirty="0"/>
          </a:p>
          <a:p>
            <a:r>
              <a:rPr lang="en-IN" dirty="0"/>
              <a:t>alpha = 0.05</a:t>
            </a:r>
          </a:p>
          <a:p>
            <a:r>
              <a:rPr lang="en-IN" dirty="0"/>
              <a:t>if </a:t>
            </a:r>
            <a:r>
              <a:rPr lang="en-IN" dirty="0" err="1"/>
              <a:t>p_value</a:t>
            </a:r>
            <a:r>
              <a:rPr lang="en-IN" dirty="0"/>
              <a:t> &lt; alpha:</a:t>
            </a:r>
          </a:p>
          <a:p>
            <a:r>
              <a:rPr lang="en-IN" dirty="0"/>
              <a:t>    print("Reject the null hypothesis: \</a:t>
            </a:r>
            <a:r>
              <a:rPr lang="en-IN" dirty="0" err="1"/>
              <a:t>nThere</a:t>
            </a:r>
            <a:r>
              <a:rPr lang="en-IN" dirty="0"/>
              <a:t> are significant differences in test scores among the three schools.")</a:t>
            </a:r>
          </a:p>
          <a:p>
            <a:r>
              <a:rPr lang="en-IN" dirty="0"/>
              <a:t>else:</a:t>
            </a:r>
          </a:p>
          <a:p>
            <a:r>
              <a:rPr lang="en-IN" dirty="0"/>
              <a:t>    print("Fail to reject the null hypothesis: \</a:t>
            </a:r>
            <a:r>
              <a:rPr lang="en-IN" dirty="0" err="1"/>
              <a:t>nThere</a:t>
            </a:r>
            <a:r>
              <a:rPr lang="en-IN" dirty="0"/>
              <a:t> are no significant differences in test scores among the three schools.")</a:t>
            </a:r>
          </a:p>
        </p:txBody>
      </p:sp>
      <p:sp>
        <p:nvSpPr>
          <p:cNvPr id="4" name="Slide Number Placeholder 3"/>
          <p:cNvSpPr>
            <a:spLocks noGrp="1"/>
          </p:cNvSpPr>
          <p:nvPr>
            <p:ph type="sldNum" sz="quarter" idx="5"/>
          </p:nvPr>
        </p:nvSpPr>
        <p:spPr/>
        <p:txBody>
          <a:bodyPr/>
          <a:lstStyle/>
          <a:p>
            <a:fld id="{47FFB008-8E38-46F5-BCB9-8CFEF233CF3A}" type="slidenum">
              <a:rPr lang="en-IN" smtClean="0"/>
              <a:t>64</a:t>
            </a:fld>
            <a:endParaRPr lang="en-IN" dirty="0"/>
          </a:p>
        </p:txBody>
      </p:sp>
    </p:spTree>
    <p:extLst>
      <p:ext uri="{BB962C8B-B14F-4D97-AF65-F5344CB8AC3E}">
        <p14:creationId xmlns:p14="http://schemas.microsoft.com/office/powerpoint/2010/main" val="302458903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import </a:t>
            </a:r>
            <a:r>
              <a:rPr lang="en-US" dirty="0" err="1"/>
              <a:t>scipy.stats</a:t>
            </a:r>
            <a:r>
              <a:rPr lang="en-US" dirty="0"/>
              <a:t> as stats</a:t>
            </a:r>
          </a:p>
          <a:p>
            <a:r>
              <a:rPr lang="en-US" dirty="0"/>
              <a:t>import </a:t>
            </a:r>
            <a:r>
              <a:rPr lang="en-US" dirty="0" err="1"/>
              <a:t>numpy</a:t>
            </a:r>
            <a:r>
              <a:rPr lang="en-US" dirty="0"/>
              <a:t> as np</a:t>
            </a:r>
          </a:p>
          <a:p>
            <a:endParaRPr lang="en-US" dirty="0"/>
          </a:p>
          <a:p>
            <a:r>
              <a:rPr lang="en-US" dirty="0"/>
              <a:t># Data: Test scores for three schools</a:t>
            </a:r>
          </a:p>
          <a:p>
            <a:r>
              <a:rPr lang="en-US" dirty="0"/>
              <a:t>school_1 = </a:t>
            </a:r>
            <a:r>
              <a:rPr lang="en-US" dirty="0" err="1"/>
              <a:t>np.array</a:t>
            </a:r>
            <a:r>
              <a:rPr lang="en-US" dirty="0"/>
              <a:t>([85, 88, 90, 92, 86])</a:t>
            </a:r>
          </a:p>
          <a:p>
            <a:r>
              <a:rPr lang="en-US" dirty="0"/>
              <a:t>school_2 = </a:t>
            </a:r>
            <a:r>
              <a:rPr lang="en-US" dirty="0" err="1"/>
              <a:t>np.array</a:t>
            </a:r>
            <a:r>
              <a:rPr lang="en-US" dirty="0"/>
              <a:t>([78, 82, 80, 85, 88])</a:t>
            </a:r>
          </a:p>
          <a:p>
            <a:r>
              <a:rPr lang="en-US" dirty="0"/>
              <a:t>school_3 = </a:t>
            </a:r>
            <a:r>
              <a:rPr lang="en-US" dirty="0" err="1"/>
              <a:t>np.array</a:t>
            </a:r>
            <a:r>
              <a:rPr lang="en-US" dirty="0"/>
              <a:t>([92, 94, 89, 88, 90])</a:t>
            </a:r>
          </a:p>
          <a:p>
            <a:endParaRPr lang="en-US" dirty="0"/>
          </a:p>
          <a:p>
            <a:r>
              <a:rPr lang="en-US" dirty="0"/>
              <a:t># Perform one-way ANOVA</a:t>
            </a:r>
          </a:p>
          <a:p>
            <a:r>
              <a:rPr lang="en-US" dirty="0"/>
              <a:t>statistic, </a:t>
            </a:r>
            <a:r>
              <a:rPr lang="en-US" dirty="0" err="1"/>
              <a:t>p_value</a:t>
            </a:r>
            <a:r>
              <a:rPr lang="en-US" dirty="0"/>
              <a:t> = </a:t>
            </a:r>
            <a:r>
              <a:rPr lang="en-US" dirty="0" err="1"/>
              <a:t>stats.f_oneway</a:t>
            </a:r>
            <a:r>
              <a:rPr lang="en-US" dirty="0"/>
              <a:t>(school_1, school_2, school_3)</a:t>
            </a:r>
          </a:p>
          <a:p>
            <a:endParaRPr lang="en-US" dirty="0"/>
          </a:p>
          <a:p>
            <a:r>
              <a:rPr lang="en-US" dirty="0"/>
              <a:t># Print results</a:t>
            </a:r>
          </a:p>
          <a:p>
            <a:r>
              <a:rPr lang="en-US" dirty="0"/>
              <a:t>print(</a:t>
            </a:r>
            <a:r>
              <a:rPr lang="en-US" dirty="0" err="1"/>
              <a:t>f"One</a:t>
            </a:r>
            <a:r>
              <a:rPr lang="en-US" dirty="0"/>
              <a:t>-Way ANOVA Statistic: {statistic}")</a:t>
            </a:r>
          </a:p>
          <a:p>
            <a:r>
              <a:rPr lang="en-US" dirty="0"/>
              <a:t>print(</a:t>
            </a:r>
            <a:r>
              <a:rPr lang="en-US" dirty="0" err="1"/>
              <a:t>f"P</a:t>
            </a:r>
            <a:r>
              <a:rPr lang="en-US" dirty="0"/>
              <a:t>-value: {</a:t>
            </a:r>
            <a:r>
              <a:rPr lang="en-US" dirty="0" err="1"/>
              <a:t>p_value</a:t>
            </a:r>
            <a:r>
              <a:rPr lang="en-US" dirty="0"/>
              <a:t>}")</a:t>
            </a:r>
          </a:p>
          <a:p>
            <a:endParaRPr lang="en-US" dirty="0"/>
          </a:p>
          <a:p>
            <a:r>
              <a:rPr lang="en-US" dirty="0"/>
              <a:t># Check significance at a 0.05 significance level</a:t>
            </a:r>
          </a:p>
          <a:p>
            <a:r>
              <a:rPr lang="en-US" dirty="0"/>
              <a:t>alpha = 0.05</a:t>
            </a:r>
          </a:p>
          <a:p>
            <a:r>
              <a:rPr lang="en-US" dirty="0"/>
              <a:t>if </a:t>
            </a:r>
            <a:r>
              <a:rPr lang="en-US" dirty="0" err="1"/>
              <a:t>p_value</a:t>
            </a:r>
            <a:r>
              <a:rPr lang="en-US" dirty="0"/>
              <a:t> &lt; alpha:</a:t>
            </a:r>
          </a:p>
          <a:p>
            <a:r>
              <a:rPr lang="en-US" dirty="0"/>
              <a:t>    print("\</a:t>
            </a:r>
            <a:r>
              <a:rPr lang="en-US" dirty="0" err="1"/>
              <a:t>nReject</a:t>
            </a:r>
            <a:r>
              <a:rPr lang="en-US" dirty="0"/>
              <a:t> the null hypothesis: There are significant differences in test scores among the three schools.")</a:t>
            </a:r>
          </a:p>
          <a:p>
            <a:r>
              <a:rPr lang="en-US" dirty="0"/>
              <a:t>else:</a:t>
            </a:r>
          </a:p>
          <a:p>
            <a:r>
              <a:rPr lang="en-US" dirty="0"/>
              <a:t>    print("\</a:t>
            </a:r>
            <a:r>
              <a:rPr lang="en-US" dirty="0" err="1"/>
              <a:t>nFail</a:t>
            </a:r>
            <a:r>
              <a:rPr lang="en-US" dirty="0"/>
              <a:t> to reject the null hypothesis: There are no significant differences in test scores among the three schools.")</a:t>
            </a:r>
          </a:p>
          <a:p>
            <a:endParaRPr lang="en-IN" dirty="0"/>
          </a:p>
        </p:txBody>
      </p:sp>
      <p:sp>
        <p:nvSpPr>
          <p:cNvPr id="4" name="Slide Number Placeholder 3"/>
          <p:cNvSpPr>
            <a:spLocks noGrp="1"/>
          </p:cNvSpPr>
          <p:nvPr>
            <p:ph type="sldNum" sz="quarter" idx="5"/>
          </p:nvPr>
        </p:nvSpPr>
        <p:spPr/>
        <p:txBody>
          <a:bodyPr/>
          <a:lstStyle/>
          <a:p>
            <a:fld id="{47FFB008-8E38-46F5-BCB9-8CFEF233CF3A}" type="slidenum">
              <a:rPr lang="en-IN" smtClean="0"/>
              <a:t>66</a:t>
            </a:fld>
            <a:endParaRPr lang="en-IN" dirty="0"/>
          </a:p>
        </p:txBody>
      </p:sp>
    </p:spTree>
    <p:extLst>
      <p:ext uri="{BB962C8B-B14F-4D97-AF65-F5344CB8AC3E}">
        <p14:creationId xmlns:p14="http://schemas.microsoft.com/office/powerpoint/2010/main" val="261737665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grpSp>
        <p:nvGrpSpPr>
          <p:cNvPr id="21" name="Group 20">
            <a:extLst>
              <a:ext uri="{FF2B5EF4-FFF2-40B4-BE49-F238E27FC236}">
                <a16:creationId xmlns:a16="http://schemas.microsoft.com/office/drawing/2014/main" id="{1D4C31DA-14CA-CFBA-5089-9BCD0585380D}"/>
              </a:ext>
            </a:extLst>
          </p:cNvPr>
          <p:cNvGrpSpPr/>
          <p:nvPr userDrawn="1"/>
        </p:nvGrpSpPr>
        <p:grpSpPr>
          <a:xfrm>
            <a:off x="-21770" y="0"/>
            <a:ext cx="12213771" cy="6858000"/>
            <a:chOff x="-21770" y="0"/>
            <a:chExt cx="12213771" cy="6858000"/>
          </a:xfrm>
        </p:grpSpPr>
        <p:pic>
          <p:nvPicPr>
            <p:cNvPr id="6" name="Picture 5" descr="Tech Background&quot; Images – Browse 8,227 Stock Photos, Vectors, and Video |  Adobe Stock">
              <a:extLst>
                <a:ext uri="{FF2B5EF4-FFF2-40B4-BE49-F238E27FC236}">
                  <a16:creationId xmlns:a16="http://schemas.microsoft.com/office/drawing/2014/main" id="{912EDB8F-0820-57F6-5CDA-EEB6AC9EF357}"/>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l="2352" t="2332" r="1954" b="1250"/>
            <a:stretch>
              <a:fillRect/>
            </a:stretch>
          </p:blipFill>
          <p:spPr bwMode="auto">
            <a:xfrm>
              <a:off x="-21770" y="0"/>
              <a:ext cx="12213771" cy="6858000"/>
            </a:xfrm>
            <a:custGeom>
              <a:avLst/>
              <a:gdLst>
                <a:gd name="connsiteX0" fmla="*/ 0 w 12213771"/>
                <a:gd name="connsiteY0" fmla="*/ 0 h 6858000"/>
                <a:gd name="connsiteX1" fmla="*/ 12213771 w 12213771"/>
                <a:gd name="connsiteY1" fmla="*/ 0 h 6858000"/>
                <a:gd name="connsiteX2" fmla="*/ 12213771 w 12213771"/>
                <a:gd name="connsiteY2" fmla="*/ 6858000 h 6858000"/>
                <a:gd name="connsiteX3" fmla="*/ 0 w 1221377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213771" h="6858000">
                  <a:moveTo>
                    <a:pt x="0" y="0"/>
                  </a:moveTo>
                  <a:lnTo>
                    <a:pt x="12213771" y="0"/>
                  </a:lnTo>
                  <a:lnTo>
                    <a:pt x="12213771" y="6858000"/>
                  </a:lnTo>
                  <a:lnTo>
                    <a:pt x="0" y="6858000"/>
                  </a:lnTo>
                  <a:close/>
                </a:path>
              </a:pathLst>
            </a:custGeom>
            <a:noFill/>
            <a:extLst>
              <a:ext uri="{909E8E84-426E-40DD-AFC4-6F175D3DCCD1}">
                <a14:hiddenFill xmlns:a14="http://schemas.microsoft.com/office/drawing/2010/main">
                  <a:solidFill>
                    <a:srgbClr val="FFFFFF"/>
                  </a:solidFill>
                </a14:hiddenFill>
              </a:ext>
            </a:extLst>
          </p:spPr>
        </p:pic>
        <p:pic>
          <p:nvPicPr>
            <p:cNvPr id="18" name="Picture 17">
              <a:extLst>
                <a:ext uri="{FF2B5EF4-FFF2-40B4-BE49-F238E27FC236}">
                  <a16:creationId xmlns:a16="http://schemas.microsoft.com/office/drawing/2014/main" id="{97530BAD-0593-FBF1-1D42-9B727191475D}"/>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017794" y="913775"/>
              <a:ext cx="5159490" cy="1423752"/>
            </a:xfrm>
            <a:prstGeom prst="rect">
              <a:avLst/>
            </a:prstGeom>
          </p:spPr>
        </p:pic>
      </p:grpSp>
    </p:spTree>
    <p:extLst>
      <p:ext uri="{BB962C8B-B14F-4D97-AF65-F5344CB8AC3E}">
        <p14:creationId xmlns:p14="http://schemas.microsoft.com/office/powerpoint/2010/main" val="13311268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p>
            <a:r>
              <a:rPr lang="en-US" dirty="0"/>
              <a:t>Click to edit Master title style</a:t>
            </a:r>
          </a:p>
        </p:txBody>
      </p:sp>
      <p:sp>
        <p:nvSpPr>
          <p:cNvPr id="3" name="Content Placeholder 2"/>
          <p:cNvSpPr>
            <a:spLocks noGrp="1"/>
          </p:cNvSpPr>
          <p:nvPr>
            <p:ph idx="1"/>
          </p:nvPr>
        </p:nvSpPr>
        <p:spPr>
          <a:xfrm>
            <a:off x="678884" y="1659835"/>
            <a:ext cx="10834234"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4126523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One Third">
    <p:spTree>
      <p:nvGrpSpPr>
        <p:cNvPr id="1" name=""/>
        <p:cNvGrpSpPr/>
        <p:nvPr/>
      </p:nvGrpSpPr>
      <p:grpSpPr>
        <a:xfrm>
          <a:off x="0" y="0"/>
          <a:ext cx="0" cy="0"/>
          <a:chOff x="0" y="0"/>
          <a:chExt cx="0" cy="0"/>
        </a:xfrm>
      </p:grpSpPr>
      <p:sp>
        <p:nvSpPr>
          <p:cNvPr id="3" name="Content Placeholder 2"/>
          <p:cNvSpPr>
            <a:spLocks noGrp="1"/>
          </p:cNvSpPr>
          <p:nvPr>
            <p:ph idx="1"/>
          </p:nvPr>
        </p:nvSpPr>
        <p:spPr>
          <a:xfrm>
            <a:off x="4455269" y="603666"/>
            <a:ext cx="7057847" cy="5454235"/>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id="{360409B4-C617-2A18-6BFD-309E9F59F1A6}"/>
              </a:ext>
            </a:extLst>
          </p:cNvPr>
          <p:cNvSpPr/>
          <p:nvPr userDrawn="1"/>
        </p:nvSpPr>
        <p:spPr>
          <a:xfrm>
            <a:off x="1" y="0"/>
            <a:ext cx="41148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sp>
        <p:nvSpPr>
          <p:cNvPr id="2" name="Title 1"/>
          <p:cNvSpPr>
            <a:spLocks noGrp="1"/>
          </p:cNvSpPr>
          <p:nvPr>
            <p:ph type="title"/>
          </p:nvPr>
        </p:nvSpPr>
        <p:spPr>
          <a:xfrm>
            <a:off x="838202" y="2049670"/>
            <a:ext cx="2743200" cy="2562226"/>
          </a:xfrm>
        </p:spPr>
        <p:txBody>
          <a:bodyPr/>
          <a:lstStyle>
            <a:lvl1pPr>
              <a:defRPr>
                <a:solidFill>
                  <a:schemeClr val="bg1"/>
                </a:solidFill>
              </a:defRPr>
            </a:lvl1pPr>
          </a:lstStyle>
          <a:p>
            <a:r>
              <a:rPr lang="en-US" dirty="0"/>
              <a:t>Click to edit Master title style</a:t>
            </a:r>
          </a:p>
        </p:txBody>
      </p:sp>
    </p:spTree>
    <p:extLst>
      <p:ext uri="{BB962C8B-B14F-4D97-AF65-F5344CB8AC3E}">
        <p14:creationId xmlns:p14="http://schemas.microsoft.com/office/powerpoint/2010/main" val="13612385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One Third">
    <p:spTree>
      <p:nvGrpSpPr>
        <p:cNvPr id="1" name=""/>
        <p:cNvGrpSpPr/>
        <p:nvPr/>
      </p:nvGrpSpPr>
      <p:grpSpPr>
        <a:xfrm>
          <a:off x="0" y="0"/>
          <a:ext cx="0" cy="0"/>
          <a:chOff x="0" y="0"/>
          <a:chExt cx="0" cy="0"/>
        </a:xfrm>
      </p:grpSpPr>
      <p:sp>
        <p:nvSpPr>
          <p:cNvPr id="2" name="Title 1"/>
          <p:cNvSpPr>
            <a:spLocks noGrp="1"/>
          </p:cNvSpPr>
          <p:nvPr>
            <p:ph type="title"/>
          </p:nvPr>
        </p:nvSpPr>
        <p:spPr>
          <a:xfrm>
            <a:off x="678882" y="603666"/>
            <a:ext cx="7055274" cy="612775"/>
          </a:xfrm>
        </p:spPr>
        <p:txBody>
          <a:bodyPr/>
          <a:lstStyle/>
          <a:p>
            <a:r>
              <a:rPr lang="en-US" dirty="0"/>
              <a:t>Click to edit Master title style</a:t>
            </a:r>
          </a:p>
        </p:txBody>
      </p:sp>
      <p:sp>
        <p:nvSpPr>
          <p:cNvPr id="3" name="Content Placeholder 2"/>
          <p:cNvSpPr>
            <a:spLocks noGrp="1"/>
          </p:cNvSpPr>
          <p:nvPr>
            <p:ph idx="1"/>
          </p:nvPr>
        </p:nvSpPr>
        <p:spPr>
          <a:xfrm>
            <a:off x="678882" y="1659835"/>
            <a:ext cx="7055274"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id="{360409B4-C617-2A18-6BFD-309E9F59F1A6}"/>
              </a:ext>
            </a:extLst>
          </p:cNvPr>
          <p:cNvSpPr/>
          <p:nvPr userDrawn="1"/>
        </p:nvSpPr>
        <p:spPr>
          <a:xfrm>
            <a:off x="8077201" y="0"/>
            <a:ext cx="41148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pic>
        <p:nvPicPr>
          <p:cNvPr id="7" name="Picture 6">
            <a:extLst>
              <a:ext uri="{FF2B5EF4-FFF2-40B4-BE49-F238E27FC236}">
                <a16:creationId xmlns:a16="http://schemas.microsoft.com/office/drawing/2014/main" id="{F13DF77B-C435-B418-C899-54652105D04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40135611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Half &amp; Half">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5"/>
            <a:ext cx="5107239" cy="612775"/>
          </a:xfrm>
        </p:spPr>
        <p:txBody>
          <a:bodyPr/>
          <a:lstStyle/>
          <a:p>
            <a:r>
              <a:rPr lang="en-US" dirty="0"/>
              <a:t>Click to edit Master title style</a:t>
            </a:r>
          </a:p>
        </p:txBody>
      </p:sp>
      <p:sp>
        <p:nvSpPr>
          <p:cNvPr id="3" name="Content Placeholder 2"/>
          <p:cNvSpPr>
            <a:spLocks noGrp="1"/>
          </p:cNvSpPr>
          <p:nvPr>
            <p:ph idx="1"/>
          </p:nvPr>
        </p:nvSpPr>
        <p:spPr>
          <a:xfrm>
            <a:off x="678881" y="1659836"/>
            <a:ext cx="5107239"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id="{360409B4-C617-2A18-6BFD-309E9F59F1A6}"/>
              </a:ext>
            </a:extLst>
          </p:cNvPr>
          <p:cNvSpPr/>
          <p:nvPr userDrawn="1"/>
        </p:nvSpPr>
        <p:spPr>
          <a:xfrm>
            <a:off x="6096000" y="0"/>
            <a:ext cx="60960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pic>
        <p:nvPicPr>
          <p:cNvPr id="4" name="Picture 3">
            <a:extLst>
              <a:ext uri="{FF2B5EF4-FFF2-40B4-BE49-F238E27FC236}">
                <a16:creationId xmlns:a16="http://schemas.microsoft.com/office/drawing/2014/main" id="{4258C05D-B60D-14D1-7105-F6719232542F}"/>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11852858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One Third Flow Errow">
    <p:spTree>
      <p:nvGrpSpPr>
        <p:cNvPr id="1" name=""/>
        <p:cNvGrpSpPr/>
        <p:nvPr/>
      </p:nvGrpSpPr>
      <p:grpSpPr>
        <a:xfrm>
          <a:off x="0" y="0"/>
          <a:ext cx="0" cy="0"/>
          <a:chOff x="0" y="0"/>
          <a:chExt cx="0" cy="0"/>
        </a:xfrm>
      </p:grpSpPr>
      <p:sp>
        <p:nvSpPr>
          <p:cNvPr id="2" name="Title 1"/>
          <p:cNvSpPr>
            <a:spLocks noGrp="1"/>
          </p:cNvSpPr>
          <p:nvPr>
            <p:ph type="title"/>
          </p:nvPr>
        </p:nvSpPr>
        <p:spPr>
          <a:xfrm>
            <a:off x="4455269" y="603666"/>
            <a:ext cx="7057847" cy="612775"/>
          </a:xfrm>
        </p:spPr>
        <p:txBody>
          <a:bodyPr/>
          <a:lstStyle/>
          <a:p>
            <a:r>
              <a:rPr lang="en-US" dirty="0"/>
              <a:t>Click to edit Master title style</a:t>
            </a:r>
          </a:p>
        </p:txBody>
      </p:sp>
      <p:sp>
        <p:nvSpPr>
          <p:cNvPr id="3" name="Content Placeholder 2"/>
          <p:cNvSpPr>
            <a:spLocks noGrp="1"/>
          </p:cNvSpPr>
          <p:nvPr>
            <p:ph idx="1"/>
          </p:nvPr>
        </p:nvSpPr>
        <p:spPr>
          <a:xfrm>
            <a:off x="4455269" y="1659835"/>
            <a:ext cx="7057847"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Arrow: Pentagon 5">
            <a:extLst>
              <a:ext uri="{FF2B5EF4-FFF2-40B4-BE49-F238E27FC236}">
                <a16:creationId xmlns:a16="http://schemas.microsoft.com/office/drawing/2014/main" id="{360409B4-C617-2A18-6BFD-309E9F59F1A6}"/>
              </a:ext>
            </a:extLst>
          </p:cNvPr>
          <p:cNvSpPr/>
          <p:nvPr userDrawn="1"/>
        </p:nvSpPr>
        <p:spPr>
          <a:xfrm>
            <a:off x="1" y="0"/>
            <a:ext cx="4114800" cy="6858000"/>
          </a:xfrm>
          <a:prstGeom prst="homePlate">
            <a:avLst>
              <a:gd name="adj" fmla="val 16049"/>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sp>
        <p:nvSpPr>
          <p:cNvPr id="8" name="Title 1">
            <a:extLst>
              <a:ext uri="{FF2B5EF4-FFF2-40B4-BE49-F238E27FC236}">
                <a16:creationId xmlns:a16="http://schemas.microsoft.com/office/drawing/2014/main" id="{F19F22F4-4B18-0516-26F1-498BF7EBEAB2}"/>
              </a:ext>
            </a:extLst>
          </p:cNvPr>
          <p:cNvSpPr txBox="1">
            <a:spLocks/>
          </p:cNvSpPr>
          <p:nvPr userDrawn="1"/>
        </p:nvSpPr>
        <p:spPr>
          <a:xfrm>
            <a:off x="678882" y="3122614"/>
            <a:ext cx="2978720" cy="6127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400" b="1" kern="1200">
                <a:solidFill>
                  <a:schemeClr val="tx1"/>
                </a:solidFill>
                <a:latin typeface="Nunito" pitchFamily="2" charset="0"/>
                <a:ea typeface="+mj-ea"/>
                <a:cs typeface="+mj-cs"/>
              </a:defRPr>
            </a:lvl1pPr>
          </a:lstStyle>
          <a:p>
            <a:r>
              <a:rPr lang="en-US" sz="3400" dirty="0">
                <a:solidFill>
                  <a:schemeClr val="bg1"/>
                </a:solidFill>
                <a:latin typeface="Calibri" panose="020F0502020204030204" pitchFamily="34" charset="0"/>
              </a:rPr>
              <a:t>Click to edit Master title style</a:t>
            </a:r>
          </a:p>
        </p:txBody>
      </p:sp>
    </p:spTree>
    <p:extLst>
      <p:ext uri="{BB962C8B-B14F-4D97-AF65-F5344CB8AC3E}">
        <p14:creationId xmlns:p14="http://schemas.microsoft.com/office/powerpoint/2010/main" val="5999928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4_One Thir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F19F22F4-4B18-0516-26F1-498BF7EBEAB2}"/>
              </a:ext>
            </a:extLst>
          </p:cNvPr>
          <p:cNvSpPr txBox="1">
            <a:spLocks/>
          </p:cNvSpPr>
          <p:nvPr userDrawn="1"/>
        </p:nvSpPr>
        <p:spPr>
          <a:xfrm>
            <a:off x="838200" y="3122614"/>
            <a:ext cx="2819401" cy="6127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400" b="1" kern="1200">
                <a:solidFill>
                  <a:schemeClr val="tx1"/>
                </a:solidFill>
                <a:latin typeface="Nunito" pitchFamily="2" charset="0"/>
                <a:ea typeface="+mj-ea"/>
                <a:cs typeface="+mj-cs"/>
              </a:defRPr>
            </a:lvl1pPr>
          </a:lstStyle>
          <a:p>
            <a:r>
              <a:rPr lang="en-US" sz="3400" dirty="0">
                <a:solidFill>
                  <a:srgbClr val="1D1B58"/>
                </a:solidFill>
                <a:latin typeface="Calibri" panose="020F0502020204030204" pitchFamily="34" charset="0"/>
              </a:rPr>
              <a:t>Click to edit Master title style</a:t>
            </a:r>
          </a:p>
        </p:txBody>
      </p:sp>
      <p:sp>
        <p:nvSpPr>
          <p:cNvPr id="13" name="Freeform: Shape 12">
            <a:extLst>
              <a:ext uri="{FF2B5EF4-FFF2-40B4-BE49-F238E27FC236}">
                <a16:creationId xmlns:a16="http://schemas.microsoft.com/office/drawing/2014/main" id="{BC7368D9-5898-B04D-9CD2-C5A3736BFFA6}"/>
              </a:ext>
            </a:extLst>
          </p:cNvPr>
          <p:cNvSpPr/>
          <p:nvPr userDrawn="1"/>
        </p:nvSpPr>
        <p:spPr>
          <a:xfrm>
            <a:off x="3454417" y="0"/>
            <a:ext cx="8737584" cy="6858000"/>
          </a:xfrm>
          <a:custGeom>
            <a:avLst/>
            <a:gdLst>
              <a:gd name="connsiteX0" fmla="*/ 0 w 9601184"/>
              <a:gd name="connsiteY0" fmla="*/ 0 h 6858000"/>
              <a:gd name="connsiteX1" fmla="*/ 9601184 w 9601184"/>
              <a:gd name="connsiteY1" fmla="*/ 0 h 6858000"/>
              <a:gd name="connsiteX2" fmla="*/ 9601184 w 9601184"/>
              <a:gd name="connsiteY2" fmla="*/ 6858000 h 6858000"/>
              <a:gd name="connsiteX3" fmla="*/ 0 w 9601184"/>
              <a:gd name="connsiteY3" fmla="*/ 6858000 h 6858000"/>
              <a:gd name="connsiteX4" fmla="*/ 660384 w 9601184"/>
              <a:gd name="connsiteY4" fmla="*/ 3429000 h 6858000"/>
              <a:gd name="connsiteX5" fmla="*/ 0 w 9601184"/>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601184" h="6858000">
                <a:moveTo>
                  <a:pt x="0" y="0"/>
                </a:moveTo>
                <a:lnTo>
                  <a:pt x="9601184" y="0"/>
                </a:lnTo>
                <a:lnTo>
                  <a:pt x="9601184" y="6858000"/>
                </a:lnTo>
                <a:lnTo>
                  <a:pt x="0" y="6858000"/>
                </a:lnTo>
                <a:lnTo>
                  <a:pt x="660384" y="3429000"/>
                </a:lnTo>
                <a:lnTo>
                  <a:pt x="0" y="0"/>
                </a:lnTo>
                <a:close/>
              </a:path>
            </a:pathLst>
          </a:custGeom>
          <a:solidFill>
            <a:srgbClr val="1D1B58"/>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sz="1800" dirty="0"/>
          </a:p>
        </p:txBody>
      </p:sp>
      <p:sp>
        <p:nvSpPr>
          <p:cNvPr id="2" name="Title 1"/>
          <p:cNvSpPr>
            <a:spLocks noGrp="1"/>
          </p:cNvSpPr>
          <p:nvPr>
            <p:ph type="title"/>
          </p:nvPr>
        </p:nvSpPr>
        <p:spPr>
          <a:xfrm>
            <a:off x="4455269" y="603666"/>
            <a:ext cx="7057847" cy="612775"/>
          </a:xfrm>
        </p:spPr>
        <p:txBody>
          <a:bodyPr/>
          <a:lstStyle>
            <a:lvl1pPr>
              <a:defRPr>
                <a:solidFill>
                  <a:schemeClr val="bg1"/>
                </a:solidFill>
              </a:defRPr>
            </a:lvl1pPr>
          </a:lstStyle>
          <a:p>
            <a:r>
              <a:rPr lang="en-US" dirty="0"/>
              <a:t>Click to edit Master title style</a:t>
            </a:r>
          </a:p>
        </p:txBody>
      </p:sp>
      <p:sp>
        <p:nvSpPr>
          <p:cNvPr id="3" name="Content Placeholder 2"/>
          <p:cNvSpPr>
            <a:spLocks noGrp="1"/>
          </p:cNvSpPr>
          <p:nvPr>
            <p:ph idx="1"/>
          </p:nvPr>
        </p:nvSpPr>
        <p:spPr>
          <a:xfrm>
            <a:off x="4455269" y="1659835"/>
            <a:ext cx="7057847" cy="4398066"/>
          </a:xfrm>
          <a:prstGeom prst="rect">
            <a:avLst/>
          </a:prstGeo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4" name="Picture 3">
            <a:extLst>
              <a:ext uri="{FF2B5EF4-FFF2-40B4-BE49-F238E27FC236}">
                <a16:creationId xmlns:a16="http://schemas.microsoft.com/office/drawing/2014/main" id="{BC1D7751-B046-E6FF-E802-137A168948C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6455390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3_One Third">
    <p:spTree>
      <p:nvGrpSpPr>
        <p:cNvPr id="1" name=""/>
        <p:cNvGrpSpPr/>
        <p:nvPr/>
      </p:nvGrpSpPr>
      <p:grpSpPr>
        <a:xfrm>
          <a:off x="0" y="0"/>
          <a:ext cx="0" cy="0"/>
          <a:chOff x="0" y="0"/>
          <a:chExt cx="0" cy="0"/>
        </a:xfrm>
      </p:grpSpPr>
      <p:sp>
        <p:nvSpPr>
          <p:cNvPr id="2" name="Title 1"/>
          <p:cNvSpPr>
            <a:spLocks noGrp="1"/>
          </p:cNvSpPr>
          <p:nvPr>
            <p:ph type="title"/>
          </p:nvPr>
        </p:nvSpPr>
        <p:spPr>
          <a:xfrm>
            <a:off x="678882" y="603666"/>
            <a:ext cx="6687118" cy="612775"/>
          </a:xfrm>
        </p:spPr>
        <p:txBody>
          <a:bodyPr/>
          <a:lstStyle/>
          <a:p>
            <a:r>
              <a:rPr lang="en-US" dirty="0"/>
              <a:t>Click to edit Master title style</a:t>
            </a:r>
          </a:p>
        </p:txBody>
      </p:sp>
      <p:sp>
        <p:nvSpPr>
          <p:cNvPr id="3" name="Content Placeholder 2"/>
          <p:cNvSpPr>
            <a:spLocks noGrp="1"/>
          </p:cNvSpPr>
          <p:nvPr>
            <p:ph idx="1"/>
          </p:nvPr>
        </p:nvSpPr>
        <p:spPr>
          <a:xfrm>
            <a:off x="678882" y="1659835"/>
            <a:ext cx="6687118"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itle 1">
            <a:extLst>
              <a:ext uri="{FF2B5EF4-FFF2-40B4-BE49-F238E27FC236}">
                <a16:creationId xmlns:a16="http://schemas.microsoft.com/office/drawing/2014/main" id="{F19F22F4-4B18-0516-26F1-498BF7EBEAB2}"/>
              </a:ext>
            </a:extLst>
          </p:cNvPr>
          <p:cNvSpPr txBox="1">
            <a:spLocks/>
          </p:cNvSpPr>
          <p:nvPr userDrawn="1"/>
        </p:nvSpPr>
        <p:spPr>
          <a:xfrm>
            <a:off x="8567565" y="3064248"/>
            <a:ext cx="3314556" cy="6127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400" b="1" kern="1200">
                <a:solidFill>
                  <a:schemeClr val="tx1"/>
                </a:solidFill>
                <a:latin typeface="Nunito" pitchFamily="2" charset="0"/>
                <a:ea typeface="+mj-ea"/>
                <a:cs typeface="+mj-cs"/>
              </a:defRPr>
            </a:lvl1pPr>
          </a:lstStyle>
          <a:p>
            <a:r>
              <a:rPr lang="en-US" sz="3400" dirty="0">
                <a:solidFill>
                  <a:schemeClr val="bg1"/>
                </a:solidFill>
                <a:latin typeface="Calibri" panose="020F0502020204030204" pitchFamily="34" charset="0"/>
              </a:rPr>
              <a:t>Click to edit Master title style</a:t>
            </a:r>
          </a:p>
        </p:txBody>
      </p:sp>
      <p:sp>
        <p:nvSpPr>
          <p:cNvPr id="13" name="Freeform: Shape 12">
            <a:extLst>
              <a:ext uri="{FF2B5EF4-FFF2-40B4-BE49-F238E27FC236}">
                <a16:creationId xmlns:a16="http://schemas.microsoft.com/office/drawing/2014/main" id="{D78CF48E-B68F-E9BA-8398-FF8CD727D1A9}"/>
              </a:ext>
            </a:extLst>
          </p:cNvPr>
          <p:cNvSpPr/>
          <p:nvPr userDrawn="1"/>
        </p:nvSpPr>
        <p:spPr>
          <a:xfrm>
            <a:off x="7543800" y="0"/>
            <a:ext cx="4648201" cy="6858000"/>
          </a:xfrm>
          <a:custGeom>
            <a:avLst/>
            <a:gdLst>
              <a:gd name="connsiteX0" fmla="*/ 0 w 3818882"/>
              <a:gd name="connsiteY0" fmla="*/ 0 h 6858000"/>
              <a:gd name="connsiteX1" fmla="*/ 3818882 w 3818882"/>
              <a:gd name="connsiteY1" fmla="*/ 0 h 6858000"/>
              <a:gd name="connsiteX2" fmla="*/ 3818882 w 3818882"/>
              <a:gd name="connsiteY2" fmla="*/ 6858000 h 6858000"/>
              <a:gd name="connsiteX3" fmla="*/ 0 w 3818882"/>
              <a:gd name="connsiteY3" fmla="*/ 6858000 h 6858000"/>
              <a:gd name="connsiteX4" fmla="*/ 796282 w 3818882"/>
              <a:gd name="connsiteY4" fmla="*/ 3429000 h 6858000"/>
              <a:gd name="connsiteX5" fmla="*/ 0 w 3818882"/>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818882" h="6858000">
                <a:moveTo>
                  <a:pt x="0" y="0"/>
                </a:moveTo>
                <a:lnTo>
                  <a:pt x="3818882" y="0"/>
                </a:lnTo>
                <a:lnTo>
                  <a:pt x="3818882" y="6858000"/>
                </a:lnTo>
                <a:lnTo>
                  <a:pt x="0" y="6858000"/>
                </a:lnTo>
                <a:lnTo>
                  <a:pt x="796282" y="3429000"/>
                </a:lnTo>
                <a:lnTo>
                  <a:pt x="0" y="0"/>
                </a:lnTo>
                <a:close/>
              </a:path>
            </a:pathLst>
          </a:custGeom>
          <a:solidFill>
            <a:srgbClr val="1D1B58"/>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sz="1800" dirty="0"/>
          </a:p>
        </p:txBody>
      </p:sp>
      <p:pic>
        <p:nvPicPr>
          <p:cNvPr id="4" name="Picture 3">
            <a:extLst>
              <a:ext uri="{FF2B5EF4-FFF2-40B4-BE49-F238E27FC236}">
                <a16:creationId xmlns:a16="http://schemas.microsoft.com/office/drawing/2014/main" id="{5BC983E8-29C2-9FD4-5029-201C1DDD5E8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19075013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8883" y="1709738"/>
            <a:ext cx="10834234" cy="2852737"/>
          </a:xfrm>
        </p:spPr>
        <p:txBody>
          <a:bodyPr anchor="b"/>
          <a:lstStyle>
            <a:lvl1pPr>
              <a:defRPr sz="6000"/>
            </a:lvl1pPr>
          </a:lstStyle>
          <a:p>
            <a:r>
              <a:rPr lang="en-US" dirty="0"/>
              <a:t>Click to edit Master title style</a:t>
            </a:r>
          </a:p>
        </p:txBody>
      </p:sp>
      <p:sp>
        <p:nvSpPr>
          <p:cNvPr id="3" name="Text Placeholder 2"/>
          <p:cNvSpPr>
            <a:spLocks noGrp="1"/>
          </p:cNvSpPr>
          <p:nvPr>
            <p:ph type="body" idx="1"/>
          </p:nvPr>
        </p:nvSpPr>
        <p:spPr>
          <a:xfrm>
            <a:off x="678883" y="4589464"/>
            <a:ext cx="10834234"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2072784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6"/>
            <a:ext cx="10834233" cy="612775"/>
          </a:xfrm>
        </p:spPr>
        <p:txBody>
          <a:bodyPr/>
          <a:lstStyle/>
          <a:p>
            <a:r>
              <a:rPr lang="en-US" dirty="0"/>
              <a:t>Click to edit Master title style</a:t>
            </a:r>
          </a:p>
        </p:txBody>
      </p:sp>
      <p:sp>
        <p:nvSpPr>
          <p:cNvPr id="3" name="Content Placeholder 2"/>
          <p:cNvSpPr>
            <a:spLocks noGrp="1"/>
          </p:cNvSpPr>
          <p:nvPr>
            <p:ph sz="half" idx="1"/>
          </p:nvPr>
        </p:nvSpPr>
        <p:spPr>
          <a:xfrm>
            <a:off x="678881" y="1659835"/>
            <a:ext cx="5340919" cy="4399442"/>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72199" y="1659835"/>
            <a:ext cx="5340917" cy="4399442"/>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099343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5"/>
            <a:ext cx="10834234" cy="612775"/>
          </a:xfrm>
        </p:spPr>
        <p:txBody>
          <a:bodyPr/>
          <a:lstStyle/>
          <a:p>
            <a:r>
              <a:rPr lang="en-US" dirty="0"/>
              <a:t>Click to edit Master title style</a:t>
            </a:r>
          </a:p>
        </p:txBody>
      </p:sp>
      <p:sp>
        <p:nvSpPr>
          <p:cNvPr id="3" name="Text Placeholder 2"/>
          <p:cNvSpPr>
            <a:spLocks noGrp="1"/>
          </p:cNvSpPr>
          <p:nvPr>
            <p:ph type="body" idx="1"/>
          </p:nvPr>
        </p:nvSpPr>
        <p:spPr>
          <a:xfrm>
            <a:off x="678881" y="1659834"/>
            <a:ext cx="5318693" cy="655349"/>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678881" y="2505075"/>
            <a:ext cx="5318693" cy="355282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172202" y="1659834"/>
            <a:ext cx="5340914" cy="655349"/>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172202" y="2505075"/>
            <a:ext cx="5340914" cy="355282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8197890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p>
            <a:r>
              <a:rPr lang="en-US"/>
              <a:t>Click to edit Master title style</a:t>
            </a:r>
          </a:p>
        </p:txBody>
      </p:sp>
    </p:spTree>
    <p:extLst>
      <p:ext uri="{BB962C8B-B14F-4D97-AF65-F5344CB8AC3E}">
        <p14:creationId xmlns:p14="http://schemas.microsoft.com/office/powerpoint/2010/main" val="283125655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29559317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6"/>
            <a:ext cx="4093145" cy="1453734"/>
          </a:xfrm>
        </p:spPr>
        <p:txBody>
          <a:bodyPr anchor="b"/>
          <a:lstStyle>
            <a:lvl1pPr>
              <a:defRPr sz="3200"/>
            </a:lvl1pPr>
          </a:lstStyle>
          <a:p>
            <a:r>
              <a:rPr lang="en-US" dirty="0"/>
              <a:t>Click to edit Master title style</a:t>
            </a:r>
          </a:p>
        </p:txBody>
      </p:sp>
      <p:sp>
        <p:nvSpPr>
          <p:cNvPr id="3" name="Content Placeholder 2"/>
          <p:cNvSpPr>
            <a:spLocks noGrp="1"/>
          </p:cNvSpPr>
          <p:nvPr>
            <p:ph idx="1"/>
          </p:nvPr>
        </p:nvSpPr>
        <p:spPr>
          <a:xfrm>
            <a:off x="5183189" y="1659835"/>
            <a:ext cx="6329928" cy="4201215"/>
          </a:xfrm>
          <a:prstGeom prst="rect">
            <a:avLst/>
          </a:prstGeom>
        </p:spPr>
        <p:txBody>
          <a:bodyPr/>
          <a:lstStyle>
            <a:lvl1pPr>
              <a:defRPr sz="3200">
                <a:solidFill>
                  <a:schemeClr val="bg2">
                    <a:lumMod val="10000"/>
                  </a:schemeClr>
                </a:solidFill>
              </a:defRPr>
            </a:lvl1pPr>
            <a:lvl2pPr>
              <a:defRPr sz="2800">
                <a:solidFill>
                  <a:schemeClr val="bg2">
                    <a:lumMod val="10000"/>
                  </a:schemeClr>
                </a:solidFill>
              </a:defRPr>
            </a:lvl2pPr>
            <a:lvl3pPr>
              <a:defRPr sz="2400">
                <a:solidFill>
                  <a:schemeClr val="bg2">
                    <a:lumMod val="10000"/>
                  </a:schemeClr>
                </a:solidFill>
              </a:defRPr>
            </a:lvl3pPr>
            <a:lvl4pPr>
              <a:defRPr sz="2000">
                <a:solidFill>
                  <a:schemeClr val="bg2">
                    <a:lumMod val="10000"/>
                  </a:schemeClr>
                </a:solidFill>
              </a:defRPr>
            </a:lvl4pPr>
            <a:lvl5pPr>
              <a:defRPr sz="2000">
                <a:solidFill>
                  <a:schemeClr val="bg2">
                    <a:lumMod val="10000"/>
                  </a:schemeClr>
                </a:solidFill>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678881" y="2315183"/>
            <a:ext cx="4093145" cy="3553805"/>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Tree>
    <p:extLst>
      <p:ext uri="{BB962C8B-B14F-4D97-AF65-F5344CB8AC3E}">
        <p14:creationId xmlns:p14="http://schemas.microsoft.com/office/powerpoint/2010/main" val="182834937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p>
            <a:r>
              <a:rPr lang="en-US" dirty="0"/>
              <a:t>Click to edit Master title style</a:t>
            </a:r>
          </a:p>
        </p:txBody>
      </p:sp>
      <p:sp>
        <p:nvSpPr>
          <p:cNvPr id="3" name="Vertical Text Placeholder 2"/>
          <p:cNvSpPr>
            <a:spLocks noGrp="1"/>
          </p:cNvSpPr>
          <p:nvPr>
            <p:ph type="body" orient="vert" idx="1"/>
          </p:nvPr>
        </p:nvSpPr>
        <p:spPr>
          <a:xfrm>
            <a:off x="678884" y="1659834"/>
            <a:ext cx="10834234" cy="4166933"/>
          </a:xfrm>
          <a:prstGeom prst="rect">
            <a:avLst/>
          </a:prstGeom>
        </p:spPr>
        <p:txBody>
          <a:bodyPr vert="eaVert"/>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07505366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pic>
        <p:nvPicPr>
          <p:cNvPr id="4" name="Picture 3" descr="Tech Background&quot; Images – Browse 8,227 Stock Photos, Vectors, and Video |  Adobe Stock">
            <a:extLst>
              <a:ext uri="{FF2B5EF4-FFF2-40B4-BE49-F238E27FC236}">
                <a16:creationId xmlns:a16="http://schemas.microsoft.com/office/drawing/2014/main" id="{19625874-6531-A345-C3ED-8BD86E0E300E}"/>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l="2352" t="2332" r="1954" b="1250"/>
          <a:stretch>
            <a:fillRect/>
          </a:stretch>
        </p:blipFill>
        <p:spPr bwMode="auto">
          <a:xfrm>
            <a:off x="-21770" y="0"/>
            <a:ext cx="12213771" cy="6858000"/>
          </a:xfrm>
          <a:custGeom>
            <a:avLst/>
            <a:gdLst>
              <a:gd name="connsiteX0" fmla="*/ 0 w 12213771"/>
              <a:gd name="connsiteY0" fmla="*/ 0 h 6858000"/>
              <a:gd name="connsiteX1" fmla="*/ 12213771 w 12213771"/>
              <a:gd name="connsiteY1" fmla="*/ 0 h 6858000"/>
              <a:gd name="connsiteX2" fmla="*/ 12213771 w 12213771"/>
              <a:gd name="connsiteY2" fmla="*/ 6858000 h 6858000"/>
              <a:gd name="connsiteX3" fmla="*/ 0 w 1221377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213771" h="6858000">
                <a:moveTo>
                  <a:pt x="0" y="0"/>
                </a:moveTo>
                <a:lnTo>
                  <a:pt x="12213771" y="0"/>
                </a:lnTo>
                <a:lnTo>
                  <a:pt x="12213771" y="6858000"/>
                </a:lnTo>
                <a:lnTo>
                  <a:pt x="0" y="6858000"/>
                </a:lnTo>
                <a:close/>
              </a:path>
            </a:pathLst>
          </a:custGeom>
          <a:noFill/>
          <a:extLst>
            <a:ext uri="{909E8E84-426E-40DD-AFC4-6F175D3DCCD1}">
              <a14:hiddenFill xmlns:a14="http://schemas.microsoft.com/office/drawing/2010/main">
                <a:solidFill>
                  <a:srgbClr val="FFFFFF"/>
                </a:solidFill>
              </a14:hiddenFill>
            </a:ext>
          </a:extLst>
        </p:spPr>
      </p:pic>
      <p:sp>
        <p:nvSpPr>
          <p:cNvPr id="2" name="Vertical Title 1"/>
          <p:cNvSpPr>
            <a:spLocks noGrp="1"/>
          </p:cNvSpPr>
          <p:nvPr>
            <p:ph type="title" orient="vert" hasCustomPrompt="1"/>
          </p:nvPr>
        </p:nvSpPr>
        <p:spPr>
          <a:xfrm rot="16200000">
            <a:off x="4770665" y="-2959994"/>
            <a:ext cx="2628900" cy="12213771"/>
          </a:xfrm>
        </p:spPr>
        <p:txBody>
          <a:bodyPr vert="eaVert">
            <a:normAutofit/>
          </a:bodyPr>
          <a:lstStyle>
            <a:lvl1pPr algn="ctr">
              <a:defRPr sz="8000">
                <a:solidFill>
                  <a:schemeClr val="bg1"/>
                </a:solidFill>
              </a:defRPr>
            </a:lvl1pPr>
          </a:lstStyle>
          <a:p>
            <a:r>
              <a:rPr lang="en-US" dirty="0"/>
              <a:t>Thank You</a:t>
            </a:r>
          </a:p>
        </p:txBody>
      </p:sp>
    </p:spTree>
    <p:extLst>
      <p:ext uri="{BB962C8B-B14F-4D97-AF65-F5344CB8AC3E}">
        <p14:creationId xmlns:p14="http://schemas.microsoft.com/office/powerpoint/2010/main" val="41674742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78884" y="603666"/>
            <a:ext cx="10834232" cy="612775"/>
          </a:xfrm>
          <a:prstGeom prst="rect">
            <a:avLst/>
          </a:prstGeom>
        </p:spPr>
        <p:txBody>
          <a:bodyPr vert="horz" lIns="0" tIns="0" rIns="0" bIns="0" rtlCol="0" anchor="ctr">
            <a:normAutofit/>
          </a:bodyPr>
          <a:lstStyle/>
          <a:p>
            <a:r>
              <a:rPr lang="en-US" dirty="0"/>
              <a:t>Click to edit Master title style</a:t>
            </a:r>
          </a:p>
        </p:txBody>
      </p:sp>
      <p:sp>
        <p:nvSpPr>
          <p:cNvPr id="3" name="Text Placeholder 2"/>
          <p:cNvSpPr>
            <a:spLocks noGrp="1"/>
          </p:cNvSpPr>
          <p:nvPr>
            <p:ph type="body" idx="1"/>
          </p:nvPr>
        </p:nvSpPr>
        <p:spPr>
          <a:xfrm>
            <a:off x="678884" y="1659835"/>
            <a:ext cx="10834234" cy="4398065"/>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2052" name="Picture 4" descr="Top Ranked Data Science Institute, Classroom Plus Online Training | Boston  Institute of Analytics">
            <a:extLst>
              <a:ext uri="{FF2B5EF4-FFF2-40B4-BE49-F238E27FC236}">
                <a16:creationId xmlns:a16="http://schemas.microsoft.com/office/drawing/2014/main" id="{D55A4135-B2E5-3A1C-9614-E010D1062B85}"/>
              </a:ext>
            </a:extLst>
          </p:cNvPr>
          <p:cNvPicPr>
            <a:picLocks noChangeAspect="1" noChangeArrowheads="1"/>
          </p:cNvPicPr>
          <p:nvPr userDrawn="1"/>
        </p:nvPicPr>
        <p:blipFill rotWithShape="1">
          <a:blip r:embed="rId18" cstate="print">
            <a:extLst>
              <a:ext uri="{28A0092B-C50C-407E-A947-70E740481C1C}">
                <a14:useLocalDpi xmlns:a14="http://schemas.microsoft.com/office/drawing/2010/main" val="0"/>
              </a:ext>
            </a:extLst>
          </a:blip>
          <a:srcRect l="4000" r="3112"/>
          <a:stretch/>
        </p:blipFill>
        <p:spPr bwMode="auto">
          <a:xfrm>
            <a:off x="9493777" y="6115409"/>
            <a:ext cx="2019339" cy="548917"/>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3426CCB7-3586-949D-0295-4CD6EA2BBD12}"/>
              </a:ext>
            </a:extLst>
          </p:cNvPr>
          <p:cNvSpPr/>
          <p:nvPr userDrawn="1"/>
        </p:nvSpPr>
        <p:spPr>
          <a:xfrm>
            <a:off x="678883" y="6207305"/>
            <a:ext cx="7474517" cy="36512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r>
              <a:rPr lang="en-US" sz="1100" b="1" dirty="0">
                <a:solidFill>
                  <a:schemeClr val="bg2">
                    <a:lumMod val="75000"/>
                  </a:schemeClr>
                </a:solidFill>
              </a:rPr>
              <a:t>CONFIDENTIAL</a:t>
            </a:r>
            <a:r>
              <a:rPr lang="en-US" sz="1100" dirty="0">
                <a:solidFill>
                  <a:schemeClr val="bg2">
                    <a:lumMod val="75000"/>
                  </a:schemeClr>
                </a:solidFill>
              </a:rPr>
              <a:t>: The information in this document belongs to Boston Institute of Analytics LLC. Any unauthorized sharing of this material is prohibited and subject to legal action under breach of IP and confidentiality clauses. </a:t>
            </a:r>
          </a:p>
        </p:txBody>
      </p:sp>
    </p:spTree>
    <p:extLst>
      <p:ext uri="{BB962C8B-B14F-4D97-AF65-F5344CB8AC3E}">
        <p14:creationId xmlns:p14="http://schemas.microsoft.com/office/powerpoint/2010/main" val="162817835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72" r:id="rId3"/>
    <p:sldLayoutId id="2147483673" r:id="rId4"/>
    <p:sldLayoutId id="2147483674" r:id="rId5"/>
    <p:sldLayoutId id="2147483675" r:id="rId6"/>
    <p:sldLayoutId id="2147483677" r:id="rId7"/>
    <p:sldLayoutId id="2147483676" r:id="rId8"/>
    <p:sldLayoutId id="2147483663" r:id="rId9"/>
    <p:sldLayoutId id="2147483664" r:id="rId10"/>
    <p:sldLayoutId id="2147483665" r:id="rId11"/>
    <p:sldLayoutId id="2147483666" r:id="rId12"/>
    <p:sldLayoutId id="2147483667" r:id="rId13"/>
    <p:sldLayoutId id="2147483668" r:id="rId14"/>
    <p:sldLayoutId id="2147483670" r:id="rId15"/>
    <p:sldLayoutId id="2147483671" r:id="rId16"/>
  </p:sldLayoutIdLst>
  <p:txStyles>
    <p:titleStyle>
      <a:lvl1pPr algn="l" defTabSz="914400" rtl="0" eaLnBrk="1" latinLnBrk="0" hangingPunct="1">
        <a:lnSpc>
          <a:spcPct val="90000"/>
        </a:lnSpc>
        <a:spcBef>
          <a:spcPct val="0"/>
        </a:spcBef>
        <a:buNone/>
        <a:defRPr sz="3400" b="1" kern="1200">
          <a:solidFill>
            <a:schemeClr val="tx1"/>
          </a:solidFill>
          <a:latin typeface="Calibri" panose="020F05020202040302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2">
              <a:lumMod val="10000"/>
            </a:schemeClr>
          </a:solidFill>
          <a:latin typeface="Calibri" panose="020F050202020403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2">
              <a:lumMod val="10000"/>
            </a:schemeClr>
          </a:solidFill>
          <a:latin typeface="Calibri" panose="020F050202020403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2">
              <a:lumMod val="10000"/>
            </a:schemeClr>
          </a:solidFill>
          <a:latin typeface="Calibri" panose="020F050202020403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Calibri" panose="020F050202020403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Calibri" panose="020F0502020204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00.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9.xml"/></Relationships>
</file>

<file path=ppt/slides/_rels/slide26.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9.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9.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9.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9.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9.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9.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A225F15-9B21-01FF-BD6D-D04F30F7A091}"/>
              </a:ext>
            </a:extLst>
          </p:cNvPr>
          <p:cNvSpPr/>
          <p:nvPr/>
        </p:nvSpPr>
        <p:spPr>
          <a:xfrm>
            <a:off x="1" y="2788290"/>
            <a:ext cx="12192000" cy="81152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800" b="1" dirty="0">
                <a:latin typeface="Calibri" panose="020F0502020204030204" pitchFamily="34" charset="0"/>
              </a:rPr>
              <a:t>Advanced Statistic &amp; Hypothesis Testing</a:t>
            </a:r>
          </a:p>
        </p:txBody>
      </p:sp>
    </p:spTree>
    <p:extLst>
      <p:ext uri="{BB962C8B-B14F-4D97-AF65-F5344CB8AC3E}">
        <p14:creationId xmlns:p14="http://schemas.microsoft.com/office/powerpoint/2010/main" val="10243347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9E2F6A-E89F-45D0-4C37-F8D123D863FF}"/>
              </a:ext>
            </a:extLst>
          </p:cNvPr>
          <p:cNvSpPr>
            <a:spLocks noGrp="1"/>
          </p:cNvSpPr>
          <p:nvPr>
            <p:ph type="title"/>
          </p:nvPr>
        </p:nvSpPr>
        <p:spPr/>
        <p:txBody>
          <a:bodyPr/>
          <a:lstStyle/>
          <a:p>
            <a:r>
              <a:rPr lang="en-US" dirty="0">
                <a:latin typeface="Calibri"/>
                <a:cs typeface="Calibri"/>
              </a:rPr>
              <a:t>Trainer Guidelines for Conducting Class</a:t>
            </a:r>
            <a:endParaRPr lang="en-US" dirty="0"/>
          </a:p>
        </p:txBody>
      </p:sp>
      <p:sp>
        <p:nvSpPr>
          <p:cNvPr id="3" name="Content Placeholder 2">
            <a:extLst>
              <a:ext uri="{FF2B5EF4-FFF2-40B4-BE49-F238E27FC236}">
                <a16:creationId xmlns:a16="http://schemas.microsoft.com/office/drawing/2014/main" id="{9CA356E4-99F9-93BD-8697-B5FE13DDA948}"/>
              </a:ext>
            </a:extLst>
          </p:cNvPr>
          <p:cNvSpPr>
            <a:spLocks noGrp="1"/>
          </p:cNvSpPr>
          <p:nvPr>
            <p:ph idx="1"/>
          </p:nvPr>
        </p:nvSpPr>
        <p:spPr/>
        <p:txBody>
          <a:bodyPr vert="horz" lIns="91440" tIns="45720" rIns="91440" bIns="45720" rtlCol="0" anchor="t">
            <a:normAutofit fontScale="77500" lnSpcReduction="20000"/>
          </a:bodyPr>
          <a:lstStyle/>
          <a:p>
            <a:endParaRPr lang="en-US" dirty="0">
              <a:latin typeface="Calibri"/>
              <a:cs typeface="Calibri"/>
            </a:endParaRPr>
          </a:p>
          <a:p>
            <a:r>
              <a:rPr lang="en-US" dirty="0">
                <a:latin typeface="Calibri"/>
                <a:cs typeface="Calibri"/>
              </a:rPr>
              <a:t>Solve questions live by creating </a:t>
            </a:r>
            <a:r>
              <a:rPr lang="en-US" b="1" dirty="0">
                <a:latin typeface="Calibri"/>
                <a:cs typeface="Calibri"/>
              </a:rPr>
              <a:t>new blank files</a:t>
            </a:r>
            <a:r>
              <a:rPr lang="en-US" dirty="0">
                <a:latin typeface="Calibri"/>
                <a:cs typeface="Calibri"/>
              </a:rPr>
              <a:t> (Excel, Python, </a:t>
            </a:r>
            <a:r>
              <a:rPr lang="en-US" err="1">
                <a:latin typeface="Calibri"/>
                <a:cs typeface="Calibri"/>
              </a:rPr>
              <a:t>Jupyter</a:t>
            </a:r>
            <a:r>
              <a:rPr lang="en-US" dirty="0">
                <a:latin typeface="Calibri"/>
                <a:cs typeface="Calibri"/>
              </a:rPr>
              <a:t> notebook, Dashboard) during the session, rather than sharing completed solutions.</a:t>
            </a:r>
            <a:endParaRPr lang="en-US" dirty="0">
              <a:latin typeface="Calibri"/>
              <a:cs typeface="Calibri" panose="020F0502020204030204" pitchFamily="34" charset="0"/>
            </a:endParaRPr>
          </a:p>
          <a:p>
            <a:endParaRPr lang="en-US" dirty="0">
              <a:latin typeface="Calibri"/>
              <a:cs typeface="Calibri"/>
            </a:endParaRPr>
          </a:p>
          <a:p>
            <a:r>
              <a:rPr lang="en-US" dirty="0">
                <a:latin typeface="Calibri"/>
                <a:cs typeface="Calibri"/>
              </a:rPr>
              <a:t>Review teaching materials and solutions beforehand, and prepare additional examples to reinforce learning.</a:t>
            </a:r>
          </a:p>
          <a:p>
            <a:endParaRPr lang="en-US" dirty="0">
              <a:latin typeface="Calibri"/>
              <a:cs typeface="Calibri"/>
            </a:endParaRPr>
          </a:p>
          <a:p>
            <a:r>
              <a:rPr lang="en-US" dirty="0">
                <a:latin typeface="Calibri"/>
                <a:cs typeface="Calibri"/>
              </a:rPr>
              <a:t>Ensure online students can hear you and see the screen clearly at all times.</a:t>
            </a:r>
          </a:p>
          <a:p>
            <a:endParaRPr lang="en-US" dirty="0">
              <a:latin typeface="Calibri"/>
              <a:cs typeface="Calibri"/>
            </a:endParaRPr>
          </a:p>
          <a:p>
            <a:r>
              <a:rPr lang="en-US" dirty="0">
                <a:latin typeface="Calibri"/>
                <a:cs typeface="Calibri"/>
              </a:rPr>
              <a:t>Test your computer and necessary software before class begins.</a:t>
            </a:r>
          </a:p>
          <a:p>
            <a:endParaRPr lang="en-US" dirty="0">
              <a:latin typeface="Calibri"/>
              <a:cs typeface="Calibri"/>
            </a:endParaRPr>
          </a:p>
          <a:p>
            <a:r>
              <a:rPr lang="en-US" dirty="0">
                <a:latin typeface="Calibri"/>
                <a:cs typeface="Calibri"/>
              </a:rPr>
              <a:t>Check with online students every 15-20 minutes to see if they understand the material and have any questions.</a:t>
            </a:r>
            <a:endParaRPr lang="en-US"/>
          </a:p>
        </p:txBody>
      </p:sp>
    </p:spTree>
    <p:extLst>
      <p:ext uri="{BB962C8B-B14F-4D97-AF65-F5344CB8AC3E}">
        <p14:creationId xmlns:p14="http://schemas.microsoft.com/office/powerpoint/2010/main" val="2288801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E853F5-3FF5-F820-B593-B4F4AF27A2B6}"/>
              </a:ext>
            </a:extLst>
          </p:cNvPr>
          <p:cNvSpPr>
            <a:spLocks noGrp="1"/>
          </p:cNvSpPr>
          <p:nvPr>
            <p:ph type="title"/>
          </p:nvPr>
        </p:nvSpPr>
        <p:spPr>
          <a:xfrm>
            <a:off x="678884" y="603666"/>
            <a:ext cx="10834234" cy="612775"/>
          </a:xfrm>
        </p:spPr>
        <p:txBody>
          <a:bodyPr/>
          <a:lstStyle/>
          <a:p>
            <a:r>
              <a:rPr lang="en-IN" dirty="0"/>
              <a:t>Agenda</a:t>
            </a:r>
          </a:p>
        </p:txBody>
      </p:sp>
      <p:sp>
        <p:nvSpPr>
          <p:cNvPr id="6" name="Content Placeholder 2">
            <a:extLst>
              <a:ext uri="{FF2B5EF4-FFF2-40B4-BE49-F238E27FC236}">
                <a16:creationId xmlns:a16="http://schemas.microsoft.com/office/drawing/2014/main" id="{7216F383-8E64-5EDF-F460-8E0584971A4F}"/>
              </a:ext>
            </a:extLst>
          </p:cNvPr>
          <p:cNvSpPr>
            <a:spLocks noGrp="1"/>
          </p:cNvSpPr>
          <p:nvPr>
            <p:ph idx="1"/>
          </p:nvPr>
        </p:nvSpPr>
        <p:spPr>
          <a:xfrm>
            <a:off x="679450" y="1660525"/>
            <a:ext cx="10833100" cy="3399155"/>
          </a:xfrm>
        </p:spPr>
        <p:txBody>
          <a:bodyPr lIns="0" tIns="0" rIns="0" bIns="0" numCol="2" spcCol="720000">
            <a:noAutofit/>
          </a:bodyPr>
          <a:lstStyle/>
          <a:p>
            <a:pPr>
              <a:lnSpc>
                <a:spcPct val="100000"/>
              </a:lnSpc>
            </a:pPr>
            <a:r>
              <a:rPr lang="en-US" sz="2400" dirty="0"/>
              <a:t>Hypothesis Testing - Null &amp; Alternative</a:t>
            </a:r>
          </a:p>
          <a:p>
            <a:pPr>
              <a:lnSpc>
                <a:spcPct val="100000"/>
              </a:lnSpc>
            </a:pPr>
            <a:r>
              <a:rPr lang="en-US" sz="2400" dirty="0"/>
              <a:t>Significance Level (Alpha) &amp; P-value </a:t>
            </a:r>
          </a:p>
          <a:p>
            <a:pPr>
              <a:lnSpc>
                <a:spcPct val="100000"/>
              </a:lnSpc>
            </a:pPr>
            <a:r>
              <a:rPr lang="en-US" sz="2400" dirty="0"/>
              <a:t>One-sample &amp; Two-sample T-test</a:t>
            </a:r>
          </a:p>
          <a:p>
            <a:pPr>
              <a:lnSpc>
                <a:spcPct val="100000"/>
              </a:lnSpc>
            </a:pPr>
            <a:r>
              <a:rPr lang="en-US" sz="2400" dirty="0"/>
              <a:t>Visualization Plots For Data Exploration</a:t>
            </a:r>
          </a:p>
          <a:p>
            <a:pPr>
              <a:lnSpc>
                <a:spcPct val="100000"/>
              </a:lnSpc>
            </a:pPr>
            <a:r>
              <a:rPr lang="en-US" sz="2400" dirty="0"/>
              <a:t>Interpretation Of Visualization</a:t>
            </a:r>
          </a:p>
          <a:p>
            <a:pPr>
              <a:lnSpc>
                <a:spcPct val="100000"/>
              </a:lnSpc>
            </a:pPr>
            <a:r>
              <a:rPr lang="en-US" sz="2400" dirty="0"/>
              <a:t>Correlation &amp; Regression</a:t>
            </a:r>
          </a:p>
          <a:p>
            <a:pPr>
              <a:lnSpc>
                <a:spcPct val="100000"/>
              </a:lnSpc>
            </a:pPr>
            <a:r>
              <a:rPr lang="en-US" sz="2400" dirty="0"/>
              <a:t>Confidence Interval</a:t>
            </a:r>
          </a:p>
          <a:p>
            <a:pPr>
              <a:lnSpc>
                <a:spcPct val="100000"/>
              </a:lnSpc>
            </a:pPr>
            <a:r>
              <a:rPr lang="en-US" sz="2400" dirty="0"/>
              <a:t>Hypothesis Testing With Z-test</a:t>
            </a:r>
          </a:p>
          <a:p>
            <a:pPr>
              <a:lnSpc>
                <a:spcPct val="100000"/>
              </a:lnSpc>
            </a:pPr>
            <a:r>
              <a:rPr lang="en-US" sz="2400" dirty="0"/>
              <a:t>Chi-square Test For Categorical Data</a:t>
            </a:r>
          </a:p>
          <a:p>
            <a:pPr>
              <a:lnSpc>
                <a:spcPct val="100000"/>
              </a:lnSpc>
            </a:pPr>
            <a:r>
              <a:rPr lang="en-US" sz="2400" dirty="0"/>
              <a:t>One-way &amp; Two-way Anova</a:t>
            </a:r>
          </a:p>
        </p:txBody>
      </p:sp>
    </p:spTree>
    <p:extLst>
      <p:ext uri="{BB962C8B-B14F-4D97-AF65-F5344CB8AC3E}">
        <p14:creationId xmlns:p14="http://schemas.microsoft.com/office/powerpoint/2010/main" val="38000130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167844F-298E-4890-096C-08ED7FF670F0}"/>
              </a:ext>
            </a:extLst>
          </p:cNvPr>
          <p:cNvSpPr>
            <a:spLocks noGrp="1"/>
          </p:cNvSpPr>
          <p:nvPr>
            <p:ph type="title"/>
          </p:nvPr>
        </p:nvSpPr>
        <p:spPr>
          <a:xfrm>
            <a:off x="678883" y="1994526"/>
            <a:ext cx="5975917" cy="2856250"/>
          </a:xfrm>
        </p:spPr>
        <p:txBody>
          <a:bodyPr anchor="ctr" anchorCtr="0">
            <a:noAutofit/>
          </a:bodyPr>
          <a:lstStyle/>
          <a:p>
            <a:r>
              <a:rPr lang="en-US" sz="5400" dirty="0"/>
              <a:t>Hypothesis Testing</a:t>
            </a:r>
          </a:p>
        </p:txBody>
      </p:sp>
      <p:pic>
        <p:nvPicPr>
          <p:cNvPr id="6" name="Picture 5" descr="What is Hypothesis Testing? Types and Methods | Analytics Steps">
            <a:extLst>
              <a:ext uri="{FF2B5EF4-FFF2-40B4-BE49-F238E27FC236}">
                <a16:creationId xmlns:a16="http://schemas.microsoft.com/office/drawing/2014/main" id="{D96B2289-6A38-56AF-1C1F-9496F30D770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7391" t="7761" r="43038" b="7605"/>
          <a:stretch/>
        </p:blipFill>
        <p:spPr bwMode="auto">
          <a:xfrm>
            <a:off x="5511802" y="1"/>
            <a:ext cx="6680199" cy="6858000"/>
          </a:xfrm>
          <a:custGeom>
            <a:avLst/>
            <a:gdLst>
              <a:gd name="connsiteX0" fmla="*/ 2560796 w 6680199"/>
              <a:gd name="connsiteY0" fmla="*/ 0 h 6858000"/>
              <a:gd name="connsiteX1" fmla="*/ 6680199 w 6680199"/>
              <a:gd name="connsiteY1" fmla="*/ 0 h 6858000"/>
              <a:gd name="connsiteX2" fmla="*/ 6680199 w 6680199"/>
              <a:gd name="connsiteY2" fmla="*/ 6858000 h 6858000"/>
              <a:gd name="connsiteX3" fmla="*/ 0 w 6680199"/>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680199" h="6858000">
                <a:moveTo>
                  <a:pt x="2560796" y="0"/>
                </a:moveTo>
                <a:lnTo>
                  <a:pt x="6680199" y="0"/>
                </a:lnTo>
                <a:lnTo>
                  <a:pt x="6680199" y="6858000"/>
                </a:lnTo>
                <a:lnTo>
                  <a:pt x="0" y="6858000"/>
                </a:lnTo>
                <a:close/>
              </a:path>
            </a:pathLst>
          </a:custGeom>
          <a:noFill/>
          <a:extLst>
            <a:ext uri="{909E8E84-426E-40DD-AFC4-6F175D3DCCD1}">
              <a14:hiddenFill xmlns:a14="http://schemas.microsoft.com/office/drawing/2010/main">
                <a:solidFill>
                  <a:srgbClr val="FFFFFF"/>
                </a:solidFill>
              </a14:hiddenFill>
            </a:ext>
          </a:extLst>
        </p:spPr>
      </p:pic>
      <p:sp>
        <p:nvSpPr>
          <p:cNvPr id="5" name="Rectangle 9">
            <a:extLst>
              <a:ext uri="{FF2B5EF4-FFF2-40B4-BE49-F238E27FC236}">
                <a16:creationId xmlns:a16="http://schemas.microsoft.com/office/drawing/2014/main" id="{02C4D493-EAE6-6EF2-5DB1-10034BE91D1A}"/>
              </a:ext>
            </a:extLst>
          </p:cNvPr>
          <p:cNvSpPr/>
          <p:nvPr/>
        </p:nvSpPr>
        <p:spPr>
          <a:xfrm>
            <a:off x="5511802" y="1"/>
            <a:ext cx="6680200" cy="6858000"/>
          </a:xfrm>
          <a:custGeom>
            <a:avLst/>
            <a:gdLst>
              <a:gd name="connsiteX0" fmla="*/ 0 w 6692900"/>
              <a:gd name="connsiteY0" fmla="*/ 0 h 6858000"/>
              <a:gd name="connsiteX1" fmla="*/ 6692900 w 6692900"/>
              <a:gd name="connsiteY1" fmla="*/ 0 h 6858000"/>
              <a:gd name="connsiteX2" fmla="*/ 6692900 w 6692900"/>
              <a:gd name="connsiteY2" fmla="*/ 6858000 h 6858000"/>
              <a:gd name="connsiteX3" fmla="*/ 0 w 6692900"/>
              <a:gd name="connsiteY3" fmla="*/ 6858000 h 6858000"/>
              <a:gd name="connsiteX4" fmla="*/ 0 w 6692900"/>
              <a:gd name="connsiteY4" fmla="*/ 0 h 6858000"/>
              <a:gd name="connsiteX0" fmla="*/ 2425700 w 6692900"/>
              <a:gd name="connsiteY0" fmla="*/ 0 h 6858000"/>
              <a:gd name="connsiteX1" fmla="*/ 6692900 w 6692900"/>
              <a:gd name="connsiteY1" fmla="*/ 0 h 6858000"/>
              <a:gd name="connsiteX2" fmla="*/ 6692900 w 6692900"/>
              <a:gd name="connsiteY2" fmla="*/ 6858000 h 6858000"/>
              <a:gd name="connsiteX3" fmla="*/ 0 w 6692900"/>
              <a:gd name="connsiteY3" fmla="*/ 6858000 h 6858000"/>
              <a:gd name="connsiteX4" fmla="*/ 2425700 w 6692900"/>
              <a:gd name="connsiteY4" fmla="*/ 0 h 6858000"/>
              <a:gd name="connsiteX0" fmla="*/ 2565665 w 6692900"/>
              <a:gd name="connsiteY0" fmla="*/ 0 h 6858000"/>
              <a:gd name="connsiteX1" fmla="*/ 6692900 w 6692900"/>
              <a:gd name="connsiteY1" fmla="*/ 0 h 6858000"/>
              <a:gd name="connsiteX2" fmla="*/ 6692900 w 6692900"/>
              <a:gd name="connsiteY2" fmla="*/ 6858000 h 6858000"/>
              <a:gd name="connsiteX3" fmla="*/ 0 w 6692900"/>
              <a:gd name="connsiteY3" fmla="*/ 6858000 h 6858000"/>
              <a:gd name="connsiteX4" fmla="*/ 2565665 w 6692900"/>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92900" h="6858000">
                <a:moveTo>
                  <a:pt x="2565665" y="0"/>
                </a:moveTo>
                <a:lnTo>
                  <a:pt x="6692900" y="0"/>
                </a:lnTo>
                <a:lnTo>
                  <a:pt x="6692900" y="6858000"/>
                </a:lnTo>
                <a:lnTo>
                  <a:pt x="0" y="6858000"/>
                </a:lnTo>
                <a:lnTo>
                  <a:pt x="2565665" y="0"/>
                </a:lnTo>
                <a:close/>
              </a:path>
            </a:pathLst>
          </a:custGeom>
          <a:solidFill>
            <a:schemeClr val="bg2">
              <a:lumMod val="25000"/>
              <a:alpha val="41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Tree>
    <p:extLst>
      <p:ext uri="{BB962C8B-B14F-4D97-AF65-F5344CB8AC3E}">
        <p14:creationId xmlns:p14="http://schemas.microsoft.com/office/powerpoint/2010/main" val="31132217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5BA2E58-FEC9-D54D-ACC0-E7CEEF5F42E4}"/>
              </a:ext>
            </a:extLst>
          </p:cNvPr>
          <p:cNvSpPr>
            <a:spLocks noGrp="1"/>
          </p:cNvSpPr>
          <p:nvPr>
            <p:ph type="title"/>
          </p:nvPr>
        </p:nvSpPr>
        <p:spPr/>
        <p:txBody>
          <a:bodyPr>
            <a:normAutofit/>
          </a:bodyPr>
          <a:lstStyle/>
          <a:p>
            <a:r>
              <a:rPr lang="en-US" dirty="0"/>
              <a:t>Hypothesis Testing</a:t>
            </a:r>
          </a:p>
        </p:txBody>
      </p:sp>
      <p:sp>
        <p:nvSpPr>
          <p:cNvPr id="2" name="Content Placeholder 1">
            <a:extLst>
              <a:ext uri="{FF2B5EF4-FFF2-40B4-BE49-F238E27FC236}">
                <a16:creationId xmlns:a16="http://schemas.microsoft.com/office/drawing/2014/main" id="{7BA75026-9569-A14D-6A6E-2DC9691B4439}"/>
              </a:ext>
            </a:extLst>
          </p:cNvPr>
          <p:cNvSpPr>
            <a:spLocks noGrp="1"/>
          </p:cNvSpPr>
          <p:nvPr>
            <p:ph idx="1"/>
          </p:nvPr>
        </p:nvSpPr>
        <p:spPr>
          <a:xfrm>
            <a:off x="678884" y="1659834"/>
            <a:ext cx="10834234" cy="4182165"/>
          </a:xfrm>
        </p:spPr>
        <p:txBody>
          <a:bodyPr lIns="0" tIns="0" rIns="0" bIns="0">
            <a:noAutofit/>
          </a:bodyPr>
          <a:lstStyle/>
          <a:p>
            <a:pPr marL="0" indent="0">
              <a:lnSpc>
                <a:spcPct val="100000"/>
              </a:lnSpc>
              <a:spcBef>
                <a:spcPts val="500"/>
              </a:spcBef>
              <a:spcAft>
                <a:spcPts val="500"/>
              </a:spcAft>
              <a:buNone/>
            </a:pPr>
            <a:r>
              <a:rPr lang="en-US" sz="2200" dirty="0"/>
              <a:t>Hypothesis testing is a fundamental statistical method used to assess claims or hypotheses about populations based on sample data. It involves two key hypotheses:</a:t>
            </a:r>
          </a:p>
          <a:p>
            <a:pPr>
              <a:lnSpc>
                <a:spcPct val="100000"/>
              </a:lnSpc>
              <a:spcBef>
                <a:spcPts val="500"/>
              </a:spcBef>
              <a:spcAft>
                <a:spcPts val="500"/>
              </a:spcAft>
            </a:pPr>
            <a:r>
              <a:rPr lang="en-US" sz="2200" b="1" dirty="0">
                <a:solidFill>
                  <a:schemeClr val="tx1"/>
                </a:solidFill>
              </a:rPr>
              <a:t>Null Hypothesis (H0): </a:t>
            </a:r>
            <a:r>
              <a:rPr lang="en-US" sz="2200" dirty="0"/>
              <a:t>This is the default assumption or status quo. It suggests that there is no significant effect, difference, or relationship in the population.</a:t>
            </a:r>
          </a:p>
          <a:p>
            <a:pPr>
              <a:lnSpc>
                <a:spcPct val="100000"/>
              </a:lnSpc>
              <a:spcBef>
                <a:spcPts val="500"/>
              </a:spcBef>
              <a:spcAft>
                <a:spcPts val="500"/>
              </a:spcAft>
            </a:pPr>
            <a:r>
              <a:rPr lang="en-US" sz="2200" b="1" dirty="0">
                <a:solidFill>
                  <a:schemeClr val="tx1"/>
                </a:solidFill>
              </a:rPr>
              <a:t>Alternative Hypothesis (Ha): </a:t>
            </a:r>
            <a:r>
              <a:rPr lang="en-US" sz="2200" dirty="0"/>
              <a:t>This contradicts the null hypothesis and suggests that there is a significant effect, difference, or relationship in the population.</a:t>
            </a:r>
          </a:p>
        </p:txBody>
      </p:sp>
    </p:spTree>
    <p:extLst>
      <p:ext uri="{BB962C8B-B14F-4D97-AF65-F5344CB8AC3E}">
        <p14:creationId xmlns:p14="http://schemas.microsoft.com/office/powerpoint/2010/main" val="31245107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4C329BB3-5F16-63D1-0783-D735BD7E58D2}"/>
              </a:ext>
            </a:extLst>
          </p:cNvPr>
          <p:cNvSpPr>
            <a:spLocks noGrp="1"/>
          </p:cNvSpPr>
          <p:nvPr>
            <p:ph type="title"/>
          </p:nvPr>
        </p:nvSpPr>
        <p:spPr/>
        <p:txBody>
          <a:bodyPr/>
          <a:lstStyle/>
          <a:p>
            <a:r>
              <a:rPr lang="en-IN" dirty="0"/>
              <a:t>Hypothesis Testing Steps</a:t>
            </a:r>
          </a:p>
        </p:txBody>
      </p:sp>
      <p:sp>
        <p:nvSpPr>
          <p:cNvPr id="13" name="Rectangle 12">
            <a:extLst>
              <a:ext uri="{FF2B5EF4-FFF2-40B4-BE49-F238E27FC236}">
                <a16:creationId xmlns:a16="http://schemas.microsoft.com/office/drawing/2014/main" id="{704D1384-D792-1951-3D53-412CA356125C}"/>
              </a:ext>
            </a:extLst>
          </p:cNvPr>
          <p:cNvSpPr/>
          <p:nvPr/>
        </p:nvSpPr>
        <p:spPr>
          <a:xfrm>
            <a:off x="4673549" y="3891057"/>
            <a:ext cx="2844904" cy="482517"/>
          </a:xfrm>
          <a:prstGeom prst="rect">
            <a:avLst/>
          </a:prstGeom>
          <a:solidFill>
            <a:schemeClr val="bg1"/>
          </a:solidFill>
          <a:ln w="28575">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IN" b="1" dirty="0">
                <a:solidFill>
                  <a:schemeClr val="tx1"/>
                </a:solidFill>
              </a:rPr>
              <a:t>Calculate Test Statistic  </a:t>
            </a:r>
          </a:p>
        </p:txBody>
      </p:sp>
      <p:sp>
        <p:nvSpPr>
          <p:cNvPr id="14" name="Rectangle 13">
            <a:extLst>
              <a:ext uri="{FF2B5EF4-FFF2-40B4-BE49-F238E27FC236}">
                <a16:creationId xmlns:a16="http://schemas.microsoft.com/office/drawing/2014/main" id="{231857AD-0005-AEF8-9094-3467B5F1B2ED}"/>
              </a:ext>
            </a:extLst>
          </p:cNvPr>
          <p:cNvSpPr/>
          <p:nvPr/>
        </p:nvSpPr>
        <p:spPr>
          <a:xfrm>
            <a:off x="4673549" y="3189856"/>
            <a:ext cx="2844904" cy="482517"/>
          </a:xfrm>
          <a:prstGeom prst="rect">
            <a:avLst/>
          </a:prstGeom>
          <a:solidFill>
            <a:schemeClr val="bg1"/>
          </a:solidFill>
          <a:ln w="28575">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IN" b="1" dirty="0">
                <a:solidFill>
                  <a:schemeClr val="tx1"/>
                </a:solidFill>
              </a:rPr>
              <a:t>Select Test Statistic</a:t>
            </a:r>
          </a:p>
        </p:txBody>
      </p:sp>
      <p:sp>
        <p:nvSpPr>
          <p:cNvPr id="15" name="Rectangle 14">
            <a:extLst>
              <a:ext uri="{FF2B5EF4-FFF2-40B4-BE49-F238E27FC236}">
                <a16:creationId xmlns:a16="http://schemas.microsoft.com/office/drawing/2014/main" id="{9B0AADAC-E044-D9C9-2B47-3B351CC76600}"/>
              </a:ext>
            </a:extLst>
          </p:cNvPr>
          <p:cNvSpPr/>
          <p:nvPr/>
        </p:nvSpPr>
        <p:spPr>
          <a:xfrm>
            <a:off x="4673549" y="2488655"/>
            <a:ext cx="2844904" cy="482517"/>
          </a:xfrm>
          <a:prstGeom prst="rect">
            <a:avLst/>
          </a:prstGeom>
          <a:solidFill>
            <a:schemeClr val="bg1"/>
          </a:solidFill>
          <a:ln w="28575">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IN" b="1" dirty="0">
                <a:solidFill>
                  <a:schemeClr val="tx1"/>
                </a:solidFill>
              </a:rPr>
              <a:t>State Hypothesis</a:t>
            </a:r>
          </a:p>
        </p:txBody>
      </p:sp>
      <p:sp>
        <p:nvSpPr>
          <p:cNvPr id="16" name="Rectangle 15">
            <a:extLst>
              <a:ext uri="{FF2B5EF4-FFF2-40B4-BE49-F238E27FC236}">
                <a16:creationId xmlns:a16="http://schemas.microsoft.com/office/drawing/2014/main" id="{D1EA1D30-1D21-E17F-0F66-71570DFD2A9E}"/>
              </a:ext>
            </a:extLst>
          </p:cNvPr>
          <p:cNvSpPr/>
          <p:nvPr/>
        </p:nvSpPr>
        <p:spPr>
          <a:xfrm>
            <a:off x="4673549" y="1787454"/>
            <a:ext cx="2844904" cy="482517"/>
          </a:xfrm>
          <a:prstGeom prst="rect">
            <a:avLst/>
          </a:prstGeom>
          <a:solidFill>
            <a:schemeClr val="bg1"/>
          </a:solidFill>
          <a:ln w="28575">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IN" b="1" dirty="0">
                <a:solidFill>
                  <a:schemeClr val="tx1"/>
                </a:solidFill>
              </a:rPr>
              <a:t>Data</a:t>
            </a:r>
          </a:p>
        </p:txBody>
      </p:sp>
      <p:sp>
        <p:nvSpPr>
          <p:cNvPr id="3" name="Diamond 2">
            <a:extLst>
              <a:ext uri="{FF2B5EF4-FFF2-40B4-BE49-F238E27FC236}">
                <a16:creationId xmlns:a16="http://schemas.microsoft.com/office/drawing/2014/main" id="{103A8E66-E5EC-3DC7-513F-B48335C7D5B9}"/>
              </a:ext>
            </a:extLst>
          </p:cNvPr>
          <p:cNvSpPr/>
          <p:nvPr/>
        </p:nvSpPr>
        <p:spPr>
          <a:xfrm>
            <a:off x="4673549" y="4592258"/>
            <a:ext cx="2844904" cy="701200"/>
          </a:xfrm>
          <a:prstGeom prst="diamond">
            <a:avLst/>
          </a:prstGeom>
          <a:solidFill>
            <a:schemeClr val="accent1">
              <a:lumMod val="20000"/>
              <a:lumOff val="80000"/>
            </a:schemeClr>
          </a:solidFill>
          <a:ln w="28575">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IN" b="1" dirty="0">
                <a:solidFill>
                  <a:schemeClr val="tx1"/>
                </a:solidFill>
              </a:rPr>
              <a:t>Statistical Decision</a:t>
            </a:r>
          </a:p>
        </p:txBody>
      </p:sp>
      <p:sp>
        <p:nvSpPr>
          <p:cNvPr id="11" name="Rectangle: Rounded Corners 10">
            <a:extLst>
              <a:ext uri="{FF2B5EF4-FFF2-40B4-BE49-F238E27FC236}">
                <a16:creationId xmlns:a16="http://schemas.microsoft.com/office/drawing/2014/main" id="{9977CA45-3D76-AD73-8C48-100E78278563}"/>
              </a:ext>
            </a:extLst>
          </p:cNvPr>
          <p:cNvSpPr/>
          <p:nvPr/>
        </p:nvSpPr>
        <p:spPr>
          <a:xfrm>
            <a:off x="678884" y="5456018"/>
            <a:ext cx="2844904" cy="482517"/>
          </a:xfrm>
          <a:prstGeom prst="roundRect">
            <a:avLst/>
          </a:prstGeom>
          <a:solidFill>
            <a:schemeClr val="accent1">
              <a:lumMod val="20000"/>
              <a:lumOff val="80000"/>
            </a:schemeClr>
          </a:solidFill>
          <a:ln w="28575">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IN" b="1" dirty="0">
                <a:solidFill>
                  <a:schemeClr val="tx1"/>
                </a:solidFill>
              </a:rPr>
              <a:t>Calculate Ho may be true</a:t>
            </a:r>
          </a:p>
        </p:txBody>
      </p:sp>
      <p:sp>
        <p:nvSpPr>
          <p:cNvPr id="12" name="Oval 11">
            <a:extLst>
              <a:ext uri="{FF2B5EF4-FFF2-40B4-BE49-F238E27FC236}">
                <a16:creationId xmlns:a16="http://schemas.microsoft.com/office/drawing/2014/main" id="{87EBCF63-7443-77A0-0FD9-FA5FA655B166}"/>
              </a:ext>
            </a:extLst>
          </p:cNvPr>
          <p:cNvSpPr/>
          <p:nvPr/>
        </p:nvSpPr>
        <p:spPr>
          <a:xfrm>
            <a:off x="678884" y="4701600"/>
            <a:ext cx="2844904" cy="482517"/>
          </a:xfrm>
          <a:prstGeom prst="ellipse">
            <a:avLst/>
          </a:prstGeom>
          <a:solidFill>
            <a:schemeClr val="accent6">
              <a:lumMod val="20000"/>
              <a:lumOff val="80000"/>
            </a:schemeClr>
          </a:solidFill>
          <a:ln w="28575">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IN" b="1" dirty="0">
                <a:solidFill>
                  <a:schemeClr val="tx1"/>
                </a:solidFill>
              </a:rPr>
              <a:t>Do Not Reject Ho </a:t>
            </a:r>
          </a:p>
        </p:txBody>
      </p:sp>
      <p:sp>
        <p:nvSpPr>
          <p:cNvPr id="26" name="Rectangle: Rounded Corners 25">
            <a:extLst>
              <a:ext uri="{FF2B5EF4-FFF2-40B4-BE49-F238E27FC236}">
                <a16:creationId xmlns:a16="http://schemas.microsoft.com/office/drawing/2014/main" id="{23271276-884B-DED0-F123-C239DE287CD5}"/>
              </a:ext>
            </a:extLst>
          </p:cNvPr>
          <p:cNvSpPr/>
          <p:nvPr/>
        </p:nvSpPr>
        <p:spPr>
          <a:xfrm>
            <a:off x="8668214" y="5456018"/>
            <a:ext cx="2844904" cy="482517"/>
          </a:xfrm>
          <a:prstGeom prst="roundRect">
            <a:avLst/>
          </a:prstGeom>
          <a:solidFill>
            <a:schemeClr val="accent1">
              <a:lumMod val="20000"/>
              <a:lumOff val="80000"/>
            </a:schemeClr>
          </a:solidFill>
          <a:ln w="28575">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b="1" dirty="0">
                <a:solidFill>
                  <a:schemeClr val="tx1"/>
                </a:solidFill>
              </a:rPr>
              <a:t>Calculate H</a:t>
            </a:r>
            <a:r>
              <a:rPr lang="en-US" b="1" baseline="-25000" dirty="0">
                <a:solidFill>
                  <a:schemeClr val="tx1"/>
                </a:solidFill>
              </a:rPr>
              <a:t>A</a:t>
            </a:r>
            <a:r>
              <a:rPr lang="en-US" b="1" dirty="0">
                <a:solidFill>
                  <a:schemeClr val="tx1"/>
                </a:solidFill>
              </a:rPr>
              <a:t> is true</a:t>
            </a:r>
          </a:p>
        </p:txBody>
      </p:sp>
      <p:sp>
        <p:nvSpPr>
          <p:cNvPr id="27" name="Oval 26">
            <a:extLst>
              <a:ext uri="{FF2B5EF4-FFF2-40B4-BE49-F238E27FC236}">
                <a16:creationId xmlns:a16="http://schemas.microsoft.com/office/drawing/2014/main" id="{1FC44957-13B6-B6F7-49BC-E859E6737306}"/>
              </a:ext>
            </a:extLst>
          </p:cNvPr>
          <p:cNvSpPr/>
          <p:nvPr/>
        </p:nvSpPr>
        <p:spPr>
          <a:xfrm>
            <a:off x="8668214" y="4701600"/>
            <a:ext cx="2844904" cy="482517"/>
          </a:xfrm>
          <a:prstGeom prst="ellipse">
            <a:avLst/>
          </a:prstGeom>
          <a:solidFill>
            <a:schemeClr val="accent6">
              <a:lumMod val="20000"/>
              <a:lumOff val="80000"/>
            </a:schemeClr>
          </a:solidFill>
          <a:ln w="28575">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IN" b="1" dirty="0">
                <a:solidFill>
                  <a:schemeClr val="tx1"/>
                </a:solidFill>
              </a:rPr>
              <a:t>Reject Ho </a:t>
            </a:r>
          </a:p>
        </p:txBody>
      </p:sp>
      <p:cxnSp>
        <p:nvCxnSpPr>
          <p:cNvPr id="28" name="Straight Connector 53">
            <a:extLst>
              <a:ext uri="{FF2B5EF4-FFF2-40B4-BE49-F238E27FC236}">
                <a16:creationId xmlns:a16="http://schemas.microsoft.com/office/drawing/2014/main" id="{4B5FCBC9-B89E-B615-6029-B222F82443C3}"/>
              </a:ext>
            </a:extLst>
          </p:cNvPr>
          <p:cNvCxnSpPr>
            <a:cxnSpLocks/>
            <a:stCxn id="15" idx="0"/>
            <a:endCxn id="16" idx="2"/>
          </p:cNvCxnSpPr>
          <p:nvPr/>
        </p:nvCxnSpPr>
        <p:spPr>
          <a:xfrm flipV="1">
            <a:off x="6096001" y="2269971"/>
            <a:ext cx="0" cy="218684"/>
          </a:xfrm>
          <a:prstGeom prst="straightConnector1">
            <a:avLst/>
          </a:prstGeom>
          <a:ln w="28575">
            <a:solidFill>
              <a:schemeClr val="bg2">
                <a:lumMod val="10000"/>
              </a:schemeClr>
            </a:solidFill>
            <a:headEnd type="triangle"/>
          </a:ln>
        </p:spPr>
        <p:style>
          <a:lnRef idx="1">
            <a:schemeClr val="accent1"/>
          </a:lnRef>
          <a:fillRef idx="0">
            <a:schemeClr val="accent1"/>
          </a:fillRef>
          <a:effectRef idx="0">
            <a:schemeClr val="accent1"/>
          </a:effectRef>
          <a:fontRef idx="minor">
            <a:schemeClr val="tx1"/>
          </a:fontRef>
        </p:style>
      </p:cxnSp>
      <p:cxnSp>
        <p:nvCxnSpPr>
          <p:cNvPr id="32" name="Straight Connector 53">
            <a:extLst>
              <a:ext uri="{FF2B5EF4-FFF2-40B4-BE49-F238E27FC236}">
                <a16:creationId xmlns:a16="http://schemas.microsoft.com/office/drawing/2014/main" id="{A3ED4D0C-2466-8614-0071-477538238D3B}"/>
              </a:ext>
            </a:extLst>
          </p:cNvPr>
          <p:cNvCxnSpPr>
            <a:cxnSpLocks/>
            <a:stCxn id="14" idx="0"/>
            <a:endCxn id="15" idx="2"/>
          </p:cNvCxnSpPr>
          <p:nvPr/>
        </p:nvCxnSpPr>
        <p:spPr>
          <a:xfrm flipV="1">
            <a:off x="6096001" y="2971172"/>
            <a:ext cx="0" cy="218684"/>
          </a:xfrm>
          <a:prstGeom prst="straightConnector1">
            <a:avLst/>
          </a:prstGeom>
          <a:ln w="28575">
            <a:solidFill>
              <a:schemeClr val="bg2">
                <a:lumMod val="10000"/>
              </a:schemeClr>
            </a:solidFill>
            <a:headEnd type="triangle"/>
          </a:ln>
        </p:spPr>
        <p:style>
          <a:lnRef idx="1">
            <a:schemeClr val="accent1"/>
          </a:lnRef>
          <a:fillRef idx="0">
            <a:schemeClr val="accent1"/>
          </a:fillRef>
          <a:effectRef idx="0">
            <a:schemeClr val="accent1"/>
          </a:effectRef>
          <a:fontRef idx="minor">
            <a:schemeClr val="tx1"/>
          </a:fontRef>
        </p:style>
      </p:cxnSp>
      <p:cxnSp>
        <p:nvCxnSpPr>
          <p:cNvPr id="42" name="Straight Connector 53">
            <a:extLst>
              <a:ext uri="{FF2B5EF4-FFF2-40B4-BE49-F238E27FC236}">
                <a16:creationId xmlns:a16="http://schemas.microsoft.com/office/drawing/2014/main" id="{32449EC6-67AC-9CF1-2C46-2B73EBB07683}"/>
              </a:ext>
            </a:extLst>
          </p:cNvPr>
          <p:cNvCxnSpPr>
            <a:cxnSpLocks/>
            <a:stCxn id="13" idx="0"/>
            <a:endCxn id="14" idx="2"/>
          </p:cNvCxnSpPr>
          <p:nvPr/>
        </p:nvCxnSpPr>
        <p:spPr>
          <a:xfrm flipV="1">
            <a:off x="6096001" y="3672373"/>
            <a:ext cx="0" cy="218684"/>
          </a:xfrm>
          <a:prstGeom prst="straightConnector1">
            <a:avLst/>
          </a:prstGeom>
          <a:ln w="28575">
            <a:solidFill>
              <a:schemeClr val="bg2">
                <a:lumMod val="10000"/>
              </a:schemeClr>
            </a:solidFill>
            <a:headEnd type="triangle"/>
          </a:ln>
        </p:spPr>
        <p:style>
          <a:lnRef idx="1">
            <a:schemeClr val="accent1"/>
          </a:lnRef>
          <a:fillRef idx="0">
            <a:schemeClr val="accent1"/>
          </a:fillRef>
          <a:effectRef idx="0">
            <a:schemeClr val="accent1"/>
          </a:effectRef>
          <a:fontRef idx="minor">
            <a:schemeClr val="tx1"/>
          </a:fontRef>
        </p:style>
      </p:cxnSp>
      <p:cxnSp>
        <p:nvCxnSpPr>
          <p:cNvPr id="47" name="Straight Connector 53">
            <a:extLst>
              <a:ext uri="{FF2B5EF4-FFF2-40B4-BE49-F238E27FC236}">
                <a16:creationId xmlns:a16="http://schemas.microsoft.com/office/drawing/2014/main" id="{EFA160C6-CC28-241F-9FB3-AE0116978A64}"/>
              </a:ext>
            </a:extLst>
          </p:cNvPr>
          <p:cNvCxnSpPr>
            <a:cxnSpLocks/>
            <a:stCxn id="3" idx="0"/>
            <a:endCxn id="13" idx="2"/>
          </p:cNvCxnSpPr>
          <p:nvPr/>
        </p:nvCxnSpPr>
        <p:spPr>
          <a:xfrm flipV="1">
            <a:off x="6096001" y="4373574"/>
            <a:ext cx="0" cy="218684"/>
          </a:xfrm>
          <a:prstGeom prst="straightConnector1">
            <a:avLst/>
          </a:prstGeom>
          <a:ln w="28575">
            <a:solidFill>
              <a:schemeClr val="bg2">
                <a:lumMod val="10000"/>
              </a:schemeClr>
            </a:solidFill>
            <a:headEnd type="triangle"/>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F2D8C867-010F-1A9B-B661-53528790AA8F}"/>
              </a:ext>
            </a:extLst>
          </p:cNvPr>
          <p:cNvCxnSpPr>
            <a:cxnSpLocks/>
            <a:stCxn id="27" idx="2"/>
            <a:endCxn id="3" idx="3"/>
          </p:cNvCxnSpPr>
          <p:nvPr/>
        </p:nvCxnSpPr>
        <p:spPr>
          <a:xfrm flipH="1" flipV="1">
            <a:off x="7518453" y="4942858"/>
            <a:ext cx="1149761" cy="1"/>
          </a:xfrm>
          <a:prstGeom prst="straightConnector1">
            <a:avLst/>
          </a:prstGeom>
          <a:ln w="28575">
            <a:solidFill>
              <a:schemeClr val="bg2">
                <a:lumMod val="10000"/>
              </a:schemeClr>
            </a:solidFill>
            <a:headEnd type="triangle"/>
          </a:ln>
        </p:spPr>
        <p:style>
          <a:lnRef idx="1">
            <a:schemeClr val="accent1"/>
          </a:lnRef>
          <a:fillRef idx="0">
            <a:schemeClr val="accent1"/>
          </a:fillRef>
          <a:effectRef idx="0">
            <a:schemeClr val="accent1"/>
          </a:effectRef>
          <a:fontRef idx="minor">
            <a:schemeClr val="tx1"/>
          </a:fontRef>
        </p:style>
      </p:cxnSp>
      <p:cxnSp>
        <p:nvCxnSpPr>
          <p:cNvPr id="57" name="Straight Connector 53">
            <a:extLst>
              <a:ext uri="{FF2B5EF4-FFF2-40B4-BE49-F238E27FC236}">
                <a16:creationId xmlns:a16="http://schemas.microsoft.com/office/drawing/2014/main" id="{68D30710-B15C-F467-4879-82A727548CC5}"/>
              </a:ext>
            </a:extLst>
          </p:cNvPr>
          <p:cNvCxnSpPr>
            <a:cxnSpLocks/>
            <a:stCxn id="12" idx="6"/>
            <a:endCxn id="3" idx="1"/>
          </p:cNvCxnSpPr>
          <p:nvPr/>
        </p:nvCxnSpPr>
        <p:spPr>
          <a:xfrm flipV="1">
            <a:off x="3523788" y="4942858"/>
            <a:ext cx="1149761" cy="1"/>
          </a:xfrm>
          <a:prstGeom prst="straightConnector1">
            <a:avLst/>
          </a:prstGeom>
          <a:ln w="28575">
            <a:solidFill>
              <a:schemeClr val="bg2">
                <a:lumMod val="10000"/>
              </a:schemeClr>
            </a:solidFill>
            <a:headEnd type="triangle"/>
          </a:ln>
        </p:spPr>
        <p:style>
          <a:lnRef idx="1">
            <a:schemeClr val="accent1"/>
          </a:lnRef>
          <a:fillRef idx="0">
            <a:schemeClr val="accent1"/>
          </a:fillRef>
          <a:effectRef idx="0">
            <a:schemeClr val="accent1"/>
          </a:effectRef>
          <a:fontRef idx="minor">
            <a:schemeClr val="tx1"/>
          </a:fontRef>
        </p:style>
      </p:cxnSp>
      <p:cxnSp>
        <p:nvCxnSpPr>
          <p:cNvPr id="60" name="Straight Connector 53">
            <a:extLst>
              <a:ext uri="{FF2B5EF4-FFF2-40B4-BE49-F238E27FC236}">
                <a16:creationId xmlns:a16="http://schemas.microsoft.com/office/drawing/2014/main" id="{CFA2C34B-6F91-9252-9544-81BB76B22925}"/>
              </a:ext>
            </a:extLst>
          </p:cNvPr>
          <p:cNvCxnSpPr>
            <a:cxnSpLocks/>
            <a:stCxn id="26" idx="0"/>
            <a:endCxn id="27" idx="4"/>
          </p:cNvCxnSpPr>
          <p:nvPr/>
        </p:nvCxnSpPr>
        <p:spPr>
          <a:xfrm flipV="1">
            <a:off x="10090666" y="5184117"/>
            <a:ext cx="0" cy="271901"/>
          </a:xfrm>
          <a:prstGeom prst="straightConnector1">
            <a:avLst/>
          </a:prstGeom>
          <a:ln w="28575">
            <a:solidFill>
              <a:schemeClr val="bg2">
                <a:lumMod val="10000"/>
              </a:schemeClr>
            </a:solidFill>
            <a:headEnd type="triangle"/>
          </a:ln>
        </p:spPr>
        <p:style>
          <a:lnRef idx="1">
            <a:schemeClr val="accent1"/>
          </a:lnRef>
          <a:fillRef idx="0">
            <a:schemeClr val="accent1"/>
          </a:fillRef>
          <a:effectRef idx="0">
            <a:schemeClr val="accent1"/>
          </a:effectRef>
          <a:fontRef idx="minor">
            <a:schemeClr val="tx1"/>
          </a:fontRef>
        </p:style>
      </p:cxnSp>
      <p:cxnSp>
        <p:nvCxnSpPr>
          <p:cNvPr id="63" name="Straight Connector 53">
            <a:extLst>
              <a:ext uri="{FF2B5EF4-FFF2-40B4-BE49-F238E27FC236}">
                <a16:creationId xmlns:a16="http://schemas.microsoft.com/office/drawing/2014/main" id="{E54490C4-2579-BA2D-05D7-396B89EED688}"/>
              </a:ext>
            </a:extLst>
          </p:cNvPr>
          <p:cNvCxnSpPr>
            <a:cxnSpLocks/>
            <a:stCxn id="11" idx="0"/>
            <a:endCxn id="12" idx="4"/>
          </p:cNvCxnSpPr>
          <p:nvPr/>
        </p:nvCxnSpPr>
        <p:spPr>
          <a:xfrm flipV="1">
            <a:off x="2101336" y="5184117"/>
            <a:ext cx="0" cy="271901"/>
          </a:xfrm>
          <a:prstGeom prst="straightConnector1">
            <a:avLst/>
          </a:prstGeom>
          <a:ln w="28575">
            <a:solidFill>
              <a:schemeClr val="bg2">
                <a:lumMod val="10000"/>
              </a:schemeClr>
            </a:solidFill>
            <a:head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734164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167844F-298E-4890-096C-08ED7FF670F0}"/>
              </a:ext>
            </a:extLst>
          </p:cNvPr>
          <p:cNvSpPr>
            <a:spLocks noGrp="1"/>
          </p:cNvSpPr>
          <p:nvPr>
            <p:ph type="title"/>
          </p:nvPr>
        </p:nvSpPr>
        <p:spPr>
          <a:xfrm>
            <a:off x="678883" y="1994526"/>
            <a:ext cx="5975917" cy="2856250"/>
          </a:xfrm>
        </p:spPr>
        <p:txBody>
          <a:bodyPr anchor="ctr" anchorCtr="0">
            <a:noAutofit/>
          </a:bodyPr>
          <a:lstStyle/>
          <a:p>
            <a:r>
              <a:rPr lang="en-US" sz="5400" dirty="0"/>
              <a:t>Significance Level (Alpha) &amp; P-value </a:t>
            </a:r>
          </a:p>
        </p:txBody>
      </p:sp>
      <p:pic>
        <p:nvPicPr>
          <p:cNvPr id="6" name="Picture 5" descr="The Difference Between Alpha and P-Values">
            <a:extLst>
              <a:ext uri="{FF2B5EF4-FFF2-40B4-BE49-F238E27FC236}">
                <a16:creationId xmlns:a16="http://schemas.microsoft.com/office/drawing/2014/main" id="{3DACBA1F-416C-850B-2405-B4BB0CFF859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4691" r="30370"/>
          <a:stretch>
            <a:fillRect/>
          </a:stretch>
        </p:blipFill>
        <p:spPr bwMode="auto">
          <a:xfrm>
            <a:off x="5511802" y="2"/>
            <a:ext cx="6680199" cy="6857999"/>
          </a:xfrm>
          <a:custGeom>
            <a:avLst/>
            <a:gdLst>
              <a:gd name="connsiteX0" fmla="*/ 2560796 w 6680199"/>
              <a:gd name="connsiteY0" fmla="*/ 0 h 6857999"/>
              <a:gd name="connsiteX1" fmla="*/ 6680199 w 6680199"/>
              <a:gd name="connsiteY1" fmla="*/ 0 h 6857999"/>
              <a:gd name="connsiteX2" fmla="*/ 6680199 w 6680199"/>
              <a:gd name="connsiteY2" fmla="*/ 6857999 h 6857999"/>
              <a:gd name="connsiteX3" fmla="*/ 0 w 6680199"/>
              <a:gd name="connsiteY3" fmla="*/ 6857999 h 6857999"/>
            </a:gdLst>
            <a:ahLst/>
            <a:cxnLst>
              <a:cxn ang="0">
                <a:pos x="connsiteX0" y="connsiteY0"/>
              </a:cxn>
              <a:cxn ang="0">
                <a:pos x="connsiteX1" y="connsiteY1"/>
              </a:cxn>
              <a:cxn ang="0">
                <a:pos x="connsiteX2" y="connsiteY2"/>
              </a:cxn>
              <a:cxn ang="0">
                <a:pos x="connsiteX3" y="connsiteY3"/>
              </a:cxn>
            </a:cxnLst>
            <a:rect l="l" t="t" r="r" b="b"/>
            <a:pathLst>
              <a:path w="6680199" h="6857999">
                <a:moveTo>
                  <a:pt x="2560796" y="0"/>
                </a:moveTo>
                <a:lnTo>
                  <a:pt x="6680199" y="0"/>
                </a:lnTo>
                <a:lnTo>
                  <a:pt x="6680199" y="6857999"/>
                </a:lnTo>
                <a:lnTo>
                  <a:pt x="0" y="6857999"/>
                </a:lnTo>
                <a:close/>
              </a:path>
            </a:pathLst>
          </a:custGeom>
          <a:noFill/>
          <a:extLst>
            <a:ext uri="{909E8E84-426E-40DD-AFC4-6F175D3DCCD1}">
              <a14:hiddenFill xmlns:a14="http://schemas.microsoft.com/office/drawing/2010/main">
                <a:solidFill>
                  <a:srgbClr val="FFFFFF"/>
                </a:solidFill>
              </a14:hiddenFill>
            </a:ext>
          </a:extLst>
        </p:spPr>
      </p:pic>
      <p:sp>
        <p:nvSpPr>
          <p:cNvPr id="5" name="Rectangle 9">
            <a:extLst>
              <a:ext uri="{FF2B5EF4-FFF2-40B4-BE49-F238E27FC236}">
                <a16:creationId xmlns:a16="http://schemas.microsoft.com/office/drawing/2014/main" id="{7CCF5638-EB48-AAAF-7932-D04FDB95BAE6}"/>
              </a:ext>
            </a:extLst>
          </p:cNvPr>
          <p:cNvSpPr/>
          <p:nvPr/>
        </p:nvSpPr>
        <p:spPr>
          <a:xfrm>
            <a:off x="5511803" y="1"/>
            <a:ext cx="6680200" cy="6858000"/>
          </a:xfrm>
          <a:custGeom>
            <a:avLst/>
            <a:gdLst>
              <a:gd name="connsiteX0" fmla="*/ 0 w 6692900"/>
              <a:gd name="connsiteY0" fmla="*/ 0 h 6858000"/>
              <a:gd name="connsiteX1" fmla="*/ 6692900 w 6692900"/>
              <a:gd name="connsiteY1" fmla="*/ 0 h 6858000"/>
              <a:gd name="connsiteX2" fmla="*/ 6692900 w 6692900"/>
              <a:gd name="connsiteY2" fmla="*/ 6858000 h 6858000"/>
              <a:gd name="connsiteX3" fmla="*/ 0 w 6692900"/>
              <a:gd name="connsiteY3" fmla="*/ 6858000 h 6858000"/>
              <a:gd name="connsiteX4" fmla="*/ 0 w 6692900"/>
              <a:gd name="connsiteY4" fmla="*/ 0 h 6858000"/>
              <a:gd name="connsiteX0" fmla="*/ 2425700 w 6692900"/>
              <a:gd name="connsiteY0" fmla="*/ 0 h 6858000"/>
              <a:gd name="connsiteX1" fmla="*/ 6692900 w 6692900"/>
              <a:gd name="connsiteY1" fmla="*/ 0 h 6858000"/>
              <a:gd name="connsiteX2" fmla="*/ 6692900 w 6692900"/>
              <a:gd name="connsiteY2" fmla="*/ 6858000 h 6858000"/>
              <a:gd name="connsiteX3" fmla="*/ 0 w 6692900"/>
              <a:gd name="connsiteY3" fmla="*/ 6858000 h 6858000"/>
              <a:gd name="connsiteX4" fmla="*/ 2425700 w 6692900"/>
              <a:gd name="connsiteY4" fmla="*/ 0 h 6858000"/>
              <a:gd name="connsiteX0" fmla="*/ 2565665 w 6692900"/>
              <a:gd name="connsiteY0" fmla="*/ 0 h 6858000"/>
              <a:gd name="connsiteX1" fmla="*/ 6692900 w 6692900"/>
              <a:gd name="connsiteY1" fmla="*/ 0 h 6858000"/>
              <a:gd name="connsiteX2" fmla="*/ 6692900 w 6692900"/>
              <a:gd name="connsiteY2" fmla="*/ 6858000 h 6858000"/>
              <a:gd name="connsiteX3" fmla="*/ 0 w 6692900"/>
              <a:gd name="connsiteY3" fmla="*/ 6858000 h 6858000"/>
              <a:gd name="connsiteX4" fmla="*/ 2565665 w 6692900"/>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92900" h="6858000">
                <a:moveTo>
                  <a:pt x="2565665" y="0"/>
                </a:moveTo>
                <a:lnTo>
                  <a:pt x="6692900" y="0"/>
                </a:lnTo>
                <a:lnTo>
                  <a:pt x="6692900" y="6858000"/>
                </a:lnTo>
                <a:lnTo>
                  <a:pt x="0" y="6858000"/>
                </a:lnTo>
                <a:lnTo>
                  <a:pt x="2565665" y="0"/>
                </a:lnTo>
                <a:close/>
              </a:path>
            </a:pathLst>
          </a:custGeom>
          <a:solidFill>
            <a:schemeClr val="bg2">
              <a:lumMod val="25000"/>
              <a:alpha val="41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Tree>
    <p:extLst>
      <p:ext uri="{BB962C8B-B14F-4D97-AF65-F5344CB8AC3E}">
        <p14:creationId xmlns:p14="http://schemas.microsoft.com/office/powerpoint/2010/main" val="34859406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5BA2E58-FEC9-D54D-ACC0-E7CEEF5F42E4}"/>
              </a:ext>
            </a:extLst>
          </p:cNvPr>
          <p:cNvSpPr>
            <a:spLocks noGrp="1"/>
          </p:cNvSpPr>
          <p:nvPr>
            <p:ph type="title"/>
          </p:nvPr>
        </p:nvSpPr>
        <p:spPr/>
        <p:txBody>
          <a:bodyPr>
            <a:normAutofit/>
          </a:bodyPr>
          <a:lstStyle/>
          <a:p>
            <a:r>
              <a:rPr lang="en-US" dirty="0"/>
              <a:t>Significance Level (</a:t>
            </a:r>
            <a:r>
              <a:rPr lang="el-GR" dirty="0"/>
              <a:t>α)</a:t>
            </a:r>
          </a:p>
        </p:txBody>
      </p:sp>
      <p:sp>
        <p:nvSpPr>
          <p:cNvPr id="12" name="Content Placeholder 11">
            <a:extLst>
              <a:ext uri="{FF2B5EF4-FFF2-40B4-BE49-F238E27FC236}">
                <a16:creationId xmlns:a16="http://schemas.microsoft.com/office/drawing/2014/main" id="{969159AF-1858-1735-E916-149CCD3ECA53}"/>
              </a:ext>
            </a:extLst>
          </p:cNvPr>
          <p:cNvSpPr>
            <a:spLocks noGrp="1"/>
          </p:cNvSpPr>
          <p:nvPr>
            <p:ph idx="1"/>
          </p:nvPr>
        </p:nvSpPr>
        <p:spPr>
          <a:xfrm>
            <a:off x="678883" y="1659835"/>
            <a:ext cx="5219893" cy="4398066"/>
          </a:xfrm>
        </p:spPr>
        <p:txBody>
          <a:bodyPr lIns="0" tIns="0" rIns="0" bIns="0"/>
          <a:lstStyle/>
          <a:p>
            <a:r>
              <a:rPr lang="en-US" sz="2200" dirty="0"/>
              <a:t>The significance level, denoted as α (alpha), is a predetermined threshold used in hypothesis testing to determine the level of evidence required to reject the null hypothesis. It represents the maximum acceptable probability of making a </a:t>
            </a:r>
            <a:r>
              <a:rPr lang="en-US" sz="2200" b="1" dirty="0">
                <a:solidFill>
                  <a:schemeClr val="tx1"/>
                </a:solidFill>
              </a:rPr>
              <a:t>Type I error (False Positive)</a:t>
            </a:r>
            <a:r>
              <a:rPr lang="en-US" sz="2200" dirty="0"/>
              <a:t>, which is the error of rejecting a true null hypothesis.</a:t>
            </a:r>
          </a:p>
          <a:p>
            <a:r>
              <a:rPr lang="en-US" sz="2200" dirty="0"/>
              <a:t>Commonly used significance levels include α = 0.05 (5%), α = 0.01 (1%), and α = 0.10 (10%). </a:t>
            </a:r>
          </a:p>
        </p:txBody>
      </p:sp>
      <p:pic>
        <p:nvPicPr>
          <p:cNvPr id="14" name="Picture 13" descr="Find the critical t value given a significance level alpha">
            <a:extLst>
              <a:ext uri="{FF2B5EF4-FFF2-40B4-BE49-F238E27FC236}">
                <a16:creationId xmlns:a16="http://schemas.microsoft.com/office/drawing/2014/main" id="{1D4839CD-B33D-12F6-9AFE-91F3E780C35F}"/>
              </a:ext>
            </a:extLst>
          </p:cNvPr>
          <p:cNvPicPr>
            <a:picLocks noChangeAspect="1"/>
          </p:cNvPicPr>
          <p:nvPr/>
        </p:nvPicPr>
        <p:blipFill>
          <a:blip r:embed="rId2"/>
          <a:stretch>
            <a:fillRect/>
          </a:stretch>
        </p:blipFill>
        <p:spPr>
          <a:xfrm>
            <a:off x="6096000" y="1991344"/>
            <a:ext cx="5549153" cy="2673924"/>
          </a:xfrm>
          <a:prstGeom prst="rect">
            <a:avLst/>
          </a:prstGeom>
        </p:spPr>
      </p:pic>
    </p:spTree>
    <p:extLst>
      <p:ext uri="{BB962C8B-B14F-4D97-AF65-F5344CB8AC3E}">
        <p14:creationId xmlns:p14="http://schemas.microsoft.com/office/powerpoint/2010/main" val="37570660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167844F-298E-4890-096C-08ED7FF670F0}"/>
              </a:ext>
            </a:extLst>
          </p:cNvPr>
          <p:cNvSpPr>
            <a:spLocks noGrp="1"/>
          </p:cNvSpPr>
          <p:nvPr>
            <p:ph type="title"/>
          </p:nvPr>
        </p:nvSpPr>
        <p:spPr>
          <a:xfrm>
            <a:off x="678883" y="1994526"/>
            <a:ext cx="5975917" cy="2856250"/>
          </a:xfrm>
        </p:spPr>
        <p:txBody>
          <a:bodyPr anchor="ctr" anchorCtr="0">
            <a:noAutofit/>
          </a:bodyPr>
          <a:lstStyle/>
          <a:p>
            <a:r>
              <a:rPr lang="en-US" sz="5400" dirty="0"/>
              <a:t>Confidence Interval</a:t>
            </a:r>
          </a:p>
        </p:txBody>
      </p:sp>
      <p:pic>
        <p:nvPicPr>
          <p:cNvPr id="6" name="Picture 5" descr="Confidence Intervals, 48% OFF | barberena.com.mx">
            <a:extLst>
              <a:ext uri="{FF2B5EF4-FFF2-40B4-BE49-F238E27FC236}">
                <a16:creationId xmlns:a16="http://schemas.microsoft.com/office/drawing/2014/main" id="{9A0AF1E0-62EB-EAF3-79CE-24FF8F1F503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13869" t="1264" r="27474" b="1264"/>
          <a:stretch>
            <a:fillRect/>
          </a:stretch>
        </p:blipFill>
        <p:spPr bwMode="auto">
          <a:xfrm>
            <a:off x="5511800" y="1"/>
            <a:ext cx="6680200" cy="6858000"/>
          </a:xfrm>
          <a:custGeom>
            <a:avLst/>
            <a:gdLst>
              <a:gd name="connsiteX0" fmla="*/ 2560797 w 6680200"/>
              <a:gd name="connsiteY0" fmla="*/ 0 h 6858000"/>
              <a:gd name="connsiteX1" fmla="*/ 6680200 w 6680200"/>
              <a:gd name="connsiteY1" fmla="*/ 0 h 6858000"/>
              <a:gd name="connsiteX2" fmla="*/ 6680200 w 6680200"/>
              <a:gd name="connsiteY2" fmla="*/ 6858000 h 6858000"/>
              <a:gd name="connsiteX3" fmla="*/ 0 w 66802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680200" h="6858000">
                <a:moveTo>
                  <a:pt x="2560797" y="0"/>
                </a:moveTo>
                <a:lnTo>
                  <a:pt x="6680200" y="0"/>
                </a:lnTo>
                <a:lnTo>
                  <a:pt x="6680200" y="6858000"/>
                </a:lnTo>
                <a:lnTo>
                  <a:pt x="0" y="6858000"/>
                </a:lnTo>
                <a:close/>
              </a:path>
            </a:pathLst>
          </a:custGeom>
          <a:noFill/>
          <a:extLst>
            <a:ext uri="{909E8E84-426E-40DD-AFC4-6F175D3DCCD1}">
              <a14:hiddenFill xmlns:a14="http://schemas.microsoft.com/office/drawing/2010/main">
                <a:solidFill>
                  <a:srgbClr val="FFFFFF"/>
                </a:solidFill>
              </a14:hiddenFill>
            </a:ext>
          </a:extLst>
        </p:spPr>
      </p:pic>
      <p:sp>
        <p:nvSpPr>
          <p:cNvPr id="5" name="Rectangle 9">
            <a:extLst>
              <a:ext uri="{FF2B5EF4-FFF2-40B4-BE49-F238E27FC236}">
                <a16:creationId xmlns:a16="http://schemas.microsoft.com/office/drawing/2014/main" id="{54591930-E774-E0E3-82F6-C0DEC47298D2}"/>
              </a:ext>
            </a:extLst>
          </p:cNvPr>
          <p:cNvSpPr/>
          <p:nvPr/>
        </p:nvSpPr>
        <p:spPr>
          <a:xfrm>
            <a:off x="5511800" y="1"/>
            <a:ext cx="6680200" cy="6858000"/>
          </a:xfrm>
          <a:custGeom>
            <a:avLst/>
            <a:gdLst>
              <a:gd name="connsiteX0" fmla="*/ 0 w 6692900"/>
              <a:gd name="connsiteY0" fmla="*/ 0 h 6858000"/>
              <a:gd name="connsiteX1" fmla="*/ 6692900 w 6692900"/>
              <a:gd name="connsiteY1" fmla="*/ 0 h 6858000"/>
              <a:gd name="connsiteX2" fmla="*/ 6692900 w 6692900"/>
              <a:gd name="connsiteY2" fmla="*/ 6858000 h 6858000"/>
              <a:gd name="connsiteX3" fmla="*/ 0 w 6692900"/>
              <a:gd name="connsiteY3" fmla="*/ 6858000 h 6858000"/>
              <a:gd name="connsiteX4" fmla="*/ 0 w 6692900"/>
              <a:gd name="connsiteY4" fmla="*/ 0 h 6858000"/>
              <a:gd name="connsiteX0" fmla="*/ 2425700 w 6692900"/>
              <a:gd name="connsiteY0" fmla="*/ 0 h 6858000"/>
              <a:gd name="connsiteX1" fmla="*/ 6692900 w 6692900"/>
              <a:gd name="connsiteY1" fmla="*/ 0 h 6858000"/>
              <a:gd name="connsiteX2" fmla="*/ 6692900 w 6692900"/>
              <a:gd name="connsiteY2" fmla="*/ 6858000 h 6858000"/>
              <a:gd name="connsiteX3" fmla="*/ 0 w 6692900"/>
              <a:gd name="connsiteY3" fmla="*/ 6858000 h 6858000"/>
              <a:gd name="connsiteX4" fmla="*/ 2425700 w 6692900"/>
              <a:gd name="connsiteY4" fmla="*/ 0 h 6858000"/>
              <a:gd name="connsiteX0" fmla="*/ 2565665 w 6692900"/>
              <a:gd name="connsiteY0" fmla="*/ 0 h 6858000"/>
              <a:gd name="connsiteX1" fmla="*/ 6692900 w 6692900"/>
              <a:gd name="connsiteY1" fmla="*/ 0 h 6858000"/>
              <a:gd name="connsiteX2" fmla="*/ 6692900 w 6692900"/>
              <a:gd name="connsiteY2" fmla="*/ 6858000 h 6858000"/>
              <a:gd name="connsiteX3" fmla="*/ 0 w 6692900"/>
              <a:gd name="connsiteY3" fmla="*/ 6858000 h 6858000"/>
              <a:gd name="connsiteX4" fmla="*/ 2565665 w 6692900"/>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92900" h="6858000">
                <a:moveTo>
                  <a:pt x="2565665" y="0"/>
                </a:moveTo>
                <a:lnTo>
                  <a:pt x="6692900" y="0"/>
                </a:lnTo>
                <a:lnTo>
                  <a:pt x="6692900" y="6858000"/>
                </a:lnTo>
                <a:lnTo>
                  <a:pt x="0" y="6858000"/>
                </a:lnTo>
                <a:lnTo>
                  <a:pt x="2565665" y="0"/>
                </a:lnTo>
                <a:close/>
              </a:path>
            </a:pathLst>
          </a:custGeom>
          <a:solidFill>
            <a:schemeClr val="bg2">
              <a:lumMod val="25000"/>
              <a:alpha val="41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Tree>
    <p:extLst>
      <p:ext uri="{BB962C8B-B14F-4D97-AF65-F5344CB8AC3E}">
        <p14:creationId xmlns:p14="http://schemas.microsoft.com/office/powerpoint/2010/main" val="38022107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5BA2E58-FEC9-D54D-ACC0-E7CEEF5F42E4}"/>
              </a:ext>
            </a:extLst>
          </p:cNvPr>
          <p:cNvSpPr>
            <a:spLocks noGrp="1"/>
          </p:cNvSpPr>
          <p:nvPr>
            <p:ph type="title"/>
          </p:nvPr>
        </p:nvSpPr>
        <p:spPr/>
        <p:txBody>
          <a:bodyPr>
            <a:normAutofit/>
          </a:bodyPr>
          <a:lstStyle/>
          <a:p>
            <a:r>
              <a:rPr lang="en-US" dirty="0"/>
              <a:t>Confidence Interval</a:t>
            </a:r>
          </a:p>
        </p:txBody>
      </p:sp>
      <p:sp>
        <p:nvSpPr>
          <p:cNvPr id="13" name="Content Placeholder 12">
            <a:extLst>
              <a:ext uri="{FF2B5EF4-FFF2-40B4-BE49-F238E27FC236}">
                <a16:creationId xmlns:a16="http://schemas.microsoft.com/office/drawing/2014/main" id="{E6267526-4913-FCF0-E153-4548D0B336DD}"/>
              </a:ext>
            </a:extLst>
          </p:cNvPr>
          <p:cNvSpPr>
            <a:spLocks noGrp="1"/>
          </p:cNvSpPr>
          <p:nvPr>
            <p:ph idx="1"/>
          </p:nvPr>
        </p:nvSpPr>
        <p:spPr/>
        <p:txBody>
          <a:bodyPr lIns="0" tIns="0" rIns="0" bIns="0">
            <a:noAutofit/>
          </a:bodyPr>
          <a:lstStyle/>
          <a:p>
            <a:pPr marL="0" indent="0">
              <a:lnSpc>
                <a:spcPct val="100000"/>
              </a:lnSpc>
              <a:spcBef>
                <a:spcPts val="200"/>
              </a:spcBef>
              <a:spcAft>
                <a:spcPts val="500"/>
              </a:spcAft>
              <a:buNone/>
            </a:pPr>
            <a:r>
              <a:rPr lang="en-US" sz="2400" b="1" dirty="0">
                <a:solidFill>
                  <a:schemeClr val="tx1"/>
                </a:solidFill>
              </a:rPr>
              <a:t>Confidence, </a:t>
            </a:r>
            <a:r>
              <a:rPr lang="en-US" sz="2200" dirty="0"/>
              <a:t>in statistics, is another way to describe probability. For example, if you construct a confidence interval with a 95% confidence level, you are confident that 95 out of 100 times the estimate will fall between the upper and lower values specified by the confidence interval.	</a:t>
            </a:r>
          </a:p>
          <a:p>
            <a:pPr marL="0" indent="0">
              <a:lnSpc>
                <a:spcPct val="100000"/>
              </a:lnSpc>
              <a:spcBef>
                <a:spcPts val="200"/>
              </a:spcBef>
              <a:spcAft>
                <a:spcPts val="500"/>
              </a:spcAft>
              <a:buNone/>
            </a:pPr>
            <a:r>
              <a:rPr lang="en-US" sz="2200" dirty="0"/>
              <a:t>Your desired confidence level is usually one minus the alpha (α) value you used in your statistical test</a:t>
            </a:r>
          </a:p>
          <a:p>
            <a:pPr marL="0" indent="0">
              <a:lnSpc>
                <a:spcPct val="100000"/>
              </a:lnSpc>
              <a:spcBef>
                <a:spcPts val="200"/>
              </a:spcBef>
              <a:spcAft>
                <a:spcPts val="500"/>
              </a:spcAft>
              <a:buNone/>
            </a:pPr>
            <a:r>
              <a:rPr lang="en-US" sz="2400" b="1" dirty="0">
                <a:solidFill>
                  <a:schemeClr val="tx1"/>
                </a:solidFill>
              </a:rPr>
              <a:t>Confidence level = 1 − a</a:t>
            </a:r>
          </a:p>
        </p:txBody>
      </p:sp>
      <p:pic>
        <p:nvPicPr>
          <p:cNvPr id="2" name="Picture 1" descr="Confidence Interval Calculator">
            <a:extLst>
              <a:ext uri="{FF2B5EF4-FFF2-40B4-BE49-F238E27FC236}">
                <a16:creationId xmlns:a16="http://schemas.microsoft.com/office/drawing/2014/main" id="{474FD3E7-0EB3-E52D-9AF9-E063F669B0E9}"/>
              </a:ext>
            </a:extLst>
          </p:cNvPr>
          <p:cNvPicPr>
            <a:picLocks noChangeAspect="1"/>
          </p:cNvPicPr>
          <p:nvPr/>
        </p:nvPicPr>
        <p:blipFill>
          <a:blip r:embed="rId2"/>
          <a:stretch>
            <a:fillRect/>
          </a:stretch>
        </p:blipFill>
        <p:spPr>
          <a:xfrm>
            <a:off x="5115660" y="3687375"/>
            <a:ext cx="5093942" cy="2813920"/>
          </a:xfrm>
          <a:prstGeom prst="rect">
            <a:avLst/>
          </a:prstGeom>
        </p:spPr>
      </p:pic>
      <p:sp>
        <p:nvSpPr>
          <p:cNvPr id="3" name="TextBox 2">
            <a:extLst>
              <a:ext uri="{FF2B5EF4-FFF2-40B4-BE49-F238E27FC236}">
                <a16:creationId xmlns:a16="http://schemas.microsoft.com/office/drawing/2014/main" id="{44D605A0-E549-8DE4-CFED-0DF38502B1A1}"/>
              </a:ext>
            </a:extLst>
          </p:cNvPr>
          <p:cNvSpPr txBox="1"/>
          <p:nvPr/>
        </p:nvSpPr>
        <p:spPr>
          <a:xfrm>
            <a:off x="678882" y="4541520"/>
            <a:ext cx="4736398" cy="1354217"/>
          </a:xfrm>
          <a:prstGeom prst="rect">
            <a:avLst/>
          </a:prstGeom>
          <a:noFill/>
        </p:spPr>
        <p:txBody>
          <a:bodyPr wrap="square" lIns="0" tIns="0" rIns="0" bIns="0" rtlCol="0">
            <a:spAutoFit/>
          </a:bodyPr>
          <a:lstStyle/>
          <a:p>
            <a:r>
              <a:rPr lang="en-US" sz="2200" dirty="0"/>
              <a:t>So, if you use an alpha value of p &lt; 0.05 for statistical significance, then your confidence level would be 1 − 0.05 = 0.95, or 95%.</a:t>
            </a:r>
          </a:p>
        </p:txBody>
      </p:sp>
    </p:spTree>
    <p:extLst>
      <p:ext uri="{BB962C8B-B14F-4D97-AF65-F5344CB8AC3E}">
        <p14:creationId xmlns:p14="http://schemas.microsoft.com/office/powerpoint/2010/main" val="3618776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5BA2E58-FEC9-D54D-ACC0-E7CEEF5F42E4}"/>
              </a:ext>
            </a:extLst>
          </p:cNvPr>
          <p:cNvSpPr>
            <a:spLocks noGrp="1"/>
          </p:cNvSpPr>
          <p:nvPr>
            <p:ph type="title"/>
          </p:nvPr>
        </p:nvSpPr>
        <p:spPr/>
        <p:txBody>
          <a:bodyPr>
            <a:normAutofit/>
          </a:bodyPr>
          <a:lstStyle/>
          <a:p>
            <a:r>
              <a:rPr lang="en-US" dirty="0"/>
              <a:t>Cont..</a:t>
            </a:r>
          </a:p>
        </p:txBody>
      </p:sp>
      <p:sp>
        <p:nvSpPr>
          <p:cNvPr id="13" name="Content Placeholder 12">
            <a:extLst>
              <a:ext uri="{FF2B5EF4-FFF2-40B4-BE49-F238E27FC236}">
                <a16:creationId xmlns:a16="http://schemas.microsoft.com/office/drawing/2014/main" id="{E6267526-4913-FCF0-E153-4548D0B336DD}"/>
              </a:ext>
            </a:extLst>
          </p:cNvPr>
          <p:cNvSpPr>
            <a:spLocks noGrp="1"/>
          </p:cNvSpPr>
          <p:nvPr>
            <p:ph idx="1"/>
          </p:nvPr>
        </p:nvSpPr>
        <p:spPr/>
        <p:txBody>
          <a:bodyPr lIns="0" tIns="0" rIns="0" bIns="0">
            <a:noAutofit/>
          </a:bodyPr>
          <a:lstStyle/>
          <a:p>
            <a:pPr marL="0" indent="0">
              <a:lnSpc>
                <a:spcPct val="100000"/>
              </a:lnSpc>
              <a:spcBef>
                <a:spcPts val="200"/>
              </a:spcBef>
              <a:spcAft>
                <a:spcPts val="500"/>
              </a:spcAft>
              <a:buNone/>
            </a:pPr>
            <a:r>
              <a:rPr lang="en-US" sz="2400" b="1" dirty="0">
                <a:solidFill>
                  <a:schemeClr val="tx1"/>
                </a:solidFill>
              </a:rPr>
              <a:t>Calculation and Interpretation</a:t>
            </a:r>
          </a:p>
          <a:p>
            <a:pPr marL="0" indent="0">
              <a:lnSpc>
                <a:spcPct val="100000"/>
              </a:lnSpc>
              <a:spcBef>
                <a:spcPts val="200"/>
              </a:spcBef>
              <a:spcAft>
                <a:spcPts val="500"/>
              </a:spcAft>
              <a:buNone/>
            </a:pPr>
            <a:r>
              <a:rPr lang="en-US" sz="2200" dirty="0"/>
              <a:t>Confidence intervals are typically calculated using a formula that incorporates the sample statistic, the standard error (a measure of variability), and a critical value from a statistical distribution (e.g., the normal distribution or t-distribution). The formula is:</a:t>
            </a:r>
          </a:p>
          <a:p>
            <a:pPr marL="0" indent="0">
              <a:lnSpc>
                <a:spcPct val="100000"/>
              </a:lnSpc>
              <a:spcBef>
                <a:spcPts val="200"/>
              </a:spcBef>
              <a:spcAft>
                <a:spcPts val="500"/>
              </a:spcAft>
              <a:buNone/>
            </a:pPr>
            <a:r>
              <a:rPr lang="en-US" sz="2200" dirty="0"/>
              <a:t>	CI = Sample Statistic ± Margin of Error</a:t>
            </a:r>
          </a:p>
          <a:p>
            <a:pPr marL="0" indent="0">
              <a:lnSpc>
                <a:spcPct val="100000"/>
              </a:lnSpc>
              <a:spcBef>
                <a:spcPts val="200"/>
              </a:spcBef>
              <a:spcAft>
                <a:spcPts val="500"/>
              </a:spcAft>
              <a:buNone/>
            </a:pPr>
            <a:endParaRPr lang="en-US" sz="300" dirty="0"/>
          </a:p>
          <a:p>
            <a:pPr marL="0" indent="0">
              <a:lnSpc>
                <a:spcPct val="100000"/>
              </a:lnSpc>
              <a:spcBef>
                <a:spcPts val="200"/>
              </a:spcBef>
              <a:spcAft>
                <a:spcPts val="500"/>
              </a:spcAft>
              <a:buNone/>
            </a:pPr>
            <a:r>
              <a:rPr lang="en-US" sz="2400" b="1" dirty="0">
                <a:solidFill>
                  <a:schemeClr val="tx1"/>
                </a:solidFill>
              </a:rPr>
              <a:t>Interpretation: </a:t>
            </a:r>
            <a:r>
              <a:rPr lang="en-US" sz="2400" dirty="0"/>
              <a:t>A confidence interval consists of two parts:</a:t>
            </a:r>
          </a:p>
          <a:p>
            <a:pPr>
              <a:lnSpc>
                <a:spcPct val="100000"/>
              </a:lnSpc>
              <a:spcBef>
                <a:spcPts val="200"/>
              </a:spcBef>
              <a:spcAft>
                <a:spcPts val="500"/>
              </a:spcAft>
            </a:pPr>
            <a:r>
              <a:rPr lang="en-US" sz="2200" dirty="0"/>
              <a:t>The </a:t>
            </a:r>
            <a:r>
              <a:rPr lang="en-US" sz="2400" b="1" dirty="0">
                <a:solidFill>
                  <a:schemeClr val="tx1"/>
                </a:solidFill>
              </a:rPr>
              <a:t>point estimate </a:t>
            </a:r>
            <a:r>
              <a:rPr lang="en-US" sz="2200" dirty="0"/>
              <a:t>(sample statistic), which is the best guess for the population parameter.</a:t>
            </a:r>
          </a:p>
          <a:p>
            <a:pPr>
              <a:lnSpc>
                <a:spcPct val="100000"/>
              </a:lnSpc>
              <a:spcBef>
                <a:spcPts val="200"/>
              </a:spcBef>
              <a:spcAft>
                <a:spcPts val="500"/>
              </a:spcAft>
            </a:pPr>
            <a:r>
              <a:rPr lang="en-US" sz="2200" dirty="0"/>
              <a:t>The </a:t>
            </a:r>
            <a:r>
              <a:rPr lang="en-US" sz="2400" b="1" dirty="0">
                <a:solidFill>
                  <a:schemeClr val="tx1"/>
                </a:solidFill>
              </a:rPr>
              <a:t>margin of error</a:t>
            </a:r>
            <a:r>
              <a:rPr lang="en-US" sz="2200" dirty="0"/>
              <a:t>, which represents the range around the point estimate. It reflects the precision of the estimate and is determined by the chosen confidence level.</a:t>
            </a:r>
          </a:p>
          <a:p>
            <a:pPr marL="0" indent="0">
              <a:lnSpc>
                <a:spcPct val="100000"/>
              </a:lnSpc>
              <a:spcBef>
                <a:spcPts val="200"/>
              </a:spcBef>
              <a:spcAft>
                <a:spcPts val="500"/>
              </a:spcAft>
              <a:buNone/>
            </a:pPr>
            <a:endParaRPr lang="en-US" sz="2400" dirty="0"/>
          </a:p>
        </p:txBody>
      </p:sp>
    </p:spTree>
    <p:extLst>
      <p:ext uri="{BB962C8B-B14F-4D97-AF65-F5344CB8AC3E}">
        <p14:creationId xmlns:p14="http://schemas.microsoft.com/office/powerpoint/2010/main" val="11788648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408810144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5BA2E58-FEC9-D54D-ACC0-E7CEEF5F42E4}"/>
              </a:ext>
            </a:extLst>
          </p:cNvPr>
          <p:cNvSpPr>
            <a:spLocks noGrp="1"/>
          </p:cNvSpPr>
          <p:nvPr>
            <p:ph type="title"/>
          </p:nvPr>
        </p:nvSpPr>
        <p:spPr/>
        <p:txBody>
          <a:bodyPr>
            <a:normAutofit/>
          </a:bodyPr>
          <a:lstStyle/>
          <a:p>
            <a:r>
              <a:rPr lang="en-US" dirty="0"/>
              <a:t>P-Value</a:t>
            </a:r>
          </a:p>
        </p:txBody>
      </p:sp>
      <p:sp>
        <p:nvSpPr>
          <p:cNvPr id="12" name="Content Placeholder 11">
            <a:extLst>
              <a:ext uri="{FF2B5EF4-FFF2-40B4-BE49-F238E27FC236}">
                <a16:creationId xmlns:a16="http://schemas.microsoft.com/office/drawing/2014/main" id="{969159AF-1858-1735-E916-149CCD3ECA53}"/>
              </a:ext>
            </a:extLst>
          </p:cNvPr>
          <p:cNvSpPr>
            <a:spLocks noGrp="1"/>
          </p:cNvSpPr>
          <p:nvPr>
            <p:ph idx="1"/>
          </p:nvPr>
        </p:nvSpPr>
        <p:spPr>
          <a:xfrm>
            <a:off x="678884" y="1659835"/>
            <a:ext cx="10834234" cy="4398066"/>
          </a:xfrm>
        </p:spPr>
        <p:txBody>
          <a:bodyPr lIns="0" tIns="0" rIns="0" bIns="0"/>
          <a:lstStyle/>
          <a:p>
            <a:pPr marL="0" indent="0">
              <a:lnSpc>
                <a:spcPct val="100000"/>
              </a:lnSpc>
              <a:spcBef>
                <a:spcPts val="600"/>
              </a:spcBef>
              <a:spcAft>
                <a:spcPts val="600"/>
              </a:spcAft>
              <a:buNone/>
            </a:pPr>
            <a:r>
              <a:rPr lang="en-US" sz="2200" dirty="0"/>
              <a:t>The p-value is a statistical measure that quantifies the strength of evidence against the null hypothesis. It represents the probability of observing sample data as extreme as, or more extreme than, the data observed, assuming the null hypothesis is true. A smaller p-value indicates stronger evidence against the null hypothesis.</a:t>
            </a:r>
          </a:p>
          <a:p>
            <a:pPr>
              <a:lnSpc>
                <a:spcPct val="100000"/>
              </a:lnSpc>
              <a:spcBef>
                <a:spcPts val="600"/>
              </a:spcBef>
              <a:spcAft>
                <a:spcPts val="600"/>
              </a:spcAft>
            </a:pPr>
            <a:r>
              <a:rPr lang="en-US" sz="2200" b="1" dirty="0">
                <a:solidFill>
                  <a:schemeClr val="tx1"/>
                </a:solidFill>
              </a:rPr>
              <a:t>Definition: </a:t>
            </a:r>
            <a:r>
              <a:rPr lang="en-US" sz="2200" dirty="0"/>
              <a:t>A p-value measures the strength of evidence against the null hypothesis in hypothesis testing.</a:t>
            </a:r>
          </a:p>
          <a:p>
            <a:pPr>
              <a:lnSpc>
                <a:spcPct val="100000"/>
              </a:lnSpc>
              <a:spcBef>
                <a:spcPts val="600"/>
              </a:spcBef>
              <a:spcAft>
                <a:spcPts val="600"/>
              </a:spcAft>
            </a:pPr>
            <a:r>
              <a:rPr lang="en-US" sz="2200" b="1" dirty="0">
                <a:solidFill>
                  <a:schemeClr val="tx1"/>
                </a:solidFill>
              </a:rPr>
              <a:t>Interpretation: </a:t>
            </a:r>
            <a:r>
              <a:rPr lang="en-US" sz="2200" dirty="0"/>
              <a:t>Smaller p-values indicate stronger evidence against the null hypothesis.</a:t>
            </a:r>
          </a:p>
          <a:p>
            <a:pPr>
              <a:lnSpc>
                <a:spcPct val="100000"/>
              </a:lnSpc>
              <a:spcBef>
                <a:spcPts val="600"/>
              </a:spcBef>
              <a:spcAft>
                <a:spcPts val="600"/>
              </a:spcAft>
            </a:pPr>
            <a:r>
              <a:rPr lang="en-US" sz="2200" b="1" dirty="0">
                <a:solidFill>
                  <a:schemeClr val="tx1"/>
                </a:solidFill>
              </a:rPr>
              <a:t>Decision: </a:t>
            </a:r>
            <a:r>
              <a:rPr lang="en-US" sz="2200" dirty="0"/>
              <a:t>If p ≤ α (chosen significance level, e.g., 0.05), you reject the null hypothesis; if p &gt; α, you fail to reject it.</a:t>
            </a:r>
          </a:p>
          <a:p>
            <a:pPr marL="0" indent="0">
              <a:lnSpc>
                <a:spcPct val="100000"/>
              </a:lnSpc>
              <a:spcBef>
                <a:spcPts val="600"/>
              </a:spcBef>
              <a:spcAft>
                <a:spcPts val="600"/>
              </a:spcAft>
              <a:buNone/>
            </a:pPr>
            <a:r>
              <a:rPr lang="en-US" sz="2200" b="1" dirty="0">
                <a:solidFill>
                  <a:schemeClr val="tx1"/>
                </a:solidFill>
              </a:rPr>
              <a:t>Example: Setting Alpha at 0.05 and Interpreting a P-Value of 0.03</a:t>
            </a:r>
          </a:p>
          <a:p>
            <a:pPr marL="0" indent="0">
              <a:lnSpc>
                <a:spcPct val="100000"/>
              </a:lnSpc>
              <a:spcBef>
                <a:spcPts val="600"/>
              </a:spcBef>
              <a:spcAft>
                <a:spcPts val="600"/>
              </a:spcAft>
              <a:buNone/>
            </a:pPr>
            <a:endParaRPr lang="en-US" sz="2200" dirty="0"/>
          </a:p>
        </p:txBody>
      </p:sp>
    </p:spTree>
    <p:extLst>
      <p:ext uri="{BB962C8B-B14F-4D97-AF65-F5344CB8AC3E}">
        <p14:creationId xmlns:p14="http://schemas.microsoft.com/office/powerpoint/2010/main" val="214322070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5BA2E58-FEC9-D54D-ACC0-E7CEEF5F42E4}"/>
              </a:ext>
            </a:extLst>
          </p:cNvPr>
          <p:cNvSpPr>
            <a:spLocks noGrp="1"/>
          </p:cNvSpPr>
          <p:nvPr>
            <p:ph type="title"/>
          </p:nvPr>
        </p:nvSpPr>
        <p:spPr/>
        <p:txBody>
          <a:bodyPr>
            <a:normAutofit/>
          </a:bodyPr>
          <a:lstStyle/>
          <a:p>
            <a:r>
              <a:rPr lang="en-US" dirty="0"/>
              <a:t>Cont…</a:t>
            </a:r>
          </a:p>
        </p:txBody>
      </p:sp>
      <p:sp>
        <p:nvSpPr>
          <p:cNvPr id="12" name="Content Placeholder 11">
            <a:extLst>
              <a:ext uri="{FF2B5EF4-FFF2-40B4-BE49-F238E27FC236}">
                <a16:creationId xmlns:a16="http://schemas.microsoft.com/office/drawing/2014/main" id="{969159AF-1858-1735-E916-149CCD3ECA53}"/>
              </a:ext>
            </a:extLst>
          </p:cNvPr>
          <p:cNvSpPr>
            <a:spLocks noGrp="1"/>
          </p:cNvSpPr>
          <p:nvPr>
            <p:ph idx="1"/>
          </p:nvPr>
        </p:nvSpPr>
        <p:spPr>
          <a:xfrm>
            <a:off x="678883" y="1346069"/>
            <a:ext cx="10834234" cy="4908265"/>
          </a:xfrm>
        </p:spPr>
        <p:txBody>
          <a:bodyPr lIns="0" tIns="0" rIns="0" bIns="0">
            <a:noAutofit/>
          </a:bodyPr>
          <a:lstStyle/>
          <a:p>
            <a:pPr marL="0" indent="0" algn="l">
              <a:buNone/>
            </a:pPr>
            <a:r>
              <a:rPr lang="en-US" sz="2000" b="1" i="0" dirty="0">
                <a:solidFill>
                  <a:srgbClr val="374151"/>
                </a:solidFill>
                <a:effectLst/>
                <a:latin typeface="Söhne"/>
              </a:rPr>
              <a:t>Significance Level (α):</a:t>
            </a:r>
            <a:endParaRPr lang="en-US" sz="2000" b="0" i="0" dirty="0">
              <a:solidFill>
                <a:srgbClr val="374151"/>
              </a:solidFill>
              <a:effectLst/>
              <a:latin typeface="Söhne"/>
            </a:endParaRPr>
          </a:p>
          <a:p>
            <a:pPr lvl="1"/>
            <a:r>
              <a:rPr lang="en-US" sz="2000" b="0" i="0" dirty="0">
                <a:solidFill>
                  <a:srgbClr val="374151"/>
                </a:solidFill>
                <a:effectLst/>
                <a:latin typeface="Söhne"/>
              </a:rPr>
              <a:t>Chose a significance level of α = 0.05.</a:t>
            </a:r>
          </a:p>
          <a:p>
            <a:pPr lvl="1"/>
            <a:r>
              <a:rPr lang="en-US" sz="2000" b="0" i="0" dirty="0">
                <a:solidFill>
                  <a:srgbClr val="374151"/>
                </a:solidFill>
                <a:effectLst/>
                <a:latin typeface="Söhne"/>
              </a:rPr>
              <a:t>Accepted a 5% chance of Type I error (false rejection of a true null hypothesis).</a:t>
            </a:r>
          </a:p>
          <a:p>
            <a:pPr marL="0" indent="0" algn="l">
              <a:buNone/>
            </a:pPr>
            <a:r>
              <a:rPr lang="en-US" sz="2000" b="1" i="0" dirty="0">
                <a:solidFill>
                  <a:srgbClr val="374151"/>
                </a:solidFill>
                <a:effectLst/>
                <a:latin typeface="Söhne"/>
              </a:rPr>
              <a:t>P-Value Interpretation:</a:t>
            </a:r>
            <a:endParaRPr lang="en-US" sz="2000" b="0" i="0" dirty="0">
              <a:solidFill>
                <a:srgbClr val="374151"/>
              </a:solidFill>
              <a:effectLst/>
              <a:latin typeface="Söhne"/>
            </a:endParaRPr>
          </a:p>
          <a:p>
            <a:pPr lvl="1"/>
            <a:r>
              <a:rPr lang="en-US" sz="2000" b="0" i="0" dirty="0">
                <a:solidFill>
                  <a:srgbClr val="374151"/>
                </a:solidFill>
                <a:effectLst/>
                <a:latin typeface="Söhne"/>
              </a:rPr>
              <a:t>Obtained a p-value of 0.03.</a:t>
            </a:r>
          </a:p>
          <a:p>
            <a:pPr lvl="1"/>
            <a:r>
              <a:rPr lang="en-US" sz="2000" b="0" i="0" dirty="0">
                <a:solidFill>
                  <a:srgbClr val="374151"/>
                </a:solidFill>
                <a:effectLst/>
                <a:latin typeface="Söhne"/>
              </a:rPr>
              <a:t>P-value is less than α (0.05).</a:t>
            </a:r>
          </a:p>
          <a:p>
            <a:pPr lvl="1"/>
            <a:r>
              <a:rPr lang="en-US" sz="2000" b="0" i="0" dirty="0">
                <a:solidFill>
                  <a:srgbClr val="374151"/>
                </a:solidFill>
                <a:effectLst/>
                <a:latin typeface="Söhne"/>
              </a:rPr>
              <a:t>Indicates a 3% probability of observing the data or more extreme if the null hypothesis were true.</a:t>
            </a:r>
          </a:p>
          <a:p>
            <a:pPr marL="0" indent="0" algn="l">
              <a:buNone/>
            </a:pPr>
            <a:r>
              <a:rPr lang="en-US" sz="2000" b="1" i="0" dirty="0">
                <a:solidFill>
                  <a:srgbClr val="374151"/>
                </a:solidFill>
                <a:effectLst/>
                <a:latin typeface="Söhne"/>
              </a:rPr>
              <a:t>Decision:</a:t>
            </a:r>
            <a:endParaRPr lang="en-US" sz="2000" b="0" i="0" dirty="0">
              <a:solidFill>
                <a:srgbClr val="374151"/>
              </a:solidFill>
              <a:effectLst/>
              <a:latin typeface="Söhne"/>
            </a:endParaRPr>
          </a:p>
          <a:p>
            <a:pPr lvl="1"/>
            <a:r>
              <a:rPr lang="en-US" sz="2000" b="0" i="0" dirty="0">
                <a:solidFill>
                  <a:srgbClr val="374151"/>
                </a:solidFill>
                <a:effectLst/>
                <a:latin typeface="Söhne"/>
              </a:rPr>
              <a:t>Given the p-value is less than α.</a:t>
            </a:r>
          </a:p>
          <a:p>
            <a:pPr lvl="1"/>
            <a:r>
              <a:rPr lang="en-US" sz="2000" b="0" i="0" dirty="0">
                <a:solidFill>
                  <a:srgbClr val="374151"/>
                </a:solidFill>
                <a:effectLst/>
                <a:latin typeface="Söhne"/>
              </a:rPr>
              <a:t>Typically, reject the null hypothesis in favor of the alternative hypothesis.</a:t>
            </a:r>
          </a:p>
          <a:p>
            <a:pPr lvl="1"/>
            <a:r>
              <a:rPr lang="en-US" sz="2000" b="0" i="0" dirty="0">
                <a:solidFill>
                  <a:srgbClr val="374151"/>
                </a:solidFill>
                <a:effectLst/>
                <a:latin typeface="Söhne"/>
              </a:rPr>
              <a:t>Strong evidence against the null hypothesis.</a:t>
            </a:r>
          </a:p>
          <a:p>
            <a:pPr marL="0" indent="0" algn="l">
              <a:buNone/>
            </a:pPr>
            <a:r>
              <a:rPr lang="en-US" sz="2000" b="1" i="0" dirty="0">
                <a:solidFill>
                  <a:srgbClr val="374151"/>
                </a:solidFill>
                <a:effectLst/>
                <a:latin typeface="Söhne"/>
              </a:rPr>
              <a:t>Conclusion:</a:t>
            </a:r>
            <a:endParaRPr lang="en-US" sz="2000" b="0" i="0" dirty="0">
              <a:solidFill>
                <a:srgbClr val="374151"/>
              </a:solidFill>
              <a:effectLst/>
              <a:latin typeface="Söhne"/>
            </a:endParaRPr>
          </a:p>
          <a:p>
            <a:pPr lvl="1"/>
            <a:r>
              <a:rPr lang="en-US" sz="2000" b="0" i="0" dirty="0">
                <a:solidFill>
                  <a:srgbClr val="374151"/>
                </a:solidFill>
                <a:effectLst/>
                <a:latin typeface="Söhne"/>
              </a:rPr>
              <a:t>Statistical basis to reject the null hypothesis.</a:t>
            </a:r>
          </a:p>
          <a:p>
            <a:pPr lvl="1"/>
            <a:r>
              <a:rPr lang="en-US" sz="2000" b="0" i="0" dirty="0">
                <a:solidFill>
                  <a:srgbClr val="374151"/>
                </a:solidFill>
                <a:effectLst/>
                <a:latin typeface="Söhne"/>
              </a:rPr>
              <a:t>The observed data supports the conclusion that the null hypothesis is unlikely to be true.</a:t>
            </a:r>
          </a:p>
        </p:txBody>
      </p:sp>
    </p:spTree>
    <p:extLst>
      <p:ext uri="{BB962C8B-B14F-4D97-AF65-F5344CB8AC3E}">
        <p14:creationId xmlns:p14="http://schemas.microsoft.com/office/powerpoint/2010/main" val="33716520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167844F-298E-4890-096C-08ED7FF670F0}"/>
              </a:ext>
            </a:extLst>
          </p:cNvPr>
          <p:cNvSpPr>
            <a:spLocks noGrp="1"/>
          </p:cNvSpPr>
          <p:nvPr>
            <p:ph type="title"/>
          </p:nvPr>
        </p:nvSpPr>
        <p:spPr>
          <a:xfrm>
            <a:off x="678883" y="1994526"/>
            <a:ext cx="5975917" cy="2856250"/>
          </a:xfrm>
        </p:spPr>
        <p:txBody>
          <a:bodyPr anchor="ctr" anchorCtr="0">
            <a:noAutofit/>
          </a:bodyPr>
          <a:lstStyle/>
          <a:p>
            <a:r>
              <a:rPr lang="en-US" sz="5400" dirty="0"/>
              <a:t>One-sample &amp; Two-sample T-test</a:t>
            </a:r>
          </a:p>
        </p:txBody>
      </p:sp>
      <p:sp>
        <p:nvSpPr>
          <p:cNvPr id="11" name="Rectangle 9">
            <a:extLst>
              <a:ext uri="{FF2B5EF4-FFF2-40B4-BE49-F238E27FC236}">
                <a16:creationId xmlns:a16="http://schemas.microsoft.com/office/drawing/2014/main" id="{B0E06A54-78F5-4BF1-FF8A-1DD9014C89CD}"/>
              </a:ext>
            </a:extLst>
          </p:cNvPr>
          <p:cNvSpPr/>
          <p:nvPr/>
        </p:nvSpPr>
        <p:spPr>
          <a:xfrm>
            <a:off x="5511800" y="1"/>
            <a:ext cx="6680200" cy="6858000"/>
          </a:xfrm>
          <a:custGeom>
            <a:avLst/>
            <a:gdLst>
              <a:gd name="connsiteX0" fmla="*/ 0 w 6692900"/>
              <a:gd name="connsiteY0" fmla="*/ 0 h 6858000"/>
              <a:gd name="connsiteX1" fmla="*/ 6692900 w 6692900"/>
              <a:gd name="connsiteY1" fmla="*/ 0 h 6858000"/>
              <a:gd name="connsiteX2" fmla="*/ 6692900 w 6692900"/>
              <a:gd name="connsiteY2" fmla="*/ 6858000 h 6858000"/>
              <a:gd name="connsiteX3" fmla="*/ 0 w 6692900"/>
              <a:gd name="connsiteY3" fmla="*/ 6858000 h 6858000"/>
              <a:gd name="connsiteX4" fmla="*/ 0 w 6692900"/>
              <a:gd name="connsiteY4" fmla="*/ 0 h 6858000"/>
              <a:gd name="connsiteX0" fmla="*/ 2425700 w 6692900"/>
              <a:gd name="connsiteY0" fmla="*/ 0 h 6858000"/>
              <a:gd name="connsiteX1" fmla="*/ 6692900 w 6692900"/>
              <a:gd name="connsiteY1" fmla="*/ 0 h 6858000"/>
              <a:gd name="connsiteX2" fmla="*/ 6692900 w 6692900"/>
              <a:gd name="connsiteY2" fmla="*/ 6858000 h 6858000"/>
              <a:gd name="connsiteX3" fmla="*/ 0 w 6692900"/>
              <a:gd name="connsiteY3" fmla="*/ 6858000 h 6858000"/>
              <a:gd name="connsiteX4" fmla="*/ 2425700 w 6692900"/>
              <a:gd name="connsiteY4" fmla="*/ 0 h 6858000"/>
              <a:gd name="connsiteX0" fmla="*/ 2565665 w 6692900"/>
              <a:gd name="connsiteY0" fmla="*/ 0 h 6858000"/>
              <a:gd name="connsiteX1" fmla="*/ 6692900 w 6692900"/>
              <a:gd name="connsiteY1" fmla="*/ 0 h 6858000"/>
              <a:gd name="connsiteX2" fmla="*/ 6692900 w 6692900"/>
              <a:gd name="connsiteY2" fmla="*/ 6858000 h 6858000"/>
              <a:gd name="connsiteX3" fmla="*/ 0 w 6692900"/>
              <a:gd name="connsiteY3" fmla="*/ 6858000 h 6858000"/>
              <a:gd name="connsiteX4" fmla="*/ 2565665 w 6692900"/>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92900" h="6858000">
                <a:moveTo>
                  <a:pt x="2565665" y="0"/>
                </a:moveTo>
                <a:lnTo>
                  <a:pt x="6692900" y="0"/>
                </a:lnTo>
                <a:lnTo>
                  <a:pt x="6692900" y="6858000"/>
                </a:lnTo>
                <a:lnTo>
                  <a:pt x="0" y="6858000"/>
                </a:lnTo>
                <a:lnTo>
                  <a:pt x="2565665" y="0"/>
                </a:lnTo>
                <a:close/>
              </a:path>
            </a:pathLst>
          </a:custGeom>
          <a:solidFill>
            <a:schemeClr val="bg2">
              <a:lumMod val="25000"/>
              <a:alpha val="41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pic>
        <p:nvPicPr>
          <p:cNvPr id="6" name="Picture 5" descr="T-Test: What It Is With Multiple Formulas and When To Use Them">
            <a:extLst>
              <a:ext uri="{FF2B5EF4-FFF2-40B4-BE49-F238E27FC236}">
                <a16:creationId xmlns:a16="http://schemas.microsoft.com/office/drawing/2014/main" id="{7ECD09C2-2A7B-D9C2-9D07-425FC979C84B}"/>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3123" r="48004"/>
          <a:stretch/>
        </p:blipFill>
        <p:spPr bwMode="auto">
          <a:xfrm>
            <a:off x="5511800" y="0"/>
            <a:ext cx="6680199" cy="6857999"/>
          </a:xfrm>
          <a:custGeom>
            <a:avLst/>
            <a:gdLst>
              <a:gd name="connsiteX0" fmla="*/ 2560796 w 6680199"/>
              <a:gd name="connsiteY0" fmla="*/ 0 h 6857999"/>
              <a:gd name="connsiteX1" fmla="*/ 6680199 w 6680199"/>
              <a:gd name="connsiteY1" fmla="*/ 0 h 6857999"/>
              <a:gd name="connsiteX2" fmla="*/ 6680199 w 6680199"/>
              <a:gd name="connsiteY2" fmla="*/ 6857999 h 6857999"/>
              <a:gd name="connsiteX3" fmla="*/ 0 w 6680199"/>
              <a:gd name="connsiteY3" fmla="*/ 6857999 h 6857999"/>
            </a:gdLst>
            <a:ahLst/>
            <a:cxnLst>
              <a:cxn ang="0">
                <a:pos x="connsiteX0" y="connsiteY0"/>
              </a:cxn>
              <a:cxn ang="0">
                <a:pos x="connsiteX1" y="connsiteY1"/>
              </a:cxn>
              <a:cxn ang="0">
                <a:pos x="connsiteX2" y="connsiteY2"/>
              </a:cxn>
              <a:cxn ang="0">
                <a:pos x="connsiteX3" y="connsiteY3"/>
              </a:cxn>
            </a:cxnLst>
            <a:rect l="l" t="t" r="r" b="b"/>
            <a:pathLst>
              <a:path w="6680199" h="6857999">
                <a:moveTo>
                  <a:pt x="2560796" y="0"/>
                </a:moveTo>
                <a:lnTo>
                  <a:pt x="6680199" y="0"/>
                </a:lnTo>
                <a:lnTo>
                  <a:pt x="6680199" y="6857999"/>
                </a:lnTo>
                <a:lnTo>
                  <a:pt x="0" y="6857999"/>
                </a:lnTo>
                <a:close/>
              </a:path>
            </a:pathLst>
          </a:custGeom>
          <a:noFill/>
          <a:extLst>
            <a:ext uri="{909E8E84-426E-40DD-AFC4-6F175D3DCCD1}">
              <a14:hiddenFill xmlns:a14="http://schemas.microsoft.com/office/drawing/2010/main">
                <a:solidFill>
                  <a:srgbClr val="FFFFFF"/>
                </a:solidFill>
              </a14:hiddenFill>
            </a:ext>
          </a:extLst>
        </p:spPr>
      </p:pic>
      <p:sp>
        <p:nvSpPr>
          <p:cNvPr id="8" name="Rectangle 7">
            <a:extLst>
              <a:ext uri="{FF2B5EF4-FFF2-40B4-BE49-F238E27FC236}">
                <a16:creationId xmlns:a16="http://schemas.microsoft.com/office/drawing/2014/main" id="{955FA260-F817-2438-67E5-0B7D2372479C}"/>
              </a:ext>
            </a:extLst>
          </p:cNvPr>
          <p:cNvSpPr/>
          <p:nvPr/>
        </p:nvSpPr>
        <p:spPr>
          <a:xfrm>
            <a:off x="5511799" y="-2"/>
            <a:ext cx="2565400" cy="6870700"/>
          </a:xfrm>
          <a:custGeom>
            <a:avLst/>
            <a:gdLst>
              <a:gd name="connsiteX0" fmla="*/ 0 w 2768600"/>
              <a:gd name="connsiteY0" fmla="*/ 0 h 6870699"/>
              <a:gd name="connsiteX1" fmla="*/ 2768600 w 2768600"/>
              <a:gd name="connsiteY1" fmla="*/ 0 h 6870699"/>
              <a:gd name="connsiteX2" fmla="*/ 2768600 w 2768600"/>
              <a:gd name="connsiteY2" fmla="*/ 6870699 h 6870699"/>
              <a:gd name="connsiteX3" fmla="*/ 0 w 2768600"/>
              <a:gd name="connsiteY3" fmla="*/ 6870699 h 6870699"/>
              <a:gd name="connsiteX4" fmla="*/ 0 w 2768600"/>
              <a:gd name="connsiteY4" fmla="*/ 0 h 6870699"/>
              <a:gd name="connsiteX0" fmla="*/ 0 w 3657600"/>
              <a:gd name="connsiteY0" fmla="*/ 12700 h 6883399"/>
              <a:gd name="connsiteX1" fmla="*/ 3657600 w 3657600"/>
              <a:gd name="connsiteY1" fmla="*/ 0 h 6883399"/>
              <a:gd name="connsiteX2" fmla="*/ 2768600 w 3657600"/>
              <a:gd name="connsiteY2" fmla="*/ 6883399 h 6883399"/>
              <a:gd name="connsiteX3" fmla="*/ 0 w 3657600"/>
              <a:gd name="connsiteY3" fmla="*/ 6883399 h 6883399"/>
              <a:gd name="connsiteX4" fmla="*/ 0 w 3657600"/>
              <a:gd name="connsiteY4" fmla="*/ 12700 h 6883399"/>
              <a:gd name="connsiteX0" fmla="*/ 0 w 3657600"/>
              <a:gd name="connsiteY0" fmla="*/ 12700 h 6883399"/>
              <a:gd name="connsiteX1" fmla="*/ 3657600 w 3657600"/>
              <a:gd name="connsiteY1" fmla="*/ 0 h 6883399"/>
              <a:gd name="connsiteX2" fmla="*/ 2768600 w 3657600"/>
              <a:gd name="connsiteY2" fmla="*/ 6883399 h 6883399"/>
              <a:gd name="connsiteX3" fmla="*/ 0 w 3657600"/>
              <a:gd name="connsiteY3" fmla="*/ 6883399 h 6883399"/>
              <a:gd name="connsiteX4" fmla="*/ 0 w 3657600"/>
              <a:gd name="connsiteY4" fmla="*/ 12700 h 6883399"/>
              <a:gd name="connsiteX0" fmla="*/ 2527300 w 3657600"/>
              <a:gd name="connsiteY0" fmla="*/ 76435 h 6883399"/>
              <a:gd name="connsiteX1" fmla="*/ 3657600 w 3657600"/>
              <a:gd name="connsiteY1" fmla="*/ 0 h 6883399"/>
              <a:gd name="connsiteX2" fmla="*/ 2768600 w 3657600"/>
              <a:gd name="connsiteY2" fmla="*/ 6883399 h 6883399"/>
              <a:gd name="connsiteX3" fmla="*/ 0 w 3657600"/>
              <a:gd name="connsiteY3" fmla="*/ 6883399 h 6883399"/>
              <a:gd name="connsiteX4" fmla="*/ 2527300 w 3657600"/>
              <a:gd name="connsiteY4" fmla="*/ 76435 h 6883399"/>
              <a:gd name="connsiteX0" fmla="*/ 2527300 w 3657600"/>
              <a:gd name="connsiteY0" fmla="*/ 12700 h 6883399"/>
              <a:gd name="connsiteX1" fmla="*/ 3657600 w 3657600"/>
              <a:gd name="connsiteY1" fmla="*/ 0 h 6883399"/>
              <a:gd name="connsiteX2" fmla="*/ 2768600 w 3657600"/>
              <a:gd name="connsiteY2" fmla="*/ 6883399 h 6883399"/>
              <a:gd name="connsiteX3" fmla="*/ 0 w 3657600"/>
              <a:gd name="connsiteY3" fmla="*/ 6883399 h 6883399"/>
              <a:gd name="connsiteX4" fmla="*/ 2527300 w 3657600"/>
              <a:gd name="connsiteY4" fmla="*/ 12700 h 6883399"/>
              <a:gd name="connsiteX0" fmla="*/ 3733800 w 3733800"/>
              <a:gd name="connsiteY0" fmla="*/ 0 h 6947181"/>
              <a:gd name="connsiteX1" fmla="*/ 3657600 w 3733800"/>
              <a:gd name="connsiteY1" fmla="*/ 63782 h 6947181"/>
              <a:gd name="connsiteX2" fmla="*/ 2768600 w 3733800"/>
              <a:gd name="connsiteY2" fmla="*/ 6947181 h 6947181"/>
              <a:gd name="connsiteX3" fmla="*/ 0 w 3733800"/>
              <a:gd name="connsiteY3" fmla="*/ 6947181 h 6947181"/>
              <a:gd name="connsiteX4" fmla="*/ 3733800 w 3733800"/>
              <a:gd name="connsiteY4" fmla="*/ 0 h 6947181"/>
              <a:gd name="connsiteX0" fmla="*/ 2641600 w 2641600"/>
              <a:gd name="connsiteY0" fmla="*/ 0 h 6959928"/>
              <a:gd name="connsiteX1" fmla="*/ 2565400 w 2641600"/>
              <a:gd name="connsiteY1" fmla="*/ 63782 h 6959928"/>
              <a:gd name="connsiteX2" fmla="*/ 1676400 w 2641600"/>
              <a:gd name="connsiteY2" fmla="*/ 6947181 h 6959928"/>
              <a:gd name="connsiteX3" fmla="*/ 0 w 2641600"/>
              <a:gd name="connsiteY3" fmla="*/ 6959928 h 6959928"/>
              <a:gd name="connsiteX4" fmla="*/ 2641600 w 2641600"/>
              <a:gd name="connsiteY4" fmla="*/ 0 h 6959928"/>
              <a:gd name="connsiteX0" fmla="*/ 2552700 w 2565400"/>
              <a:gd name="connsiteY0" fmla="*/ 50941 h 6896146"/>
              <a:gd name="connsiteX1" fmla="*/ 2565400 w 2565400"/>
              <a:gd name="connsiteY1" fmla="*/ 0 h 6896146"/>
              <a:gd name="connsiteX2" fmla="*/ 1676400 w 2565400"/>
              <a:gd name="connsiteY2" fmla="*/ 6883399 h 6896146"/>
              <a:gd name="connsiteX3" fmla="*/ 0 w 2565400"/>
              <a:gd name="connsiteY3" fmla="*/ 6896146 h 6896146"/>
              <a:gd name="connsiteX4" fmla="*/ 2552700 w 2565400"/>
              <a:gd name="connsiteY4" fmla="*/ 50941 h 68961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65400" h="6896146">
                <a:moveTo>
                  <a:pt x="2552700" y="50941"/>
                </a:moveTo>
                <a:lnTo>
                  <a:pt x="2565400" y="0"/>
                </a:lnTo>
                <a:cubicBezTo>
                  <a:pt x="1697567" y="2599266"/>
                  <a:pt x="1972733" y="4588933"/>
                  <a:pt x="1676400" y="6883399"/>
                </a:cubicBezTo>
                <a:lnTo>
                  <a:pt x="0" y="6896146"/>
                </a:lnTo>
                <a:lnTo>
                  <a:pt x="2552700" y="50941"/>
                </a:lnTo>
                <a:close/>
              </a:path>
            </a:pathLst>
          </a:custGeom>
          <a:solidFill>
            <a:srgbClr val="8BBC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5" name="Rectangle 9">
            <a:extLst>
              <a:ext uri="{FF2B5EF4-FFF2-40B4-BE49-F238E27FC236}">
                <a16:creationId xmlns:a16="http://schemas.microsoft.com/office/drawing/2014/main" id="{AA468692-233D-7FA8-623A-9888A8FEC17D}"/>
              </a:ext>
            </a:extLst>
          </p:cNvPr>
          <p:cNvSpPr/>
          <p:nvPr/>
        </p:nvSpPr>
        <p:spPr>
          <a:xfrm>
            <a:off x="5511798" y="1"/>
            <a:ext cx="6680200" cy="6858000"/>
          </a:xfrm>
          <a:custGeom>
            <a:avLst/>
            <a:gdLst>
              <a:gd name="connsiteX0" fmla="*/ 0 w 6692900"/>
              <a:gd name="connsiteY0" fmla="*/ 0 h 6858000"/>
              <a:gd name="connsiteX1" fmla="*/ 6692900 w 6692900"/>
              <a:gd name="connsiteY1" fmla="*/ 0 h 6858000"/>
              <a:gd name="connsiteX2" fmla="*/ 6692900 w 6692900"/>
              <a:gd name="connsiteY2" fmla="*/ 6858000 h 6858000"/>
              <a:gd name="connsiteX3" fmla="*/ 0 w 6692900"/>
              <a:gd name="connsiteY3" fmla="*/ 6858000 h 6858000"/>
              <a:gd name="connsiteX4" fmla="*/ 0 w 6692900"/>
              <a:gd name="connsiteY4" fmla="*/ 0 h 6858000"/>
              <a:gd name="connsiteX0" fmla="*/ 2425700 w 6692900"/>
              <a:gd name="connsiteY0" fmla="*/ 0 h 6858000"/>
              <a:gd name="connsiteX1" fmla="*/ 6692900 w 6692900"/>
              <a:gd name="connsiteY1" fmla="*/ 0 h 6858000"/>
              <a:gd name="connsiteX2" fmla="*/ 6692900 w 6692900"/>
              <a:gd name="connsiteY2" fmla="*/ 6858000 h 6858000"/>
              <a:gd name="connsiteX3" fmla="*/ 0 w 6692900"/>
              <a:gd name="connsiteY3" fmla="*/ 6858000 h 6858000"/>
              <a:gd name="connsiteX4" fmla="*/ 2425700 w 6692900"/>
              <a:gd name="connsiteY4" fmla="*/ 0 h 6858000"/>
              <a:gd name="connsiteX0" fmla="*/ 2565665 w 6692900"/>
              <a:gd name="connsiteY0" fmla="*/ 0 h 6858000"/>
              <a:gd name="connsiteX1" fmla="*/ 6692900 w 6692900"/>
              <a:gd name="connsiteY1" fmla="*/ 0 h 6858000"/>
              <a:gd name="connsiteX2" fmla="*/ 6692900 w 6692900"/>
              <a:gd name="connsiteY2" fmla="*/ 6858000 h 6858000"/>
              <a:gd name="connsiteX3" fmla="*/ 0 w 6692900"/>
              <a:gd name="connsiteY3" fmla="*/ 6858000 h 6858000"/>
              <a:gd name="connsiteX4" fmla="*/ 2565665 w 6692900"/>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92900" h="6858000">
                <a:moveTo>
                  <a:pt x="2565665" y="0"/>
                </a:moveTo>
                <a:lnTo>
                  <a:pt x="6692900" y="0"/>
                </a:lnTo>
                <a:lnTo>
                  <a:pt x="6692900" y="6858000"/>
                </a:lnTo>
                <a:lnTo>
                  <a:pt x="0" y="6858000"/>
                </a:lnTo>
                <a:lnTo>
                  <a:pt x="2565665" y="0"/>
                </a:lnTo>
                <a:close/>
              </a:path>
            </a:pathLst>
          </a:custGeom>
          <a:solidFill>
            <a:schemeClr val="bg2">
              <a:lumMod val="25000"/>
              <a:alpha val="41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Tree>
    <p:extLst>
      <p:ext uri="{BB962C8B-B14F-4D97-AF65-F5344CB8AC3E}">
        <p14:creationId xmlns:p14="http://schemas.microsoft.com/office/powerpoint/2010/main" val="105029354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4C329BB3-5F16-63D1-0783-D735BD7E58D2}"/>
              </a:ext>
            </a:extLst>
          </p:cNvPr>
          <p:cNvSpPr>
            <a:spLocks noGrp="1"/>
          </p:cNvSpPr>
          <p:nvPr>
            <p:ph type="title"/>
          </p:nvPr>
        </p:nvSpPr>
        <p:spPr/>
        <p:txBody>
          <a:bodyPr/>
          <a:lstStyle/>
          <a:p>
            <a:r>
              <a:rPr lang="en-IN" dirty="0"/>
              <a:t>T-Tests</a:t>
            </a:r>
          </a:p>
        </p:txBody>
      </p:sp>
      <p:sp>
        <p:nvSpPr>
          <p:cNvPr id="2" name="Content Placeholder 1">
            <a:extLst>
              <a:ext uri="{FF2B5EF4-FFF2-40B4-BE49-F238E27FC236}">
                <a16:creationId xmlns:a16="http://schemas.microsoft.com/office/drawing/2014/main" id="{51BD8EE4-E814-EAE0-BED1-7FC05087C9A5}"/>
              </a:ext>
            </a:extLst>
          </p:cNvPr>
          <p:cNvSpPr>
            <a:spLocks noGrp="1"/>
          </p:cNvSpPr>
          <p:nvPr>
            <p:ph idx="1"/>
          </p:nvPr>
        </p:nvSpPr>
        <p:spPr/>
        <p:txBody>
          <a:bodyPr lIns="0" tIns="0" rIns="0" bIns="0">
            <a:normAutofit/>
          </a:bodyPr>
          <a:lstStyle/>
          <a:p>
            <a:pPr marL="0" indent="0">
              <a:lnSpc>
                <a:spcPct val="100000"/>
              </a:lnSpc>
              <a:spcBef>
                <a:spcPts val="400"/>
              </a:spcBef>
              <a:spcAft>
                <a:spcPts val="400"/>
              </a:spcAft>
              <a:buNone/>
            </a:pPr>
            <a:r>
              <a:rPr lang="en-US" sz="2200" dirty="0"/>
              <a:t>A t-test is a statistical test used to determine if there is a significant difference between the means of two groups or to test if the mean of a single sample is significantly different from a known or hypothesized population mean</a:t>
            </a:r>
            <a:endParaRPr lang="en-US" sz="2200" b="1" dirty="0"/>
          </a:p>
          <a:p>
            <a:pPr marL="0" indent="0">
              <a:lnSpc>
                <a:spcPct val="100000"/>
              </a:lnSpc>
              <a:spcBef>
                <a:spcPts val="400"/>
              </a:spcBef>
              <a:spcAft>
                <a:spcPts val="400"/>
              </a:spcAft>
              <a:buNone/>
            </a:pPr>
            <a:r>
              <a:rPr lang="en-US" sz="2400" b="1" dirty="0">
                <a:solidFill>
                  <a:schemeClr val="tx1"/>
                </a:solidFill>
              </a:rPr>
              <a:t>One-Sample T-Test</a:t>
            </a:r>
          </a:p>
          <a:p>
            <a:pPr>
              <a:lnSpc>
                <a:spcPct val="100000"/>
              </a:lnSpc>
              <a:spcBef>
                <a:spcPts val="400"/>
              </a:spcBef>
              <a:spcAft>
                <a:spcPts val="400"/>
              </a:spcAft>
            </a:pPr>
            <a:r>
              <a:rPr lang="en-US" sz="2200" b="1" dirty="0">
                <a:solidFill>
                  <a:schemeClr val="tx1"/>
                </a:solidFill>
              </a:rPr>
              <a:t>Explanation: </a:t>
            </a:r>
            <a:r>
              <a:rPr lang="en-US" sz="2200" dirty="0"/>
              <a:t>A one-sample t-test is used to determine if the mean of a single sample is significantly different from a known or hypothesized population mean.</a:t>
            </a:r>
          </a:p>
          <a:p>
            <a:pPr>
              <a:lnSpc>
                <a:spcPct val="100000"/>
              </a:lnSpc>
              <a:spcBef>
                <a:spcPts val="400"/>
              </a:spcBef>
              <a:spcAft>
                <a:spcPts val="400"/>
              </a:spcAft>
            </a:pPr>
            <a:r>
              <a:rPr lang="en-US" sz="2200" b="1" dirty="0">
                <a:solidFill>
                  <a:schemeClr val="tx1"/>
                </a:solidFill>
              </a:rPr>
              <a:t>Assumptions: </a:t>
            </a:r>
            <a:r>
              <a:rPr lang="en-US" sz="2200" dirty="0"/>
              <a:t>It assumes that the sample data is approximately normally distributed and that the observations are independent.</a:t>
            </a:r>
          </a:p>
          <a:p>
            <a:pPr>
              <a:lnSpc>
                <a:spcPct val="100000"/>
              </a:lnSpc>
              <a:spcBef>
                <a:spcPts val="400"/>
              </a:spcBef>
              <a:spcAft>
                <a:spcPts val="400"/>
              </a:spcAft>
            </a:pPr>
            <a:r>
              <a:rPr lang="en-US" sz="2200" b="1" dirty="0">
                <a:solidFill>
                  <a:schemeClr val="tx1"/>
                </a:solidFill>
              </a:rPr>
              <a:t>When to Use: </a:t>
            </a:r>
            <a:r>
              <a:rPr lang="en-US" sz="2200" dirty="0"/>
              <a:t>Use a one-sample t-test when you have one sample and want to test if its mean is different from a specified value (population mean).</a:t>
            </a:r>
          </a:p>
        </p:txBody>
      </p:sp>
    </p:spTree>
    <p:extLst>
      <p:ext uri="{BB962C8B-B14F-4D97-AF65-F5344CB8AC3E}">
        <p14:creationId xmlns:p14="http://schemas.microsoft.com/office/powerpoint/2010/main" val="278107849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4C329BB3-5F16-63D1-0783-D735BD7E58D2}"/>
              </a:ext>
            </a:extLst>
          </p:cNvPr>
          <p:cNvSpPr>
            <a:spLocks noGrp="1"/>
          </p:cNvSpPr>
          <p:nvPr>
            <p:ph type="title"/>
          </p:nvPr>
        </p:nvSpPr>
        <p:spPr/>
        <p:txBody>
          <a:bodyPr/>
          <a:lstStyle/>
          <a:p>
            <a:r>
              <a:rPr lang="en-IN" dirty="0"/>
              <a:t>Hypothesis Testing – One Sample T Test</a:t>
            </a:r>
          </a:p>
        </p:txBody>
      </p:sp>
      <p:sp>
        <p:nvSpPr>
          <p:cNvPr id="2" name="Content Placeholder 1">
            <a:extLst>
              <a:ext uri="{FF2B5EF4-FFF2-40B4-BE49-F238E27FC236}">
                <a16:creationId xmlns:a16="http://schemas.microsoft.com/office/drawing/2014/main" id="{E3E4D9EB-10A8-918A-0C8E-B26A0B8DC52B}"/>
              </a:ext>
            </a:extLst>
          </p:cNvPr>
          <p:cNvSpPr>
            <a:spLocks noGrp="1"/>
          </p:cNvSpPr>
          <p:nvPr>
            <p:ph idx="1"/>
          </p:nvPr>
        </p:nvSpPr>
        <p:spPr/>
        <p:txBody>
          <a:bodyPr lIns="0" tIns="0" rIns="0" bIns="0">
            <a:noAutofit/>
          </a:bodyPr>
          <a:lstStyle/>
          <a:p>
            <a:pPr marL="0" indent="0">
              <a:buNone/>
            </a:pPr>
            <a:r>
              <a:rPr lang="en-US" sz="2200" b="1" dirty="0">
                <a:solidFill>
                  <a:schemeClr val="tx1"/>
                </a:solidFill>
              </a:rPr>
              <a:t>Example </a:t>
            </a:r>
          </a:p>
          <a:p>
            <a:pPr marL="0" indent="0">
              <a:buNone/>
            </a:pPr>
            <a:r>
              <a:rPr lang="en-US" sz="2200" dirty="0"/>
              <a:t>Suppose the coffee shop owner collects data on the wait times for a random sample of 30 customers, and the wait times (in minutes) are as follows:</a:t>
            </a:r>
          </a:p>
          <a:p>
            <a:pPr marL="0" indent="0">
              <a:buNone/>
            </a:pPr>
            <a:r>
              <a:rPr lang="en-US" sz="2200" dirty="0"/>
              <a:t>4.2, 3.8 ,3.5, 4.0 ,4.5, 3.3, 4.2, 4.1, 3.9, 4.3, 3.7, 4.0, 4.2, 3.8, 3.6, 4.1, 3.9, 4.4, 4.0, 4.2, 3.7, 3.9, 4.0, 4.1, 4.3, 3.6, 3.9, 4.0, 4.2, 4.2, 3.8, 3.5, 4.0, 4.5, 3.3, 4.2, 4.1, 3.9, 4.3, 3.7, 4.0, 4.2, 3.8, 3.6, 4.1, 3.9, 4.4, 4.0, 4.2, 3.7, 3.9, 4.0, 4.1, 4.3, 3.6, 3.9, 4.0, 4.2</a:t>
            </a:r>
          </a:p>
          <a:p>
            <a:pPr marL="0" indent="0">
              <a:buNone/>
            </a:pPr>
            <a:r>
              <a:rPr lang="en-US" sz="2200" dirty="0"/>
              <a:t>Now, let's perform the hypothesis test based on this data:</a:t>
            </a:r>
          </a:p>
          <a:p>
            <a:pPr marL="0" indent="0">
              <a:lnSpc>
                <a:spcPct val="100000"/>
              </a:lnSpc>
              <a:spcBef>
                <a:spcPts val="400"/>
              </a:spcBef>
              <a:spcAft>
                <a:spcPts val="400"/>
              </a:spcAft>
              <a:buNone/>
            </a:pPr>
            <a:r>
              <a:rPr lang="en-US" sz="2400" b="1" dirty="0">
                <a:solidFill>
                  <a:schemeClr val="tx1"/>
                </a:solidFill>
              </a:rPr>
              <a:t>Hypotheses</a:t>
            </a:r>
          </a:p>
          <a:p>
            <a:r>
              <a:rPr lang="en-US" sz="2200" b="1" dirty="0">
                <a:solidFill>
                  <a:schemeClr val="tx1"/>
                </a:solidFill>
              </a:rPr>
              <a:t>Null Hypothesis (H0): </a:t>
            </a:r>
            <a:r>
              <a:rPr lang="en-US" sz="2200" dirty="0"/>
              <a:t>The average wait time is 3 minutes (μ = 3).</a:t>
            </a:r>
          </a:p>
          <a:p>
            <a:r>
              <a:rPr lang="en-US" sz="2200" b="1" dirty="0">
                <a:solidFill>
                  <a:schemeClr val="tx1"/>
                </a:solidFill>
              </a:rPr>
              <a:t>Alternative Hypothesis (Ha): </a:t>
            </a:r>
            <a:r>
              <a:rPr lang="en-US" sz="2200" dirty="0"/>
              <a:t>The average wait time is not 3 minutes (μ ≠ 3).</a:t>
            </a:r>
          </a:p>
          <a:p>
            <a:pPr marL="0" indent="0">
              <a:buNone/>
            </a:pPr>
            <a:r>
              <a:rPr lang="en-US" sz="2200" dirty="0"/>
              <a:t>(We're using a two-tailed test because we want to test if the average wait time is different</a:t>
            </a:r>
            <a:br>
              <a:rPr lang="en-US" sz="2200" dirty="0"/>
            </a:br>
            <a:r>
              <a:rPr lang="en-US" sz="2200" dirty="0"/>
              <a:t>from 3 minutes.)</a:t>
            </a:r>
          </a:p>
        </p:txBody>
      </p:sp>
    </p:spTree>
    <p:extLst>
      <p:ext uri="{BB962C8B-B14F-4D97-AF65-F5344CB8AC3E}">
        <p14:creationId xmlns:p14="http://schemas.microsoft.com/office/powerpoint/2010/main" val="286192839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5BA2E58-FEC9-D54D-ACC0-E7CEEF5F42E4}"/>
              </a:ext>
            </a:extLst>
          </p:cNvPr>
          <p:cNvSpPr>
            <a:spLocks noGrp="1"/>
          </p:cNvSpPr>
          <p:nvPr>
            <p:ph type="title"/>
          </p:nvPr>
        </p:nvSpPr>
        <p:spPr/>
        <p:txBody>
          <a:bodyPr>
            <a:normAutofit/>
          </a:bodyPr>
          <a:lstStyle/>
          <a:p>
            <a:r>
              <a:rPr lang="en-US" dirty="0"/>
              <a:t>Cont…</a:t>
            </a:r>
          </a:p>
        </p:txBody>
      </p:sp>
      <p:sp>
        <p:nvSpPr>
          <p:cNvPr id="2" name="Content Placeholder 1">
            <a:extLst>
              <a:ext uri="{FF2B5EF4-FFF2-40B4-BE49-F238E27FC236}">
                <a16:creationId xmlns:a16="http://schemas.microsoft.com/office/drawing/2014/main" id="{E22CD307-683E-17E9-EE5E-5D2B6F097899}"/>
              </a:ext>
            </a:extLst>
          </p:cNvPr>
          <p:cNvSpPr>
            <a:spLocks noGrp="1"/>
          </p:cNvSpPr>
          <p:nvPr>
            <p:ph idx="1"/>
          </p:nvPr>
        </p:nvSpPr>
        <p:spPr>
          <a:xfrm>
            <a:off x="678884" y="1410068"/>
            <a:ext cx="10834234" cy="4398066"/>
          </a:xfrm>
        </p:spPr>
        <p:txBody>
          <a:bodyPr lIns="0" tIns="0" rIns="0" bIns="0">
            <a:normAutofit lnSpcReduction="10000"/>
          </a:bodyPr>
          <a:lstStyle/>
          <a:p>
            <a:pPr marL="0" indent="0">
              <a:lnSpc>
                <a:spcPct val="100000"/>
              </a:lnSpc>
              <a:spcBef>
                <a:spcPts val="400"/>
              </a:spcBef>
              <a:spcAft>
                <a:spcPts val="400"/>
              </a:spcAft>
              <a:buNone/>
            </a:pPr>
            <a:r>
              <a:rPr lang="en-US" sz="2200" b="1" dirty="0">
                <a:solidFill>
                  <a:schemeClr val="tx1"/>
                </a:solidFill>
              </a:rPr>
              <a:t>Steps of Hypothesis Testing</a:t>
            </a:r>
          </a:p>
          <a:p>
            <a:pPr>
              <a:lnSpc>
                <a:spcPct val="100000"/>
              </a:lnSpc>
              <a:spcBef>
                <a:spcPts val="400"/>
              </a:spcBef>
              <a:spcAft>
                <a:spcPts val="400"/>
              </a:spcAft>
            </a:pPr>
            <a:r>
              <a:rPr lang="en-US" sz="2000" b="1" dirty="0">
                <a:solidFill>
                  <a:schemeClr val="tx1"/>
                </a:solidFill>
              </a:rPr>
              <a:t>Collect Data: </a:t>
            </a:r>
            <a:r>
              <a:rPr lang="en-US" sz="2000" dirty="0"/>
              <a:t>We have the wait times for the 30 customers in the sample.</a:t>
            </a:r>
          </a:p>
          <a:p>
            <a:pPr>
              <a:lnSpc>
                <a:spcPct val="100000"/>
              </a:lnSpc>
              <a:spcBef>
                <a:spcPts val="400"/>
              </a:spcBef>
              <a:spcAft>
                <a:spcPts val="400"/>
              </a:spcAft>
            </a:pPr>
            <a:r>
              <a:rPr lang="en-US" sz="2000" b="1" dirty="0">
                <a:solidFill>
                  <a:schemeClr val="tx1"/>
                </a:solidFill>
              </a:rPr>
              <a:t>Set Significance Level: </a:t>
            </a:r>
            <a:r>
              <a:rPr lang="en-US" sz="2000" dirty="0"/>
              <a:t>Let's choose a significance level (α) of 0.05.</a:t>
            </a:r>
          </a:p>
          <a:p>
            <a:pPr>
              <a:lnSpc>
                <a:spcPct val="100000"/>
              </a:lnSpc>
              <a:spcBef>
                <a:spcPts val="400"/>
              </a:spcBef>
              <a:spcAft>
                <a:spcPts val="400"/>
              </a:spcAft>
            </a:pPr>
            <a:r>
              <a:rPr lang="en-US" sz="2000" b="1" dirty="0">
                <a:solidFill>
                  <a:schemeClr val="tx1"/>
                </a:solidFill>
              </a:rPr>
              <a:t>Calculate Sample Mean &amp; Standard Deviation: </a:t>
            </a:r>
            <a:r>
              <a:rPr lang="en-US" sz="2000" dirty="0"/>
              <a:t> </a:t>
            </a:r>
          </a:p>
          <a:p>
            <a:pPr marL="0" indent="0">
              <a:lnSpc>
                <a:spcPct val="100000"/>
              </a:lnSpc>
              <a:spcBef>
                <a:spcPts val="400"/>
              </a:spcBef>
              <a:spcAft>
                <a:spcPts val="400"/>
              </a:spcAft>
              <a:buNone/>
            </a:pPr>
            <a:r>
              <a:rPr lang="en-US" sz="2000" dirty="0"/>
              <a:t>	Sample Mean (x̄)  = (4.2+3.8+3.5+…+4.2) / 30 =4.0 minutes</a:t>
            </a:r>
          </a:p>
          <a:p>
            <a:pPr marL="0" indent="0">
              <a:lnSpc>
                <a:spcPct val="100000"/>
              </a:lnSpc>
              <a:spcBef>
                <a:spcPts val="400"/>
              </a:spcBef>
              <a:spcAft>
                <a:spcPts val="400"/>
              </a:spcAft>
              <a:buNone/>
            </a:pPr>
            <a:r>
              <a:rPr lang="en-US" sz="2000" dirty="0"/>
              <a:t>	</a:t>
            </a:r>
          </a:p>
          <a:p>
            <a:pPr marL="0" indent="0">
              <a:lnSpc>
                <a:spcPct val="100000"/>
              </a:lnSpc>
              <a:spcBef>
                <a:spcPts val="400"/>
              </a:spcBef>
              <a:spcAft>
                <a:spcPts val="400"/>
              </a:spcAft>
              <a:buNone/>
            </a:pPr>
            <a:r>
              <a:rPr lang="en-US" sz="2000" dirty="0"/>
              <a:t>	Sample Standard Deviation (s): 0.2757819000266971</a:t>
            </a:r>
          </a:p>
          <a:p>
            <a:pPr marL="0" indent="0">
              <a:lnSpc>
                <a:spcPct val="100000"/>
              </a:lnSpc>
              <a:spcBef>
                <a:spcPts val="400"/>
              </a:spcBef>
              <a:spcAft>
                <a:spcPts val="400"/>
              </a:spcAft>
              <a:buNone/>
            </a:pPr>
            <a:endParaRPr lang="en-US" sz="2000" dirty="0"/>
          </a:p>
          <a:p>
            <a:pPr marL="0" indent="0">
              <a:lnSpc>
                <a:spcPct val="100000"/>
              </a:lnSpc>
              <a:spcBef>
                <a:spcPts val="400"/>
              </a:spcBef>
              <a:spcAft>
                <a:spcPts val="400"/>
              </a:spcAft>
              <a:buNone/>
            </a:pPr>
            <a:endParaRPr lang="en-US" sz="2000" dirty="0"/>
          </a:p>
          <a:p>
            <a:pPr>
              <a:lnSpc>
                <a:spcPct val="100000"/>
              </a:lnSpc>
              <a:spcBef>
                <a:spcPts val="400"/>
              </a:spcBef>
              <a:spcAft>
                <a:spcPts val="400"/>
              </a:spcAft>
            </a:pPr>
            <a:r>
              <a:rPr lang="en-US" sz="2000" b="1" dirty="0">
                <a:solidFill>
                  <a:schemeClr val="tx1"/>
                </a:solidFill>
              </a:rPr>
              <a:t>Calculate Test Statistic: </a:t>
            </a:r>
            <a:r>
              <a:rPr lang="en-US" sz="2000" dirty="0"/>
              <a:t>Using the formula: </a:t>
            </a:r>
          </a:p>
          <a:p>
            <a:pPr marL="0" indent="0">
              <a:lnSpc>
                <a:spcPct val="100000"/>
              </a:lnSpc>
              <a:spcBef>
                <a:spcPts val="400"/>
              </a:spcBef>
              <a:spcAft>
                <a:spcPts val="400"/>
              </a:spcAft>
              <a:buNone/>
            </a:pPr>
            <a:r>
              <a:rPr lang="en-US" sz="2000" dirty="0"/>
              <a:t>	t = (4.0−3)/0.2 =5</a:t>
            </a: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2E35F14A-3CCB-ABB2-4F9D-0F8F6E23FBF6}"/>
                  </a:ext>
                </a:extLst>
              </p:cNvPr>
              <p:cNvSpPr txBox="1"/>
              <p:nvPr/>
            </p:nvSpPr>
            <p:spPr>
              <a:xfrm>
                <a:off x="5151967" y="4588932"/>
                <a:ext cx="1964267" cy="95455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IN" sz="2200" b="1" i="1" dirty="0">
                          <a:latin typeface="Cambria Math" panose="02040503050406030204" pitchFamily="18" charset="0"/>
                        </a:rPr>
                        <m:t>𝒕</m:t>
                      </m:r>
                      <m:r>
                        <a:rPr lang="en-IN" sz="2200" b="1" i="1" dirty="0">
                          <a:latin typeface="Cambria Math" panose="02040503050406030204" pitchFamily="18" charset="0"/>
                        </a:rPr>
                        <m:t>=</m:t>
                      </m:r>
                      <m:f>
                        <m:fPr>
                          <m:ctrlPr>
                            <a:rPr lang="en-IN" sz="2200" b="1" i="1" dirty="0">
                              <a:latin typeface="Cambria Math" panose="02040503050406030204" pitchFamily="18" charset="0"/>
                            </a:rPr>
                          </m:ctrlPr>
                        </m:fPr>
                        <m:num>
                          <m:r>
                            <m:rPr>
                              <m:nor/>
                            </m:rPr>
                            <a:rPr lang="en-US" sz="2200" b="1" i="1" dirty="0">
                              <a:latin typeface="Cambria Math" panose="02040503050406030204" pitchFamily="18" charset="0"/>
                            </a:rPr>
                            <m:t>x</m:t>
                          </m:r>
                          <m:r>
                            <m:rPr>
                              <m:nor/>
                            </m:rPr>
                            <a:rPr lang="en-US" sz="2200" b="1" i="1" dirty="0">
                              <a:latin typeface="Cambria Math" panose="02040503050406030204" pitchFamily="18" charset="0"/>
                            </a:rPr>
                            <m:t>̄</m:t>
                          </m:r>
                          <m:r>
                            <a:rPr lang="en-IN" sz="2200" b="1" i="1" dirty="0">
                              <a:latin typeface="Cambria Math" panose="02040503050406030204" pitchFamily="18" charset="0"/>
                            </a:rPr>
                            <m:t>−</m:t>
                          </m:r>
                          <m:sSub>
                            <m:sSubPr>
                              <m:ctrlPr>
                                <a:rPr lang="en-IN" sz="2200" b="1" i="1" dirty="0">
                                  <a:latin typeface="Cambria Math" panose="02040503050406030204" pitchFamily="18" charset="0"/>
                                </a:rPr>
                              </m:ctrlPr>
                            </m:sSubPr>
                            <m:e>
                              <m:r>
                                <a:rPr lang="en-IN" sz="2200" b="1" i="1" dirty="0">
                                  <a:latin typeface="Cambria Math" panose="02040503050406030204" pitchFamily="18" charset="0"/>
                                </a:rPr>
                                <m:t>𝝁</m:t>
                              </m:r>
                            </m:e>
                            <m:sub>
                              <m:r>
                                <a:rPr lang="en-IN" sz="2200" b="1" i="1" dirty="0">
                                  <a:latin typeface="Cambria Math" panose="02040503050406030204" pitchFamily="18" charset="0"/>
                                </a:rPr>
                                <m:t>𝟎</m:t>
                              </m:r>
                            </m:sub>
                          </m:sSub>
                        </m:num>
                        <m:den>
                          <m:f>
                            <m:fPr>
                              <m:ctrlPr>
                                <a:rPr lang="en-IN" sz="2200" b="1" i="1" dirty="0">
                                  <a:latin typeface="Cambria Math" panose="02040503050406030204" pitchFamily="18" charset="0"/>
                                </a:rPr>
                              </m:ctrlPr>
                            </m:fPr>
                            <m:num>
                              <m:r>
                                <a:rPr lang="en-IN" sz="2200" b="1" i="1" dirty="0">
                                  <a:latin typeface="Cambria Math" panose="02040503050406030204" pitchFamily="18" charset="0"/>
                                </a:rPr>
                                <m:t>𝒔</m:t>
                              </m:r>
                            </m:num>
                            <m:den>
                              <m:rad>
                                <m:radPr>
                                  <m:degHide m:val="on"/>
                                  <m:ctrlPr>
                                    <a:rPr lang="en-IN" sz="2200" b="1" i="1" dirty="0">
                                      <a:latin typeface="Cambria Math" panose="02040503050406030204" pitchFamily="18" charset="0"/>
                                    </a:rPr>
                                  </m:ctrlPr>
                                </m:radPr>
                                <m:deg/>
                                <m:e>
                                  <m:r>
                                    <a:rPr lang="en-IN" sz="2200" b="1" i="1" dirty="0">
                                      <a:latin typeface="Cambria Math" panose="02040503050406030204" pitchFamily="18" charset="0"/>
                                    </a:rPr>
                                    <m:t>𝒏</m:t>
                                  </m:r>
                                </m:e>
                              </m:rad>
                            </m:den>
                          </m:f>
                        </m:den>
                      </m:f>
                    </m:oMath>
                  </m:oMathPara>
                </a14:m>
                <a:endParaRPr lang="en-IN" sz="2200" b="1" i="1" dirty="0">
                  <a:latin typeface="Cambria Math" panose="02040503050406030204" pitchFamily="18" charset="0"/>
                </a:endParaRPr>
              </a:p>
            </p:txBody>
          </p:sp>
        </mc:Choice>
        <mc:Fallback xmlns="">
          <p:sp>
            <p:nvSpPr>
              <p:cNvPr id="3" name="TextBox 2">
                <a:extLst>
                  <a:ext uri="{FF2B5EF4-FFF2-40B4-BE49-F238E27FC236}">
                    <a16:creationId xmlns:a16="http://schemas.microsoft.com/office/drawing/2014/main" id="{2E35F14A-3CCB-ABB2-4F9D-0F8F6E23FBF6}"/>
                  </a:ext>
                </a:extLst>
              </p:cNvPr>
              <p:cNvSpPr txBox="1">
                <a:spLocks noRot="1" noChangeAspect="1" noMove="1" noResize="1" noEditPoints="1" noAdjustHandles="1" noChangeArrowheads="1" noChangeShapeType="1" noTextEdit="1"/>
              </p:cNvSpPr>
              <p:nvPr/>
            </p:nvSpPr>
            <p:spPr>
              <a:xfrm>
                <a:off x="5151967" y="4588932"/>
                <a:ext cx="1964267" cy="954557"/>
              </a:xfrm>
              <a:prstGeom prst="rect">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23A78466-285C-EBD7-3B90-087A25595B74}"/>
                  </a:ext>
                </a:extLst>
              </p:cNvPr>
              <p:cNvSpPr txBox="1"/>
              <p:nvPr/>
            </p:nvSpPr>
            <p:spPr>
              <a:xfrm>
                <a:off x="8530167" y="3323536"/>
                <a:ext cx="2042097" cy="90935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IN" sz="2000" b="1" i="1" smtClean="0">
                          <a:latin typeface="Cambria Math" panose="02040503050406030204" pitchFamily="18" charset="0"/>
                        </a:rPr>
                        <m:t>𝑺</m:t>
                      </m:r>
                      <m:r>
                        <a:rPr lang="en-IN" sz="2000" b="1" i="0">
                          <a:latin typeface="Cambria Math" panose="02040503050406030204" pitchFamily="18" charset="0"/>
                        </a:rPr>
                        <m:t>=</m:t>
                      </m:r>
                      <m:rad>
                        <m:radPr>
                          <m:degHide m:val="on"/>
                          <m:ctrlPr>
                            <a:rPr lang="en-IN" sz="2000" b="1" i="1">
                              <a:solidFill>
                                <a:srgbClr val="836967"/>
                              </a:solidFill>
                              <a:latin typeface="Cambria Math" panose="02040503050406030204" pitchFamily="18" charset="0"/>
                            </a:rPr>
                          </m:ctrlPr>
                        </m:radPr>
                        <m:deg/>
                        <m:e>
                          <m:f>
                            <m:fPr>
                              <m:ctrlPr>
                                <a:rPr lang="en-IN" sz="2000" b="1" i="1">
                                  <a:solidFill>
                                    <a:srgbClr val="836967"/>
                                  </a:solidFill>
                                  <a:latin typeface="Cambria Math" panose="02040503050406030204" pitchFamily="18" charset="0"/>
                                </a:rPr>
                              </m:ctrlPr>
                            </m:fPr>
                            <m:num>
                              <m:nary>
                                <m:naryPr>
                                  <m:chr m:val="∑"/>
                                  <m:grow m:val="on"/>
                                  <m:subHide m:val="on"/>
                                  <m:supHide m:val="on"/>
                                  <m:ctrlPr>
                                    <a:rPr lang="en-IN" sz="2000" b="1" i="1">
                                      <a:latin typeface="Cambria Math" panose="02040503050406030204" pitchFamily="18" charset="0"/>
                                    </a:rPr>
                                  </m:ctrlPr>
                                </m:naryPr>
                                <m:sub/>
                                <m:sup/>
                                <m:e>
                                  <m:sSup>
                                    <m:sSupPr>
                                      <m:ctrlPr>
                                        <a:rPr lang="en-IN" sz="2000" b="1" i="1">
                                          <a:solidFill>
                                            <a:srgbClr val="836967"/>
                                          </a:solidFill>
                                          <a:latin typeface="Cambria Math" panose="02040503050406030204" pitchFamily="18" charset="0"/>
                                        </a:rPr>
                                      </m:ctrlPr>
                                    </m:sSupPr>
                                    <m:e>
                                      <m:d>
                                        <m:dPr>
                                          <m:ctrlPr>
                                            <a:rPr lang="en-IN" sz="2000" b="1" i="1">
                                              <a:solidFill>
                                                <a:srgbClr val="836967"/>
                                              </a:solidFill>
                                              <a:latin typeface="Cambria Math" panose="02040503050406030204" pitchFamily="18" charset="0"/>
                                            </a:rPr>
                                          </m:ctrlPr>
                                        </m:dPr>
                                        <m:e>
                                          <m:sSub>
                                            <m:sSubPr>
                                              <m:ctrlPr>
                                                <a:rPr lang="en-IN" sz="2000" b="1" i="1">
                                                  <a:solidFill>
                                                    <a:srgbClr val="836967"/>
                                                  </a:solidFill>
                                                  <a:latin typeface="Cambria Math" panose="02040503050406030204" pitchFamily="18" charset="0"/>
                                                </a:rPr>
                                              </m:ctrlPr>
                                            </m:sSubPr>
                                            <m:e>
                                              <m:r>
                                                <a:rPr lang="en-IN" sz="2000" b="1" i="1">
                                                  <a:latin typeface="Cambria Math" panose="02040503050406030204" pitchFamily="18" charset="0"/>
                                                </a:rPr>
                                                <m:t>𝒙</m:t>
                                              </m:r>
                                            </m:e>
                                            <m:sub>
                                              <m:r>
                                                <a:rPr lang="en-IN" sz="2000" b="1" i="1">
                                                  <a:latin typeface="Cambria Math" panose="02040503050406030204" pitchFamily="18" charset="0"/>
                                                </a:rPr>
                                                <m:t>𝒊</m:t>
                                              </m:r>
                                            </m:sub>
                                          </m:sSub>
                                          <m:r>
                                            <a:rPr lang="en-IN" sz="2000" b="1" i="0">
                                              <a:latin typeface="Cambria Math" panose="02040503050406030204" pitchFamily="18" charset="0"/>
                                            </a:rPr>
                                            <m:t>−</m:t>
                                          </m:r>
                                          <m:acc>
                                            <m:accPr>
                                              <m:chr m:val="̅"/>
                                              <m:ctrlPr>
                                                <a:rPr lang="en-IN" sz="2000" b="1" i="1">
                                                  <a:solidFill>
                                                    <a:srgbClr val="836967"/>
                                                  </a:solidFill>
                                                  <a:latin typeface="Cambria Math" panose="02040503050406030204" pitchFamily="18" charset="0"/>
                                                </a:rPr>
                                              </m:ctrlPr>
                                            </m:accPr>
                                            <m:e>
                                              <m:r>
                                                <a:rPr lang="en-IN" sz="2000" b="1" i="1">
                                                  <a:latin typeface="Cambria Math" panose="02040503050406030204" pitchFamily="18" charset="0"/>
                                                </a:rPr>
                                                <m:t>𝒙</m:t>
                                              </m:r>
                                            </m:e>
                                          </m:acc>
                                        </m:e>
                                      </m:d>
                                    </m:e>
                                    <m:sup>
                                      <m:r>
                                        <a:rPr lang="en-IN" sz="2000" b="1" i="0">
                                          <a:latin typeface="Cambria Math" panose="02040503050406030204" pitchFamily="18" charset="0"/>
                                        </a:rPr>
                                        <m:t>𝟐</m:t>
                                      </m:r>
                                    </m:sup>
                                  </m:sSup>
                                </m:e>
                              </m:nary>
                            </m:num>
                            <m:den>
                              <m:r>
                                <a:rPr lang="en-IN" sz="2000" b="1" i="1">
                                  <a:latin typeface="Cambria Math" panose="02040503050406030204" pitchFamily="18" charset="0"/>
                                </a:rPr>
                                <m:t>𝒏</m:t>
                              </m:r>
                              <m:r>
                                <a:rPr lang="en-IN" sz="2000" b="1" i="0">
                                  <a:latin typeface="Cambria Math" panose="02040503050406030204" pitchFamily="18" charset="0"/>
                                </a:rPr>
                                <m:t>−</m:t>
                              </m:r>
                              <m:r>
                                <a:rPr lang="en-IN" sz="2000" b="1" i="0">
                                  <a:latin typeface="Cambria Math" panose="02040503050406030204" pitchFamily="18" charset="0"/>
                                </a:rPr>
                                <m:t>𝟏</m:t>
                              </m:r>
                            </m:den>
                          </m:f>
                        </m:e>
                      </m:rad>
                    </m:oMath>
                  </m:oMathPara>
                </a14:m>
                <a:endParaRPr lang="en-IN" sz="2000" b="1" dirty="0"/>
              </a:p>
            </p:txBody>
          </p:sp>
        </mc:Choice>
        <mc:Fallback xmlns="">
          <p:sp>
            <p:nvSpPr>
              <p:cNvPr id="7" name="TextBox 6">
                <a:extLst>
                  <a:ext uri="{FF2B5EF4-FFF2-40B4-BE49-F238E27FC236}">
                    <a16:creationId xmlns:a16="http://schemas.microsoft.com/office/drawing/2014/main" id="{23A78466-285C-EBD7-3B90-087A25595B74}"/>
                  </a:ext>
                </a:extLst>
              </p:cNvPr>
              <p:cNvSpPr txBox="1">
                <a:spLocks noRot="1" noChangeAspect="1" noMove="1" noResize="1" noEditPoints="1" noAdjustHandles="1" noChangeArrowheads="1" noChangeShapeType="1" noTextEdit="1"/>
              </p:cNvSpPr>
              <p:nvPr/>
            </p:nvSpPr>
            <p:spPr>
              <a:xfrm>
                <a:off x="8530167" y="3323536"/>
                <a:ext cx="2042097" cy="909352"/>
              </a:xfrm>
              <a:prstGeom prst="rect">
                <a:avLst/>
              </a:prstGeom>
              <a:blipFill>
                <a:blip r:embed="rId4"/>
                <a:stretch>
                  <a:fillRect/>
                </a:stretch>
              </a:blipFill>
            </p:spPr>
            <p:txBody>
              <a:bodyPr/>
              <a:lstStyle/>
              <a:p>
                <a:r>
                  <a:rPr lang="en-IN">
                    <a:noFill/>
                  </a:rPr>
                  <a:t> </a:t>
                </a:r>
              </a:p>
            </p:txBody>
          </p:sp>
        </mc:Fallback>
      </mc:AlternateContent>
      <p:cxnSp>
        <p:nvCxnSpPr>
          <p:cNvPr id="6" name="Straight Arrow Connector 5">
            <a:extLst>
              <a:ext uri="{FF2B5EF4-FFF2-40B4-BE49-F238E27FC236}">
                <a16:creationId xmlns:a16="http://schemas.microsoft.com/office/drawing/2014/main" id="{BEB0DCF0-984F-5D4B-4C5B-783C4D8A31D9}"/>
              </a:ext>
            </a:extLst>
          </p:cNvPr>
          <p:cNvCxnSpPr>
            <a:cxnSpLocks/>
          </p:cNvCxnSpPr>
          <p:nvPr/>
        </p:nvCxnSpPr>
        <p:spPr>
          <a:xfrm flipH="1">
            <a:off x="8848165" y="5163671"/>
            <a:ext cx="524435" cy="0"/>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4727FD14-2D23-AEF5-58DF-6E2E53C9EBA3}"/>
                  </a:ext>
                </a:extLst>
              </p:cNvPr>
              <p:cNvSpPr txBox="1"/>
              <p:nvPr/>
            </p:nvSpPr>
            <p:spPr>
              <a:xfrm>
                <a:off x="8165975" y="4883776"/>
                <a:ext cx="650813" cy="62254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en-IN" sz="1800" b="1" i="1" dirty="0" smtClean="0">
                              <a:solidFill>
                                <a:srgbClr val="836967"/>
                              </a:solidFill>
                              <a:latin typeface="Cambria Math" panose="02040503050406030204" pitchFamily="18" charset="0"/>
                            </a:rPr>
                          </m:ctrlPr>
                        </m:fPr>
                        <m:num>
                          <m:r>
                            <a:rPr lang="en-IN" sz="1800" b="1" i="1" dirty="0">
                              <a:latin typeface="Cambria Math" panose="02040503050406030204" pitchFamily="18" charset="0"/>
                            </a:rPr>
                            <m:t>𝒔</m:t>
                          </m:r>
                        </m:num>
                        <m:den>
                          <m:rad>
                            <m:radPr>
                              <m:degHide m:val="on"/>
                              <m:ctrlPr>
                                <a:rPr lang="en-IN" sz="1800" b="1" i="1" dirty="0">
                                  <a:solidFill>
                                    <a:srgbClr val="836967"/>
                                  </a:solidFill>
                                  <a:latin typeface="Cambria Math" panose="02040503050406030204" pitchFamily="18" charset="0"/>
                                </a:rPr>
                              </m:ctrlPr>
                            </m:radPr>
                            <m:deg/>
                            <m:e>
                              <m:r>
                                <a:rPr lang="en-IN" sz="1800" b="1" i="1" dirty="0">
                                  <a:latin typeface="Cambria Math" panose="02040503050406030204" pitchFamily="18" charset="0"/>
                                </a:rPr>
                                <m:t>𝒏</m:t>
                              </m:r>
                            </m:e>
                          </m:rad>
                        </m:den>
                      </m:f>
                    </m:oMath>
                  </m:oMathPara>
                </a14:m>
                <a:endParaRPr lang="en-IN" dirty="0"/>
              </a:p>
            </p:txBody>
          </p:sp>
        </mc:Choice>
        <mc:Fallback xmlns="">
          <p:sp>
            <p:nvSpPr>
              <p:cNvPr id="10" name="TextBox 9">
                <a:extLst>
                  <a:ext uri="{FF2B5EF4-FFF2-40B4-BE49-F238E27FC236}">
                    <a16:creationId xmlns:a16="http://schemas.microsoft.com/office/drawing/2014/main" id="{4727FD14-2D23-AEF5-58DF-6E2E53C9EBA3}"/>
                  </a:ext>
                </a:extLst>
              </p:cNvPr>
              <p:cNvSpPr txBox="1">
                <a:spLocks noRot="1" noChangeAspect="1" noMove="1" noResize="1" noEditPoints="1" noAdjustHandles="1" noChangeArrowheads="1" noChangeShapeType="1" noTextEdit="1"/>
              </p:cNvSpPr>
              <p:nvPr/>
            </p:nvSpPr>
            <p:spPr>
              <a:xfrm>
                <a:off x="8165975" y="4883776"/>
                <a:ext cx="650813" cy="622543"/>
              </a:xfrm>
              <a:prstGeom prst="rect">
                <a:avLst/>
              </a:prstGeom>
              <a:blipFill>
                <a:blip r:embed="rId5"/>
                <a:stretch>
                  <a:fillRect/>
                </a:stretch>
              </a:blipFill>
            </p:spPr>
            <p:txBody>
              <a:bodyPr/>
              <a:lstStyle/>
              <a:p>
                <a:r>
                  <a:rPr lang="en-IN">
                    <a:noFill/>
                  </a:rPr>
                  <a:t> </a:t>
                </a:r>
              </a:p>
            </p:txBody>
          </p:sp>
        </mc:Fallback>
      </mc:AlternateContent>
      <p:sp>
        <p:nvSpPr>
          <p:cNvPr id="11" name="Oval 10">
            <a:extLst>
              <a:ext uri="{FF2B5EF4-FFF2-40B4-BE49-F238E27FC236}">
                <a16:creationId xmlns:a16="http://schemas.microsoft.com/office/drawing/2014/main" id="{65389668-5450-E458-7B6D-B70C28C34270}"/>
              </a:ext>
            </a:extLst>
          </p:cNvPr>
          <p:cNvSpPr/>
          <p:nvPr/>
        </p:nvSpPr>
        <p:spPr>
          <a:xfrm>
            <a:off x="8165975" y="4800600"/>
            <a:ext cx="650813" cy="811306"/>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TextBox 11">
            <a:extLst>
              <a:ext uri="{FF2B5EF4-FFF2-40B4-BE49-F238E27FC236}">
                <a16:creationId xmlns:a16="http://schemas.microsoft.com/office/drawing/2014/main" id="{A4540305-7EC4-676E-4801-08BBADEE76C7}"/>
              </a:ext>
            </a:extLst>
          </p:cNvPr>
          <p:cNvSpPr txBox="1"/>
          <p:nvPr/>
        </p:nvSpPr>
        <p:spPr>
          <a:xfrm>
            <a:off x="9372600" y="4979005"/>
            <a:ext cx="1990165" cy="369332"/>
          </a:xfrm>
          <a:prstGeom prst="rect">
            <a:avLst/>
          </a:prstGeom>
          <a:noFill/>
        </p:spPr>
        <p:txBody>
          <a:bodyPr wrap="square" rtlCol="0">
            <a:spAutoFit/>
          </a:bodyPr>
          <a:lstStyle/>
          <a:p>
            <a:r>
              <a:rPr lang="en-IN" dirty="0"/>
              <a:t>Standard Error (SE)</a:t>
            </a:r>
          </a:p>
        </p:txBody>
      </p:sp>
    </p:spTree>
    <p:extLst>
      <p:ext uri="{BB962C8B-B14F-4D97-AF65-F5344CB8AC3E}">
        <p14:creationId xmlns:p14="http://schemas.microsoft.com/office/powerpoint/2010/main" val="321124818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5BA2E58-FEC9-D54D-ACC0-E7CEEF5F42E4}"/>
              </a:ext>
            </a:extLst>
          </p:cNvPr>
          <p:cNvSpPr>
            <a:spLocks noGrp="1"/>
          </p:cNvSpPr>
          <p:nvPr>
            <p:ph type="title"/>
          </p:nvPr>
        </p:nvSpPr>
        <p:spPr/>
        <p:txBody>
          <a:bodyPr>
            <a:normAutofit/>
          </a:bodyPr>
          <a:lstStyle/>
          <a:p>
            <a:r>
              <a:rPr lang="en-US" dirty="0"/>
              <a:t>Cont…</a:t>
            </a:r>
          </a:p>
        </p:txBody>
      </p:sp>
      <p:sp>
        <p:nvSpPr>
          <p:cNvPr id="2" name="Content Placeholder 1">
            <a:extLst>
              <a:ext uri="{FF2B5EF4-FFF2-40B4-BE49-F238E27FC236}">
                <a16:creationId xmlns:a16="http://schemas.microsoft.com/office/drawing/2014/main" id="{E22CD307-683E-17E9-EE5E-5D2B6F097899}"/>
              </a:ext>
            </a:extLst>
          </p:cNvPr>
          <p:cNvSpPr>
            <a:spLocks noGrp="1"/>
          </p:cNvSpPr>
          <p:nvPr>
            <p:ph idx="1"/>
          </p:nvPr>
        </p:nvSpPr>
        <p:spPr/>
        <p:txBody>
          <a:bodyPr lIns="0" tIns="0" rIns="0" bIns="0">
            <a:normAutofit/>
          </a:bodyPr>
          <a:lstStyle/>
          <a:p>
            <a:pPr>
              <a:lnSpc>
                <a:spcPct val="100000"/>
              </a:lnSpc>
              <a:spcBef>
                <a:spcPts val="600"/>
              </a:spcBef>
              <a:spcAft>
                <a:spcPts val="600"/>
              </a:spcAft>
            </a:pPr>
            <a:r>
              <a:rPr lang="en-US" sz="2200" b="1" dirty="0">
                <a:solidFill>
                  <a:schemeClr val="tx1"/>
                </a:solidFill>
              </a:rPr>
              <a:t>Find Critical Values: </a:t>
            </a:r>
            <a:r>
              <a:rPr lang="en-US" sz="2200" dirty="0"/>
              <a:t>For a two-tailed test with </a:t>
            </a:r>
            <a:r>
              <a:rPr lang="en-US" sz="2200" b="1" dirty="0"/>
              <a:t>α = 0.05 </a:t>
            </a:r>
            <a:r>
              <a:rPr lang="en-US" sz="2200" dirty="0"/>
              <a:t>and </a:t>
            </a:r>
            <a:r>
              <a:rPr lang="en-US" sz="2200" b="1" dirty="0"/>
              <a:t>29 degrees of freedom </a:t>
            </a:r>
            <a:r>
              <a:rPr lang="en-US" sz="2200" dirty="0"/>
              <a:t>(df = n - 1 = 30 - 1 = 29), the critical values are approximately </a:t>
            </a:r>
            <a:r>
              <a:rPr lang="en-US" sz="2200" b="1" dirty="0"/>
              <a:t>± 2.045</a:t>
            </a:r>
            <a:r>
              <a:rPr lang="en-US" sz="2200" dirty="0"/>
              <a:t>.</a:t>
            </a:r>
          </a:p>
          <a:p>
            <a:pPr marL="0" indent="0">
              <a:lnSpc>
                <a:spcPct val="100000"/>
              </a:lnSpc>
              <a:spcBef>
                <a:spcPts val="600"/>
              </a:spcBef>
              <a:spcAft>
                <a:spcPts val="600"/>
              </a:spcAft>
              <a:buNone/>
            </a:pPr>
            <a:endParaRPr lang="en-US" sz="2200" dirty="0"/>
          </a:p>
          <a:p>
            <a:pPr>
              <a:lnSpc>
                <a:spcPct val="100000"/>
              </a:lnSpc>
              <a:spcBef>
                <a:spcPts val="600"/>
              </a:spcBef>
              <a:spcAft>
                <a:spcPts val="600"/>
              </a:spcAft>
            </a:pPr>
            <a:r>
              <a:rPr lang="en-US" sz="2200" b="1" dirty="0">
                <a:solidFill>
                  <a:schemeClr val="tx1"/>
                </a:solidFill>
              </a:rPr>
              <a:t>Calculate P-Value: </a:t>
            </a:r>
            <a:r>
              <a:rPr lang="en-US" sz="2200" dirty="0"/>
              <a:t>The p-value is calculated as the probability of observing a t-statistic as extreme as 5 in a t-distribution with 29 degrees of freedom. The p-value is extremely small, indicating strong evidence against the null hypothesis.</a:t>
            </a:r>
          </a:p>
          <a:p>
            <a:pPr marL="0" indent="0">
              <a:lnSpc>
                <a:spcPct val="100000"/>
              </a:lnSpc>
              <a:spcBef>
                <a:spcPts val="600"/>
              </a:spcBef>
              <a:spcAft>
                <a:spcPts val="600"/>
              </a:spcAft>
              <a:buNone/>
            </a:pPr>
            <a:endParaRPr lang="en-US" sz="2200" dirty="0"/>
          </a:p>
          <a:p>
            <a:pPr>
              <a:lnSpc>
                <a:spcPct val="100000"/>
              </a:lnSpc>
              <a:spcBef>
                <a:spcPts val="600"/>
              </a:spcBef>
              <a:spcAft>
                <a:spcPts val="600"/>
              </a:spcAft>
            </a:pPr>
            <a:r>
              <a:rPr lang="en-US" sz="2200" b="1" dirty="0">
                <a:solidFill>
                  <a:schemeClr val="tx1"/>
                </a:solidFill>
              </a:rPr>
              <a:t>Make a Decision: </a:t>
            </a:r>
            <a:r>
              <a:rPr lang="en-US" sz="2200" dirty="0"/>
              <a:t>Since the p-value (very small) is less than α (0.05), we reject the null hypothesis. This suggests that there is enough evidence to conclude that the average wait time for customers to receive their coffee is not 3 minutes.</a:t>
            </a:r>
          </a:p>
        </p:txBody>
      </p:sp>
    </p:spTree>
    <p:extLst>
      <p:ext uri="{BB962C8B-B14F-4D97-AF65-F5344CB8AC3E}">
        <p14:creationId xmlns:p14="http://schemas.microsoft.com/office/powerpoint/2010/main" val="15949577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4C329BB3-5F16-63D1-0783-D735BD7E58D2}"/>
              </a:ext>
            </a:extLst>
          </p:cNvPr>
          <p:cNvSpPr>
            <a:spLocks noGrp="1"/>
          </p:cNvSpPr>
          <p:nvPr>
            <p:ph type="title"/>
          </p:nvPr>
        </p:nvSpPr>
        <p:spPr/>
        <p:txBody>
          <a:bodyPr/>
          <a:lstStyle/>
          <a:p>
            <a:r>
              <a:rPr lang="en-IN" dirty="0"/>
              <a:t>Two-Sample T-Tests</a:t>
            </a:r>
          </a:p>
        </p:txBody>
      </p:sp>
      <p:sp>
        <p:nvSpPr>
          <p:cNvPr id="2" name="Content Placeholder 1">
            <a:extLst>
              <a:ext uri="{FF2B5EF4-FFF2-40B4-BE49-F238E27FC236}">
                <a16:creationId xmlns:a16="http://schemas.microsoft.com/office/drawing/2014/main" id="{51BD8EE4-E814-EAE0-BED1-7FC05087C9A5}"/>
              </a:ext>
            </a:extLst>
          </p:cNvPr>
          <p:cNvSpPr>
            <a:spLocks noGrp="1"/>
          </p:cNvSpPr>
          <p:nvPr>
            <p:ph idx="1"/>
          </p:nvPr>
        </p:nvSpPr>
        <p:spPr/>
        <p:txBody>
          <a:bodyPr lIns="0" tIns="0" rIns="0" bIns="0">
            <a:normAutofit/>
          </a:bodyPr>
          <a:lstStyle/>
          <a:p>
            <a:pPr marL="0" indent="0">
              <a:lnSpc>
                <a:spcPct val="100000"/>
              </a:lnSpc>
              <a:spcBef>
                <a:spcPts val="400"/>
              </a:spcBef>
              <a:spcAft>
                <a:spcPts val="400"/>
              </a:spcAft>
              <a:buNone/>
            </a:pPr>
            <a:r>
              <a:rPr lang="en-US" sz="2400" b="1" dirty="0">
                <a:solidFill>
                  <a:schemeClr val="tx1"/>
                </a:solidFill>
              </a:rPr>
              <a:t>Two-Sample T-Test</a:t>
            </a:r>
          </a:p>
          <a:p>
            <a:pPr>
              <a:lnSpc>
                <a:spcPct val="100000"/>
              </a:lnSpc>
              <a:spcBef>
                <a:spcPts val="400"/>
              </a:spcBef>
              <a:spcAft>
                <a:spcPts val="400"/>
              </a:spcAft>
            </a:pPr>
            <a:r>
              <a:rPr lang="en-US" sz="2200" b="1" dirty="0">
                <a:solidFill>
                  <a:schemeClr val="tx1"/>
                </a:solidFill>
              </a:rPr>
              <a:t>Explanation: </a:t>
            </a:r>
            <a:r>
              <a:rPr lang="en-US" sz="2200" dirty="0"/>
              <a:t>A two-sample t-test is used to compare the means of two independent samples to determine if they are significantly different from each other.</a:t>
            </a:r>
          </a:p>
          <a:p>
            <a:pPr>
              <a:lnSpc>
                <a:spcPct val="100000"/>
              </a:lnSpc>
              <a:spcBef>
                <a:spcPts val="400"/>
              </a:spcBef>
              <a:spcAft>
                <a:spcPts val="400"/>
              </a:spcAft>
            </a:pPr>
            <a:r>
              <a:rPr lang="en-US" sz="2200" b="1" dirty="0">
                <a:solidFill>
                  <a:schemeClr val="tx1"/>
                </a:solidFill>
              </a:rPr>
              <a:t>Assumptions: </a:t>
            </a:r>
            <a:r>
              <a:rPr lang="en-US" sz="2200" dirty="0"/>
              <a:t>It assumes that the data in both samples are approximately normally distributed, and the observations in each sample are independent.</a:t>
            </a:r>
          </a:p>
          <a:p>
            <a:pPr>
              <a:lnSpc>
                <a:spcPct val="100000"/>
              </a:lnSpc>
              <a:spcBef>
                <a:spcPts val="400"/>
              </a:spcBef>
              <a:spcAft>
                <a:spcPts val="400"/>
              </a:spcAft>
            </a:pPr>
            <a:r>
              <a:rPr lang="en-US" sz="2200" b="1" dirty="0">
                <a:solidFill>
                  <a:schemeClr val="tx1"/>
                </a:solidFill>
              </a:rPr>
              <a:t>When to Use: </a:t>
            </a:r>
            <a:r>
              <a:rPr lang="en-US" sz="2200" dirty="0"/>
              <a:t>Use a two-sample t-test when you have two separate groups or samples, and you want to test if their means are significantly different from each other.</a:t>
            </a:r>
          </a:p>
        </p:txBody>
      </p:sp>
    </p:spTree>
    <p:extLst>
      <p:ext uri="{BB962C8B-B14F-4D97-AF65-F5344CB8AC3E}">
        <p14:creationId xmlns:p14="http://schemas.microsoft.com/office/powerpoint/2010/main" val="183986974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4C329BB3-5F16-63D1-0783-D735BD7E58D2}"/>
              </a:ext>
            </a:extLst>
          </p:cNvPr>
          <p:cNvSpPr>
            <a:spLocks noGrp="1"/>
          </p:cNvSpPr>
          <p:nvPr>
            <p:ph type="title"/>
          </p:nvPr>
        </p:nvSpPr>
        <p:spPr/>
        <p:txBody>
          <a:bodyPr/>
          <a:lstStyle/>
          <a:p>
            <a:r>
              <a:rPr lang="en-IN" dirty="0"/>
              <a:t>Cont…</a:t>
            </a:r>
          </a:p>
        </p:txBody>
      </p:sp>
      <p:sp>
        <p:nvSpPr>
          <p:cNvPr id="2" name="Content Placeholder 1">
            <a:extLst>
              <a:ext uri="{FF2B5EF4-FFF2-40B4-BE49-F238E27FC236}">
                <a16:creationId xmlns:a16="http://schemas.microsoft.com/office/drawing/2014/main" id="{51BD8EE4-E814-EAE0-BED1-7FC05087C9A5}"/>
              </a:ext>
            </a:extLst>
          </p:cNvPr>
          <p:cNvSpPr>
            <a:spLocks noGrp="1"/>
          </p:cNvSpPr>
          <p:nvPr>
            <p:ph idx="1"/>
          </p:nvPr>
        </p:nvSpPr>
        <p:spPr/>
        <p:txBody>
          <a:bodyPr lIns="0" tIns="0" rIns="0" bIns="0">
            <a:normAutofit/>
          </a:bodyPr>
          <a:lstStyle/>
          <a:p>
            <a:pPr marL="0" indent="0">
              <a:lnSpc>
                <a:spcPct val="100000"/>
              </a:lnSpc>
              <a:spcBef>
                <a:spcPts val="600"/>
              </a:spcBef>
              <a:spcAft>
                <a:spcPts val="600"/>
              </a:spcAft>
              <a:buNone/>
            </a:pPr>
            <a:r>
              <a:rPr lang="en-US" sz="2200" dirty="0"/>
              <a:t>Imagine you are a teacher, and you want to determine if two different teaching methods, Method A and Method B, have a significant impact on students' test scores. You have two groups of students, one taught using Method A and the other using Method B, and you want to compare their test scores to see if there's a significant difference.</a:t>
            </a:r>
          </a:p>
          <a:p>
            <a:pPr marL="0" indent="0">
              <a:lnSpc>
                <a:spcPct val="100000"/>
              </a:lnSpc>
              <a:spcBef>
                <a:spcPts val="600"/>
              </a:spcBef>
              <a:spcAft>
                <a:spcPts val="600"/>
              </a:spcAft>
              <a:buNone/>
            </a:pPr>
            <a:r>
              <a:rPr lang="en-US" sz="2400" b="1" dirty="0">
                <a:solidFill>
                  <a:schemeClr val="tx1"/>
                </a:solidFill>
              </a:rPr>
              <a:t>Hypotheses</a:t>
            </a:r>
          </a:p>
          <a:p>
            <a:pPr>
              <a:lnSpc>
                <a:spcPct val="100000"/>
              </a:lnSpc>
              <a:spcBef>
                <a:spcPts val="600"/>
              </a:spcBef>
              <a:spcAft>
                <a:spcPts val="600"/>
              </a:spcAft>
            </a:pPr>
            <a:r>
              <a:rPr lang="en-US" sz="2200" b="1" dirty="0">
                <a:solidFill>
                  <a:schemeClr val="tx1"/>
                </a:solidFill>
              </a:rPr>
              <a:t>Null Hypothesis (H0): </a:t>
            </a:r>
            <a:r>
              <a:rPr lang="en-US" sz="2200" dirty="0"/>
              <a:t>There is no significant difference in the mean test scores between the two teaching methods (μA = μB).</a:t>
            </a:r>
          </a:p>
          <a:p>
            <a:pPr>
              <a:lnSpc>
                <a:spcPct val="100000"/>
              </a:lnSpc>
              <a:spcBef>
                <a:spcPts val="600"/>
              </a:spcBef>
              <a:spcAft>
                <a:spcPts val="600"/>
              </a:spcAft>
            </a:pPr>
            <a:r>
              <a:rPr lang="en-US" sz="2200" b="1" dirty="0">
                <a:solidFill>
                  <a:schemeClr val="tx1"/>
                </a:solidFill>
              </a:rPr>
              <a:t>Alternative Hypothesis (Ha): </a:t>
            </a:r>
            <a:r>
              <a:rPr lang="en-US" sz="2200" dirty="0"/>
              <a:t>There is a significant difference in the mean test scores between the two teaching methods (μA ≠ μB).</a:t>
            </a:r>
          </a:p>
          <a:p>
            <a:pPr marL="0" indent="0">
              <a:lnSpc>
                <a:spcPct val="100000"/>
              </a:lnSpc>
              <a:spcBef>
                <a:spcPts val="600"/>
              </a:spcBef>
              <a:spcAft>
                <a:spcPts val="600"/>
              </a:spcAft>
              <a:buNone/>
            </a:pPr>
            <a:r>
              <a:rPr lang="en-US" sz="2200" dirty="0"/>
              <a:t>.</a:t>
            </a:r>
          </a:p>
        </p:txBody>
      </p:sp>
    </p:spTree>
    <p:extLst>
      <p:ext uri="{BB962C8B-B14F-4D97-AF65-F5344CB8AC3E}">
        <p14:creationId xmlns:p14="http://schemas.microsoft.com/office/powerpoint/2010/main" val="287954677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4C329BB3-5F16-63D1-0783-D735BD7E58D2}"/>
              </a:ext>
            </a:extLst>
          </p:cNvPr>
          <p:cNvSpPr>
            <a:spLocks noGrp="1"/>
          </p:cNvSpPr>
          <p:nvPr>
            <p:ph type="title"/>
          </p:nvPr>
        </p:nvSpPr>
        <p:spPr/>
        <p:txBody>
          <a:bodyPr/>
          <a:lstStyle/>
          <a:p>
            <a:r>
              <a:rPr lang="en-IN" dirty="0"/>
              <a:t>Cont…</a:t>
            </a:r>
          </a:p>
        </p:txBody>
      </p:sp>
      <p:sp>
        <p:nvSpPr>
          <p:cNvPr id="2" name="Content Placeholder 1">
            <a:extLst>
              <a:ext uri="{FF2B5EF4-FFF2-40B4-BE49-F238E27FC236}">
                <a16:creationId xmlns:a16="http://schemas.microsoft.com/office/drawing/2014/main" id="{51BD8EE4-E814-EAE0-BED1-7FC05087C9A5}"/>
              </a:ext>
            </a:extLst>
          </p:cNvPr>
          <p:cNvSpPr>
            <a:spLocks noGrp="1"/>
          </p:cNvSpPr>
          <p:nvPr>
            <p:ph idx="1"/>
          </p:nvPr>
        </p:nvSpPr>
        <p:spPr>
          <a:xfrm>
            <a:off x="678884" y="1435467"/>
            <a:ext cx="10834234" cy="4982265"/>
          </a:xfrm>
        </p:spPr>
        <p:txBody>
          <a:bodyPr lIns="0" tIns="0" rIns="0" bIns="0">
            <a:noAutofit/>
          </a:bodyPr>
          <a:lstStyle/>
          <a:p>
            <a:pPr marL="0" indent="0">
              <a:lnSpc>
                <a:spcPct val="100000"/>
              </a:lnSpc>
              <a:spcBef>
                <a:spcPts val="600"/>
              </a:spcBef>
              <a:spcAft>
                <a:spcPts val="600"/>
              </a:spcAft>
              <a:buNone/>
            </a:pPr>
            <a:r>
              <a:rPr lang="en-US" sz="2400" b="1" dirty="0">
                <a:solidFill>
                  <a:schemeClr val="tx1"/>
                </a:solidFill>
              </a:rPr>
              <a:t>Steps of the Two-Sample T-Test</a:t>
            </a:r>
          </a:p>
          <a:p>
            <a:pPr>
              <a:lnSpc>
                <a:spcPct val="100000"/>
              </a:lnSpc>
              <a:spcBef>
                <a:spcPts val="600"/>
              </a:spcBef>
              <a:spcAft>
                <a:spcPts val="600"/>
              </a:spcAft>
            </a:pPr>
            <a:r>
              <a:rPr lang="en-US" sz="2200" b="1" dirty="0">
                <a:solidFill>
                  <a:schemeClr val="tx1"/>
                </a:solidFill>
              </a:rPr>
              <a:t>Collect Data: </a:t>
            </a:r>
            <a:r>
              <a:rPr lang="en-US" sz="2200" dirty="0"/>
              <a:t>Collect test scores from two groups of students. Let's assume:</a:t>
            </a:r>
          </a:p>
          <a:p>
            <a:pPr marL="457200" lvl="1" indent="0">
              <a:lnSpc>
                <a:spcPct val="100000"/>
              </a:lnSpc>
              <a:spcBef>
                <a:spcPts val="600"/>
              </a:spcBef>
              <a:spcAft>
                <a:spcPts val="600"/>
              </a:spcAft>
              <a:buNone/>
            </a:pPr>
            <a:r>
              <a:rPr lang="en-US" sz="2000" dirty="0"/>
              <a:t>Group A (Method A): [85, 88, 92, 78, 90] </a:t>
            </a:r>
          </a:p>
          <a:p>
            <a:pPr marL="457200" lvl="1" indent="0">
              <a:lnSpc>
                <a:spcPct val="100000"/>
              </a:lnSpc>
              <a:spcBef>
                <a:spcPts val="600"/>
              </a:spcBef>
              <a:spcAft>
                <a:spcPts val="600"/>
              </a:spcAft>
              <a:buNone/>
            </a:pPr>
            <a:r>
              <a:rPr lang="en-US" sz="2000" dirty="0"/>
              <a:t>Group B (Method B): [91, 89, 82, 87, 88]</a:t>
            </a:r>
          </a:p>
          <a:p>
            <a:pPr>
              <a:lnSpc>
                <a:spcPct val="100000"/>
              </a:lnSpc>
              <a:spcBef>
                <a:spcPts val="600"/>
              </a:spcBef>
              <a:spcAft>
                <a:spcPts val="600"/>
              </a:spcAft>
            </a:pPr>
            <a:r>
              <a:rPr lang="en-US" sz="2200" b="1" dirty="0">
                <a:solidFill>
                  <a:schemeClr val="tx1"/>
                </a:solidFill>
              </a:rPr>
              <a:t>Set Significance Level (α): </a:t>
            </a:r>
            <a:r>
              <a:rPr lang="en-US" sz="2200" dirty="0"/>
              <a:t>Choose a significance level, such as α = 0.05, to determine the threshold for statistical significance.</a:t>
            </a:r>
          </a:p>
          <a:p>
            <a:pPr>
              <a:lnSpc>
                <a:spcPct val="100000"/>
              </a:lnSpc>
              <a:spcBef>
                <a:spcPts val="600"/>
              </a:spcBef>
              <a:spcAft>
                <a:spcPts val="600"/>
              </a:spcAft>
            </a:pPr>
            <a:r>
              <a:rPr lang="en-US" sz="2200" b="1" dirty="0">
                <a:solidFill>
                  <a:schemeClr val="tx1"/>
                </a:solidFill>
              </a:rPr>
              <a:t>Calculate Sample Means: </a:t>
            </a:r>
            <a:r>
              <a:rPr lang="en-US" sz="2200" dirty="0"/>
              <a:t>Calculate the sample means for both groups:</a:t>
            </a:r>
          </a:p>
          <a:p>
            <a:pPr marL="457200" lvl="1" indent="0">
              <a:lnSpc>
                <a:spcPct val="100000"/>
              </a:lnSpc>
              <a:spcBef>
                <a:spcPts val="600"/>
              </a:spcBef>
              <a:spcAft>
                <a:spcPts val="600"/>
              </a:spcAft>
              <a:buNone/>
            </a:pPr>
            <a:r>
              <a:rPr lang="en-US" sz="2000" dirty="0"/>
              <a:t>Sample Mean of Group A (x̄A) = (85 + 88 + 92 + 78 + 90) / 5 = 86.6</a:t>
            </a:r>
          </a:p>
          <a:p>
            <a:pPr marL="457200" lvl="1" indent="0">
              <a:lnSpc>
                <a:spcPct val="100000"/>
              </a:lnSpc>
              <a:spcBef>
                <a:spcPts val="600"/>
              </a:spcBef>
              <a:spcAft>
                <a:spcPts val="600"/>
              </a:spcAft>
              <a:buNone/>
            </a:pPr>
            <a:r>
              <a:rPr lang="en-US" sz="2000" dirty="0"/>
              <a:t>Sample Mean of Group B (x̄B) = (91 + 89 + 82 + 87 + 88) / 5 = 87.</a:t>
            </a:r>
          </a:p>
        </p:txBody>
      </p:sp>
    </p:spTree>
    <p:extLst>
      <p:ext uri="{BB962C8B-B14F-4D97-AF65-F5344CB8AC3E}">
        <p14:creationId xmlns:p14="http://schemas.microsoft.com/office/powerpoint/2010/main" val="153675208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4C329BB3-5F16-63D1-0783-D735BD7E58D2}"/>
              </a:ext>
            </a:extLst>
          </p:cNvPr>
          <p:cNvSpPr>
            <a:spLocks noGrp="1"/>
          </p:cNvSpPr>
          <p:nvPr>
            <p:ph type="title"/>
          </p:nvPr>
        </p:nvSpPr>
        <p:spPr/>
        <p:txBody>
          <a:bodyPr/>
          <a:lstStyle/>
          <a:p>
            <a:r>
              <a:rPr lang="en-IN" dirty="0"/>
              <a:t>Cont…</a:t>
            </a:r>
          </a:p>
        </p:txBody>
      </p:sp>
      <p:sp>
        <p:nvSpPr>
          <p:cNvPr id="2" name="Content Placeholder 1">
            <a:extLst>
              <a:ext uri="{FF2B5EF4-FFF2-40B4-BE49-F238E27FC236}">
                <a16:creationId xmlns:a16="http://schemas.microsoft.com/office/drawing/2014/main" id="{51BD8EE4-E814-EAE0-BED1-7FC05087C9A5}"/>
              </a:ext>
            </a:extLst>
          </p:cNvPr>
          <p:cNvSpPr>
            <a:spLocks noGrp="1"/>
          </p:cNvSpPr>
          <p:nvPr>
            <p:ph idx="1"/>
          </p:nvPr>
        </p:nvSpPr>
        <p:spPr/>
        <p:txBody>
          <a:bodyPr lIns="0" tIns="0" rIns="0" bIns="0">
            <a:noAutofit/>
          </a:bodyPr>
          <a:lstStyle/>
          <a:p>
            <a:pPr>
              <a:lnSpc>
                <a:spcPct val="100000"/>
              </a:lnSpc>
              <a:spcBef>
                <a:spcPts val="600"/>
              </a:spcBef>
              <a:spcAft>
                <a:spcPts val="600"/>
              </a:spcAft>
            </a:pPr>
            <a:r>
              <a:rPr lang="en-US" sz="2200" b="1" dirty="0">
                <a:solidFill>
                  <a:schemeClr val="tx1"/>
                </a:solidFill>
              </a:rPr>
              <a:t>Calculate Standard Deviations: </a:t>
            </a:r>
            <a:r>
              <a:rPr lang="en-US" sz="2200" dirty="0"/>
              <a:t>Calculate the sample standard deviations for both groups, which measure the variability within each group.</a:t>
            </a:r>
            <a:endParaRPr lang="en-US" sz="2200" b="1" dirty="0">
              <a:solidFill>
                <a:schemeClr val="tx1"/>
              </a:solidFill>
            </a:endParaRPr>
          </a:p>
          <a:p>
            <a:pPr marL="457200" lvl="1" indent="0">
              <a:lnSpc>
                <a:spcPct val="100000"/>
              </a:lnSpc>
              <a:spcBef>
                <a:spcPts val="600"/>
              </a:spcBef>
              <a:spcAft>
                <a:spcPts val="600"/>
              </a:spcAft>
              <a:buNone/>
            </a:pPr>
            <a:r>
              <a:rPr lang="en-US" sz="2200" dirty="0"/>
              <a:t>Standard Deviation for Group A: 5.458937625582472</a:t>
            </a:r>
          </a:p>
          <a:p>
            <a:pPr marL="457200" lvl="1" indent="0">
              <a:lnSpc>
                <a:spcPct val="100000"/>
              </a:lnSpc>
              <a:spcBef>
                <a:spcPts val="600"/>
              </a:spcBef>
              <a:spcAft>
                <a:spcPts val="600"/>
              </a:spcAft>
              <a:buNone/>
            </a:pPr>
            <a:r>
              <a:rPr lang="en-US" sz="2200" dirty="0"/>
              <a:t>Standard Deviation for Group B: 3.361547262794322</a:t>
            </a:r>
          </a:p>
          <a:p>
            <a:pPr marL="457200" lvl="1" indent="0">
              <a:lnSpc>
                <a:spcPct val="100000"/>
              </a:lnSpc>
              <a:spcBef>
                <a:spcPts val="600"/>
              </a:spcBef>
              <a:spcAft>
                <a:spcPts val="600"/>
              </a:spcAft>
              <a:buNone/>
            </a:pPr>
            <a:endParaRPr lang="en-US" sz="2200" dirty="0"/>
          </a:p>
          <a:p>
            <a:pPr marL="457200" lvl="1" indent="0">
              <a:lnSpc>
                <a:spcPct val="100000"/>
              </a:lnSpc>
              <a:spcBef>
                <a:spcPts val="600"/>
              </a:spcBef>
              <a:spcAft>
                <a:spcPts val="600"/>
              </a:spcAft>
              <a:buNone/>
            </a:pPr>
            <a:r>
              <a:rPr lang="en-US" sz="2200" dirty="0"/>
              <a:t>Pooled Standard Deviation: 4.533210782657254</a:t>
            </a:r>
          </a:p>
          <a:p>
            <a:pPr marL="457200" lvl="1" indent="0">
              <a:lnSpc>
                <a:spcPct val="100000"/>
              </a:lnSpc>
              <a:spcBef>
                <a:spcPts val="600"/>
              </a:spcBef>
              <a:spcAft>
                <a:spcPts val="600"/>
              </a:spcAft>
              <a:buNone/>
            </a:pPr>
            <a:endParaRPr lang="en-US" sz="2200" dirty="0"/>
          </a:p>
          <a:p>
            <a:pPr>
              <a:lnSpc>
                <a:spcPct val="100000"/>
              </a:lnSpc>
              <a:spcBef>
                <a:spcPts val="600"/>
              </a:spcBef>
              <a:spcAft>
                <a:spcPts val="600"/>
              </a:spcAft>
            </a:pPr>
            <a:r>
              <a:rPr lang="en-IN" sz="2200" b="1" dirty="0">
                <a:solidFill>
                  <a:schemeClr val="tx1"/>
                </a:solidFill>
              </a:rPr>
              <a:t>Calculate p-Value</a:t>
            </a:r>
          </a:p>
          <a:p>
            <a:pPr marL="457200" lvl="1" indent="0">
              <a:lnSpc>
                <a:spcPct val="100000"/>
              </a:lnSpc>
              <a:spcBef>
                <a:spcPts val="600"/>
              </a:spcBef>
              <a:spcAft>
                <a:spcPts val="600"/>
              </a:spcAft>
              <a:buNone/>
            </a:pPr>
            <a:r>
              <a:rPr lang="en-US" sz="2200" dirty="0"/>
              <a:t>t-Statistic: - 0.27903204256606634</a:t>
            </a:r>
          </a:p>
          <a:p>
            <a:pPr marL="0" indent="0">
              <a:lnSpc>
                <a:spcPct val="100000"/>
              </a:lnSpc>
              <a:spcBef>
                <a:spcPts val="600"/>
              </a:spcBef>
              <a:spcAft>
                <a:spcPts val="600"/>
              </a:spcAft>
              <a:buNone/>
            </a:pPr>
            <a:endParaRPr lang="en-US" sz="2200" dirty="0"/>
          </a:p>
        </p:txBody>
      </p:sp>
      <p:pic>
        <p:nvPicPr>
          <p:cNvPr id="4" name="Picture 3">
            <a:extLst>
              <a:ext uri="{FF2B5EF4-FFF2-40B4-BE49-F238E27FC236}">
                <a16:creationId xmlns:a16="http://schemas.microsoft.com/office/drawing/2014/main" id="{66BD69B6-9B1F-6BF4-BE52-63ADA703CA05}"/>
              </a:ext>
            </a:extLst>
          </p:cNvPr>
          <p:cNvPicPr>
            <a:picLocks noChangeAspect="1"/>
          </p:cNvPicPr>
          <p:nvPr/>
        </p:nvPicPr>
        <p:blipFill>
          <a:blip r:embed="rId2"/>
          <a:stretch>
            <a:fillRect/>
          </a:stretch>
        </p:blipFill>
        <p:spPr>
          <a:xfrm>
            <a:off x="7917166" y="3602567"/>
            <a:ext cx="3595950" cy="1047242"/>
          </a:xfrm>
          <a:prstGeom prst="rect">
            <a:avLst/>
          </a:prstGeom>
        </p:spPr>
      </p:pic>
      <p:pic>
        <p:nvPicPr>
          <p:cNvPr id="6" name="Picture 5">
            <a:extLst>
              <a:ext uri="{FF2B5EF4-FFF2-40B4-BE49-F238E27FC236}">
                <a16:creationId xmlns:a16="http://schemas.microsoft.com/office/drawing/2014/main" id="{A946D96A-A99E-36F0-EC6A-EC166CA46CDC}"/>
              </a:ext>
            </a:extLst>
          </p:cNvPr>
          <p:cNvPicPr>
            <a:picLocks noChangeAspect="1"/>
          </p:cNvPicPr>
          <p:nvPr/>
        </p:nvPicPr>
        <p:blipFill rotWithShape="1">
          <a:blip r:embed="rId3"/>
          <a:srcRect t="8777"/>
          <a:stretch/>
        </p:blipFill>
        <p:spPr>
          <a:xfrm>
            <a:off x="5959957" y="5016499"/>
            <a:ext cx="2383891" cy="923945"/>
          </a:xfrm>
          <a:prstGeom prst="rect">
            <a:avLst/>
          </a:prstGeom>
        </p:spPr>
      </p:pic>
    </p:spTree>
    <p:extLst>
      <p:ext uri="{BB962C8B-B14F-4D97-AF65-F5344CB8AC3E}">
        <p14:creationId xmlns:p14="http://schemas.microsoft.com/office/powerpoint/2010/main" val="351585639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4C329BB3-5F16-63D1-0783-D735BD7E58D2}"/>
              </a:ext>
            </a:extLst>
          </p:cNvPr>
          <p:cNvSpPr>
            <a:spLocks noGrp="1"/>
          </p:cNvSpPr>
          <p:nvPr>
            <p:ph type="title"/>
          </p:nvPr>
        </p:nvSpPr>
        <p:spPr/>
        <p:txBody>
          <a:bodyPr/>
          <a:lstStyle/>
          <a:p>
            <a:r>
              <a:rPr lang="en-IN" dirty="0"/>
              <a:t>Cont…</a:t>
            </a:r>
          </a:p>
        </p:txBody>
      </p:sp>
      <p:sp>
        <p:nvSpPr>
          <p:cNvPr id="2" name="Content Placeholder 1">
            <a:extLst>
              <a:ext uri="{FF2B5EF4-FFF2-40B4-BE49-F238E27FC236}">
                <a16:creationId xmlns:a16="http://schemas.microsoft.com/office/drawing/2014/main" id="{51BD8EE4-E814-EAE0-BED1-7FC05087C9A5}"/>
              </a:ext>
            </a:extLst>
          </p:cNvPr>
          <p:cNvSpPr>
            <a:spLocks noGrp="1"/>
          </p:cNvSpPr>
          <p:nvPr>
            <p:ph idx="1"/>
          </p:nvPr>
        </p:nvSpPr>
        <p:spPr/>
        <p:txBody>
          <a:bodyPr vert="horz" lIns="0" tIns="0" rIns="0" bIns="0" rtlCol="0" anchor="t">
            <a:noAutofit/>
          </a:bodyPr>
          <a:lstStyle/>
          <a:p>
            <a:pPr>
              <a:lnSpc>
                <a:spcPct val="100000"/>
              </a:lnSpc>
              <a:spcBef>
                <a:spcPts val="600"/>
              </a:spcBef>
              <a:spcAft>
                <a:spcPts val="600"/>
              </a:spcAft>
            </a:pPr>
            <a:r>
              <a:rPr lang="en-US" sz="2200" b="1" dirty="0">
                <a:solidFill>
                  <a:schemeClr val="tx1"/>
                </a:solidFill>
              </a:rPr>
              <a:t>Determine Degrees of Freedom (</a:t>
            </a:r>
            <a:r>
              <a:rPr lang="en-US" sz="2200" b="1" dirty="0" err="1">
                <a:solidFill>
                  <a:schemeClr val="tx1"/>
                </a:solidFill>
              </a:rPr>
              <a:t>df</a:t>
            </a:r>
            <a:r>
              <a:rPr lang="en-US" sz="2200" b="1" dirty="0">
                <a:solidFill>
                  <a:schemeClr val="tx1"/>
                </a:solidFill>
              </a:rPr>
              <a:t>)</a:t>
            </a:r>
          </a:p>
          <a:p>
            <a:pPr marL="457200" lvl="1" indent="0">
              <a:lnSpc>
                <a:spcPct val="100000"/>
              </a:lnSpc>
              <a:spcBef>
                <a:spcPts val="600"/>
              </a:spcBef>
              <a:spcAft>
                <a:spcPts val="600"/>
              </a:spcAft>
              <a:buNone/>
            </a:pPr>
            <a:r>
              <a:rPr lang="en-US" sz="2200" dirty="0" err="1"/>
              <a:t>df</a:t>
            </a:r>
            <a:r>
              <a:rPr lang="en-US" sz="2200" dirty="0"/>
              <a:t> = n1 + n2 – 2 =  5 + 5 - 2 </a:t>
            </a:r>
          </a:p>
          <a:p>
            <a:pPr marL="457200" lvl="1" indent="0">
              <a:lnSpc>
                <a:spcPct val="100000"/>
              </a:lnSpc>
              <a:spcBef>
                <a:spcPts val="600"/>
              </a:spcBef>
              <a:spcAft>
                <a:spcPts val="600"/>
              </a:spcAft>
              <a:buNone/>
            </a:pPr>
            <a:r>
              <a:rPr lang="en-US" sz="2200" dirty="0" err="1"/>
              <a:t>df</a:t>
            </a:r>
            <a:r>
              <a:rPr lang="en-US" sz="2200" dirty="0"/>
              <a:t>  = 8</a:t>
            </a:r>
          </a:p>
          <a:p>
            <a:pPr>
              <a:lnSpc>
                <a:spcPct val="100000"/>
              </a:lnSpc>
              <a:spcBef>
                <a:spcPts val="600"/>
              </a:spcBef>
              <a:spcAft>
                <a:spcPts val="600"/>
              </a:spcAft>
            </a:pPr>
            <a:r>
              <a:rPr lang="en-US" sz="2200" b="1" dirty="0">
                <a:solidFill>
                  <a:schemeClr val="tx1"/>
                </a:solidFill>
                <a:latin typeface="Calibri"/>
                <a:cs typeface="Calibri"/>
              </a:rPr>
              <a:t>Make a Decision: </a:t>
            </a:r>
            <a:r>
              <a:rPr lang="en-US" sz="2200" dirty="0">
                <a:latin typeface="Calibri"/>
                <a:cs typeface="Calibri"/>
              </a:rPr>
              <a:t>Compare the p-value to α. If p ≤ α, reject the null hypothesis, indicating a significant difference in test scores between the two teaching methods. If p &gt; α, fail to reject the null hypothesis.</a:t>
            </a:r>
            <a:br>
              <a:rPr lang="en-US" sz="2200" dirty="0"/>
            </a:br>
            <a:br>
              <a:rPr lang="en-US" sz="2200" dirty="0"/>
            </a:br>
            <a:r>
              <a:rPr lang="en-US" sz="2200" dirty="0">
                <a:latin typeface="Calibri"/>
                <a:cs typeface="Calibri"/>
              </a:rPr>
              <a:t>Here,</a:t>
            </a:r>
          </a:p>
          <a:p>
            <a:pPr marL="457200" lvl="1" indent="0">
              <a:lnSpc>
                <a:spcPct val="100000"/>
              </a:lnSpc>
              <a:spcBef>
                <a:spcPts val="600"/>
              </a:spcBef>
              <a:spcAft>
                <a:spcPts val="600"/>
              </a:spcAft>
              <a:buNone/>
            </a:pPr>
            <a:r>
              <a:rPr lang="en-US" sz="2200" b="1" dirty="0">
                <a:latin typeface="Calibri"/>
                <a:cs typeface="Calibri"/>
              </a:rPr>
              <a:t>|</a:t>
            </a:r>
            <a:r>
              <a:rPr lang="en-IN" sz="2200" dirty="0">
                <a:latin typeface="Calibri"/>
                <a:cs typeface="Calibri"/>
              </a:rPr>
              <a:t>t-statistic</a:t>
            </a:r>
            <a:r>
              <a:rPr lang="en-US" sz="2200" b="1" dirty="0">
                <a:latin typeface="Calibri"/>
                <a:cs typeface="Calibri"/>
              </a:rPr>
              <a:t>| &gt; </a:t>
            </a:r>
            <a:r>
              <a:rPr lang="en-IN" sz="2200" dirty="0">
                <a:latin typeface="Calibri"/>
                <a:cs typeface="Calibri"/>
              </a:rPr>
              <a:t>Critical Value, you</a:t>
            </a:r>
            <a:r>
              <a:rPr lang="en-US" sz="2200" dirty="0">
                <a:latin typeface="Calibri"/>
                <a:cs typeface="Calibri"/>
              </a:rPr>
              <a:t> may reject the null hypothesis.</a:t>
            </a:r>
          </a:p>
        </p:txBody>
      </p:sp>
    </p:spTree>
    <p:extLst>
      <p:ext uri="{BB962C8B-B14F-4D97-AF65-F5344CB8AC3E}">
        <p14:creationId xmlns:p14="http://schemas.microsoft.com/office/powerpoint/2010/main" val="3520534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167844F-298E-4890-096C-08ED7FF670F0}"/>
              </a:ext>
            </a:extLst>
          </p:cNvPr>
          <p:cNvSpPr>
            <a:spLocks noGrp="1"/>
          </p:cNvSpPr>
          <p:nvPr>
            <p:ph type="title"/>
          </p:nvPr>
        </p:nvSpPr>
        <p:spPr>
          <a:xfrm>
            <a:off x="678883" y="1994526"/>
            <a:ext cx="5975917" cy="2856250"/>
          </a:xfrm>
        </p:spPr>
        <p:txBody>
          <a:bodyPr anchor="ctr" anchorCtr="0">
            <a:noAutofit/>
          </a:bodyPr>
          <a:lstStyle/>
          <a:p>
            <a:r>
              <a:rPr lang="en-US" sz="5400" dirty="0"/>
              <a:t>Visualization Plots For Data</a:t>
            </a:r>
            <a:br>
              <a:rPr lang="en-US" sz="5400" dirty="0"/>
            </a:br>
            <a:r>
              <a:rPr lang="en-US" sz="5400" dirty="0"/>
              <a:t>Exploration</a:t>
            </a:r>
          </a:p>
        </p:txBody>
      </p:sp>
      <p:pic>
        <p:nvPicPr>
          <p:cNvPr id="6" name="Picture 5" descr="Data Exploration - A Complete Introduction | HEAVY.AI">
            <a:extLst>
              <a:ext uri="{FF2B5EF4-FFF2-40B4-BE49-F238E27FC236}">
                <a16:creationId xmlns:a16="http://schemas.microsoft.com/office/drawing/2014/main" id="{AA8AEB3D-D471-0EF0-B7A0-B26521A5CA5C}"/>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5535" r="28216"/>
          <a:stretch/>
        </p:blipFill>
        <p:spPr bwMode="auto">
          <a:xfrm>
            <a:off x="5511801" y="2"/>
            <a:ext cx="6680199" cy="6857999"/>
          </a:xfrm>
          <a:custGeom>
            <a:avLst/>
            <a:gdLst>
              <a:gd name="connsiteX0" fmla="*/ 2560796 w 6680199"/>
              <a:gd name="connsiteY0" fmla="*/ 0 h 6857999"/>
              <a:gd name="connsiteX1" fmla="*/ 6680199 w 6680199"/>
              <a:gd name="connsiteY1" fmla="*/ 0 h 6857999"/>
              <a:gd name="connsiteX2" fmla="*/ 6680199 w 6680199"/>
              <a:gd name="connsiteY2" fmla="*/ 6857999 h 6857999"/>
              <a:gd name="connsiteX3" fmla="*/ 0 w 6680199"/>
              <a:gd name="connsiteY3" fmla="*/ 6857999 h 6857999"/>
            </a:gdLst>
            <a:ahLst/>
            <a:cxnLst>
              <a:cxn ang="0">
                <a:pos x="connsiteX0" y="connsiteY0"/>
              </a:cxn>
              <a:cxn ang="0">
                <a:pos x="connsiteX1" y="connsiteY1"/>
              </a:cxn>
              <a:cxn ang="0">
                <a:pos x="connsiteX2" y="connsiteY2"/>
              </a:cxn>
              <a:cxn ang="0">
                <a:pos x="connsiteX3" y="connsiteY3"/>
              </a:cxn>
            </a:cxnLst>
            <a:rect l="l" t="t" r="r" b="b"/>
            <a:pathLst>
              <a:path w="6680199" h="6857999">
                <a:moveTo>
                  <a:pt x="2560796" y="0"/>
                </a:moveTo>
                <a:lnTo>
                  <a:pt x="6680199" y="0"/>
                </a:lnTo>
                <a:lnTo>
                  <a:pt x="6680199" y="6857999"/>
                </a:lnTo>
                <a:lnTo>
                  <a:pt x="0" y="6857999"/>
                </a:lnTo>
                <a:close/>
              </a:path>
            </a:pathLst>
          </a:custGeom>
          <a:noFill/>
          <a:extLst>
            <a:ext uri="{909E8E84-426E-40DD-AFC4-6F175D3DCCD1}">
              <a14:hiddenFill xmlns:a14="http://schemas.microsoft.com/office/drawing/2010/main">
                <a:solidFill>
                  <a:srgbClr val="FFFFFF"/>
                </a:solidFill>
              </a14:hiddenFill>
            </a:ext>
          </a:extLst>
        </p:spPr>
      </p:pic>
      <p:sp>
        <p:nvSpPr>
          <p:cNvPr id="5" name="Rectangle 9">
            <a:extLst>
              <a:ext uri="{FF2B5EF4-FFF2-40B4-BE49-F238E27FC236}">
                <a16:creationId xmlns:a16="http://schemas.microsoft.com/office/drawing/2014/main" id="{222DA285-F4D0-F560-D914-D4A670DF0B8B}"/>
              </a:ext>
            </a:extLst>
          </p:cNvPr>
          <p:cNvSpPr/>
          <p:nvPr/>
        </p:nvSpPr>
        <p:spPr>
          <a:xfrm>
            <a:off x="5511801" y="1"/>
            <a:ext cx="6680200" cy="6858000"/>
          </a:xfrm>
          <a:custGeom>
            <a:avLst/>
            <a:gdLst>
              <a:gd name="connsiteX0" fmla="*/ 0 w 6692900"/>
              <a:gd name="connsiteY0" fmla="*/ 0 h 6858000"/>
              <a:gd name="connsiteX1" fmla="*/ 6692900 w 6692900"/>
              <a:gd name="connsiteY1" fmla="*/ 0 h 6858000"/>
              <a:gd name="connsiteX2" fmla="*/ 6692900 w 6692900"/>
              <a:gd name="connsiteY2" fmla="*/ 6858000 h 6858000"/>
              <a:gd name="connsiteX3" fmla="*/ 0 w 6692900"/>
              <a:gd name="connsiteY3" fmla="*/ 6858000 h 6858000"/>
              <a:gd name="connsiteX4" fmla="*/ 0 w 6692900"/>
              <a:gd name="connsiteY4" fmla="*/ 0 h 6858000"/>
              <a:gd name="connsiteX0" fmla="*/ 2425700 w 6692900"/>
              <a:gd name="connsiteY0" fmla="*/ 0 h 6858000"/>
              <a:gd name="connsiteX1" fmla="*/ 6692900 w 6692900"/>
              <a:gd name="connsiteY1" fmla="*/ 0 h 6858000"/>
              <a:gd name="connsiteX2" fmla="*/ 6692900 w 6692900"/>
              <a:gd name="connsiteY2" fmla="*/ 6858000 h 6858000"/>
              <a:gd name="connsiteX3" fmla="*/ 0 w 6692900"/>
              <a:gd name="connsiteY3" fmla="*/ 6858000 h 6858000"/>
              <a:gd name="connsiteX4" fmla="*/ 2425700 w 6692900"/>
              <a:gd name="connsiteY4" fmla="*/ 0 h 6858000"/>
              <a:gd name="connsiteX0" fmla="*/ 2565665 w 6692900"/>
              <a:gd name="connsiteY0" fmla="*/ 0 h 6858000"/>
              <a:gd name="connsiteX1" fmla="*/ 6692900 w 6692900"/>
              <a:gd name="connsiteY1" fmla="*/ 0 h 6858000"/>
              <a:gd name="connsiteX2" fmla="*/ 6692900 w 6692900"/>
              <a:gd name="connsiteY2" fmla="*/ 6858000 h 6858000"/>
              <a:gd name="connsiteX3" fmla="*/ 0 w 6692900"/>
              <a:gd name="connsiteY3" fmla="*/ 6858000 h 6858000"/>
              <a:gd name="connsiteX4" fmla="*/ 2565665 w 6692900"/>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92900" h="6858000">
                <a:moveTo>
                  <a:pt x="2565665" y="0"/>
                </a:moveTo>
                <a:lnTo>
                  <a:pt x="6692900" y="0"/>
                </a:lnTo>
                <a:lnTo>
                  <a:pt x="6692900" y="6858000"/>
                </a:lnTo>
                <a:lnTo>
                  <a:pt x="0" y="6858000"/>
                </a:lnTo>
                <a:lnTo>
                  <a:pt x="2565665" y="0"/>
                </a:lnTo>
                <a:close/>
              </a:path>
            </a:pathLst>
          </a:custGeom>
          <a:solidFill>
            <a:schemeClr val="bg2">
              <a:lumMod val="25000"/>
              <a:alpha val="41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Tree>
    <p:extLst>
      <p:ext uri="{BB962C8B-B14F-4D97-AF65-F5344CB8AC3E}">
        <p14:creationId xmlns:p14="http://schemas.microsoft.com/office/powerpoint/2010/main" val="115775648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5BA2E58-FEC9-D54D-ACC0-E7CEEF5F42E4}"/>
              </a:ext>
            </a:extLst>
          </p:cNvPr>
          <p:cNvSpPr>
            <a:spLocks noGrp="1"/>
          </p:cNvSpPr>
          <p:nvPr>
            <p:ph type="title"/>
          </p:nvPr>
        </p:nvSpPr>
        <p:spPr/>
        <p:txBody>
          <a:bodyPr>
            <a:normAutofit/>
          </a:bodyPr>
          <a:lstStyle/>
          <a:p>
            <a:r>
              <a:rPr lang="en-US" dirty="0"/>
              <a:t>Visualization Plots for Data Exploration</a:t>
            </a:r>
          </a:p>
        </p:txBody>
      </p:sp>
      <p:sp>
        <p:nvSpPr>
          <p:cNvPr id="13" name="Content Placeholder 12">
            <a:extLst>
              <a:ext uri="{FF2B5EF4-FFF2-40B4-BE49-F238E27FC236}">
                <a16:creationId xmlns:a16="http://schemas.microsoft.com/office/drawing/2014/main" id="{E6267526-4913-FCF0-E153-4548D0B336DD}"/>
              </a:ext>
            </a:extLst>
          </p:cNvPr>
          <p:cNvSpPr>
            <a:spLocks noGrp="1"/>
          </p:cNvSpPr>
          <p:nvPr>
            <p:ph idx="1"/>
          </p:nvPr>
        </p:nvSpPr>
        <p:spPr>
          <a:xfrm>
            <a:off x="678884" y="1659835"/>
            <a:ext cx="10834234" cy="4398066"/>
          </a:xfrm>
        </p:spPr>
        <p:txBody>
          <a:bodyPr lIns="0" tIns="0" rIns="0" bIns="0">
            <a:noAutofit/>
          </a:bodyPr>
          <a:lstStyle/>
          <a:p>
            <a:pPr>
              <a:lnSpc>
                <a:spcPct val="100000"/>
              </a:lnSpc>
              <a:spcBef>
                <a:spcPts val="200"/>
              </a:spcBef>
              <a:spcAft>
                <a:spcPts val="500"/>
              </a:spcAft>
            </a:pPr>
            <a:r>
              <a:rPr lang="en-US" sz="2400" b="1" dirty="0">
                <a:solidFill>
                  <a:schemeClr val="tx1"/>
                </a:solidFill>
              </a:rPr>
              <a:t>Histograms</a:t>
            </a:r>
          </a:p>
          <a:p>
            <a:pPr>
              <a:lnSpc>
                <a:spcPct val="100000"/>
              </a:lnSpc>
              <a:spcBef>
                <a:spcPts val="200"/>
              </a:spcBef>
              <a:spcAft>
                <a:spcPts val="500"/>
              </a:spcAft>
            </a:pPr>
            <a:r>
              <a:rPr lang="en-US" sz="2400" b="1" dirty="0">
                <a:solidFill>
                  <a:schemeClr val="tx1"/>
                </a:solidFill>
              </a:rPr>
              <a:t>Box Plots (Box-and-Whisker Plots)</a:t>
            </a:r>
          </a:p>
          <a:p>
            <a:pPr>
              <a:lnSpc>
                <a:spcPct val="100000"/>
              </a:lnSpc>
              <a:spcBef>
                <a:spcPts val="200"/>
              </a:spcBef>
              <a:spcAft>
                <a:spcPts val="500"/>
              </a:spcAft>
            </a:pPr>
            <a:r>
              <a:rPr lang="en-US" sz="2400" b="1" dirty="0">
                <a:solidFill>
                  <a:schemeClr val="tx1"/>
                </a:solidFill>
              </a:rPr>
              <a:t>Scatter Plots</a:t>
            </a:r>
          </a:p>
          <a:p>
            <a:pPr>
              <a:lnSpc>
                <a:spcPct val="100000"/>
              </a:lnSpc>
              <a:spcBef>
                <a:spcPts val="200"/>
              </a:spcBef>
              <a:spcAft>
                <a:spcPts val="500"/>
              </a:spcAft>
            </a:pPr>
            <a:r>
              <a:rPr lang="en-US" sz="2400" b="1" dirty="0">
                <a:solidFill>
                  <a:schemeClr val="tx1"/>
                </a:solidFill>
              </a:rPr>
              <a:t>Bar Charts</a:t>
            </a:r>
          </a:p>
          <a:p>
            <a:pPr>
              <a:lnSpc>
                <a:spcPct val="100000"/>
              </a:lnSpc>
              <a:spcBef>
                <a:spcPts val="200"/>
              </a:spcBef>
              <a:spcAft>
                <a:spcPts val="500"/>
              </a:spcAft>
            </a:pPr>
            <a:r>
              <a:rPr lang="en-US" sz="2400" b="1" dirty="0">
                <a:solidFill>
                  <a:schemeClr val="tx1"/>
                </a:solidFill>
              </a:rPr>
              <a:t>Line Charts</a:t>
            </a:r>
          </a:p>
          <a:p>
            <a:pPr>
              <a:lnSpc>
                <a:spcPct val="100000"/>
              </a:lnSpc>
              <a:spcBef>
                <a:spcPts val="200"/>
              </a:spcBef>
              <a:spcAft>
                <a:spcPts val="500"/>
              </a:spcAft>
            </a:pPr>
            <a:r>
              <a:rPr lang="en-US" sz="2400" b="1" dirty="0">
                <a:solidFill>
                  <a:schemeClr val="tx1"/>
                </a:solidFill>
              </a:rPr>
              <a:t>Heatmaps</a:t>
            </a:r>
          </a:p>
        </p:txBody>
      </p:sp>
      <p:pic>
        <p:nvPicPr>
          <p:cNvPr id="2" name="Picture 1" descr="A graph paper with a pencil&#10;&#10;Description automatically generated">
            <a:extLst>
              <a:ext uri="{FF2B5EF4-FFF2-40B4-BE49-F238E27FC236}">
                <a16:creationId xmlns:a16="http://schemas.microsoft.com/office/drawing/2014/main" id="{24C6AF57-AE27-BDE7-6DC8-D42E67156BB3}"/>
              </a:ext>
            </a:extLst>
          </p:cNvPr>
          <p:cNvPicPr>
            <a:picLocks noChangeAspect="1"/>
          </p:cNvPicPr>
          <p:nvPr/>
        </p:nvPicPr>
        <p:blipFill>
          <a:blip r:embed="rId2"/>
          <a:stretch>
            <a:fillRect/>
          </a:stretch>
        </p:blipFill>
        <p:spPr>
          <a:xfrm>
            <a:off x="5783424" y="1659835"/>
            <a:ext cx="5729692" cy="3823886"/>
          </a:xfrm>
          <a:prstGeom prst="rect">
            <a:avLst/>
          </a:prstGeom>
        </p:spPr>
      </p:pic>
    </p:spTree>
    <p:extLst>
      <p:ext uri="{BB962C8B-B14F-4D97-AF65-F5344CB8AC3E}">
        <p14:creationId xmlns:p14="http://schemas.microsoft.com/office/powerpoint/2010/main" val="361278397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167844F-298E-4890-096C-08ED7FF670F0}"/>
              </a:ext>
            </a:extLst>
          </p:cNvPr>
          <p:cNvSpPr>
            <a:spLocks noGrp="1"/>
          </p:cNvSpPr>
          <p:nvPr>
            <p:ph type="title"/>
          </p:nvPr>
        </p:nvSpPr>
        <p:spPr>
          <a:xfrm>
            <a:off x="678883" y="1994526"/>
            <a:ext cx="5975917" cy="2856250"/>
          </a:xfrm>
        </p:spPr>
        <p:txBody>
          <a:bodyPr anchor="ctr" anchorCtr="0">
            <a:noAutofit/>
          </a:bodyPr>
          <a:lstStyle/>
          <a:p>
            <a:r>
              <a:rPr lang="en-US" sz="5400" dirty="0"/>
              <a:t>Interpretation Of Visualization</a:t>
            </a:r>
          </a:p>
        </p:txBody>
      </p:sp>
      <p:pic>
        <p:nvPicPr>
          <p:cNvPr id="6" name="Picture 5" descr="Data Visualization &amp; Interpretation">
            <a:extLst>
              <a:ext uri="{FF2B5EF4-FFF2-40B4-BE49-F238E27FC236}">
                <a16:creationId xmlns:a16="http://schemas.microsoft.com/office/drawing/2014/main" id="{4470C5CF-F19F-E8FC-8572-E25F3DB441A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3621" t="837" r="52633" b="814"/>
          <a:stretch>
            <a:fillRect/>
          </a:stretch>
        </p:blipFill>
        <p:spPr bwMode="auto">
          <a:xfrm>
            <a:off x="5511800" y="1"/>
            <a:ext cx="6680200" cy="6858000"/>
          </a:xfrm>
          <a:custGeom>
            <a:avLst/>
            <a:gdLst>
              <a:gd name="connsiteX0" fmla="*/ 2560797 w 6680200"/>
              <a:gd name="connsiteY0" fmla="*/ 0 h 6858000"/>
              <a:gd name="connsiteX1" fmla="*/ 6680200 w 6680200"/>
              <a:gd name="connsiteY1" fmla="*/ 0 h 6858000"/>
              <a:gd name="connsiteX2" fmla="*/ 6680200 w 6680200"/>
              <a:gd name="connsiteY2" fmla="*/ 6858000 h 6858000"/>
              <a:gd name="connsiteX3" fmla="*/ 0 w 66802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680200" h="6858000">
                <a:moveTo>
                  <a:pt x="2560797" y="0"/>
                </a:moveTo>
                <a:lnTo>
                  <a:pt x="6680200" y="0"/>
                </a:lnTo>
                <a:lnTo>
                  <a:pt x="6680200" y="6858000"/>
                </a:lnTo>
                <a:lnTo>
                  <a:pt x="0" y="6858000"/>
                </a:lnTo>
                <a:close/>
              </a:path>
            </a:pathLst>
          </a:custGeom>
          <a:noFill/>
          <a:extLst>
            <a:ext uri="{909E8E84-426E-40DD-AFC4-6F175D3DCCD1}">
              <a14:hiddenFill xmlns:a14="http://schemas.microsoft.com/office/drawing/2010/main">
                <a:solidFill>
                  <a:srgbClr val="FFFFFF"/>
                </a:solidFill>
              </a14:hiddenFill>
            </a:ext>
          </a:extLst>
        </p:spPr>
      </p:pic>
      <p:sp>
        <p:nvSpPr>
          <p:cNvPr id="5" name="Rectangle 9">
            <a:extLst>
              <a:ext uri="{FF2B5EF4-FFF2-40B4-BE49-F238E27FC236}">
                <a16:creationId xmlns:a16="http://schemas.microsoft.com/office/drawing/2014/main" id="{4B781B71-8433-3C7D-C84E-3B6C87F4FFD5}"/>
              </a:ext>
            </a:extLst>
          </p:cNvPr>
          <p:cNvSpPr/>
          <p:nvPr/>
        </p:nvSpPr>
        <p:spPr>
          <a:xfrm>
            <a:off x="5511800" y="1"/>
            <a:ext cx="6680200" cy="6858000"/>
          </a:xfrm>
          <a:custGeom>
            <a:avLst/>
            <a:gdLst>
              <a:gd name="connsiteX0" fmla="*/ 0 w 6692900"/>
              <a:gd name="connsiteY0" fmla="*/ 0 h 6858000"/>
              <a:gd name="connsiteX1" fmla="*/ 6692900 w 6692900"/>
              <a:gd name="connsiteY1" fmla="*/ 0 h 6858000"/>
              <a:gd name="connsiteX2" fmla="*/ 6692900 w 6692900"/>
              <a:gd name="connsiteY2" fmla="*/ 6858000 h 6858000"/>
              <a:gd name="connsiteX3" fmla="*/ 0 w 6692900"/>
              <a:gd name="connsiteY3" fmla="*/ 6858000 h 6858000"/>
              <a:gd name="connsiteX4" fmla="*/ 0 w 6692900"/>
              <a:gd name="connsiteY4" fmla="*/ 0 h 6858000"/>
              <a:gd name="connsiteX0" fmla="*/ 2425700 w 6692900"/>
              <a:gd name="connsiteY0" fmla="*/ 0 h 6858000"/>
              <a:gd name="connsiteX1" fmla="*/ 6692900 w 6692900"/>
              <a:gd name="connsiteY1" fmla="*/ 0 h 6858000"/>
              <a:gd name="connsiteX2" fmla="*/ 6692900 w 6692900"/>
              <a:gd name="connsiteY2" fmla="*/ 6858000 h 6858000"/>
              <a:gd name="connsiteX3" fmla="*/ 0 w 6692900"/>
              <a:gd name="connsiteY3" fmla="*/ 6858000 h 6858000"/>
              <a:gd name="connsiteX4" fmla="*/ 2425700 w 6692900"/>
              <a:gd name="connsiteY4" fmla="*/ 0 h 6858000"/>
              <a:gd name="connsiteX0" fmla="*/ 2565665 w 6692900"/>
              <a:gd name="connsiteY0" fmla="*/ 0 h 6858000"/>
              <a:gd name="connsiteX1" fmla="*/ 6692900 w 6692900"/>
              <a:gd name="connsiteY1" fmla="*/ 0 h 6858000"/>
              <a:gd name="connsiteX2" fmla="*/ 6692900 w 6692900"/>
              <a:gd name="connsiteY2" fmla="*/ 6858000 h 6858000"/>
              <a:gd name="connsiteX3" fmla="*/ 0 w 6692900"/>
              <a:gd name="connsiteY3" fmla="*/ 6858000 h 6858000"/>
              <a:gd name="connsiteX4" fmla="*/ 2565665 w 6692900"/>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92900" h="6858000">
                <a:moveTo>
                  <a:pt x="2565665" y="0"/>
                </a:moveTo>
                <a:lnTo>
                  <a:pt x="6692900" y="0"/>
                </a:lnTo>
                <a:lnTo>
                  <a:pt x="6692900" y="6858000"/>
                </a:lnTo>
                <a:lnTo>
                  <a:pt x="0" y="6858000"/>
                </a:lnTo>
                <a:lnTo>
                  <a:pt x="2565665" y="0"/>
                </a:lnTo>
                <a:close/>
              </a:path>
            </a:pathLst>
          </a:custGeom>
          <a:solidFill>
            <a:schemeClr val="bg2">
              <a:lumMod val="25000"/>
              <a:alpha val="41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Tree>
    <p:extLst>
      <p:ext uri="{BB962C8B-B14F-4D97-AF65-F5344CB8AC3E}">
        <p14:creationId xmlns:p14="http://schemas.microsoft.com/office/powerpoint/2010/main" val="421911230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5BA2E58-FEC9-D54D-ACC0-E7CEEF5F42E4}"/>
              </a:ext>
            </a:extLst>
          </p:cNvPr>
          <p:cNvSpPr>
            <a:spLocks noGrp="1"/>
          </p:cNvSpPr>
          <p:nvPr>
            <p:ph type="title"/>
          </p:nvPr>
        </p:nvSpPr>
        <p:spPr/>
        <p:txBody>
          <a:bodyPr>
            <a:normAutofit/>
          </a:bodyPr>
          <a:lstStyle/>
          <a:p>
            <a:r>
              <a:rPr lang="en-US" dirty="0"/>
              <a:t>Interpretation of Visualization</a:t>
            </a:r>
          </a:p>
        </p:txBody>
      </p:sp>
      <p:sp>
        <p:nvSpPr>
          <p:cNvPr id="13" name="Content Placeholder 12">
            <a:extLst>
              <a:ext uri="{FF2B5EF4-FFF2-40B4-BE49-F238E27FC236}">
                <a16:creationId xmlns:a16="http://schemas.microsoft.com/office/drawing/2014/main" id="{E6267526-4913-FCF0-E153-4548D0B336DD}"/>
              </a:ext>
            </a:extLst>
          </p:cNvPr>
          <p:cNvSpPr>
            <a:spLocks noGrp="1"/>
          </p:cNvSpPr>
          <p:nvPr>
            <p:ph idx="1"/>
          </p:nvPr>
        </p:nvSpPr>
        <p:spPr>
          <a:xfrm>
            <a:off x="678884" y="1659835"/>
            <a:ext cx="10834234" cy="4398066"/>
          </a:xfrm>
        </p:spPr>
        <p:txBody>
          <a:bodyPr lIns="0" tIns="0" rIns="0" bIns="0">
            <a:noAutofit/>
          </a:bodyPr>
          <a:lstStyle/>
          <a:p>
            <a:pPr marL="0" indent="0">
              <a:lnSpc>
                <a:spcPct val="100000"/>
              </a:lnSpc>
              <a:spcBef>
                <a:spcPts val="200"/>
              </a:spcBef>
              <a:spcAft>
                <a:spcPts val="500"/>
              </a:spcAft>
              <a:buNone/>
            </a:pPr>
            <a:r>
              <a:rPr lang="en-US" sz="2400" b="1" dirty="0">
                <a:solidFill>
                  <a:schemeClr val="tx1"/>
                </a:solidFill>
              </a:rPr>
              <a:t>Interpretation of Visualization</a:t>
            </a:r>
          </a:p>
          <a:p>
            <a:pPr>
              <a:lnSpc>
                <a:spcPct val="100000"/>
              </a:lnSpc>
              <a:spcBef>
                <a:spcPts val="200"/>
              </a:spcBef>
              <a:spcAft>
                <a:spcPts val="500"/>
              </a:spcAft>
            </a:pPr>
            <a:r>
              <a:rPr lang="en-US" sz="2200" b="1" dirty="0">
                <a:solidFill>
                  <a:schemeClr val="tx1"/>
                </a:solidFill>
              </a:rPr>
              <a:t>Guidelines: </a:t>
            </a:r>
            <a:r>
              <a:rPr lang="en-US" sz="2200" dirty="0"/>
              <a:t>Understand plot-specific conventions.</a:t>
            </a:r>
          </a:p>
          <a:p>
            <a:pPr>
              <a:lnSpc>
                <a:spcPct val="100000"/>
              </a:lnSpc>
              <a:spcBef>
                <a:spcPts val="200"/>
              </a:spcBef>
              <a:spcAft>
                <a:spcPts val="500"/>
              </a:spcAft>
            </a:pPr>
            <a:r>
              <a:rPr lang="en-US" sz="2200" b="1" dirty="0">
                <a:solidFill>
                  <a:schemeClr val="tx1"/>
                </a:solidFill>
              </a:rPr>
              <a:t>Patterns: </a:t>
            </a:r>
            <a:r>
              <a:rPr lang="en-US" sz="2200" dirty="0"/>
              <a:t>Identify trends, relationships, or groupings.</a:t>
            </a:r>
          </a:p>
          <a:p>
            <a:pPr>
              <a:lnSpc>
                <a:spcPct val="100000"/>
              </a:lnSpc>
              <a:spcBef>
                <a:spcPts val="200"/>
              </a:spcBef>
              <a:spcAft>
                <a:spcPts val="500"/>
              </a:spcAft>
            </a:pPr>
            <a:r>
              <a:rPr lang="en-US" sz="2200" b="1" dirty="0">
                <a:solidFill>
                  <a:schemeClr val="tx1"/>
                </a:solidFill>
              </a:rPr>
              <a:t>Outliers: </a:t>
            </a:r>
            <a:r>
              <a:rPr lang="en-US" sz="2200" dirty="0"/>
              <a:t>Spot data points deviating from the pattern.</a:t>
            </a:r>
          </a:p>
          <a:p>
            <a:pPr marL="0" indent="0">
              <a:lnSpc>
                <a:spcPct val="100000"/>
              </a:lnSpc>
              <a:spcBef>
                <a:spcPts val="200"/>
              </a:spcBef>
              <a:spcAft>
                <a:spcPts val="500"/>
              </a:spcAft>
              <a:buNone/>
            </a:pPr>
            <a:endParaRPr lang="en-US" sz="1000" dirty="0"/>
          </a:p>
          <a:p>
            <a:pPr marL="0" indent="0">
              <a:lnSpc>
                <a:spcPct val="100000"/>
              </a:lnSpc>
              <a:spcBef>
                <a:spcPts val="200"/>
              </a:spcBef>
              <a:spcAft>
                <a:spcPts val="500"/>
              </a:spcAft>
              <a:buNone/>
            </a:pPr>
            <a:r>
              <a:rPr lang="en-US" sz="2400" b="1" dirty="0">
                <a:solidFill>
                  <a:schemeClr val="tx1"/>
                </a:solidFill>
              </a:rPr>
              <a:t>Example: Scatter Plot Analysis</a:t>
            </a:r>
          </a:p>
          <a:p>
            <a:pPr>
              <a:lnSpc>
                <a:spcPct val="100000"/>
              </a:lnSpc>
              <a:spcBef>
                <a:spcPts val="200"/>
              </a:spcBef>
              <a:spcAft>
                <a:spcPts val="500"/>
              </a:spcAft>
            </a:pPr>
            <a:r>
              <a:rPr lang="en-US" sz="2200" b="1" dirty="0">
                <a:solidFill>
                  <a:schemeClr val="tx1"/>
                </a:solidFill>
              </a:rPr>
              <a:t>Pattern: </a:t>
            </a:r>
            <a:r>
              <a:rPr lang="en-US" sz="2200" dirty="0"/>
              <a:t>Look for upward or downward trends.</a:t>
            </a:r>
          </a:p>
          <a:p>
            <a:pPr>
              <a:lnSpc>
                <a:spcPct val="100000"/>
              </a:lnSpc>
              <a:spcBef>
                <a:spcPts val="200"/>
              </a:spcBef>
              <a:spcAft>
                <a:spcPts val="500"/>
              </a:spcAft>
            </a:pPr>
            <a:r>
              <a:rPr lang="en-US" sz="2200" b="1" dirty="0">
                <a:solidFill>
                  <a:schemeClr val="tx1"/>
                </a:solidFill>
              </a:rPr>
              <a:t>Outliers: </a:t>
            </a:r>
            <a:r>
              <a:rPr lang="en-US" sz="2200" dirty="0"/>
              <a:t>Identify exceptional data points.</a:t>
            </a:r>
          </a:p>
          <a:p>
            <a:pPr marL="0" indent="0">
              <a:lnSpc>
                <a:spcPct val="100000"/>
              </a:lnSpc>
              <a:spcBef>
                <a:spcPts val="200"/>
              </a:spcBef>
              <a:spcAft>
                <a:spcPts val="500"/>
              </a:spcAft>
              <a:buNone/>
            </a:pPr>
            <a:r>
              <a:rPr lang="en-US" sz="2200" dirty="0"/>
              <a:t>Interpreting visualizations helps extract insights and make informed decisions.</a:t>
            </a:r>
          </a:p>
        </p:txBody>
      </p:sp>
    </p:spTree>
    <p:extLst>
      <p:ext uri="{BB962C8B-B14F-4D97-AF65-F5344CB8AC3E}">
        <p14:creationId xmlns:p14="http://schemas.microsoft.com/office/powerpoint/2010/main" val="169778953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5BA2E58-FEC9-D54D-ACC0-E7CEEF5F42E4}"/>
              </a:ext>
            </a:extLst>
          </p:cNvPr>
          <p:cNvSpPr>
            <a:spLocks noGrp="1"/>
          </p:cNvSpPr>
          <p:nvPr>
            <p:ph type="title"/>
          </p:nvPr>
        </p:nvSpPr>
        <p:spPr/>
        <p:txBody>
          <a:bodyPr>
            <a:normAutofit/>
          </a:bodyPr>
          <a:lstStyle/>
          <a:p>
            <a:r>
              <a:rPr lang="en-US" dirty="0"/>
              <a:t>Scatter Plot Analysis</a:t>
            </a:r>
          </a:p>
        </p:txBody>
      </p:sp>
      <p:sp>
        <p:nvSpPr>
          <p:cNvPr id="13" name="Content Placeholder 12">
            <a:extLst>
              <a:ext uri="{FF2B5EF4-FFF2-40B4-BE49-F238E27FC236}">
                <a16:creationId xmlns:a16="http://schemas.microsoft.com/office/drawing/2014/main" id="{E6267526-4913-FCF0-E153-4548D0B336DD}"/>
              </a:ext>
            </a:extLst>
          </p:cNvPr>
          <p:cNvSpPr>
            <a:spLocks noGrp="1"/>
          </p:cNvSpPr>
          <p:nvPr>
            <p:ph idx="1"/>
          </p:nvPr>
        </p:nvSpPr>
        <p:spPr>
          <a:xfrm>
            <a:off x="678884" y="1659835"/>
            <a:ext cx="5210287" cy="4398066"/>
          </a:xfrm>
        </p:spPr>
        <p:txBody>
          <a:bodyPr lIns="0" tIns="0" rIns="0" bIns="0">
            <a:noAutofit/>
          </a:bodyPr>
          <a:lstStyle/>
          <a:p>
            <a:pPr marL="0" indent="0">
              <a:lnSpc>
                <a:spcPct val="100000"/>
              </a:lnSpc>
              <a:spcBef>
                <a:spcPts val="200"/>
              </a:spcBef>
              <a:spcAft>
                <a:spcPts val="500"/>
              </a:spcAft>
              <a:buNone/>
            </a:pPr>
            <a:r>
              <a:rPr lang="en-US" sz="2400" b="1" dirty="0">
                <a:solidFill>
                  <a:schemeClr val="tx1"/>
                </a:solidFill>
              </a:rPr>
              <a:t>Example</a:t>
            </a:r>
          </a:p>
          <a:p>
            <a:pPr marL="0" indent="0">
              <a:lnSpc>
                <a:spcPct val="100000"/>
              </a:lnSpc>
              <a:spcBef>
                <a:spcPts val="200"/>
              </a:spcBef>
              <a:spcAft>
                <a:spcPts val="500"/>
              </a:spcAft>
              <a:buNone/>
            </a:pPr>
            <a:endParaRPr lang="en-US" sz="2400" b="1" dirty="0">
              <a:solidFill>
                <a:schemeClr val="tx1"/>
              </a:solidFill>
            </a:endParaRPr>
          </a:p>
          <a:p>
            <a:pPr marL="0" indent="0">
              <a:lnSpc>
                <a:spcPct val="100000"/>
              </a:lnSpc>
              <a:spcBef>
                <a:spcPts val="200"/>
              </a:spcBef>
              <a:spcAft>
                <a:spcPts val="500"/>
              </a:spcAft>
              <a:buNone/>
            </a:pPr>
            <a:r>
              <a:rPr lang="en-US" sz="2400" b="1" dirty="0">
                <a:solidFill>
                  <a:schemeClr val="tx1"/>
                </a:solidFill>
              </a:rPr>
              <a:t>Scatter Plot Analysis - Relationship between Study Hours and Exam Scores</a:t>
            </a:r>
          </a:p>
          <a:p>
            <a:pPr marL="0" indent="0">
              <a:lnSpc>
                <a:spcPct val="100000"/>
              </a:lnSpc>
              <a:spcBef>
                <a:spcPts val="200"/>
              </a:spcBef>
              <a:spcAft>
                <a:spcPts val="500"/>
              </a:spcAft>
              <a:buNone/>
            </a:pPr>
            <a:endParaRPr lang="en-US" sz="2400" b="1" dirty="0">
              <a:solidFill>
                <a:schemeClr val="tx1"/>
              </a:solidFill>
            </a:endParaRPr>
          </a:p>
          <a:p>
            <a:pPr marL="0" indent="0">
              <a:lnSpc>
                <a:spcPct val="100000"/>
              </a:lnSpc>
              <a:spcBef>
                <a:spcPts val="200"/>
              </a:spcBef>
              <a:spcAft>
                <a:spcPts val="500"/>
              </a:spcAft>
              <a:buNone/>
            </a:pPr>
            <a:r>
              <a:rPr lang="en-US" sz="2400" b="1" dirty="0">
                <a:solidFill>
                  <a:schemeClr val="tx1"/>
                </a:solidFill>
              </a:rPr>
              <a:t>Data: </a:t>
            </a:r>
            <a:r>
              <a:rPr lang="en-US" sz="2400" dirty="0"/>
              <a:t>Suppose you have collected data on the study hours and corresponding exam scores for a group of students</a:t>
            </a:r>
          </a:p>
        </p:txBody>
      </p:sp>
      <p:graphicFrame>
        <p:nvGraphicFramePr>
          <p:cNvPr id="9" name="Table 8">
            <a:extLst>
              <a:ext uri="{FF2B5EF4-FFF2-40B4-BE49-F238E27FC236}">
                <a16:creationId xmlns:a16="http://schemas.microsoft.com/office/drawing/2014/main" id="{95B34D21-A9D1-710F-9D0D-C7893694D86F}"/>
              </a:ext>
            </a:extLst>
          </p:cNvPr>
          <p:cNvGraphicFramePr>
            <a:graphicFrameLocks noGrp="1"/>
          </p:cNvGraphicFramePr>
          <p:nvPr>
            <p:extLst>
              <p:ext uri="{D42A27DB-BD31-4B8C-83A1-F6EECF244321}">
                <p14:modId xmlns:p14="http://schemas.microsoft.com/office/powerpoint/2010/main" val="2067582784"/>
              </p:ext>
            </p:extLst>
          </p:nvPr>
        </p:nvGraphicFramePr>
        <p:xfrm>
          <a:off x="6197598" y="1659835"/>
          <a:ext cx="5315518" cy="4297680"/>
        </p:xfrm>
        <a:graphic>
          <a:graphicData uri="http://schemas.openxmlformats.org/drawingml/2006/table">
            <a:tbl>
              <a:tblPr firstRow="1" bandRow="1">
                <a:tableStyleId>{5C22544A-7EE6-4342-B048-85BDC9FD1C3A}</a:tableStyleId>
              </a:tblPr>
              <a:tblGrid>
                <a:gridCol w="2657759">
                  <a:extLst>
                    <a:ext uri="{9D8B030D-6E8A-4147-A177-3AD203B41FA5}">
                      <a16:colId xmlns:a16="http://schemas.microsoft.com/office/drawing/2014/main" val="3694921362"/>
                    </a:ext>
                  </a:extLst>
                </a:gridCol>
                <a:gridCol w="2657759">
                  <a:extLst>
                    <a:ext uri="{9D8B030D-6E8A-4147-A177-3AD203B41FA5}">
                      <a16:colId xmlns:a16="http://schemas.microsoft.com/office/drawing/2014/main" val="175963584"/>
                    </a:ext>
                  </a:extLst>
                </a:gridCol>
              </a:tblGrid>
              <a:tr h="597971">
                <a:tc>
                  <a:txBody>
                    <a:bodyPr/>
                    <a:lstStyle/>
                    <a:p>
                      <a:pPr algn="ctr" fontAlgn="b"/>
                      <a:r>
                        <a:rPr lang="en-US" dirty="0">
                          <a:solidFill>
                            <a:schemeClr val="tx1"/>
                          </a:solidFill>
                          <a:effectLst/>
                          <a:latin typeface="Nunito"/>
                        </a:rPr>
                        <a:t>Study Hours</a:t>
                      </a:r>
                      <a:br>
                        <a:rPr lang="en-US" dirty="0">
                          <a:solidFill>
                            <a:schemeClr val="tx1"/>
                          </a:solidFill>
                          <a:effectLst/>
                          <a:latin typeface="Nunito"/>
                        </a:rPr>
                      </a:br>
                      <a:r>
                        <a:rPr lang="en-US" dirty="0">
                          <a:solidFill>
                            <a:schemeClr val="tx1"/>
                          </a:solidFill>
                          <a:effectLst/>
                          <a:latin typeface="Nunito"/>
                        </a:rPr>
                        <a:t>(hours)</a:t>
                      </a:r>
                    </a:p>
                  </a:txBody>
                  <a:tcPr anchor="ctr">
                    <a:lnB w="12700" cap="flat" cmpd="sng" algn="ctr">
                      <a:solidFill>
                        <a:schemeClr val="bg2">
                          <a:lumMod val="10000"/>
                        </a:schemeClr>
                      </a:solidFill>
                      <a:prstDash val="solid"/>
                      <a:round/>
                      <a:headEnd type="none" w="med" len="med"/>
                      <a:tailEnd type="none" w="med" len="med"/>
                    </a:lnB>
                    <a:noFill/>
                  </a:tcPr>
                </a:tc>
                <a:tc>
                  <a:txBody>
                    <a:bodyPr/>
                    <a:lstStyle/>
                    <a:p>
                      <a:pPr algn="ctr" fontAlgn="b"/>
                      <a:r>
                        <a:rPr lang="en-US" dirty="0">
                          <a:solidFill>
                            <a:schemeClr val="tx1"/>
                          </a:solidFill>
                          <a:effectLst/>
                          <a:latin typeface="Nunito"/>
                        </a:rPr>
                        <a:t>Exam Scores</a:t>
                      </a:r>
                      <a:br>
                        <a:rPr lang="en-US" dirty="0">
                          <a:solidFill>
                            <a:schemeClr val="tx1"/>
                          </a:solidFill>
                          <a:effectLst/>
                          <a:latin typeface="Nunito"/>
                        </a:rPr>
                      </a:br>
                      <a:r>
                        <a:rPr lang="en-US" dirty="0">
                          <a:solidFill>
                            <a:schemeClr val="tx1"/>
                          </a:solidFill>
                          <a:effectLst/>
                          <a:latin typeface="Nunito"/>
                        </a:rPr>
                        <a:t>(out of 100)</a:t>
                      </a:r>
                    </a:p>
                  </a:txBody>
                  <a:tcPr anchor="ctr">
                    <a:lnB w="12700" cap="flat" cmpd="sng" algn="ctr">
                      <a:solidFill>
                        <a:schemeClr val="bg2">
                          <a:lumMod val="10000"/>
                        </a:schemeClr>
                      </a:solidFill>
                      <a:prstDash val="solid"/>
                      <a:round/>
                      <a:headEnd type="none" w="med" len="med"/>
                      <a:tailEnd type="none" w="med" len="med"/>
                    </a:lnB>
                    <a:noFill/>
                  </a:tcPr>
                </a:tc>
                <a:extLst>
                  <a:ext uri="{0D108BD9-81ED-4DB2-BD59-A6C34878D82A}">
                    <a16:rowId xmlns:a16="http://schemas.microsoft.com/office/drawing/2014/main" val="3382728854"/>
                  </a:ext>
                </a:extLst>
              </a:tr>
              <a:tr h="343515">
                <a:tc>
                  <a:txBody>
                    <a:bodyPr/>
                    <a:lstStyle/>
                    <a:p>
                      <a:pPr algn="ctr" fontAlgn="base"/>
                      <a:r>
                        <a:rPr lang="en-US" dirty="0">
                          <a:solidFill>
                            <a:schemeClr val="bg2">
                              <a:lumMod val="10000"/>
                            </a:schemeClr>
                          </a:solidFill>
                          <a:effectLst/>
                          <a:latin typeface="Nunito"/>
                        </a:rPr>
                        <a:t>1</a:t>
                      </a:r>
                    </a:p>
                  </a:txBody>
                  <a:tcPr anchor="ctr">
                    <a:lnT w="12700" cap="flat" cmpd="sng" algn="ctr">
                      <a:solidFill>
                        <a:schemeClr val="bg2">
                          <a:lumMod val="10000"/>
                        </a:schemeClr>
                      </a:solidFill>
                      <a:prstDash val="solid"/>
                      <a:round/>
                      <a:headEnd type="none" w="med" len="med"/>
                      <a:tailEnd type="none" w="med" len="med"/>
                    </a:lnT>
                    <a:lnB w="9525" cap="flat" cmpd="sng" algn="ctr">
                      <a:solidFill>
                        <a:schemeClr val="bg2">
                          <a:lumMod val="50000"/>
                        </a:schemeClr>
                      </a:solidFill>
                      <a:prstDash val="sysDot"/>
                      <a:round/>
                      <a:headEnd type="none" w="med" len="med"/>
                      <a:tailEnd type="none" w="med" len="med"/>
                    </a:lnB>
                    <a:noFill/>
                  </a:tcPr>
                </a:tc>
                <a:tc>
                  <a:txBody>
                    <a:bodyPr/>
                    <a:lstStyle/>
                    <a:p>
                      <a:pPr algn="ctr" fontAlgn="base"/>
                      <a:r>
                        <a:rPr lang="en-US" dirty="0">
                          <a:solidFill>
                            <a:schemeClr val="bg2">
                              <a:lumMod val="10000"/>
                            </a:schemeClr>
                          </a:solidFill>
                          <a:effectLst/>
                          <a:latin typeface="Nunito"/>
                        </a:rPr>
                        <a:t>50</a:t>
                      </a:r>
                    </a:p>
                  </a:txBody>
                  <a:tcPr anchor="ctr">
                    <a:lnT w="12700" cap="flat" cmpd="sng" algn="ctr">
                      <a:solidFill>
                        <a:schemeClr val="bg2">
                          <a:lumMod val="10000"/>
                        </a:schemeClr>
                      </a:solidFill>
                      <a:prstDash val="solid"/>
                      <a:round/>
                      <a:headEnd type="none" w="med" len="med"/>
                      <a:tailEnd type="none" w="med" len="med"/>
                    </a:lnT>
                    <a:lnB w="9525" cap="flat" cmpd="sng" algn="ctr">
                      <a:solidFill>
                        <a:schemeClr val="bg2">
                          <a:lumMod val="50000"/>
                        </a:schemeClr>
                      </a:solidFill>
                      <a:prstDash val="sysDot"/>
                      <a:round/>
                      <a:headEnd type="none" w="med" len="med"/>
                      <a:tailEnd type="none" w="med" len="med"/>
                    </a:lnB>
                    <a:noFill/>
                  </a:tcPr>
                </a:tc>
                <a:extLst>
                  <a:ext uri="{0D108BD9-81ED-4DB2-BD59-A6C34878D82A}">
                    <a16:rowId xmlns:a16="http://schemas.microsoft.com/office/drawing/2014/main" val="3585950653"/>
                  </a:ext>
                </a:extLst>
              </a:tr>
              <a:tr h="343515">
                <a:tc>
                  <a:txBody>
                    <a:bodyPr/>
                    <a:lstStyle/>
                    <a:p>
                      <a:pPr algn="ctr" fontAlgn="base"/>
                      <a:r>
                        <a:rPr lang="en-US" dirty="0">
                          <a:solidFill>
                            <a:schemeClr val="bg2">
                              <a:lumMod val="10000"/>
                            </a:schemeClr>
                          </a:solidFill>
                          <a:effectLst/>
                          <a:latin typeface="Nunito"/>
                        </a:rPr>
                        <a:t>2</a:t>
                      </a:r>
                    </a:p>
                  </a:txBody>
                  <a:tcPr anchor="ctr">
                    <a:lnT w="9525" cap="flat" cmpd="sng" algn="ctr">
                      <a:solidFill>
                        <a:schemeClr val="bg2">
                          <a:lumMod val="50000"/>
                        </a:schemeClr>
                      </a:solidFill>
                      <a:prstDash val="sysDot"/>
                      <a:round/>
                      <a:headEnd type="none" w="med" len="med"/>
                      <a:tailEnd type="none" w="med" len="med"/>
                    </a:lnT>
                    <a:lnB w="9525" cap="flat" cmpd="sng" algn="ctr">
                      <a:solidFill>
                        <a:schemeClr val="bg2">
                          <a:lumMod val="50000"/>
                        </a:schemeClr>
                      </a:solidFill>
                      <a:prstDash val="sysDot"/>
                      <a:round/>
                      <a:headEnd type="none" w="med" len="med"/>
                      <a:tailEnd type="none" w="med" len="med"/>
                    </a:lnB>
                    <a:noFill/>
                  </a:tcPr>
                </a:tc>
                <a:tc>
                  <a:txBody>
                    <a:bodyPr/>
                    <a:lstStyle/>
                    <a:p>
                      <a:pPr algn="ctr" fontAlgn="base"/>
                      <a:r>
                        <a:rPr lang="en-US" dirty="0">
                          <a:solidFill>
                            <a:schemeClr val="bg2">
                              <a:lumMod val="10000"/>
                            </a:schemeClr>
                          </a:solidFill>
                          <a:effectLst/>
                          <a:latin typeface="Nunito"/>
                        </a:rPr>
                        <a:t>60</a:t>
                      </a:r>
                    </a:p>
                  </a:txBody>
                  <a:tcPr anchor="ctr">
                    <a:lnT w="9525" cap="flat" cmpd="sng" algn="ctr">
                      <a:solidFill>
                        <a:schemeClr val="bg2">
                          <a:lumMod val="50000"/>
                        </a:schemeClr>
                      </a:solidFill>
                      <a:prstDash val="sysDot"/>
                      <a:round/>
                      <a:headEnd type="none" w="med" len="med"/>
                      <a:tailEnd type="none" w="med" len="med"/>
                    </a:lnT>
                    <a:lnB w="9525" cap="flat" cmpd="sng" algn="ctr">
                      <a:solidFill>
                        <a:schemeClr val="bg2">
                          <a:lumMod val="50000"/>
                        </a:schemeClr>
                      </a:solidFill>
                      <a:prstDash val="sysDot"/>
                      <a:round/>
                      <a:headEnd type="none" w="med" len="med"/>
                      <a:tailEnd type="none" w="med" len="med"/>
                    </a:lnB>
                    <a:noFill/>
                  </a:tcPr>
                </a:tc>
                <a:extLst>
                  <a:ext uri="{0D108BD9-81ED-4DB2-BD59-A6C34878D82A}">
                    <a16:rowId xmlns:a16="http://schemas.microsoft.com/office/drawing/2014/main" val="2251162185"/>
                  </a:ext>
                </a:extLst>
              </a:tr>
              <a:tr h="343515">
                <a:tc>
                  <a:txBody>
                    <a:bodyPr/>
                    <a:lstStyle/>
                    <a:p>
                      <a:pPr algn="ctr" fontAlgn="base"/>
                      <a:r>
                        <a:rPr lang="en-US" dirty="0">
                          <a:solidFill>
                            <a:schemeClr val="bg2">
                              <a:lumMod val="10000"/>
                            </a:schemeClr>
                          </a:solidFill>
                          <a:effectLst/>
                          <a:latin typeface="Nunito"/>
                        </a:rPr>
                        <a:t>3</a:t>
                      </a:r>
                    </a:p>
                  </a:txBody>
                  <a:tcPr anchor="ctr">
                    <a:lnT w="9525" cap="flat" cmpd="sng" algn="ctr">
                      <a:solidFill>
                        <a:schemeClr val="bg2">
                          <a:lumMod val="50000"/>
                        </a:schemeClr>
                      </a:solidFill>
                      <a:prstDash val="sysDot"/>
                      <a:round/>
                      <a:headEnd type="none" w="med" len="med"/>
                      <a:tailEnd type="none" w="med" len="med"/>
                    </a:lnT>
                    <a:lnB w="9525" cap="flat" cmpd="sng" algn="ctr">
                      <a:solidFill>
                        <a:schemeClr val="bg2">
                          <a:lumMod val="50000"/>
                        </a:schemeClr>
                      </a:solidFill>
                      <a:prstDash val="sysDot"/>
                      <a:round/>
                      <a:headEnd type="none" w="med" len="med"/>
                      <a:tailEnd type="none" w="med" len="med"/>
                    </a:lnB>
                    <a:noFill/>
                  </a:tcPr>
                </a:tc>
                <a:tc>
                  <a:txBody>
                    <a:bodyPr/>
                    <a:lstStyle/>
                    <a:p>
                      <a:pPr algn="ctr" fontAlgn="base"/>
                      <a:r>
                        <a:rPr lang="en-US" dirty="0">
                          <a:solidFill>
                            <a:schemeClr val="bg2">
                              <a:lumMod val="10000"/>
                            </a:schemeClr>
                          </a:solidFill>
                          <a:effectLst/>
                          <a:latin typeface="Nunito"/>
                        </a:rPr>
                        <a:t>70</a:t>
                      </a:r>
                    </a:p>
                  </a:txBody>
                  <a:tcPr anchor="ctr">
                    <a:lnT w="9525" cap="flat" cmpd="sng" algn="ctr">
                      <a:solidFill>
                        <a:schemeClr val="bg2">
                          <a:lumMod val="50000"/>
                        </a:schemeClr>
                      </a:solidFill>
                      <a:prstDash val="sysDot"/>
                      <a:round/>
                      <a:headEnd type="none" w="med" len="med"/>
                      <a:tailEnd type="none" w="med" len="med"/>
                    </a:lnT>
                    <a:lnB w="9525" cap="flat" cmpd="sng" algn="ctr">
                      <a:solidFill>
                        <a:schemeClr val="bg2">
                          <a:lumMod val="50000"/>
                        </a:schemeClr>
                      </a:solidFill>
                      <a:prstDash val="sysDot"/>
                      <a:round/>
                      <a:headEnd type="none" w="med" len="med"/>
                      <a:tailEnd type="none" w="med" len="med"/>
                    </a:lnB>
                    <a:noFill/>
                  </a:tcPr>
                </a:tc>
                <a:extLst>
                  <a:ext uri="{0D108BD9-81ED-4DB2-BD59-A6C34878D82A}">
                    <a16:rowId xmlns:a16="http://schemas.microsoft.com/office/drawing/2014/main" val="1624722967"/>
                  </a:ext>
                </a:extLst>
              </a:tr>
              <a:tr h="343515">
                <a:tc>
                  <a:txBody>
                    <a:bodyPr/>
                    <a:lstStyle/>
                    <a:p>
                      <a:pPr algn="ctr" fontAlgn="base"/>
                      <a:r>
                        <a:rPr lang="en-US" dirty="0">
                          <a:solidFill>
                            <a:schemeClr val="bg2">
                              <a:lumMod val="10000"/>
                            </a:schemeClr>
                          </a:solidFill>
                          <a:effectLst/>
                          <a:latin typeface="Nunito"/>
                        </a:rPr>
                        <a:t>4</a:t>
                      </a:r>
                    </a:p>
                  </a:txBody>
                  <a:tcPr anchor="ctr">
                    <a:lnT w="9525" cap="flat" cmpd="sng" algn="ctr">
                      <a:solidFill>
                        <a:schemeClr val="bg2">
                          <a:lumMod val="50000"/>
                        </a:schemeClr>
                      </a:solidFill>
                      <a:prstDash val="sysDot"/>
                      <a:round/>
                      <a:headEnd type="none" w="med" len="med"/>
                      <a:tailEnd type="none" w="med" len="med"/>
                    </a:lnT>
                    <a:lnB w="9525" cap="flat" cmpd="sng" algn="ctr">
                      <a:solidFill>
                        <a:schemeClr val="bg2">
                          <a:lumMod val="50000"/>
                        </a:schemeClr>
                      </a:solidFill>
                      <a:prstDash val="sysDot"/>
                      <a:round/>
                      <a:headEnd type="none" w="med" len="med"/>
                      <a:tailEnd type="none" w="med" len="med"/>
                    </a:lnB>
                    <a:noFill/>
                  </a:tcPr>
                </a:tc>
                <a:tc>
                  <a:txBody>
                    <a:bodyPr/>
                    <a:lstStyle/>
                    <a:p>
                      <a:pPr algn="ctr" fontAlgn="base"/>
                      <a:r>
                        <a:rPr lang="en-US" dirty="0">
                          <a:solidFill>
                            <a:schemeClr val="bg2">
                              <a:lumMod val="10000"/>
                            </a:schemeClr>
                          </a:solidFill>
                          <a:effectLst/>
                          <a:latin typeface="Nunito"/>
                        </a:rPr>
                        <a:t>75</a:t>
                      </a:r>
                    </a:p>
                  </a:txBody>
                  <a:tcPr anchor="ctr">
                    <a:lnT w="9525" cap="flat" cmpd="sng" algn="ctr">
                      <a:solidFill>
                        <a:schemeClr val="bg2">
                          <a:lumMod val="50000"/>
                        </a:schemeClr>
                      </a:solidFill>
                      <a:prstDash val="sysDot"/>
                      <a:round/>
                      <a:headEnd type="none" w="med" len="med"/>
                      <a:tailEnd type="none" w="med" len="med"/>
                    </a:lnT>
                    <a:lnB w="9525" cap="flat" cmpd="sng" algn="ctr">
                      <a:solidFill>
                        <a:schemeClr val="bg2">
                          <a:lumMod val="50000"/>
                        </a:schemeClr>
                      </a:solidFill>
                      <a:prstDash val="sysDot"/>
                      <a:round/>
                      <a:headEnd type="none" w="med" len="med"/>
                      <a:tailEnd type="none" w="med" len="med"/>
                    </a:lnB>
                    <a:noFill/>
                  </a:tcPr>
                </a:tc>
                <a:extLst>
                  <a:ext uri="{0D108BD9-81ED-4DB2-BD59-A6C34878D82A}">
                    <a16:rowId xmlns:a16="http://schemas.microsoft.com/office/drawing/2014/main" val="1565875315"/>
                  </a:ext>
                </a:extLst>
              </a:tr>
              <a:tr h="343515">
                <a:tc>
                  <a:txBody>
                    <a:bodyPr/>
                    <a:lstStyle/>
                    <a:p>
                      <a:pPr algn="ctr" fontAlgn="base"/>
                      <a:r>
                        <a:rPr lang="en-US" dirty="0">
                          <a:solidFill>
                            <a:schemeClr val="bg2">
                              <a:lumMod val="10000"/>
                            </a:schemeClr>
                          </a:solidFill>
                          <a:effectLst/>
                          <a:latin typeface="Nunito"/>
                        </a:rPr>
                        <a:t>5</a:t>
                      </a:r>
                    </a:p>
                  </a:txBody>
                  <a:tcPr anchor="ctr">
                    <a:lnT w="9525" cap="flat" cmpd="sng" algn="ctr">
                      <a:solidFill>
                        <a:schemeClr val="bg2">
                          <a:lumMod val="50000"/>
                        </a:schemeClr>
                      </a:solidFill>
                      <a:prstDash val="sysDot"/>
                      <a:round/>
                      <a:headEnd type="none" w="med" len="med"/>
                      <a:tailEnd type="none" w="med" len="med"/>
                    </a:lnT>
                    <a:lnB w="9525" cap="flat" cmpd="sng" algn="ctr">
                      <a:solidFill>
                        <a:schemeClr val="bg2">
                          <a:lumMod val="50000"/>
                        </a:schemeClr>
                      </a:solidFill>
                      <a:prstDash val="sysDot"/>
                      <a:round/>
                      <a:headEnd type="none" w="med" len="med"/>
                      <a:tailEnd type="none" w="med" len="med"/>
                    </a:lnB>
                    <a:noFill/>
                  </a:tcPr>
                </a:tc>
                <a:tc>
                  <a:txBody>
                    <a:bodyPr/>
                    <a:lstStyle/>
                    <a:p>
                      <a:pPr algn="ctr" fontAlgn="base"/>
                      <a:r>
                        <a:rPr lang="en-US" dirty="0">
                          <a:solidFill>
                            <a:schemeClr val="bg2">
                              <a:lumMod val="10000"/>
                            </a:schemeClr>
                          </a:solidFill>
                          <a:effectLst/>
                          <a:latin typeface="Nunito"/>
                        </a:rPr>
                        <a:t>80</a:t>
                      </a:r>
                    </a:p>
                  </a:txBody>
                  <a:tcPr anchor="ctr">
                    <a:lnT w="9525" cap="flat" cmpd="sng" algn="ctr">
                      <a:solidFill>
                        <a:schemeClr val="bg2">
                          <a:lumMod val="50000"/>
                        </a:schemeClr>
                      </a:solidFill>
                      <a:prstDash val="sysDot"/>
                      <a:round/>
                      <a:headEnd type="none" w="med" len="med"/>
                      <a:tailEnd type="none" w="med" len="med"/>
                    </a:lnT>
                    <a:lnB w="9525" cap="flat" cmpd="sng" algn="ctr">
                      <a:solidFill>
                        <a:schemeClr val="bg2">
                          <a:lumMod val="50000"/>
                        </a:schemeClr>
                      </a:solidFill>
                      <a:prstDash val="sysDot"/>
                      <a:round/>
                      <a:headEnd type="none" w="med" len="med"/>
                      <a:tailEnd type="none" w="med" len="med"/>
                    </a:lnB>
                    <a:noFill/>
                  </a:tcPr>
                </a:tc>
                <a:extLst>
                  <a:ext uri="{0D108BD9-81ED-4DB2-BD59-A6C34878D82A}">
                    <a16:rowId xmlns:a16="http://schemas.microsoft.com/office/drawing/2014/main" val="3163359554"/>
                  </a:ext>
                </a:extLst>
              </a:tr>
              <a:tr h="343515">
                <a:tc>
                  <a:txBody>
                    <a:bodyPr/>
                    <a:lstStyle/>
                    <a:p>
                      <a:pPr algn="ctr" fontAlgn="base"/>
                      <a:r>
                        <a:rPr lang="en-US" dirty="0">
                          <a:solidFill>
                            <a:schemeClr val="bg2">
                              <a:lumMod val="10000"/>
                            </a:schemeClr>
                          </a:solidFill>
                          <a:effectLst/>
                          <a:latin typeface="Nunito"/>
                        </a:rPr>
                        <a:t>6</a:t>
                      </a:r>
                    </a:p>
                  </a:txBody>
                  <a:tcPr anchor="ctr">
                    <a:lnT w="9525" cap="flat" cmpd="sng" algn="ctr">
                      <a:solidFill>
                        <a:schemeClr val="bg2">
                          <a:lumMod val="50000"/>
                        </a:schemeClr>
                      </a:solidFill>
                      <a:prstDash val="sysDot"/>
                      <a:round/>
                      <a:headEnd type="none" w="med" len="med"/>
                      <a:tailEnd type="none" w="med" len="med"/>
                    </a:lnT>
                    <a:lnB w="9525" cap="flat" cmpd="sng" algn="ctr">
                      <a:solidFill>
                        <a:schemeClr val="bg2">
                          <a:lumMod val="50000"/>
                        </a:schemeClr>
                      </a:solidFill>
                      <a:prstDash val="sysDot"/>
                      <a:round/>
                      <a:headEnd type="none" w="med" len="med"/>
                      <a:tailEnd type="none" w="med" len="med"/>
                    </a:lnB>
                    <a:noFill/>
                  </a:tcPr>
                </a:tc>
                <a:tc>
                  <a:txBody>
                    <a:bodyPr/>
                    <a:lstStyle/>
                    <a:p>
                      <a:pPr algn="ctr" fontAlgn="base"/>
                      <a:r>
                        <a:rPr lang="en-US" dirty="0">
                          <a:solidFill>
                            <a:schemeClr val="bg2">
                              <a:lumMod val="10000"/>
                            </a:schemeClr>
                          </a:solidFill>
                          <a:effectLst/>
                          <a:latin typeface="Nunito"/>
                        </a:rPr>
                        <a:t>85</a:t>
                      </a:r>
                    </a:p>
                  </a:txBody>
                  <a:tcPr anchor="ctr">
                    <a:lnT w="9525" cap="flat" cmpd="sng" algn="ctr">
                      <a:solidFill>
                        <a:schemeClr val="bg2">
                          <a:lumMod val="50000"/>
                        </a:schemeClr>
                      </a:solidFill>
                      <a:prstDash val="sysDot"/>
                      <a:round/>
                      <a:headEnd type="none" w="med" len="med"/>
                      <a:tailEnd type="none" w="med" len="med"/>
                    </a:lnT>
                    <a:lnB w="9525" cap="flat" cmpd="sng" algn="ctr">
                      <a:solidFill>
                        <a:schemeClr val="bg2">
                          <a:lumMod val="50000"/>
                        </a:schemeClr>
                      </a:solidFill>
                      <a:prstDash val="sysDot"/>
                      <a:round/>
                      <a:headEnd type="none" w="med" len="med"/>
                      <a:tailEnd type="none" w="med" len="med"/>
                    </a:lnB>
                    <a:noFill/>
                  </a:tcPr>
                </a:tc>
                <a:extLst>
                  <a:ext uri="{0D108BD9-81ED-4DB2-BD59-A6C34878D82A}">
                    <a16:rowId xmlns:a16="http://schemas.microsoft.com/office/drawing/2014/main" val="3485267211"/>
                  </a:ext>
                </a:extLst>
              </a:tr>
              <a:tr h="343515">
                <a:tc>
                  <a:txBody>
                    <a:bodyPr/>
                    <a:lstStyle/>
                    <a:p>
                      <a:pPr algn="ctr" fontAlgn="base"/>
                      <a:r>
                        <a:rPr lang="en-US" dirty="0">
                          <a:solidFill>
                            <a:schemeClr val="bg2">
                              <a:lumMod val="10000"/>
                            </a:schemeClr>
                          </a:solidFill>
                          <a:effectLst/>
                          <a:latin typeface="Nunito"/>
                        </a:rPr>
                        <a:t>7</a:t>
                      </a:r>
                    </a:p>
                  </a:txBody>
                  <a:tcPr anchor="ctr">
                    <a:lnT w="9525" cap="flat" cmpd="sng" algn="ctr">
                      <a:solidFill>
                        <a:schemeClr val="bg2">
                          <a:lumMod val="50000"/>
                        </a:schemeClr>
                      </a:solidFill>
                      <a:prstDash val="sysDot"/>
                      <a:round/>
                      <a:headEnd type="none" w="med" len="med"/>
                      <a:tailEnd type="none" w="med" len="med"/>
                    </a:lnT>
                    <a:lnB w="9525" cap="flat" cmpd="sng" algn="ctr">
                      <a:solidFill>
                        <a:schemeClr val="bg2">
                          <a:lumMod val="50000"/>
                        </a:schemeClr>
                      </a:solidFill>
                      <a:prstDash val="sysDot"/>
                      <a:round/>
                      <a:headEnd type="none" w="med" len="med"/>
                      <a:tailEnd type="none" w="med" len="med"/>
                    </a:lnB>
                    <a:noFill/>
                  </a:tcPr>
                </a:tc>
                <a:tc>
                  <a:txBody>
                    <a:bodyPr/>
                    <a:lstStyle/>
                    <a:p>
                      <a:pPr algn="ctr" fontAlgn="base"/>
                      <a:r>
                        <a:rPr lang="en-US" dirty="0">
                          <a:solidFill>
                            <a:schemeClr val="bg2">
                              <a:lumMod val="10000"/>
                            </a:schemeClr>
                          </a:solidFill>
                          <a:effectLst/>
                          <a:latin typeface="Nunito"/>
                        </a:rPr>
                        <a:t>90</a:t>
                      </a:r>
                    </a:p>
                  </a:txBody>
                  <a:tcPr anchor="ctr">
                    <a:lnT w="9525" cap="flat" cmpd="sng" algn="ctr">
                      <a:solidFill>
                        <a:schemeClr val="bg2">
                          <a:lumMod val="50000"/>
                        </a:schemeClr>
                      </a:solidFill>
                      <a:prstDash val="sysDot"/>
                      <a:round/>
                      <a:headEnd type="none" w="med" len="med"/>
                      <a:tailEnd type="none" w="med" len="med"/>
                    </a:lnT>
                    <a:lnB w="9525" cap="flat" cmpd="sng" algn="ctr">
                      <a:solidFill>
                        <a:schemeClr val="bg2">
                          <a:lumMod val="50000"/>
                        </a:schemeClr>
                      </a:solidFill>
                      <a:prstDash val="sysDot"/>
                      <a:round/>
                      <a:headEnd type="none" w="med" len="med"/>
                      <a:tailEnd type="none" w="med" len="med"/>
                    </a:lnB>
                    <a:noFill/>
                  </a:tcPr>
                </a:tc>
                <a:extLst>
                  <a:ext uri="{0D108BD9-81ED-4DB2-BD59-A6C34878D82A}">
                    <a16:rowId xmlns:a16="http://schemas.microsoft.com/office/drawing/2014/main" val="3645445239"/>
                  </a:ext>
                </a:extLst>
              </a:tr>
              <a:tr h="343515">
                <a:tc>
                  <a:txBody>
                    <a:bodyPr/>
                    <a:lstStyle/>
                    <a:p>
                      <a:pPr algn="ctr" fontAlgn="base"/>
                      <a:r>
                        <a:rPr lang="en-US" dirty="0">
                          <a:solidFill>
                            <a:schemeClr val="bg2">
                              <a:lumMod val="10000"/>
                            </a:schemeClr>
                          </a:solidFill>
                          <a:effectLst/>
                          <a:latin typeface="Nunito"/>
                        </a:rPr>
                        <a:t>8</a:t>
                      </a:r>
                    </a:p>
                  </a:txBody>
                  <a:tcPr anchor="ctr">
                    <a:lnT w="9525" cap="flat" cmpd="sng" algn="ctr">
                      <a:solidFill>
                        <a:schemeClr val="bg2">
                          <a:lumMod val="50000"/>
                        </a:schemeClr>
                      </a:solidFill>
                      <a:prstDash val="sysDot"/>
                      <a:round/>
                      <a:headEnd type="none" w="med" len="med"/>
                      <a:tailEnd type="none" w="med" len="med"/>
                    </a:lnT>
                    <a:lnB w="9525" cap="flat" cmpd="sng" algn="ctr">
                      <a:solidFill>
                        <a:schemeClr val="bg2">
                          <a:lumMod val="50000"/>
                        </a:schemeClr>
                      </a:solidFill>
                      <a:prstDash val="sysDot"/>
                      <a:round/>
                      <a:headEnd type="none" w="med" len="med"/>
                      <a:tailEnd type="none" w="med" len="med"/>
                    </a:lnB>
                    <a:noFill/>
                  </a:tcPr>
                </a:tc>
                <a:tc>
                  <a:txBody>
                    <a:bodyPr/>
                    <a:lstStyle/>
                    <a:p>
                      <a:pPr algn="ctr" fontAlgn="base"/>
                      <a:r>
                        <a:rPr lang="en-US" dirty="0">
                          <a:solidFill>
                            <a:schemeClr val="bg2">
                              <a:lumMod val="10000"/>
                            </a:schemeClr>
                          </a:solidFill>
                          <a:effectLst/>
                          <a:latin typeface="Nunito"/>
                        </a:rPr>
                        <a:t>92</a:t>
                      </a:r>
                    </a:p>
                  </a:txBody>
                  <a:tcPr anchor="ctr">
                    <a:lnT w="9525" cap="flat" cmpd="sng" algn="ctr">
                      <a:solidFill>
                        <a:schemeClr val="bg2">
                          <a:lumMod val="50000"/>
                        </a:schemeClr>
                      </a:solidFill>
                      <a:prstDash val="sysDot"/>
                      <a:round/>
                      <a:headEnd type="none" w="med" len="med"/>
                      <a:tailEnd type="none" w="med" len="med"/>
                    </a:lnT>
                    <a:lnB w="9525" cap="flat" cmpd="sng" algn="ctr">
                      <a:solidFill>
                        <a:schemeClr val="bg2">
                          <a:lumMod val="50000"/>
                        </a:schemeClr>
                      </a:solidFill>
                      <a:prstDash val="sysDot"/>
                      <a:round/>
                      <a:headEnd type="none" w="med" len="med"/>
                      <a:tailEnd type="none" w="med" len="med"/>
                    </a:lnB>
                    <a:noFill/>
                  </a:tcPr>
                </a:tc>
                <a:extLst>
                  <a:ext uri="{0D108BD9-81ED-4DB2-BD59-A6C34878D82A}">
                    <a16:rowId xmlns:a16="http://schemas.microsoft.com/office/drawing/2014/main" val="3537454640"/>
                  </a:ext>
                </a:extLst>
              </a:tr>
              <a:tr h="343515">
                <a:tc>
                  <a:txBody>
                    <a:bodyPr/>
                    <a:lstStyle/>
                    <a:p>
                      <a:pPr algn="ctr" fontAlgn="base"/>
                      <a:r>
                        <a:rPr lang="en-US" dirty="0">
                          <a:solidFill>
                            <a:schemeClr val="bg2">
                              <a:lumMod val="10000"/>
                            </a:schemeClr>
                          </a:solidFill>
                          <a:effectLst/>
                          <a:latin typeface="Nunito"/>
                        </a:rPr>
                        <a:t>9</a:t>
                      </a:r>
                    </a:p>
                  </a:txBody>
                  <a:tcPr anchor="ctr">
                    <a:lnT w="9525" cap="flat" cmpd="sng" algn="ctr">
                      <a:solidFill>
                        <a:schemeClr val="bg2">
                          <a:lumMod val="50000"/>
                        </a:schemeClr>
                      </a:solidFill>
                      <a:prstDash val="sysDot"/>
                      <a:round/>
                      <a:headEnd type="none" w="med" len="med"/>
                      <a:tailEnd type="none" w="med" len="med"/>
                    </a:lnT>
                    <a:lnB w="9525" cap="flat" cmpd="sng" algn="ctr">
                      <a:solidFill>
                        <a:schemeClr val="bg2">
                          <a:lumMod val="50000"/>
                        </a:schemeClr>
                      </a:solidFill>
                      <a:prstDash val="sysDot"/>
                      <a:round/>
                      <a:headEnd type="none" w="med" len="med"/>
                      <a:tailEnd type="none" w="med" len="med"/>
                    </a:lnB>
                    <a:noFill/>
                  </a:tcPr>
                </a:tc>
                <a:tc>
                  <a:txBody>
                    <a:bodyPr/>
                    <a:lstStyle/>
                    <a:p>
                      <a:pPr algn="ctr" fontAlgn="base"/>
                      <a:r>
                        <a:rPr lang="en-US" dirty="0">
                          <a:solidFill>
                            <a:schemeClr val="bg2">
                              <a:lumMod val="10000"/>
                            </a:schemeClr>
                          </a:solidFill>
                          <a:effectLst/>
                          <a:latin typeface="Nunito"/>
                        </a:rPr>
                        <a:t>95</a:t>
                      </a:r>
                    </a:p>
                  </a:txBody>
                  <a:tcPr anchor="ctr">
                    <a:lnT w="9525" cap="flat" cmpd="sng" algn="ctr">
                      <a:solidFill>
                        <a:schemeClr val="bg2">
                          <a:lumMod val="50000"/>
                        </a:schemeClr>
                      </a:solidFill>
                      <a:prstDash val="sysDot"/>
                      <a:round/>
                      <a:headEnd type="none" w="med" len="med"/>
                      <a:tailEnd type="none" w="med" len="med"/>
                    </a:lnT>
                    <a:lnB w="9525" cap="flat" cmpd="sng" algn="ctr">
                      <a:solidFill>
                        <a:schemeClr val="bg2">
                          <a:lumMod val="50000"/>
                        </a:schemeClr>
                      </a:solidFill>
                      <a:prstDash val="sysDot"/>
                      <a:round/>
                      <a:headEnd type="none" w="med" len="med"/>
                      <a:tailEnd type="none" w="med" len="med"/>
                    </a:lnB>
                    <a:noFill/>
                  </a:tcPr>
                </a:tc>
                <a:extLst>
                  <a:ext uri="{0D108BD9-81ED-4DB2-BD59-A6C34878D82A}">
                    <a16:rowId xmlns:a16="http://schemas.microsoft.com/office/drawing/2014/main" val="1131620038"/>
                  </a:ext>
                </a:extLst>
              </a:tr>
              <a:tr h="343515">
                <a:tc>
                  <a:txBody>
                    <a:bodyPr/>
                    <a:lstStyle/>
                    <a:p>
                      <a:pPr algn="ctr" fontAlgn="base"/>
                      <a:r>
                        <a:rPr lang="en-US" dirty="0">
                          <a:solidFill>
                            <a:schemeClr val="bg2">
                              <a:lumMod val="10000"/>
                            </a:schemeClr>
                          </a:solidFill>
                          <a:effectLst/>
                          <a:latin typeface="Nunito"/>
                        </a:rPr>
                        <a:t>10</a:t>
                      </a:r>
                    </a:p>
                  </a:txBody>
                  <a:tcPr anchor="ctr">
                    <a:lnT w="9525" cap="flat" cmpd="sng" algn="ctr">
                      <a:solidFill>
                        <a:schemeClr val="bg2">
                          <a:lumMod val="50000"/>
                        </a:schemeClr>
                      </a:solidFill>
                      <a:prstDash val="sysDot"/>
                      <a:round/>
                      <a:headEnd type="none" w="med" len="med"/>
                      <a:tailEnd type="none" w="med" len="med"/>
                    </a:lnT>
                    <a:noFill/>
                  </a:tcPr>
                </a:tc>
                <a:tc>
                  <a:txBody>
                    <a:bodyPr/>
                    <a:lstStyle/>
                    <a:p>
                      <a:pPr algn="ctr" fontAlgn="base"/>
                      <a:r>
                        <a:rPr lang="en-US" dirty="0">
                          <a:solidFill>
                            <a:schemeClr val="bg2">
                              <a:lumMod val="10000"/>
                            </a:schemeClr>
                          </a:solidFill>
                          <a:effectLst/>
                          <a:latin typeface="Nunito"/>
                        </a:rPr>
                        <a:t>98</a:t>
                      </a:r>
                    </a:p>
                  </a:txBody>
                  <a:tcPr anchor="ctr">
                    <a:lnT w="9525" cap="flat" cmpd="sng" algn="ctr">
                      <a:solidFill>
                        <a:schemeClr val="bg2">
                          <a:lumMod val="50000"/>
                        </a:schemeClr>
                      </a:solidFill>
                      <a:prstDash val="sysDot"/>
                      <a:round/>
                      <a:headEnd type="none" w="med" len="med"/>
                      <a:tailEnd type="none" w="med" len="med"/>
                    </a:lnT>
                    <a:noFill/>
                  </a:tcPr>
                </a:tc>
                <a:extLst>
                  <a:ext uri="{0D108BD9-81ED-4DB2-BD59-A6C34878D82A}">
                    <a16:rowId xmlns:a16="http://schemas.microsoft.com/office/drawing/2014/main" val="3378710993"/>
                  </a:ext>
                </a:extLst>
              </a:tr>
            </a:tbl>
          </a:graphicData>
        </a:graphic>
      </p:graphicFrame>
    </p:spTree>
    <p:extLst>
      <p:ext uri="{BB962C8B-B14F-4D97-AF65-F5344CB8AC3E}">
        <p14:creationId xmlns:p14="http://schemas.microsoft.com/office/powerpoint/2010/main" val="182879910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5BA2E58-FEC9-D54D-ACC0-E7CEEF5F42E4}"/>
              </a:ext>
            </a:extLst>
          </p:cNvPr>
          <p:cNvSpPr>
            <a:spLocks noGrp="1"/>
          </p:cNvSpPr>
          <p:nvPr>
            <p:ph type="title"/>
          </p:nvPr>
        </p:nvSpPr>
        <p:spPr/>
        <p:txBody>
          <a:bodyPr>
            <a:normAutofit/>
          </a:bodyPr>
          <a:lstStyle/>
          <a:p>
            <a:r>
              <a:rPr lang="en-US" dirty="0"/>
              <a:t>Cont…</a:t>
            </a:r>
          </a:p>
        </p:txBody>
      </p:sp>
      <p:sp>
        <p:nvSpPr>
          <p:cNvPr id="13" name="Content Placeholder 12">
            <a:extLst>
              <a:ext uri="{FF2B5EF4-FFF2-40B4-BE49-F238E27FC236}">
                <a16:creationId xmlns:a16="http://schemas.microsoft.com/office/drawing/2014/main" id="{E6267526-4913-FCF0-E153-4548D0B336DD}"/>
              </a:ext>
            </a:extLst>
          </p:cNvPr>
          <p:cNvSpPr>
            <a:spLocks noGrp="1"/>
          </p:cNvSpPr>
          <p:nvPr>
            <p:ph idx="1"/>
          </p:nvPr>
        </p:nvSpPr>
        <p:spPr>
          <a:xfrm>
            <a:off x="678884" y="1659835"/>
            <a:ext cx="5210287" cy="4398066"/>
          </a:xfrm>
        </p:spPr>
        <p:txBody>
          <a:bodyPr lIns="0" tIns="0" rIns="0" bIns="0">
            <a:noAutofit/>
          </a:bodyPr>
          <a:lstStyle/>
          <a:p>
            <a:pPr marL="0" indent="0">
              <a:lnSpc>
                <a:spcPct val="100000"/>
              </a:lnSpc>
              <a:spcBef>
                <a:spcPts val="200"/>
              </a:spcBef>
              <a:spcAft>
                <a:spcPts val="500"/>
              </a:spcAft>
              <a:buNone/>
            </a:pPr>
            <a:r>
              <a:rPr lang="en-US" sz="2400" b="1" dirty="0">
                <a:solidFill>
                  <a:schemeClr val="tx1"/>
                </a:solidFill>
              </a:rPr>
              <a:t>Interpretation</a:t>
            </a:r>
          </a:p>
          <a:p>
            <a:pPr>
              <a:lnSpc>
                <a:spcPct val="100000"/>
              </a:lnSpc>
              <a:spcBef>
                <a:spcPts val="200"/>
              </a:spcBef>
              <a:spcAft>
                <a:spcPts val="500"/>
              </a:spcAft>
            </a:pPr>
            <a:r>
              <a:rPr lang="en-US" sz="2200" dirty="0"/>
              <a:t>Pattern: The scatter plot shows a clear upward trend, indicating a positive correlation between study hours and exam scores. More study hours generally lead to better exam performance.</a:t>
            </a:r>
          </a:p>
          <a:p>
            <a:pPr>
              <a:lnSpc>
                <a:spcPct val="100000"/>
              </a:lnSpc>
              <a:spcBef>
                <a:spcPts val="200"/>
              </a:spcBef>
              <a:spcAft>
                <a:spcPts val="500"/>
              </a:spcAft>
            </a:pPr>
            <a:r>
              <a:rPr lang="en-US" sz="2200" dirty="0"/>
              <a:t>Outliers: No significant outliers are observed; all data points align with the trend.</a:t>
            </a:r>
          </a:p>
          <a:p>
            <a:pPr marL="0" indent="0">
              <a:lnSpc>
                <a:spcPct val="100000"/>
              </a:lnSpc>
              <a:spcBef>
                <a:spcPts val="200"/>
              </a:spcBef>
              <a:spcAft>
                <a:spcPts val="500"/>
              </a:spcAft>
              <a:buNone/>
            </a:pPr>
            <a:r>
              <a:rPr lang="en-US" sz="2200" dirty="0"/>
              <a:t>This interpretation highlights the positive relationship between study hours and exam scores, emphasizing the benefits of increased study time on academic performance.</a:t>
            </a:r>
          </a:p>
        </p:txBody>
      </p:sp>
      <p:pic>
        <p:nvPicPr>
          <p:cNvPr id="2" name="Picture 1" descr="A graph with blue dots&#10;&#10;Description automatically generated">
            <a:extLst>
              <a:ext uri="{FF2B5EF4-FFF2-40B4-BE49-F238E27FC236}">
                <a16:creationId xmlns:a16="http://schemas.microsoft.com/office/drawing/2014/main" id="{AC1F9DC2-E34F-997B-3366-BD014681BDEC}"/>
              </a:ext>
            </a:extLst>
          </p:cNvPr>
          <p:cNvPicPr>
            <a:picLocks noChangeAspect="1"/>
          </p:cNvPicPr>
          <p:nvPr/>
        </p:nvPicPr>
        <p:blipFill>
          <a:blip r:embed="rId2"/>
          <a:stretch>
            <a:fillRect/>
          </a:stretch>
        </p:blipFill>
        <p:spPr>
          <a:xfrm>
            <a:off x="6302829" y="1659835"/>
            <a:ext cx="5210287" cy="4127544"/>
          </a:xfrm>
          <a:prstGeom prst="rect">
            <a:avLst/>
          </a:prstGeom>
        </p:spPr>
      </p:pic>
    </p:spTree>
    <p:extLst>
      <p:ext uri="{BB962C8B-B14F-4D97-AF65-F5344CB8AC3E}">
        <p14:creationId xmlns:p14="http://schemas.microsoft.com/office/powerpoint/2010/main" val="292475807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167844F-298E-4890-096C-08ED7FF670F0}"/>
              </a:ext>
            </a:extLst>
          </p:cNvPr>
          <p:cNvSpPr>
            <a:spLocks noGrp="1"/>
          </p:cNvSpPr>
          <p:nvPr>
            <p:ph type="title"/>
          </p:nvPr>
        </p:nvSpPr>
        <p:spPr>
          <a:xfrm>
            <a:off x="678883" y="1994526"/>
            <a:ext cx="5975917" cy="2856250"/>
          </a:xfrm>
        </p:spPr>
        <p:txBody>
          <a:bodyPr anchor="ctr" anchorCtr="0">
            <a:noAutofit/>
          </a:bodyPr>
          <a:lstStyle/>
          <a:p>
            <a:r>
              <a:rPr lang="en-US" sz="5400" dirty="0"/>
              <a:t>Correlation &amp; Regression</a:t>
            </a:r>
          </a:p>
        </p:txBody>
      </p:sp>
      <p:pic>
        <p:nvPicPr>
          <p:cNvPr id="6" name="Picture 5" descr="Applications of Regression Analysis in Business">
            <a:extLst>
              <a:ext uri="{FF2B5EF4-FFF2-40B4-BE49-F238E27FC236}">
                <a16:creationId xmlns:a16="http://schemas.microsoft.com/office/drawing/2014/main" id="{470C1254-B128-8C53-4400-FCF76D6AAF2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16748" r="26464"/>
          <a:stretch>
            <a:fillRect/>
          </a:stretch>
        </p:blipFill>
        <p:spPr bwMode="auto">
          <a:xfrm>
            <a:off x="5511801" y="2"/>
            <a:ext cx="6680199" cy="6857999"/>
          </a:xfrm>
          <a:custGeom>
            <a:avLst/>
            <a:gdLst>
              <a:gd name="connsiteX0" fmla="*/ 2560796 w 6680199"/>
              <a:gd name="connsiteY0" fmla="*/ 0 h 6857999"/>
              <a:gd name="connsiteX1" fmla="*/ 6680199 w 6680199"/>
              <a:gd name="connsiteY1" fmla="*/ 0 h 6857999"/>
              <a:gd name="connsiteX2" fmla="*/ 6680199 w 6680199"/>
              <a:gd name="connsiteY2" fmla="*/ 6857999 h 6857999"/>
              <a:gd name="connsiteX3" fmla="*/ 0 w 6680199"/>
              <a:gd name="connsiteY3" fmla="*/ 6857999 h 6857999"/>
            </a:gdLst>
            <a:ahLst/>
            <a:cxnLst>
              <a:cxn ang="0">
                <a:pos x="connsiteX0" y="connsiteY0"/>
              </a:cxn>
              <a:cxn ang="0">
                <a:pos x="connsiteX1" y="connsiteY1"/>
              </a:cxn>
              <a:cxn ang="0">
                <a:pos x="connsiteX2" y="connsiteY2"/>
              </a:cxn>
              <a:cxn ang="0">
                <a:pos x="connsiteX3" y="connsiteY3"/>
              </a:cxn>
            </a:cxnLst>
            <a:rect l="l" t="t" r="r" b="b"/>
            <a:pathLst>
              <a:path w="6680199" h="6857999">
                <a:moveTo>
                  <a:pt x="2560796" y="0"/>
                </a:moveTo>
                <a:lnTo>
                  <a:pt x="6680199" y="0"/>
                </a:lnTo>
                <a:lnTo>
                  <a:pt x="6680199" y="6857999"/>
                </a:lnTo>
                <a:lnTo>
                  <a:pt x="0" y="6857999"/>
                </a:lnTo>
                <a:close/>
              </a:path>
            </a:pathLst>
          </a:custGeom>
          <a:noFill/>
          <a:extLst>
            <a:ext uri="{909E8E84-426E-40DD-AFC4-6F175D3DCCD1}">
              <a14:hiddenFill xmlns:a14="http://schemas.microsoft.com/office/drawing/2010/main">
                <a:solidFill>
                  <a:srgbClr val="FFFFFF"/>
                </a:solidFill>
              </a14:hiddenFill>
            </a:ext>
          </a:extLst>
        </p:spPr>
      </p:pic>
      <p:sp>
        <p:nvSpPr>
          <p:cNvPr id="5" name="Rectangle 9">
            <a:extLst>
              <a:ext uri="{FF2B5EF4-FFF2-40B4-BE49-F238E27FC236}">
                <a16:creationId xmlns:a16="http://schemas.microsoft.com/office/drawing/2014/main" id="{E1CE953E-B1E8-14D7-E9C1-AD6213E57B86}"/>
              </a:ext>
            </a:extLst>
          </p:cNvPr>
          <p:cNvSpPr/>
          <p:nvPr/>
        </p:nvSpPr>
        <p:spPr>
          <a:xfrm>
            <a:off x="5511801" y="1"/>
            <a:ext cx="6680200" cy="6858000"/>
          </a:xfrm>
          <a:custGeom>
            <a:avLst/>
            <a:gdLst>
              <a:gd name="connsiteX0" fmla="*/ 0 w 6692900"/>
              <a:gd name="connsiteY0" fmla="*/ 0 h 6858000"/>
              <a:gd name="connsiteX1" fmla="*/ 6692900 w 6692900"/>
              <a:gd name="connsiteY1" fmla="*/ 0 h 6858000"/>
              <a:gd name="connsiteX2" fmla="*/ 6692900 w 6692900"/>
              <a:gd name="connsiteY2" fmla="*/ 6858000 h 6858000"/>
              <a:gd name="connsiteX3" fmla="*/ 0 w 6692900"/>
              <a:gd name="connsiteY3" fmla="*/ 6858000 h 6858000"/>
              <a:gd name="connsiteX4" fmla="*/ 0 w 6692900"/>
              <a:gd name="connsiteY4" fmla="*/ 0 h 6858000"/>
              <a:gd name="connsiteX0" fmla="*/ 2425700 w 6692900"/>
              <a:gd name="connsiteY0" fmla="*/ 0 h 6858000"/>
              <a:gd name="connsiteX1" fmla="*/ 6692900 w 6692900"/>
              <a:gd name="connsiteY1" fmla="*/ 0 h 6858000"/>
              <a:gd name="connsiteX2" fmla="*/ 6692900 w 6692900"/>
              <a:gd name="connsiteY2" fmla="*/ 6858000 h 6858000"/>
              <a:gd name="connsiteX3" fmla="*/ 0 w 6692900"/>
              <a:gd name="connsiteY3" fmla="*/ 6858000 h 6858000"/>
              <a:gd name="connsiteX4" fmla="*/ 2425700 w 6692900"/>
              <a:gd name="connsiteY4" fmla="*/ 0 h 6858000"/>
              <a:gd name="connsiteX0" fmla="*/ 2565665 w 6692900"/>
              <a:gd name="connsiteY0" fmla="*/ 0 h 6858000"/>
              <a:gd name="connsiteX1" fmla="*/ 6692900 w 6692900"/>
              <a:gd name="connsiteY1" fmla="*/ 0 h 6858000"/>
              <a:gd name="connsiteX2" fmla="*/ 6692900 w 6692900"/>
              <a:gd name="connsiteY2" fmla="*/ 6858000 h 6858000"/>
              <a:gd name="connsiteX3" fmla="*/ 0 w 6692900"/>
              <a:gd name="connsiteY3" fmla="*/ 6858000 h 6858000"/>
              <a:gd name="connsiteX4" fmla="*/ 2565665 w 6692900"/>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92900" h="6858000">
                <a:moveTo>
                  <a:pt x="2565665" y="0"/>
                </a:moveTo>
                <a:lnTo>
                  <a:pt x="6692900" y="0"/>
                </a:lnTo>
                <a:lnTo>
                  <a:pt x="6692900" y="6858000"/>
                </a:lnTo>
                <a:lnTo>
                  <a:pt x="0" y="6858000"/>
                </a:lnTo>
                <a:lnTo>
                  <a:pt x="2565665" y="0"/>
                </a:lnTo>
                <a:close/>
              </a:path>
            </a:pathLst>
          </a:custGeom>
          <a:solidFill>
            <a:schemeClr val="bg2">
              <a:lumMod val="25000"/>
              <a:alpha val="41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Tree>
    <p:extLst>
      <p:ext uri="{BB962C8B-B14F-4D97-AF65-F5344CB8AC3E}">
        <p14:creationId xmlns:p14="http://schemas.microsoft.com/office/powerpoint/2010/main" val="286850341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5BA2E58-FEC9-D54D-ACC0-E7CEEF5F42E4}"/>
              </a:ext>
            </a:extLst>
          </p:cNvPr>
          <p:cNvSpPr>
            <a:spLocks noGrp="1"/>
          </p:cNvSpPr>
          <p:nvPr>
            <p:ph type="title"/>
          </p:nvPr>
        </p:nvSpPr>
        <p:spPr/>
        <p:txBody>
          <a:bodyPr>
            <a:normAutofit/>
          </a:bodyPr>
          <a:lstStyle/>
          <a:p>
            <a:r>
              <a:rPr lang="en-US" dirty="0"/>
              <a:t>Correlation and Regression</a:t>
            </a:r>
          </a:p>
        </p:txBody>
      </p:sp>
      <p:sp>
        <p:nvSpPr>
          <p:cNvPr id="13" name="Content Placeholder 12">
            <a:extLst>
              <a:ext uri="{FF2B5EF4-FFF2-40B4-BE49-F238E27FC236}">
                <a16:creationId xmlns:a16="http://schemas.microsoft.com/office/drawing/2014/main" id="{E6267526-4913-FCF0-E153-4548D0B336DD}"/>
              </a:ext>
            </a:extLst>
          </p:cNvPr>
          <p:cNvSpPr>
            <a:spLocks noGrp="1"/>
          </p:cNvSpPr>
          <p:nvPr>
            <p:ph sz="half" idx="1"/>
          </p:nvPr>
        </p:nvSpPr>
        <p:spPr>
          <a:xfrm>
            <a:off x="678881" y="1659835"/>
            <a:ext cx="5183844" cy="4399442"/>
          </a:xfrm>
        </p:spPr>
        <p:txBody>
          <a:bodyPr lIns="0" tIns="0" rIns="0" bIns="0">
            <a:noAutofit/>
          </a:bodyPr>
          <a:lstStyle/>
          <a:p>
            <a:pPr marL="0" indent="0">
              <a:lnSpc>
                <a:spcPct val="100000"/>
              </a:lnSpc>
              <a:spcBef>
                <a:spcPts val="200"/>
              </a:spcBef>
              <a:spcAft>
                <a:spcPts val="500"/>
              </a:spcAft>
              <a:buNone/>
            </a:pPr>
            <a:r>
              <a:rPr lang="en-US" sz="2400" b="1" dirty="0">
                <a:solidFill>
                  <a:schemeClr val="tx1"/>
                </a:solidFill>
              </a:rPr>
              <a:t>Correlation - Measure of Association</a:t>
            </a:r>
          </a:p>
          <a:p>
            <a:pPr marL="0" indent="0">
              <a:lnSpc>
                <a:spcPct val="100000"/>
              </a:lnSpc>
              <a:spcBef>
                <a:spcPts val="200"/>
              </a:spcBef>
              <a:spcAft>
                <a:spcPts val="500"/>
              </a:spcAft>
              <a:buNone/>
            </a:pPr>
            <a:r>
              <a:rPr lang="en-US" sz="2200" dirty="0"/>
              <a:t>Correlation is a statistical measure that quantifies the degree and direction of a relationship between two variables. It assesses how changes in one variable are associated with changes in another.</a:t>
            </a:r>
          </a:p>
          <a:p>
            <a:pPr marL="0" indent="0">
              <a:lnSpc>
                <a:spcPct val="100000"/>
              </a:lnSpc>
              <a:spcBef>
                <a:spcPts val="200"/>
              </a:spcBef>
              <a:spcAft>
                <a:spcPts val="500"/>
              </a:spcAft>
              <a:buNone/>
            </a:pPr>
            <a:endParaRPr lang="en-US" sz="2200" dirty="0"/>
          </a:p>
          <a:p>
            <a:pPr marL="0" indent="0">
              <a:lnSpc>
                <a:spcPct val="100000"/>
              </a:lnSpc>
              <a:spcBef>
                <a:spcPts val="200"/>
              </a:spcBef>
              <a:spcAft>
                <a:spcPts val="500"/>
              </a:spcAft>
              <a:buNone/>
            </a:pPr>
            <a:endParaRPr lang="en-US" sz="2200" dirty="0"/>
          </a:p>
        </p:txBody>
      </p:sp>
      <p:sp>
        <p:nvSpPr>
          <p:cNvPr id="3" name="Content Placeholder 2">
            <a:extLst>
              <a:ext uri="{FF2B5EF4-FFF2-40B4-BE49-F238E27FC236}">
                <a16:creationId xmlns:a16="http://schemas.microsoft.com/office/drawing/2014/main" id="{727540FD-029A-88B8-8E7A-93FADDB39A89}"/>
              </a:ext>
            </a:extLst>
          </p:cNvPr>
          <p:cNvSpPr>
            <a:spLocks noGrp="1"/>
          </p:cNvSpPr>
          <p:nvPr>
            <p:ph sz="half" idx="2"/>
          </p:nvPr>
        </p:nvSpPr>
        <p:spPr>
          <a:xfrm>
            <a:off x="6329272" y="1659835"/>
            <a:ext cx="5183842" cy="4399442"/>
          </a:xfrm>
        </p:spPr>
        <p:txBody>
          <a:bodyPr lIns="0" tIns="0" rIns="0" bIns="0">
            <a:normAutofit/>
          </a:bodyPr>
          <a:lstStyle/>
          <a:p>
            <a:pPr marL="0" indent="0">
              <a:lnSpc>
                <a:spcPct val="100000"/>
              </a:lnSpc>
              <a:spcBef>
                <a:spcPts val="200"/>
              </a:spcBef>
              <a:spcAft>
                <a:spcPts val="500"/>
              </a:spcAft>
              <a:buNone/>
            </a:pPr>
            <a:r>
              <a:rPr lang="en-US" sz="2400" b="1" dirty="0">
                <a:solidFill>
                  <a:schemeClr val="tx1"/>
                </a:solidFill>
              </a:rPr>
              <a:t>Linear Regression - Modeling Relationships</a:t>
            </a:r>
          </a:p>
          <a:p>
            <a:pPr marL="0" indent="0">
              <a:lnSpc>
                <a:spcPct val="100000"/>
              </a:lnSpc>
              <a:spcBef>
                <a:spcPts val="200"/>
              </a:spcBef>
              <a:spcAft>
                <a:spcPts val="500"/>
              </a:spcAft>
              <a:buNone/>
            </a:pPr>
            <a:r>
              <a:rPr lang="en-US" sz="2200" dirty="0"/>
              <a:t>Linear regression is a statistical technique used to model the relationship between a dependent variable (response) and one or more independent variables (predictors). It assumes a linear relationship and helps predict the dependent variable based on the independent variables.</a:t>
            </a:r>
            <a:endParaRPr lang="en-IN" sz="2200" dirty="0"/>
          </a:p>
        </p:txBody>
      </p:sp>
    </p:spTree>
    <p:extLst>
      <p:ext uri="{BB962C8B-B14F-4D97-AF65-F5344CB8AC3E}">
        <p14:creationId xmlns:p14="http://schemas.microsoft.com/office/powerpoint/2010/main" val="376886241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5BA2E58-FEC9-D54D-ACC0-E7CEEF5F42E4}"/>
              </a:ext>
            </a:extLst>
          </p:cNvPr>
          <p:cNvSpPr>
            <a:spLocks noGrp="1"/>
          </p:cNvSpPr>
          <p:nvPr>
            <p:ph type="title"/>
          </p:nvPr>
        </p:nvSpPr>
        <p:spPr/>
        <p:txBody>
          <a:bodyPr>
            <a:normAutofit/>
          </a:bodyPr>
          <a:lstStyle/>
          <a:p>
            <a:r>
              <a:rPr lang="en-US" dirty="0"/>
              <a:t>Cont..</a:t>
            </a:r>
          </a:p>
        </p:txBody>
      </p:sp>
      <p:sp>
        <p:nvSpPr>
          <p:cNvPr id="13" name="Content Placeholder 12">
            <a:extLst>
              <a:ext uri="{FF2B5EF4-FFF2-40B4-BE49-F238E27FC236}">
                <a16:creationId xmlns:a16="http://schemas.microsoft.com/office/drawing/2014/main" id="{E6267526-4913-FCF0-E153-4548D0B336DD}"/>
              </a:ext>
            </a:extLst>
          </p:cNvPr>
          <p:cNvSpPr>
            <a:spLocks noGrp="1"/>
          </p:cNvSpPr>
          <p:nvPr>
            <p:ph idx="1"/>
          </p:nvPr>
        </p:nvSpPr>
        <p:spPr>
          <a:xfrm>
            <a:off x="678884" y="1338101"/>
            <a:ext cx="10834234" cy="4398066"/>
          </a:xfrm>
        </p:spPr>
        <p:txBody>
          <a:bodyPr lIns="0" tIns="0" rIns="0" bIns="0">
            <a:noAutofit/>
          </a:bodyPr>
          <a:lstStyle/>
          <a:p>
            <a:pPr marL="0" indent="0">
              <a:lnSpc>
                <a:spcPct val="100000"/>
              </a:lnSpc>
              <a:spcBef>
                <a:spcPts val="200"/>
              </a:spcBef>
              <a:spcAft>
                <a:spcPts val="500"/>
              </a:spcAft>
              <a:buNone/>
            </a:pPr>
            <a:r>
              <a:rPr lang="en-US" sz="2000" b="1" dirty="0">
                <a:solidFill>
                  <a:schemeClr val="tx1"/>
                </a:solidFill>
              </a:rPr>
              <a:t>Example: Calculating and Interpreting Correlation Coefficients:</a:t>
            </a:r>
          </a:p>
          <a:p>
            <a:pPr marL="0" indent="0">
              <a:lnSpc>
                <a:spcPct val="100000"/>
              </a:lnSpc>
              <a:spcBef>
                <a:spcPts val="200"/>
              </a:spcBef>
              <a:spcAft>
                <a:spcPts val="500"/>
              </a:spcAft>
              <a:buNone/>
            </a:pPr>
            <a:r>
              <a:rPr lang="en-US" sz="2000" dirty="0"/>
              <a:t>Suppose you are analyzing the relationship between study hours and exam scores for a group of students. You want to calculate and interpret the correlation coefficient between these two variables</a:t>
            </a:r>
          </a:p>
          <a:p>
            <a:pPr marL="0" indent="0">
              <a:lnSpc>
                <a:spcPct val="100000"/>
              </a:lnSpc>
              <a:spcBef>
                <a:spcPts val="200"/>
              </a:spcBef>
              <a:spcAft>
                <a:spcPts val="500"/>
              </a:spcAft>
              <a:buNone/>
            </a:pPr>
            <a:endParaRPr lang="en-US" sz="2000" dirty="0"/>
          </a:p>
          <a:p>
            <a:pPr>
              <a:lnSpc>
                <a:spcPct val="100000"/>
              </a:lnSpc>
              <a:spcBef>
                <a:spcPts val="200"/>
              </a:spcBef>
              <a:spcAft>
                <a:spcPts val="500"/>
              </a:spcAft>
            </a:pPr>
            <a:r>
              <a:rPr lang="en-US" sz="2000" b="1" dirty="0">
                <a:solidFill>
                  <a:schemeClr val="tx1"/>
                </a:solidFill>
              </a:rPr>
              <a:t>Data: </a:t>
            </a:r>
            <a:r>
              <a:rPr lang="en-US" sz="2000" dirty="0"/>
              <a:t>You have data on study hours (X) and corresponding exam scores (Y) for several students.</a:t>
            </a:r>
          </a:p>
          <a:p>
            <a:pPr>
              <a:lnSpc>
                <a:spcPct val="100000"/>
              </a:lnSpc>
              <a:spcBef>
                <a:spcPts val="200"/>
              </a:spcBef>
              <a:spcAft>
                <a:spcPts val="500"/>
              </a:spcAft>
            </a:pPr>
            <a:r>
              <a:rPr lang="en-US" sz="2000" b="1" dirty="0">
                <a:solidFill>
                  <a:schemeClr val="tx1"/>
                </a:solidFill>
              </a:rPr>
              <a:t>Calculate Correlation: </a:t>
            </a:r>
            <a:r>
              <a:rPr lang="en-US" sz="2000" dirty="0"/>
              <a:t>You calculate the correlation coefficient, which can be Pearson's correlation coefficient (r), Spearman's rank correlation coefficient, or others, depending on the data characteristics.</a:t>
            </a:r>
          </a:p>
          <a:p>
            <a:pPr marL="0" indent="0">
              <a:lnSpc>
                <a:spcPct val="100000"/>
              </a:lnSpc>
              <a:spcBef>
                <a:spcPts val="200"/>
              </a:spcBef>
              <a:spcAft>
                <a:spcPts val="500"/>
              </a:spcAft>
              <a:buNone/>
            </a:pPr>
            <a:endParaRPr lang="en-US" sz="2000" dirty="0"/>
          </a:p>
          <a:p>
            <a:pPr marL="0" indent="0">
              <a:lnSpc>
                <a:spcPct val="100000"/>
              </a:lnSpc>
              <a:spcBef>
                <a:spcPts val="200"/>
              </a:spcBef>
              <a:spcAft>
                <a:spcPts val="500"/>
              </a:spcAft>
              <a:buNone/>
            </a:pPr>
            <a:endParaRPr lang="en-US" sz="2000" dirty="0"/>
          </a:p>
        </p:txBody>
      </p:sp>
      <p:pic>
        <p:nvPicPr>
          <p:cNvPr id="3" name="Picture 2">
            <a:extLst>
              <a:ext uri="{FF2B5EF4-FFF2-40B4-BE49-F238E27FC236}">
                <a16:creationId xmlns:a16="http://schemas.microsoft.com/office/drawing/2014/main" id="{E22817D2-8DC7-19BE-8256-216BFB549B99}"/>
              </a:ext>
            </a:extLst>
          </p:cNvPr>
          <p:cNvPicPr>
            <a:picLocks noChangeAspect="1"/>
          </p:cNvPicPr>
          <p:nvPr/>
        </p:nvPicPr>
        <p:blipFill>
          <a:blip r:embed="rId2"/>
          <a:stretch>
            <a:fillRect/>
          </a:stretch>
        </p:blipFill>
        <p:spPr>
          <a:xfrm>
            <a:off x="3765985" y="3953887"/>
            <a:ext cx="4420641" cy="2239480"/>
          </a:xfrm>
          <a:prstGeom prst="rect">
            <a:avLst/>
          </a:prstGeom>
        </p:spPr>
      </p:pic>
    </p:spTree>
    <p:extLst>
      <p:ext uri="{BB962C8B-B14F-4D97-AF65-F5344CB8AC3E}">
        <p14:creationId xmlns:p14="http://schemas.microsoft.com/office/powerpoint/2010/main" val="365431364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5BA2E58-FEC9-D54D-ACC0-E7CEEF5F42E4}"/>
              </a:ext>
            </a:extLst>
          </p:cNvPr>
          <p:cNvSpPr>
            <a:spLocks noGrp="1"/>
          </p:cNvSpPr>
          <p:nvPr>
            <p:ph type="title"/>
          </p:nvPr>
        </p:nvSpPr>
        <p:spPr/>
        <p:txBody>
          <a:bodyPr>
            <a:normAutofit/>
          </a:bodyPr>
          <a:lstStyle/>
          <a:p>
            <a:r>
              <a:rPr lang="en-US" dirty="0"/>
              <a:t>Cont..</a:t>
            </a:r>
          </a:p>
        </p:txBody>
      </p:sp>
      <p:sp>
        <p:nvSpPr>
          <p:cNvPr id="13" name="Content Placeholder 12">
            <a:extLst>
              <a:ext uri="{FF2B5EF4-FFF2-40B4-BE49-F238E27FC236}">
                <a16:creationId xmlns:a16="http://schemas.microsoft.com/office/drawing/2014/main" id="{E6267526-4913-FCF0-E153-4548D0B336DD}"/>
              </a:ext>
            </a:extLst>
          </p:cNvPr>
          <p:cNvSpPr>
            <a:spLocks noGrp="1"/>
          </p:cNvSpPr>
          <p:nvPr>
            <p:ph idx="1"/>
          </p:nvPr>
        </p:nvSpPr>
        <p:spPr/>
        <p:txBody>
          <a:bodyPr lIns="0" tIns="0" rIns="0" bIns="0">
            <a:noAutofit/>
          </a:bodyPr>
          <a:lstStyle/>
          <a:p>
            <a:pPr marL="0" indent="0">
              <a:lnSpc>
                <a:spcPct val="100000"/>
              </a:lnSpc>
              <a:spcBef>
                <a:spcPts val="200"/>
              </a:spcBef>
              <a:spcAft>
                <a:spcPts val="500"/>
              </a:spcAft>
              <a:buNone/>
            </a:pPr>
            <a:r>
              <a:rPr lang="en-US" sz="2400" b="1" dirty="0">
                <a:solidFill>
                  <a:schemeClr val="tx1"/>
                </a:solidFill>
              </a:rPr>
              <a:t>Interpretation</a:t>
            </a:r>
            <a:endParaRPr lang="en-US" sz="2200" dirty="0"/>
          </a:p>
          <a:p>
            <a:pPr>
              <a:lnSpc>
                <a:spcPct val="100000"/>
              </a:lnSpc>
              <a:spcBef>
                <a:spcPts val="200"/>
              </a:spcBef>
              <a:spcAft>
                <a:spcPts val="500"/>
              </a:spcAft>
            </a:pPr>
            <a:r>
              <a:rPr lang="en-US" sz="2400" b="1" dirty="0">
                <a:solidFill>
                  <a:schemeClr val="tx1"/>
                </a:solidFill>
              </a:rPr>
              <a:t>If r is close to 1: </a:t>
            </a:r>
            <a:r>
              <a:rPr lang="en-US" sz="2200" dirty="0"/>
              <a:t>Strong positive correlation; as study hours increase, exam scores tend to increase significantly.</a:t>
            </a:r>
          </a:p>
          <a:p>
            <a:pPr>
              <a:lnSpc>
                <a:spcPct val="100000"/>
              </a:lnSpc>
              <a:spcBef>
                <a:spcPts val="200"/>
              </a:spcBef>
              <a:spcAft>
                <a:spcPts val="500"/>
              </a:spcAft>
            </a:pPr>
            <a:r>
              <a:rPr lang="en-US" sz="2400" b="1" dirty="0">
                <a:solidFill>
                  <a:schemeClr val="tx1"/>
                </a:solidFill>
              </a:rPr>
              <a:t>If r is close to -1: </a:t>
            </a:r>
            <a:r>
              <a:rPr lang="en-US" sz="2200" dirty="0"/>
              <a:t>Strong negative correlation; as study hours increase, exam scores tend to decrease significantly.</a:t>
            </a:r>
          </a:p>
          <a:p>
            <a:pPr>
              <a:lnSpc>
                <a:spcPct val="100000"/>
              </a:lnSpc>
              <a:spcBef>
                <a:spcPts val="200"/>
              </a:spcBef>
              <a:spcAft>
                <a:spcPts val="500"/>
              </a:spcAft>
            </a:pPr>
            <a:r>
              <a:rPr lang="en-US" sz="2400" b="1" dirty="0">
                <a:solidFill>
                  <a:schemeClr val="tx1"/>
                </a:solidFill>
              </a:rPr>
              <a:t>If r is close to 0: </a:t>
            </a:r>
            <a:r>
              <a:rPr lang="en-US" sz="2200" dirty="0"/>
              <a:t>Weak or no linear correlation; study hours and exam scores are not strongly associated.</a:t>
            </a:r>
          </a:p>
          <a:p>
            <a:pPr marL="0" indent="0">
              <a:lnSpc>
                <a:spcPct val="100000"/>
              </a:lnSpc>
              <a:spcBef>
                <a:spcPts val="200"/>
              </a:spcBef>
              <a:spcAft>
                <a:spcPts val="500"/>
              </a:spcAft>
              <a:buNone/>
            </a:pPr>
            <a:r>
              <a:rPr lang="en-US" sz="2200" dirty="0"/>
              <a:t>Correlation helps quantify the strength and direction of the relationship between study hours and exam scores. Linear regression, on the other hand, can further model and predict exam scores based on study hours and may provide insights into the extent of predictability.</a:t>
            </a:r>
          </a:p>
        </p:txBody>
      </p:sp>
    </p:spTree>
    <p:extLst>
      <p:ext uri="{BB962C8B-B14F-4D97-AF65-F5344CB8AC3E}">
        <p14:creationId xmlns:p14="http://schemas.microsoft.com/office/powerpoint/2010/main" val="39549521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5BA2E58-FEC9-D54D-ACC0-E7CEEF5F42E4}"/>
              </a:ext>
            </a:extLst>
          </p:cNvPr>
          <p:cNvSpPr>
            <a:spLocks noGrp="1"/>
          </p:cNvSpPr>
          <p:nvPr>
            <p:ph type="title"/>
          </p:nvPr>
        </p:nvSpPr>
        <p:spPr/>
        <p:txBody>
          <a:bodyPr>
            <a:normAutofit/>
          </a:bodyPr>
          <a:lstStyle/>
          <a:p>
            <a:r>
              <a:rPr lang="en-US" dirty="0"/>
              <a:t>Confidence Interval</a:t>
            </a:r>
          </a:p>
        </p:txBody>
      </p:sp>
      <p:sp>
        <p:nvSpPr>
          <p:cNvPr id="13" name="Content Placeholder 12">
            <a:extLst>
              <a:ext uri="{FF2B5EF4-FFF2-40B4-BE49-F238E27FC236}">
                <a16:creationId xmlns:a16="http://schemas.microsoft.com/office/drawing/2014/main" id="{E6267526-4913-FCF0-E153-4548D0B336DD}"/>
              </a:ext>
            </a:extLst>
          </p:cNvPr>
          <p:cNvSpPr>
            <a:spLocks noGrp="1"/>
          </p:cNvSpPr>
          <p:nvPr>
            <p:ph idx="1"/>
          </p:nvPr>
        </p:nvSpPr>
        <p:spPr/>
        <p:txBody>
          <a:bodyPr lIns="0" tIns="0" rIns="0" bIns="0">
            <a:noAutofit/>
          </a:bodyPr>
          <a:lstStyle/>
          <a:p>
            <a:pPr marL="0" indent="0">
              <a:lnSpc>
                <a:spcPct val="100000"/>
              </a:lnSpc>
              <a:spcBef>
                <a:spcPts val="200"/>
              </a:spcBef>
              <a:spcAft>
                <a:spcPts val="500"/>
              </a:spcAft>
              <a:buNone/>
            </a:pPr>
            <a:r>
              <a:rPr lang="en-US" sz="2400" b="1" dirty="0">
                <a:solidFill>
                  <a:schemeClr val="tx1"/>
                </a:solidFill>
              </a:rPr>
              <a:t>Confidence, </a:t>
            </a:r>
            <a:r>
              <a:rPr lang="en-US" sz="2200" dirty="0"/>
              <a:t>in statistics, is another way to describe probability. For example, if you construct a confidence interval with a 95% confidence level, you are confident that 95 out of 100 times the estimate will fall between the upper and lower values specified by the confidence interval.	</a:t>
            </a:r>
          </a:p>
          <a:p>
            <a:pPr marL="0" indent="0">
              <a:lnSpc>
                <a:spcPct val="100000"/>
              </a:lnSpc>
              <a:spcBef>
                <a:spcPts val="200"/>
              </a:spcBef>
              <a:spcAft>
                <a:spcPts val="500"/>
              </a:spcAft>
              <a:buNone/>
            </a:pPr>
            <a:r>
              <a:rPr lang="en-US" sz="2200" dirty="0"/>
              <a:t>Your desired confidence level is usually one minus the alpha (α) value you used in your statistical test</a:t>
            </a:r>
          </a:p>
          <a:p>
            <a:pPr marL="0" indent="0">
              <a:lnSpc>
                <a:spcPct val="100000"/>
              </a:lnSpc>
              <a:spcBef>
                <a:spcPts val="200"/>
              </a:spcBef>
              <a:spcAft>
                <a:spcPts val="500"/>
              </a:spcAft>
              <a:buNone/>
            </a:pPr>
            <a:r>
              <a:rPr lang="en-US" sz="2400" b="1" dirty="0">
                <a:solidFill>
                  <a:schemeClr val="tx1"/>
                </a:solidFill>
              </a:rPr>
              <a:t>Confidence level = 1 − a</a:t>
            </a:r>
          </a:p>
        </p:txBody>
      </p:sp>
      <p:pic>
        <p:nvPicPr>
          <p:cNvPr id="2" name="Picture 1" descr="Confidence Interval Calculator">
            <a:extLst>
              <a:ext uri="{FF2B5EF4-FFF2-40B4-BE49-F238E27FC236}">
                <a16:creationId xmlns:a16="http://schemas.microsoft.com/office/drawing/2014/main" id="{474FD3E7-0EB3-E52D-9AF9-E063F669B0E9}"/>
              </a:ext>
            </a:extLst>
          </p:cNvPr>
          <p:cNvPicPr>
            <a:picLocks noChangeAspect="1"/>
          </p:cNvPicPr>
          <p:nvPr/>
        </p:nvPicPr>
        <p:blipFill>
          <a:blip r:embed="rId2"/>
          <a:stretch>
            <a:fillRect/>
          </a:stretch>
        </p:blipFill>
        <p:spPr>
          <a:xfrm>
            <a:off x="5115660" y="3687375"/>
            <a:ext cx="5093942" cy="2813920"/>
          </a:xfrm>
          <a:prstGeom prst="rect">
            <a:avLst/>
          </a:prstGeom>
        </p:spPr>
      </p:pic>
      <p:sp>
        <p:nvSpPr>
          <p:cNvPr id="3" name="TextBox 2">
            <a:extLst>
              <a:ext uri="{FF2B5EF4-FFF2-40B4-BE49-F238E27FC236}">
                <a16:creationId xmlns:a16="http://schemas.microsoft.com/office/drawing/2014/main" id="{44D605A0-E549-8DE4-CFED-0DF38502B1A1}"/>
              </a:ext>
            </a:extLst>
          </p:cNvPr>
          <p:cNvSpPr txBox="1"/>
          <p:nvPr/>
        </p:nvSpPr>
        <p:spPr>
          <a:xfrm>
            <a:off x="678882" y="4541520"/>
            <a:ext cx="4736398" cy="1354217"/>
          </a:xfrm>
          <a:prstGeom prst="rect">
            <a:avLst/>
          </a:prstGeom>
          <a:noFill/>
        </p:spPr>
        <p:txBody>
          <a:bodyPr wrap="square" lIns="0" tIns="0" rIns="0" bIns="0" rtlCol="0">
            <a:spAutoFit/>
          </a:bodyPr>
          <a:lstStyle/>
          <a:p>
            <a:r>
              <a:rPr lang="en-US" sz="2200" dirty="0"/>
              <a:t>So, if you use an alpha value of p &lt; 0.05 for statistical significance, then your confidence level would be 1 − 0.05 = 0.95, or 95%.</a:t>
            </a:r>
          </a:p>
        </p:txBody>
      </p:sp>
    </p:spTree>
    <p:extLst>
      <p:ext uri="{BB962C8B-B14F-4D97-AF65-F5344CB8AC3E}">
        <p14:creationId xmlns:p14="http://schemas.microsoft.com/office/powerpoint/2010/main" val="162946494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5BA2E58-FEC9-D54D-ACC0-E7CEEF5F42E4}"/>
              </a:ext>
            </a:extLst>
          </p:cNvPr>
          <p:cNvSpPr>
            <a:spLocks noGrp="1"/>
          </p:cNvSpPr>
          <p:nvPr>
            <p:ph type="title"/>
          </p:nvPr>
        </p:nvSpPr>
        <p:spPr/>
        <p:txBody>
          <a:bodyPr>
            <a:normAutofit/>
          </a:bodyPr>
          <a:lstStyle/>
          <a:p>
            <a:r>
              <a:rPr lang="en-US" dirty="0"/>
              <a:t>Cont..</a:t>
            </a:r>
          </a:p>
        </p:txBody>
      </p:sp>
      <p:sp>
        <p:nvSpPr>
          <p:cNvPr id="13" name="Content Placeholder 12">
            <a:extLst>
              <a:ext uri="{FF2B5EF4-FFF2-40B4-BE49-F238E27FC236}">
                <a16:creationId xmlns:a16="http://schemas.microsoft.com/office/drawing/2014/main" id="{E6267526-4913-FCF0-E153-4548D0B336DD}"/>
              </a:ext>
            </a:extLst>
          </p:cNvPr>
          <p:cNvSpPr>
            <a:spLocks noGrp="1"/>
          </p:cNvSpPr>
          <p:nvPr>
            <p:ph idx="1"/>
          </p:nvPr>
        </p:nvSpPr>
        <p:spPr/>
        <p:txBody>
          <a:bodyPr lIns="0" tIns="0" rIns="0" bIns="0">
            <a:noAutofit/>
          </a:bodyPr>
          <a:lstStyle/>
          <a:p>
            <a:pPr marL="0" indent="0">
              <a:lnSpc>
                <a:spcPct val="100000"/>
              </a:lnSpc>
              <a:spcBef>
                <a:spcPts val="200"/>
              </a:spcBef>
              <a:spcAft>
                <a:spcPts val="500"/>
              </a:spcAft>
              <a:buNone/>
            </a:pPr>
            <a:r>
              <a:rPr lang="en-US" sz="2400" b="1" dirty="0">
                <a:solidFill>
                  <a:schemeClr val="tx1"/>
                </a:solidFill>
              </a:rPr>
              <a:t>Calculation and Interpretation</a:t>
            </a:r>
          </a:p>
          <a:p>
            <a:pPr marL="0" indent="0">
              <a:lnSpc>
                <a:spcPct val="100000"/>
              </a:lnSpc>
              <a:spcBef>
                <a:spcPts val="200"/>
              </a:spcBef>
              <a:spcAft>
                <a:spcPts val="500"/>
              </a:spcAft>
              <a:buNone/>
            </a:pPr>
            <a:r>
              <a:rPr lang="en-US" sz="2200" dirty="0"/>
              <a:t>Confidence intervals are typically calculated using a formula that incorporates the sample statistic, the standard error (a measure of variability), and a critical value from a statistical distribution (e.g., the normal distribution or t-distribution). The formula is:</a:t>
            </a:r>
          </a:p>
          <a:p>
            <a:pPr marL="0" indent="0">
              <a:lnSpc>
                <a:spcPct val="100000"/>
              </a:lnSpc>
              <a:spcBef>
                <a:spcPts val="200"/>
              </a:spcBef>
              <a:spcAft>
                <a:spcPts val="500"/>
              </a:spcAft>
              <a:buNone/>
            </a:pPr>
            <a:r>
              <a:rPr lang="en-US" sz="2200" dirty="0"/>
              <a:t>	CI = Sample Statistic ± Margin of Error</a:t>
            </a:r>
          </a:p>
          <a:p>
            <a:pPr marL="0" indent="0">
              <a:lnSpc>
                <a:spcPct val="100000"/>
              </a:lnSpc>
              <a:spcBef>
                <a:spcPts val="200"/>
              </a:spcBef>
              <a:spcAft>
                <a:spcPts val="500"/>
              </a:spcAft>
              <a:buNone/>
            </a:pPr>
            <a:endParaRPr lang="en-US" sz="300" dirty="0"/>
          </a:p>
          <a:p>
            <a:pPr marL="0" indent="0">
              <a:lnSpc>
                <a:spcPct val="100000"/>
              </a:lnSpc>
              <a:spcBef>
                <a:spcPts val="200"/>
              </a:spcBef>
              <a:spcAft>
                <a:spcPts val="500"/>
              </a:spcAft>
              <a:buNone/>
            </a:pPr>
            <a:r>
              <a:rPr lang="en-US" sz="2400" b="1" dirty="0">
                <a:solidFill>
                  <a:schemeClr val="tx1"/>
                </a:solidFill>
              </a:rPr>
              <a:t>Interpretation: </a:t>
            </a:r>
            <a:r>
              <a:rPr lang="en-US" sz="2400" dirty="0"/>
              <a:t>A confidence interval consists of two parts:</a:t>
            </a:r>
          </a:p>
          <a:p>
            <a:pPr>
              <a:lnSpc>
                <a:spcPct val="100000"/>
              </a:lnSpc>
              <a:spcBef>
                <a:spcPts val="200"/>
              </a:spcBef>
              <a:spcAft>
                <a:spcPts val="500"/>
              </a:spcAft>
            </a:pPr>
            <a:r>
              <a:rPr lang="en-US" sz="2200" dirty="0"/>
              <a:t>The </a:t>
            </a:r>
            <a:r>
              <a:rPr lang="en-US" sz="2400" b="1" dirty="0">
                <a:solidFill>
                  <a:schemeClr val="tx1"/>
                </a:solidFill>
              </a:rPr>
              <a:t>point estimate </a:t>
            </a:r>
            <a:r>
              <a:rPr lang="en-US" sz="2200" dirty="0"/>
              <a:t>(sample statistic), which is the best guess for the population parameter.</a:t>
            </a:r>
          </a:p>
          <a:p>
            <a:pPr>
              <a:lnSpc>
                <a:spcPct val="100000"/>
              </a:lnSpc>
              <a:spcBef>
                <a:spcPts val="200"/>
              </a:spcBef>
              <a:spcAft>
                <a:spcPts val="500"/>
              </a:spcAft>
            </a:pPr>
            <a:r>
              <a:rPr lang="en-US" sz="2200" dirty="0"/>
              <a:t>The </a:t>
            </a:r>
            <a:r>
              <a:rPr lang="en-US" sz="2400" b="1" dirty="0">
                <a:solidFill>
                  <a:schemeClr val="tx1"/>
                </a:solidFill>
              </a:rPr>
              <a:t>margin of error</a:t>
            </a:r>
            <a:r>
              <a:rPr lang="en-US" sz="2200" dirty="0"/>
              <a:t>, which represents the range around the point estimate. It reflects the precision of the estimate and is determined by the chosen confidence level.</a:t>
            </a:r>
          </a:p>
          <a:p>
            <a:pPr marL="0" indent="0">
              <a:lnSpc>
                <a:spcPct val="100000"/>
              </a:lnSpc>
              <a:spcBef>
                <a:spcPts val="200"/>
              </a:spcBef>
              <a:spcAft>
                <a:spcPts val="500"/>
              </a:spcAft>
              <a:buNone/>
            </a:pPr>
            <a:endParaRPr lang="en-US" sz="2400" dirty="0"/>
          </a:p>
        </p:txBody>
      </p:sp>
    </p:spTree>
    <p:extLst>
      <p:ext uri="{BB962C8B-B14F-4D97-AF65-F5344CB8AC3E}">
        <p14:creationId xmlns:p14="http://schemas.microsoft.com/office/powerpoint/2010/main" val="276303887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167844F-298E-4890-096C-08ED7FF670F0}"/>
              </a:ext>
            </a:extLst>
          </p:cNvPr>
          <p:cNvSpPr>
            <a:spLocks noGrp="1"/>
          </p:cNvSpPr>
          <p:nvPr>
            <p:ph type="title"/>
          </p:nvPr>
        </p:nvSpPr>
        <p:spPr>
          <a:xfrm>
            <a:off x="678883" y="1994526"/>
            <a:ext cx="5975917" cy="2856250"/>
          </a:xfrm>
        </p:spPr>
        <p:txBody>
          <a:bodyPr anchor="ctr" anchorCtr="0">
            <a:noAutofit/>
          </a:bodyPr>
          <a:lstStyle/>
          <a:p>
            <a:r>
              <a:rPr lang="en-US" sz="5400" dirty="0"/>
              <a:t>Confidence Interval</a:t>
            </a:r>
          </a:p>
        </p:txBody>
      </p:sp>
      <p:pic>
        <p:nvPicPr>
          <p:cNvPr id="6" name="Picture 5" descr="Confidence Intervals, 48% OFF | barberena.com.mx">
            <a:extLst>
              <a:ext uri="{FF2B5EF4-FFF2-40B4-BE49-F238E27FC236}">
                <a16:creationId xmlns:a16="http://schemas.microsoft.com/office/drawing/2014/main" id="{9A0AF1E0-62EB-EAF3-79CE-24FF8F1F503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13869" t="1264" r="27474" b="1264"/>
          <a:stretch>
            <a:fillRect/>
          </a:stretch>
        </p:blipFill>
        <p:spPr bwMode="auto">
          <a:xfrm>
            <a:off x="5511800" y="1"/>
            <a:ext cx="6680200" cy="6858000"/>
          </a:xfrm>
          <a:custGeom>
            <a:avLst/>
            <a:gdLst>
              <a:gd name="connsiteX0" fmla="*/ 2560797 w 6680200"/>
              <a:gd name="connsiteY0" fmla="*/ 0 h 6858000"/>
              <a:gd name="connsiteX1" fmla="*/ 6680200 w 6680200"/>
              <a:gd name="connsiteY1" fmla="*/ 0 h 6858000"/>
              <a:gd name="connsiteX2" fmla="*/ 6680200 w 6680200"/>
              <a:gd name="connsiteY2" fmla="*/ 6858000 h 6858000"/>
              <a:gd name="connsiteX3" fmla="*/ 0 w 66802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680200" h="6858000">
                <a:moveTo>
                  <a:pt x="2560797" y="0"/>
                </a:moveTo>
                <a:lnTo>
                  <a:pt x="6680200" y="0"/>
                </a:lnTo>
                <a:lnTo>
                  <a:pt x="6680200" y="6858000"/>
                </a:lnTo>
                <a:lnTo>
                  <a:pt x="0" y="6858000"/>
                </a:lnTo>
                <a:close/>
              </a:path>
            </a:pathLst>
          </a:custGeom>
          <a:noFill/>
          <a:extLst>
            <a:ext uri="{909E8E84-426E-40DD-AFC4-6F175D3DCCD1}">
              <a14:hiddenFill xmlns:a14="http://schemas.microsoft.com/office/drawing/2010/main">
                <a:solidFill>
                  <a:srgbClr val="FFFFFF"/>
                </a:solidFill>
              </a14:hiddenFill>
            </a:ext>
          </a:extLst>
        </p:spPr>
      </p:pic>
      <p:sp>
        <p:nvSpPr>
          <p:cNvPr id="5" name="Rectangle 9">
            <a:extLst>
              <a:ext uri="{FF2B5EF4-FFF2-40B4-BE49-F238E27FC236}">
                <a16:creationId xmlns:a16="http://schemas.microsoft.com/office/drawing/2014/main" id="{54591930-E774-E0E3-82F6-C0DEC47298D2}"/>
              </a:ext>
            </a:extLst>
          </p:cNvPr>
          <p:cNvSpPr/>
          <p:nvPr/>
        </p:nvSpPr>
        <p:spPr>
          <a:xfrm>
            <a:off x="5511800" y="1"/>
            <a:ext cx="6680200" cy="6858000"/>
          </a:xfrm>
          <a:custGeom>
            <a:avLst/>
            <a:gdLst>
              <a:gd name="connsiteX0" fmla="*/ 0 w 6692900"/>
              <a:gd name="connsiteY0" fmla="*/ 0 h 6858000"/>
              <a:gd name="connsiteX1" fmla="*/ 6692900 w 6692900"/>
              <a:gd name="connsiteY1" fmla="*/ 0 h 6858000"/>
              <a:gd name="connsiteX2" fmla="*/ 6692900 w 6692900"/>
              <a:gd name="connsiteY2" fmla="*/ 6858000 h 6858000"/>
              <a:gd name="connsiteX3" fmla="*/ 0 w 6692900"/>
              <a:gd name="connsiteY3" fmla="*/ 6858000 h 6858000"/>
              <a:gd name="connsiteX4" fmla="*/ 0 w 6692900"/>
              <a:gd name="connsiteY4" fmla="*/ 0 h 6858000"/>
              <a:gd name="connsiteX0" fmla="*/ 2425700 w 6692900"/>
              <a:gd name="connsiteY0" fmla="*/ 0 h 6858000"/>
              <a:gd name="connsiteX1" fmla="*/ 6692900 w 6692900"/>
              <a:gd name="connsiteY1" fmla="*/ 0 h 6858000"/>
              <a:gd name="connsiteX2" fmla="*/ 6692900 w 6692900"/>
              <a:gd name="connsiteY2" fmla="*/ 6858000 h 6858000"/>
              <a:gd name="connsiteX3" fmla="*/ 0 w 6692900"/>
              <a:gd name="connsiteY3" fmla="*/ 6858000 h 6858000"/>
              <a:gd name="connsiteX4" fmla="*/ 2425700 w 6692900"/>
              <a:gd name="connsiteY4" fmla="*/ 0 h 6858000"/>
              <a:gd name="connsiteX0" fmla="*/ 2565665 w 6692900"/>
              <a:gd name="connsiteY0" fmla="*/ 0 h 6858000"/>
              <a:gd name="connsiteX1" fmla="*/ 6692900 w 6692900"/>
              <a:gd name="connsiteY1" fmla="*/ 0 h 6858000"/>
              <a:gd name="connsiteX2" fmla="*/ 6692900 w 6692900"/>
              <a:gd name="connsiteY2" fmla="*/ 6858000 h 6858000"/>
              <a:gd name="connsiteX3" fmla="*/ 0 w 6692900"/>
              <a:gd name="connsiteY3" fmla="*/ 6858000 h 6858000"/>
              <a:gd name="connsiteX4" fmla="*/ 2565665 w 6692900"/>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92900" h="6858000">
                <a:moveTo>
                  <a:pt x="2565665" y="0"/>
                </a:moveTo>
                <a:lnTo>
                  <a:pt x="6692900" y="0"/>
                </a:lnTo>
                <a:lnTo>
                  <a:pt x="6692900" y="6858000"/>
                </a:lnTo>
                <a:lnTo>
                  <a:pt x="0" y="6858000"/>
                </a:lnTo>
                <a:lnTo>
                  <a:pt x="2565665" y="0"/>
                </a:lnTo>
                <a:close/>
              </a:path>
            </a:pathLst>
          </a:custGeom>
          <a:solidFill>
            <a:schemeClr val="bg2">
              <a:lumMod val="25000"/>
              <a:alpha val="41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Tree>
    <p:extLst>
      <p:ext uri="{BB962C8B-B14F-4D97-AF65-F5344CB8AC3E}">
        <p14:creationId xmlns:p14="http://schemas.microsoft.com/office/powerpoint/2010/main" val="377417531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5BA2E58-FEC9-D54D-ACC0-E7CEEF5F42E4}"/>
              </a:ext>
            </a:extLst>
          </p:cNvPr>
          <p:cNvSpPr>
            <a:spLocks noGrp="1"/>
          </p:cNvSpPr>
          <p:nvPr>
            <p:ph type="title"/>
          </p:nvPr>
        </p:nvSpPr>
        <p:spPr/>
        <p:txBody>
          <a:bodyPr>
            <a:normAutofit/>
          </a:bodyPr>
          <a:lstStyle/>
          <a:p>
            <a:r>
              <a:rPr lang="en-US" dirty="0"/>
              <a:t>Confidence Interval</a:t>
            </a:r>
          </a:p>
        </p:txBody>
      </p:sp>
      <p:sp>
        <p:nvSpPr>
          <p:cNvPr id="13" name="Content Placeholder 12">
            <a:extLst>
              <a:ext uri="{FF2B5EF4-FFF2-40B4-BE49-F238E27FC236}">
                <a16:creationId xmlns:a16="http://schemas.microsoft.com/office/drawing/2014/main" id="{E6267526-4913-FCF0-E153-4548D0B336DD}"/>
              </a:ext>
            </a:extLst>
          </p:cNvPr>
          <p:cNvSpPr>
            <a:spLocks noGrp="1"/>
          </p:cNvSpPr>
          <p:nvPr>
            <p:ph idx="1"/>
          </p:nvPr>
        </p:nvSpPr>
        <p:spPr/>
        <p:txBody>
          <a:bodyPr lIns="0" tIns="0" rIns="0" bIns="0">
            <a:noAutofit/>
          </a:bodyPr>
          <a:lstStyle/>
          <a:p>
            <a:pPr marL="0" indent="0">
              <a:lnSpc>
                <a:spcPct val="100000"/>
              </a:lnSpc>
              <a:spcBef>
                <a:spcPts val="200"/>
              </a:spcBef>
              <a:spcAft>
                <a:spcPts val="500"/>
              </a:spcAft>
              <a:buNone/>
            </a:pPr>
            <a:r>
              <a:rPr lang="en-US" sz="2600" b="1" dirty="0">
                <a:solidFill>
                  <a:schemeClr val="tx1"/>
                </a:solidFill>
              </a:rPr>
              <a:t>For a z statistic, some of the most common values are shown in this table</a:t>
            </a:r>
          </a:p>
        </p:txBody>
      </p:sp>
      <p:graphicFrame>
        <p:nvGraphicFramePr>
          <p:cNvPr id="2" name="Table 1">
            <a:extLst>
              <a:ext uri="{FF2B5EF4-FFF2-40B4-BE49-F238E27FC236}">
                <a16:creationId xmlns:a16="http://schemas.microsoft.com/office/drawing/2014/main" id="{61F4124A-CDE1-0C34-76F1-22A083DEC208}"/>
              </a:ext>
            </a:extLst>
          </p:cNvPr>
          <p:cNvGraphicFramePr>
            <a:graphicFrameLocks noGrp="1"/>
          </p:cNvGraphicFramePr>
          <p:nvPr>
            <p:extLst>
              <p:ext uri="{D42A27DB-BD31-4B8C-83A1-F6EECF244321}">
                <p14:modId xmlns:p14="http://schemas.microsoft.com/office/powerpoint/2010/main" val="2467354777"/>
              </p:ext>
            </p:extLst>
          </p:nvPr>
        </p:nvGraphicFramePr>
        <p:xfrm>
          <a:off x="678882" y="2295164"/>
          <a:ext cx="10834236" cy="3724636"/>
        </p:xfrm>
        <a:graphic>
          <a:graphicData uri="http://schemas.openxmlformats.org/drawingml/2006/table">
            <a:tbl>
              <a:tblPr firstRow="1" bandRow="1">
                <a:tableStyleId>{5C22544A-7EE6-4342-B048-85BDC9FD1C3A}</a:tableStyleId>
              </a:tblPr>
              <a:tblGrid>
                <a:gridCol w="3405438">
                  <a:extLst>
                    <a:ext uri="{9D8B030D-6E8A-4147-A177-3AD203B41FA5}">
                      <a16:colId xmlns:a16="http://schemas.microsoft.com/office/drawing/2014/main" val="532396097"/>
                    </a:ext>
                  </a:extLst>
                </a:gridCol>
                <a:gridCol w="2476266">
                  <a:extLst>
                    <a:ext uri="{9D8B030D-6E8A-4147-A177-3AD203B41FA5}">
                      <a16:colId xmlns:a16="http://schemas.microsoft.com/office/drawing/2014/main" val="1211788174"/>
                    </a:ext>
                  </a:extLst>
                </a:gridCol>
                <a:gridCol w="2476266">
                  <a:extLst>
                    <a:ext uri="{9D8B030D-6E8A-4147-A177-3AD203B41FA5}">
                      <a16:colId xmlns:a16="http://schemas.microsoft.com/office/drawing/2014/main" val="54897821"/>
                    </a:ext>
                  </a:extLst>
                </a:gridCol>
                <a:gridCol w="2476266">
                  <a:extLst>
                    <a:ext uri="{9D8B030D-6E8A-4147-A177-3AD203B41FA5}">
                      <a16:colId xmlns:a16="http://schemas.microsoft.com/office/drawing/2014/main" val="1869307070"/>
                    </a:ext>
                  </a:extLst>
                </a:gridCol>
              </a:tblGrid>
              <a:tr h="832566">
                <a:tc>
                  <a:txBody>
                    <a:bodyPr/>
                    <a:lstStyle/>
                    <a:p>
                      <a:pPr algn="l" fontAlgn="t"/>
                      <a:r>
                        <a:rPr lang="en-US" sz="2200" b="1" dirty="0">
                          <a:solidFill>
                            <a:schemeClr val="tx1"/>
                          </a:solidFill>
                          <a:effectLst/>
                          <a:latin typeface="+mn-lt"/>
                        </a:rPr>
                        <a:t>Confidence level</a:t>
                      </a:r>
                    </a:p>
                  </a:txBody>
                  <a:tcPr anchor="ctr">
                    <a:lnL>
                      <a:noFill/>
                    </a:lnL>
                    <a:lnR>
                      <a:noFill/>
                    </a:lnR>
                    <a:lnT>
                      <a:noFill/>
                    </a:lnT>
                    <a:lnB w="19050" cap="flat" cmpd="sng" algn="ctr">
                      <a:solidFill>
                        <a:schemeClr val="bg2">
                          <a:lumMod val="1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r>
                        <a:rPr lang="en-US" sz="2200" b="1" dirty="0">
                          <a:solidFill>
                            <a:schemeClr val="tx1"/>
                          </a:solidFill>
                          <a:effectLst/>
                          <a:latin typeface="+mn-lt"/>
                        </a:rPr>
                        <a:t>90%</a:t>
                      </a:r>
                    </a:p>
                  </a:txBody>
                  <a:tcPr anchor="ctr">
                    <a:lnL>
                      <a:noFill/>
                    </a:lnL>
                    <a:lnR>
                      <a:noFill/>
                    </a:lnR>
                    <a:lnT>
                      <a:noFill/>
                    </a:lnT>
                    <a:lnB w="19050" cap="flat" cmpd="sng" algn="ctr">
                      <a:solidFill>
                        <a:schemeClr val="bg2">
                          <a:lumMod val="1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r>
                        <a:rPr lang="en-US" sz="2200" b="1" dirty="0">
                          <a:solidFill>
                            <a:schemeClr val="tx1"/>
                          </a:solidFill>
                          <a:effectLst/>
                          <a:latin typeface="+mn-lt"/>
                        </a:rPr>
                        <a:t>95%</a:t>
                      </a:r>
                    </a:p>
                  </a:txBody>
                  <a:tcPr anchor="ctr">
                    <a:lnL>
                      <a:noFill/>
                    </a:lnL>
                    <a:lnR>
                      <a:noFill/>
                    </a:lnR>
                    <a:lnT>
                      <a:noFill/>
                    </a:lnT>
                    <a:lnB w="19050" cap="flat" cmpd="sng" algn="ctr">
                      <a:solidFill>
                        <a:schemeClr val="bg2">
                          <a:lumMod val="1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r>
                        <a:rPr lang="en-US" sz="2200" b="1" dirty="0">
                          <a:solidFill>
                            <a:schemeClr val="tx1"/>
                          </a:solidFill>
                          <a:effectLst/>
                          <a:latin typeface="+mn-lt"/>
                        </a:rPr>
                        <a:t>99%</a:t>
                      </a:r>
                    </a:p>
                  </a:txBody>
                  <a:tcPr anchor="ctr">
                    <a:lnL>
                      <a:noFill/>
                    </a:lnL>
                    <a:lnR>
                      <a:noFill/>
                    </a:lnR>
                    <a:lnT>
                      <a:noFill/>
                    </a:lnT>
                    <a:lnB w="19050" cap="flat" cmpd="sng" algn="ctr">
                      <a:solidFill>
                        <a:schemeClr val="bg2">
                          <a:lumMod val="1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64701210"/>
                  </a:ext>
                </a:extLst>
              </a:tr>
              <a:tr h="1029752">
                <a:tc>
                  <a:txBody>
                    <a:bodyPr/>
                    <a:lstStyle/>
                    <a:p>
                      <a:pPr algn="l" fontAlgn="t"/>
                      <a:r>
                        <a:rPr lang="en-US" sz="2200" b="0" dirty="0">
                          <a:solidFill>
                            <a:schemeClr val="bg2">
                              <a:lumMod val="10000"/>
                            </a:schemeClr>
                          </a:solidFill>
                          <a:effectLst/>
                          <a:latin typeface="+mn-lt"/>
                        </a:rPr>
                        <a:t>alpha for one-tailed CI</a:t>
                      </a:r>
                    </a:p>
                  </a:txBody>
                  <a:tcPr anchor="ctr">
                    <a:lnL>
                      <a:noFill/>
                    </a:lnL>
                    <a:lnR w="9525" cap="flat" cmpd="sng" algn="ctr">
                      <a:noFill/>
                      <a:prstDash val="solid"/>
                      <a:round/>
                      <a:headEnd type="none" w="med" len="med"/>
                      <a:tailEnd type="none" w="med" len="med"/>
                    </a:lnR>
                    <a:lnT w="19050" cap="flat" cmpd="sng" algn="ctr">
                      <a:solidFill>
                        <a:schemeClr val="bg2">
                          <a:lumMod val="10000"/>
                        </a:schemeClr>
                      </a:solidFill>
                      <a:prstDash val="solid"/>
                      <a:round/>
                      <a:headEnd type="none" w="med" len="med"/>
                      <a:tailEnd type="none" w="med" len="med"/>
                    </a:lnT>
                    <a:lnB w="9525" cap="flat" cmpd="sng" algn="ctr">
                      <a:solidFill>
                        <a:schemeClr val="bg2">
                          <a:lumMod val="50000"/>
                        </a:schemeClr>
                      </a:solidFill>
                      <a:prstDash val="sysDot"/>
                      <a:round/>
                      <a:headEnd type="none" w="med" len="med"/>
                      <a:tailEnd type="none" w="med" len="med"/>
                    </a:lnB>
                    <a:lnTlToBr w="12700" cmpd="sng">
                      <a:noFill/>
                      <a:prstDash val="solid"/>
                    </a:lnTlToBr>
                    <a:lnBlToTr w="12700" cmpd="sng">
                      <a:noFill/>
                      <a:prstDash val="solid"/>
                    </a:lnBlToTr>
                    <a:noFill/>
                  </a:tcPr>
                </a:tc>
                <a:tc>
                  <a:txBody>
                    <a:bodyPr/>
                    <a:lstStyle/>
                    <a:p>
                      <a:pPr algn="ctr" fontAlgn="t"/>
                      <a:r>
                        <a:rPr lang="en-US" sz="2200" b="0" dirty="0">
                          <a:solidFill>
                            <a:schemeClr val="bg2">
                              <a:lumMod val="10000"/>
                            </a:schemeClr>
                          </a:solidFill>
                          <a:effectLst/>
                          <a:latin typeface="+mn-lt"/>
                        </a:rPr>
                        <a:t>0.1</a:t>
                      </a:r>
                    </a:p>
                  </a:txBody>
                  <a:tcPr anchor="ctr">
                    <a:lnL w="9525" cap="flat" cmpd="sng" algn="ctr">
                      <a:noFill/>
                      <a:prstDash val="solid"/>
                      <a:round/>
                      <a:headEnd type="none" w="med" len="med"/>
                      <a:tailEnd type="none" w="med" len="med"/>
                    </a:lnL>
                    <a:lnR>
                      <a:noFill/>
                    </a:lnR>
                    <a:lnT w="19050" cap="flat" cmpd="sng" algn="ctr">
                      <a:solidFill>
                        <a:schemeClr val="bg2">
                          <a:lumMod val="10000"/>
                        </a:schemeClr>
                      </a:solidFill>
                      <a:prstDash val="solid"/>
                      <a:round/>
                      <a:headEnd type="none" w="med" len="med"/>
                      <a:tailEnd type="none" w="med" len="med"/>
                    </a:lnT>
                    <a:lnB w="9525" cap="flat" cmpd="sng" algn="ctr">
                      <a:solidFill>
                        <a:schemeClr val="bg2">
                          <a:lumMod val="50000"/>
                        </a:schemeClr>
                      </a:solidFill>
                      <a:prstDash val="sysDot"/>
                      <a:round/>
                      <a:headEnd type="none" w="med" len="med"/>
                      <a:tailEnd type="none" w="med" len="med"/>
                    </a:lnB>
                    <a:lnTlToBr w="12700" cmpd="sng">
                      <a:noFill/>
                      <a:prstDash val="solid"/>
                    </a:lnTlToBr>
                    <a:lnBlToTr w="12700" cmpd="sng">
                      <a:noFill/>
                      <a:prstDash val="solid"/>
                    </a:lnBlToTr>
                    <a:noFill/>
                  </a:tcPr>
                </a:tc>
                <a:tc>
                  <a:txBody>
                    <a:bodyPr/>
                    <a:lstStyle/>
                    <a:p>
                      <a:pPr algn="ctr" fontAlgn="t"/>
                      <a:r>
                        <a:rPr lang="en-US" sz="2200" b="0" dirty="0">
                          <a:solidFill>
                            <a:schemeClr val="bg2">
                              <a:lumMod val="10000"/>
                            </a:schemeClr>
                          </a:solidFill>
                          <a:effectLst/>
                          <a:latin typeface="+mn-lt"/>
                        </a:rPr>
                        <a:t>0.05</a:t>
                      </a:r>
                    </a:p>
                  </a:txBody>
                  <a:tcPr anchor="ctr">
                    <a:lnL>
                      <a:noFill/>
                    </a:lnL>
                    <a:lnR>
                      <a:noFill/>
                    </a:lnR>
                    <a:lnT w="19050" cap="flat" cmpd="sng" algn="ctr">
                      <a:solidFill>
                        <a:schemeClr val="bg2">
                          <a:lumMod val="10000"/>
                        </a:schemeClr>
                      </a:solidFill>
                      <a:prstDash val="solid"/>
                      <a:round/>
                      <a:headEnd type="none" w="med" len="med"/>
                      <a:tailEnd type="none" w="med" len="med"/>
                    </a:lnT>
                    <a:lnB w="9525" cap="flat" cmpd="sng" algn="ctr">
                      <a:solidFill>
                        <a:schemeClr val="bg2">
                          <a:lumMod val="50000"/>
                        </a:schemeClr>
                      </a:solidFill>
                      <a:prstDash val="sysDot"/>
                      <a:round/>
                      <a:headEnd type="none" w="med" len="med"/>
                      <a:tailEnd type="none" w="med" len="med"/>
                    </a:lnB>
                    <a:lnTlToBr w="12700" cmpd="sng">
                      <a:noFill/>
                      <a:prstDash val="solid"/>
                    </a:lnTlToBr>
                    <a:lnBlToTr w="12700" cmpd="sng">
                      <a:noFill/>
                      <a:prstDash val="solid"/>
                    </a:lnBlToTr>
                    <a:noFill/>
                  </a:tcPr>
                </a:tc>
                <a:tc>
                  <a:txBody>
                    <a:bodyPr/>
                    <a:lstStyle/>
                    <a:p>
                      <a:pPr algn="ctr" fontAlgn="t"/>
                      <a:r>
                        <a:rPr lang="en-US" sz="2200" b="0" dirty="0">
                          <a:solidFill>
                            <a:schemeClr val="bg2">
                              <a:lumMod val="10000"/>
                            </a:schemeClr>
                          </a:solidFill>
                          <a:effectLst/>
                          <a:latin typeface="+mn-lt"/>
                        </a:rPr>
                        <a:t>0.01</a:t>
                      </a:r>
                    </a:p>
                  </a:txBody>
                  <a:tcPr anchor="ctr">
                    <a:lnL>
                      <a:noFill/>
                    </a:lnL>
                    <a:lnR w="9525" cap="flat" cmpd="sng" algn="ctr">
                      <a:noFill/>
                      <a:prstDash val="sysDot"/>
                      <a:round/>
                      <a:headEnd type="none" w="med" len="med"/>
                      <a:tailEnd type="none" w="med" len="med"/>
                    </a:lnR>
                    <a:lnT w="19050" cap="flat" cmpd="sng" algn="ctr">
                      <a:solidFill>
                        <a:schemeClr val="bg2">
                          <a:lumMod val="10000"/>
                        </a:schemeClr>
                      </a:solidFill>
                      <a:prstDash val="solid"/>
                      <a:round/>
                      <a:headEnd type="none" w="med" len="med"/>
                      <a:tailEnd type="none" w="med" len="med"/>
                    </a:lnT>
                    <a:lnB w="9525" cap="flat" cmpd="sng" algn="ctr">
                      <a:solidFill>
                        <a:schemeClr val="bg2">
                          <a:lumMod val="50000"/>
                        </a:schemeClr>
                      </a:solidFill>
                      <a:prstDash val="sys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69865269"/>
                  </a:ext>
                </a:extLst>
              </a:tr>
              <a:tr h="1029752">
                <a:tc>
                  <a:txBody>
                    <a:bodyPr/>
                    <a:lstStyle/>
                    <a:p>
                      <a:pPr algn="l" fontAlgn="t"/>
                      <a:r>
                        <a:rPr lang="en-US" sz="2200" b="0" dirty="0">
                          <a:solidFill>
                            <a:schemeClr val="bg2">
                              <a:lumMod val="10000"/>
                            </a:schemeClr>
                          </a:solidFill>
                          <a:effectLst/>
                          <a:latin typeface="+mn-lt"/>
                        </a:rPr>
                        <a:t>alpha for two-tailed CI</a:t>
                      </a:r>
                    </a:p>
                  </a:txBody>
                  <a:tcPr anchor="ctr">
                    <a:lnL>
                      <a:noFill/>
                    </a:lnL>
                    <a:lnR w="9525" cap="flat" cmpd="sng" algn="ctr">
                      <a:noFill/>
                      <a:prstDash val="solid"/>
                      <a:round/>
                      <a:headEnd type="none" w="med" len="med"/>
                      <a:tailEnd type="none" w="med" len="med"/>
                    </a:lnR>
                    <a:lnT w="9525" cap="flat" cmpd="sng" algn="ctr">
                      <a:solidFill>
                        <a:schemeClr val="bg2">
                          <a:lumMod val="50000"/>
                        </a:schemeClr>
                      </a:solidFill>
                      <a:prstDash val="sysDot"/>
                      <a:round/>
                      <a:headEnd type="none" w="med" len="med"/>
                      <a:tailEnd type="none" w="med" len="med"/>
                    </a:lnT>
                    <a:lnB w="9525" cap="flat" cmpd="sng" algn="ctr">
                      <a:solidFill>
                        <a:schemeClr val="bg2">
                          <a:lumMod val="50000"/>
                        </a:schemeClr>
                      </a:solidFill>
                      <a:prstDash val="sysDot"/>
                      <a:round/>
                      <a:headEnd type="none" w="med" len="med"/>
                      <a:tailEnd type="none" w="med" len="med"/>
                    </a:lnB>
                    <a:lnTlToBr w="12700" cmpd="sng">
                      <a:noFill/>
                      <a:prstDash val="solid"/>
                    </a:lnTlToBr>
                    <a:lnBlToTr w="12700" cmpd="sng">
                      <a:noFill/>
                      <a:prstDash val="solid"/>
                    </a:lnBlToTr>
                    <a:noFill/>
                  </a:tcPr>
                </a:tc>
                <a:tc>
                  <a:txBody>
                    <a:bodyPr/>
                    <a:lstStyle/>
                    <a:p>
                      <a:pPr algn="ctr" fontAlgn="t"/>
                      <a:r>
                        <a:rPr lang="en-US" sz="2200" b="0" dirty="0">
                          <a:solidFill>
                            <a:schemeClr val="bg2">
                              <a:lumMod val="10000"/>
                            </a:schemeClr>
                          </a:solidFill>
                          <a:effectLst/>
                          <a:latin typeface="+mn-lt"/>
                        </a:rPr>
                        <a:t>0.05</a:t>
                      </a:r>
                    </a:p>
                  </a:txBody>
                  <a:tcPr anchor="ctr">
                    <a:lnL w="9525" cap="flat" cmpd="sng" algn="ctr">
                      <a:noFill/>
                      <a:prstDash val="solid"/>
                      <a:round/>
                      <a:headEnd type="none" w="med" len="med"/>
                      <a:tailEnd type="none" w="med" len="med"/>
                    </a:lnL>
                    <a:lnR>
                      <a:noFill/>
                    </a:lnR>
                    <a:lnT w="9525" cap="flat" cmpd="sng" algn="ctr">
                      <a:solidFill>
                        <a:schemeClr val="bg2">
                          <a:lumMod val="50000"/>
                        </a:schemeClr>
                      </a:solidFill>
                      <a:prstDash val="sysDot"/>
                      <a:round/>
                      <a:headEnd type="none" w="med" len="med"/>
                      <a:tailEnd type="none" w="med" len="med"/>
                    </a:lnT>
                    <a:lnB w="9525" cap="flat" cmpd="sng" algn="ctr">
                      <a:solidFill>
                        <a:schemeClr val="bg2">
                          <a:lumMod val="50000"/>
                        </a:schemeClr>
                      </a:solidFill>
                      <a:prstDash val="sysDot"/>
                      <a:round/>
                      <a:headEnd type="none" w="med" len="med"/>
                      <a:tailEnd type="none" w="med" len="med"/>
                    </a:lnB>
                    <a:lnTlToBr w="12700" cmpd="sng">
                      <a:noFill/>
                      <a:prstDash val="solid"/>
                    </a:lnTlToBr>
                    <a:lnBlToTr w="12700" cmpd="sng">
                      <a:noFill/>
                      <a:prstDash val="solid"/>
                    </a:lnBlToTr>
                    <a:noFill/>
                  </a:tcPr>
                </a:tc>
                <a:tc>
                  <a:txBody>
                    <a:bodyPr/>
                    <a:lstStyle/>
                    <a:p>
                      <a:pPr algn="ctr" fontAlgn="t"/>
                      <a:r>
                        <a:rPr lang="en-US" sz="2200" b="0" dirty="0">
                          <a:solidFill>
                            <a:schemeClr val="bg2">
                              <a:lumMod val="10000"/>
                            </a:schemeClr>
                          </a:solidFill>
                          <a:effectLst/>
                          <a:latin typeface="+mn-lt"/>
                        </a:rPr>
                        <a:t>0.025</a:t>
                      </a:r>
                    </a:p>
                  </a:txBody>
                  <a:tcPr anchor="ctr">
                    <a:lnL>
                      <a:noFill/>
                    </a:lnL>
                    <a:lnR>
                      <a:noFill/>
                    </a:lnR>
                    <a:lnT w="9525" cap="flat" cmpd="sng" algn="ctr">
                      <a:solidFill>
                        <a:schemeClr val="bg2">
                          <a:lumMod val="50000"/>
                        </a:schemeClr>
                      </a:solidFill>
                      <a:prstDash val="sysDot"/>
                      <a:round/>
                      <a:headEnd type="none" w="med" len="med"/>
                      <a:tailEnd type="none" w="med" len="med"/>
                    </a:lnT>
                    <a:lnB w="9525" cap="flat" cmpd="sng" algn="ctr">
                      <a:solidFill>
                        <a:schemeClr val="bg2">
                          <a:lumMod val="50000"/>
                        </a:schemeClr>
                      </a:solidFill>
                      <a:prstDash val="sysDot"/>
                      <a:round/>
                      <a:headEnd type="none" w="med" len="med"/>
                      <a:tailEnd type="none" w="med" len="med"/>
                    </a:lnB>
                    <a:lnTlToBr w="12700" cmpd="sng">
                      <a:noFill/>
                      <a:prstDash val="solid"/>
                    </a:lnTlToBr>
                    <a:lnBlToTr w="12700" cmpd="sng">
                      <a:noFill/>
                      <a:prstDash val="solid"/>
                    </a:lnBlToTr>
                    <a:noFill/>
                  </a:tcPr>
                </a:tc>
                <a:tc>
                  <a:txBody>
                    <a:bodyPr/>
                    <a:lstStyle/>
                    <a:p>
                      <a:pPr algn="ctr" fontAlgn="t"/>
                      <a:r>
                        <a:rPr lang="en-US" sz="2200" b="0" dirty="0">
                          <a:solidFill>
                            <a:schemeClr val="bg2">
                              <a:lumMod val="10000"/>
                            </a:schemeClr>
                          </a:solidFill>
                          <a:effectLst/>
                          <a:latin typeface="+mn-lt"/>
                        </a:rPr>
                        <a:t>0.005</a:t>
                      </a:r>
                    </a:p>
                  </a:txBody>
                  <a:tcPr anchor="ctr">
                    <a:lnL>
                      <a:noFill/>
                    </a:lnL>
                    <a:lnR w="9525" cap="flat" cmpd="sng" algn="ctr">
                      <a:noFill/>
                      <a:prstDash val="sysDot"/>
                      <a:round/>
                      <a:headEnd type="none" w="med" len="med"/>
                      <a:tailEnd type="none" w="med" len="med"/>
                    </a:lnR>
                    <a:lnT w="9525" cap="flat" cmpd="sng" algn="ctr">
                      <a:solidFill>
                        <a:schemeClr val="bg2">
                          <a:lumMod val="50000"/>
                        </a:schemeClr>
                      </a:solidFill>
                      <a:prstDash val="sysDot"/>
                      <a:round/>
                      <a:headEnd type="none" w="med" len="med"/>
                      <a:tailEnd type="none" w="med" len="med"/>
                    </a:lnT>
                    <a:lnB w="9525" cap="flat" cmpd="sng" algn="ctr">
                      <a:solidFill>
                        <a:schemeClr val="bg2">
                          <a:lumMod val="50000"/>
                        </a:schemeClr>
                      </a:solidFill>
                      <a:prstDash val="sys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3000813"/>
                  </a:ext>
                </a:extLst>
              </a:tr>
              <a:tr h="832566">
                <a:tc>
                  <a:txBody>
                    <a:bodyPr/>
                    <a:lstStyle/>
                    <a:p>
                      <a:pPr algn="l" fontAlgn="t"/>
                      <a:r>
                        <a:rPr lang="en-US" sz="2200" b="0" i="1" dirty="0">
                          <a:solidFill>
                            <a:schemeClr val="bg2">
                              <a:lumMod val="10000"/>
                            </a:schemeClr>
                          </a:solidFill>
                          <a:effectLst/>
                          <a:latin typeface="+mn-lt"/>
                        </a:rPr>
                        <a:t>z </a:t>
                      </a:r>
                      <a:r>
                        <a:rPr lang="en-US" sz="2200" b="0" dirty="0">
                          <a:solidFill>
                            <a:schemeClr val="bg2">
                              <a:lumMod val="10000"/>
                            </a:schemeClr>
                          </a:solidFill>
                          <a:effectLst/>
                          <a:latin typeface="+mn-lt"/>
                        </a:rPr>
                        <a:t>statistic</a:t>
                      </a:r>
                    </a:p>
                  </a:txBody>
                  <a:tcPr anchor="ctr">
                    <a:lnL>
                      <a:noFill/>
                    </a:lnL>
                    <a:lnR w="9525" cap="flat" cmpd="sng" algn="ctr">
                      <a:noFill/>
                      <a:prstDash val="solid"/>
                      <a:round/>
                      <a:headEnd type="none" w="med" len="med"/>
                      <a:tailEnd type="none" w="med" len="med"/>
                    </a:lnR>
                    <a:lnT w="9525" cap="flat" cmpd="sng" algn="ctr">
                      <a:solidFill>
                        <a:schemeClr val="bg2">
                          <a:lumMod val="50000"/>
                        </a:schemeClr>
                      </a:solidFill>
                      <a:prstDash val="sysDot"/>
                      <a:round/>
                      <a:headEnd type="none" w="med" len="med"/>
                      <a:tailEnd type="none" w="med" len="med"/>
                    </a:lnT>
                    <a:lnB>
                      <a:noFill/>
                    </a:lnB>
                    <a:lnTlToBr w="12700" cmpd="sng">
                      <a:noFill/>
                      <a:prstDash val="solid"/>
                    </a:lnTlToBr>
                    <a:lnBlToTr w="12700" cmpd="sng">
                      <a:noFill/>
                      <a:prstDash val="solid"/>
                    </a:lnBlToTr>
                    <a:noFill/>
                  </a:tcPr>
                </a:tc>
                <a:tc>
                  <a:txBody>
                    <a:bodyPr/>
                    <a:lstStyle/>
                    <a:p>
                      <a:pPr algn="ctr" fontAlgn="t"/>
                      <a:r>
                        <a:rPr lang="en-US" sz="2200" b="0" dirty="0">
                          <a:solidFill>
                            <a:schemeClr val="bg2">
                              <a:lumMod val="10000"/>
                            </a:schemeClr>
                          </a:solidFill>
                          <a:effectLst/>
                          <a:latin typeface="+mn-lt"/>
                        </a:rPr>
                        <a:t>1.64</a:t>
                      </a:r>
                    </a:p>
                  </a:txBody>
                  <a:tcPr anchor="ctr">
                    <a:lnL w="9525" cap="flat" cmpd="sng" algn="ctr">
                      <a:noFill/>
                      <a:prstDash val="solid"/>
                      <a:round/>
                      <a:headEnd type="none" w="med" len="med"/>
                      <a:tailEnd type="none" w="med" len="med"/>
                    </a:lnL>
                    <a:lnR>
                      <a:noFill/>
                    </a:lnR>
                    <a:lnT w="9525" cap="flat" cmpd="sng" algn="ctr">
                      <a:solidFill>
                        <a:schemeClr val="bg2">
                          <a:lumMod val="50000"/>
                        </a:schemeClr>
                      </a:solidFill>
                      <a:prstDash val="sysDot"/>
                      <a:round/>
                      <a:headEnd type="none" w="med" len="med"/>
                      <a:tailEnd type="none" w="med" len="med"/>
                    </a:lnT>
                    <a:lnB>
                      <a:noFill/>
                    </a:lnB>
                    <a:lnTlToBr w="12700" cmpd="sng">
                      <a:noFill/>
                      <a:prstDash val="solid"/>
                    </a:lnTlToBr>
                    <a:lnBlToTr w="12700" cmpd="sng">
                      <a:noFill/>
                      <a:prstDash val="solid"/>
                    </a:lnBlToTr>
                    <a:noFill/>
                  </a:tcPr>
                </a:tc>
                <a:tc>
                  <a:txBody>
                    <a:bodyPr/>
                    <a:lstStyle/>
                    <a:p>
                      <a:pPr algn="ctr" fontAlgn="t"/>
                      <a:r>
                        <a:rPr lang="en-US" sz="2200" b="0" dirty="0">
                          <a:solidFill>
                            <a:schemeClr val="bg2">
                              <a:lumMod val="10000"/>
                            </a:schemeClr>
                          </a:solidFill>
                          <a:effectLst/>
                          <a:latin typeface="+mn-lt"/>
                        </a:rPr>
                        <a:t>1.96</a:t>
                      </a:r>
                    </a:p>
                  </a:txBody>
                  <a:tcPr anchor="ctr">
                    <a:lnL>
                      <a:noFill/>
                    </a:lnL>
                    <a:lnR>
                      <a:noFill/>
                    </a:lnR>
                    <a:lnT w="9525" cap="flat" cmpd="sng" algn="ctr">
                      <a:solidFill>
                        <a:schemeClr val="bg2">
                          <a:lumMod val="50000"/>
                        </a:schemeClr>
                      </a:solidFill>
                      <a:prstDash val="sysDot"/>
                      <a:round/>
                      <a:headEnd type="none" w="med" len="med"/>
                      <a:tailEnd type="none" w="med" len="med"/>
                    </a:lnT>
                    <a:lnB>
                      <a:noFill/>
                    </a:lnB>
                    <a:lnTlToBr w="12700" cmpd="sng">
                      <a:noFill/>
                      <a:prstDash val="solid"/>
                    </a:lnTlToBr>
                    <a:lnBlToTr w="12700" cmpd="sng">
                      <a:noFill/>
                      <a:prstDash val="solid"/>
                    </a:lnBlToTr>
                    <a:noFill/>
                  </a:tcPr>
                </a:tc>
                <a:tc>
                  <a:txBody>
                    <a:bodyPr/>
                    <a:lstStyle/>
                    <a:p>
                      <a:pPr algn="ctr" fontAlgn="t"/>
                      <a:r>
                        <a:rPr lang="en-US" sz="2200" b="0" dirty="0">
                          <a:solidFill>
                            <a:schemeClr val="bg2">
                              <a:lumMod val="10000"/>
                            </a:schemeClr>
                          </a:solidFill>
                          <a:effectLst/>
                          <a:latin typeface="+mn-lt"/>
                        </a:rPr>
                        <a:t>2.57</a:t>
                      </a:r>
                    </a:p>
                  </a:txBody>
                  <a:tcPr anchor="ctr">
                    <a:lnL>
                      <a:noFill/>
                    </a:lnL>
                    <a:lnR w="9525" cap="flat" cmpd="sng" algn="ctr">
                      <a:noFill/>
                      <a:prstDash val="sysDot"/>
                      <a:round/>
                      <a:headEnd type="none" w="med" len="med"/>
                      <a:tailEnd type="none" w="med" len="med"/>
                    </a:lnR>
                    <a:lnT w="9525" cap="flat" cmpd="sng" algn="ctr">
                      <a:solidFill>
                        <a:schemeClr val="bg2">
                          <a:lumMod val="50000"/>
                        </a:schemeClr>
                      </a:solidFill>
                      <a:prstDash val="sysDot"/>
                      <a:round/>
                      <a:headEnd type="none" w="med" len="med"/>
                      <a:tailEnd type="none" w="med" len="med"/>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3099437259"/>
                  </a:ext>
                </a:extLst>
              </a:tr>
            </a:tbl>
          </a:graphicData>
        </a:graphic>
      </p:graphicFrame>
    </p:spTree>
    <p:extLst>
      <p:ext uri="{BB962C8B-B14F-4D97-AF65-F5344CB8AC3E}">
        <p14:creationId xmlns:p14="http://schemas.microsoft.com/office/powerpoint/2010/main" val="426226897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5BA2E58-FEC9-D54D-ACC0-E7CEEF5F42E4}"/>
              </a:ext>
            </a:extLst>
          </p:cNvPr>
          <p:cNvSpPr>
            <a:spLocks noGrp="1"/>
          </p:cNvSpPr>
          <p:nvPr>
            <p:ph type="title"/>
          </p:nvPr>
        </p:nvSpPr>
        <p:spPr/>
        <p:txBody>
          <a:bodyPr>
            <a:normAutofit/>
          </a:bodyPr>
          <a:lstStyle/>
          <a:p>
            <a:r>
              <a:rPr lang="en-US" dirty="0"/>
              <a:t>Cont…</a:t>
            </a:r>
          </a:p>
        </p:txBody>
      </p:sp>
      <p:sp>
        <p:nvSpPr>
          <p:cNvPr id="13" name="Content Placeholder 12">
            <a:extLst>
              <a:ext uri="{FF2B5EF4-FFF2-40B4-BE49-F238E27FC236}">
                <a16:creationId xmlns:a16="http://schemas.microsoft.com/office/drawing/2014/main" id="{E6267526-4913-FCF0-E153-4548D0B336DD}"/>
              </a:ext>
            </a:extLst>
          </p:cNvPr>
          <p:cNvSpPr>
            <a:spLocks noGrp="1"/>
          </p:cNvSpPr>
          <p:nvPr>
            <p:ph idx="1"/>
          </p:nvPr>
        </p:nvSpPr>
        <p:spPr/>
        <p:txBody>
          <a:bodyPr lIns="0" tIns="0" rIns="0" bIns="0">
            <a:noAutofit/>
          </a:bodyPr>
          <a:lstStyle/>
          <a:p>
            <a:pPr marL="0" indent="0">
              <a:lnSpc>
                <a:spcPct val="100000"/>
              </a:lnSpc>
              <a:spcBef>
                <a:spcPts val="600"/>
              </a:spcBef>
              <a:spcAft>
                <a:spcPts val="600"/>
              </a:spcAft>
              <a:buNone/>
            </a:pPr>
            <a:r>
              <a:rPr lang="en-US" sz="2400" b="1" dirty="0">
                <a:solidFill>
                  <a:schemeClr val="tx1"/>
                </a:solidFill>
              </a:rPr>
              <a:t>Example: </a:t>
            </a:r>
            <a:r>
              <a:rPr lang="en-US" sz="2200" dirty="0"/>
              <a:t>Determining the Confidence Interval for the Mean Height of a Population</a:t>
            </a:r>
          </a:p>
          <a:p>
            <a:pPr>
              <a:lnSpc>
                <a:spcPct val="100000"/>
              </a:lnSpc>
              <a:spcBef>
                <a:spcPts val="600"/>
              </a:spcBef>
              <a:spcAft>
                <a:spcPts val="600"/>
              </a:spcAft>
            </a:pPr>
            <a:r>
              <a:rPr lang="en-US" sz="2400" b="1" dirty="0">
                <a:solidFill>
                  <a:schemeClr val="tx1"/>
                </a:solidFill>
              </a:rPr>
              <a:t>Scenario: </a:t>
            </a:r>
            <a:r>
              <a:rPr lang="en-US" sz="2200" dirty="0"/>
              <a:t>Imagine you want to estimate the average height of all adults in a country. You collect a sample of heights from 100 individuals and calculate the sample mean height to be 170 cm with a standard deviation of 5 cm. You want to determine a 95% confidence interval for the mean height.</a:t>
            </a:r>
          </a:p>
          <a:p>
            <a:pPr>
              <a:lnSpc>
                <a:spcPct val="100000"/>
              </a:lnSpc>
              <a:spcBef>
                <a:spcPts val="600"/>
              </a:spcBef>
              <a:spcAft>
                <a:spcPts val="600"/>
              </a:spcAft>
            </a:pPr>
            <a:r>
              <a:rPr lang="en-US" sz="2400" b="1" dirty="0">
                <a:solidFill>
                  <a:schemeClr val="tx1"/>
                </a:solidFill>
              </a:rPr>
              <a:t>Data: </a:t>
            </a:r>
            <a:r>
              <a:rPr lang="en-US" sz="2200" dirty="0"/>
              <a:t>You collect a sample of heights from 100 individuals and calculate the sample mean height to be 170 cm with a standard deviation of 5 cm.</a:t>
            </a:r>
          </a:p>
          <a:p>
            <a:pPr>
              <a:lnSpc>
                <a:spcPct val="100000"/>
              </a:lnSpc>
              <a:spcBef>
                <a:spcPts val="600"/>
              </a:spcBef>
              <a:spcAft>
                <a:spcPts val="600"/>
              </a:spcAft>
            </a:pPr>
            <a:r>
              <a:rPr lang="en-US" sz="2400" b="1" dirty="0">
                <a:solidFill>
                  <a:schemeClr val="tx1"/>
                </a:solidFill>
              </a:rPr>
              <a:t>Goal: </a:t>
            </a:r>
            <a:r>
              <a:rPr lang="en-US" sz="2200" dirty="0"/>
              <a:t>Determine a 95% confidence interval for the mean height.</a:t>
            </a:r>
          </a:p>
        </p:txBody>
      </p:sp>
    </p:spTree>
    <p:extLst>
      <p:ext uri="{BB962C8B-B14F-4D97-AF65-F5344CB8AC3E}">
        <p14:creationId xmlns:p14="http://schemas.microsoft.com/office/powerpoint/2010/main" val="404097662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5BA2E58-FEC9-D54D-ACC0-E7CEEF5F42E4}"/>
              </a:ext>
            </a:extLst>
          </p:cNvPr>
          <p:cNvSpPr>
            <a:spLocks noGrp="1"/>
          </p:cNvSpPr>
          <p:nvPr>
            <p:ph type="title"/>
          </p:nvPr>
        </p:nvSpPr>
        <p:spPr/>
        <p:txBody>
          <a:bodyPr>
            <a:normAutofit/>
          </a:bodyPr>
          <a:lstStyle/>
          <a:p>
            <a:r>
              <a:rPr lang="en-US" dirty="0"/>
              <a:t>Cont…</a:t>
            </a:r>
          </a:p>
        </p:txBody>
      </p:sp>
      <p:sp>
        <p:nvSpPr>
          <p:cNvPr id="13" name="Content Placeholder 12">
            <a:extLst>
              <a:ext uri="{FF2B5EF4-FFF2-40B4-BE49-F238E27FC236}">
                <a16:creationId xmlns:a16="http://schemas.microsoft.com/office/drawing/2014/main" id="{E6267526-4913-FCF0-E153-4548D0B336DD}"/>
              </a:ext>
            </a:extLst>
          </p:cNvPr>
          <p:cNvSpPr>
            <a:spLocks noGrp="1"/>
          </p:cNvSpPr>
          <p:nvPr>
            <p:ph idx="1"/>
          </p:nvPr>
        </p:nvSpPr>
        <p:spPr>
          <a:xfrm>
            <a:off x="678883" y="1435469"/>
            <a:ext cx="10834234" cy="4398066"/>
          </a:xfrm>
        </p:spPr>
        <p:txBody>
          <a:bodyPr lIns="0" tIns="0" rIns="0" bIns="0">
            <a:noAutofit/>
          </a:bodyPr>
          <a:lstStyle/>
          <a:p>
            <a:pPr marL="0" indent="0">
              <a:lnSpc>
                <a:spcPct val="100000"/>
              </a:lnSpc>
              <a:spcBef>
                <a:spcPts val="600"/>
              </a:spcBef>
              <a:spcAft>
                <a:spcPts val="600"/>
              </a:spcAft>
              <a:buNone/>
            </a:pPr>
            <a:r>
              <a:rPr lang="en-US" sz="2000" b="1" dirty="0">
                <a:solidFill>
                  <a:schemeClr val="tx1"/>
                </a:solidFill>
              </a:rPr>
              <a:t>Step 1: Calculation of Margin of Error </a:t>
            </a:r>
            <a:r>
              <a:rPr lang="en-US" sz="2000" dirty="0"/>
              <a:t>To calculate the margin of error for the confidence interval, you need two components:</a:t>
            </a:r>
          </a:p>
          <a:p>
            <a:pPr>
              <a:lnSpc>
                <a:spcPct val="100000"/>
              </a:lnSpc>
              <a:spcBef>
                <a:spcPts val="600"/>
              </a:spcBef>
              <a:spcAft>
                <a:spcPts val="600"/>
              </a:spcAft>
            </a:pPr>
            <a:r>
              <a:rPr lang="en-US" sz="2000" b="1" dirty="0">
                <a:solidFill>
                  <a:schemeClr val="tx1"/>
                </a:solidFill>
              </a:rPr>
              <a:t>Critical Value: </a:t>
            </a:r>
            <a:r>
              <a:rPr lang="en-US" sz="2000" dirty="0"/>
              <a:t>Using the t-distribution (since it's a sample) and a 95% confidence level, you find the critical value. For this example, let's assume it's 1.96. This critical value represents how many standard errors the margin of error should cover to achieve a 95% confidence level.</a:t>
            </a:r>
          </a:p>
          <a:p>
            <a:pPr>
              <a:lnSpc>
                <a:spcPct val="100000"/>
              </a:lnSpc>
              <a:spcBef>
                <a:spcPts val="600"/>
              </a:spcBef>
              <a:spcAft>
                <a:spcPts val="600"/>
              </a:spcAft>
            </a:pPr>
            <a:r>
              <a:rPr lang="en-US" sz="2000" b="1" dirty="0">
                <a:solidFill>
                  <a:schemeClr val="tx1"/>
                </a:solidFill>
              </a:rPr>
              <a:t>Standard Error: </a:t>
            </a:r>
            <a:r>
              <a:rPr lang="en-US" sz="2000" dirty="0"/>
              <a:t>The standard error measures the variability of the sample mean. It's calculated as the standard deviation divided by the square root of the sample size.</a:t>
            </a:r>
          </a:p>
          <a:p>
            <a:pPr marL="0" indent="0">
              <a:lnSpc>
                <a:spcPct val="100000"/>
              </a:lnSpc>
              <a:spcBef>
                <a:spcPts val="600"/>
              </a:spcBef>
              <a:spcAft>
                <a:spcPts val="600"/>
              </a:spcAft>
              <a:buNone/>
            </a:pPr>
            <a:endParaRPr lang="en-US" sz="2000" b="1" dirty="0">
              <a:solidFill>
                <a:schemeClr val="tx1"/>
              </a:solidFill>
            </a:endParaRPr>
          </a:p>
          <a:p>
            <a:pPr marL="0" indent="0">
              <a:lnSpc>
                <a:spcPct val="100000"/>
              </a:lnSpc>
              <a:spcBef>
                <a:spcPts val="600"/>
              </a:spcBef>
              <a:spcAft>
                <a:spcPts val="600"/>
              </a:spcAft>
              <a:buNone/>
            </a:pPr>
            <a:r>
              <a:rPr lang="en-US" sz="2000" b="1" dirty="0">
                <a:solidFill>
                  <a:schemeClr val="tx1"/>
                </a:solidFill>
              </a:rPr>
              <a:t>Margin of Error Calculation</a:t>
            </a:r>
          </a:p>
          <a:p>
            <a:pPr marL="0" indent="0">
              <a:lnSpc>
                <a:spcPct val="100000"/>
              </a:lnSpc>
              <a:spcBef>
                <a:spcPts val="600"/>
              </a:spcBef>
              <a:spcAft>
                <a:spcPts val="600"/>
              </a:spcAft>
              <a:buNone/>
            </a:pPr>
            <a:endParaRPr lang="en-US" sz="2000" dirty="0"/>
          </a:p>
        </p:txBody>
      </p:sp>
      <p:pic>
        <p:nvPicPr>
          <p:cNvPr id="2" name="Picture 1">
            <a:extLst>
              <a:ext uri="{FF2B5EF4-FFF2-40B4-BE49-F238E27FC236}">
                <a16:creationId xmlns:a16="http://schemas.microsoft.com/office/drawing/2014/main" id="{215C4370-6BBF-9202-CB30-3CD2D458FE98}"/>
              </a:ext>
            </a:extLst>
          </p:cNvPr>
          <p:cNvPicPr>
            <a:picLocks noChangeAspect="1"/>
          </p:cNvPicPr>
          <p:nvPr/>
        </p:nvPicPr>
        <p:blipFill>
          <a:blip r:embed="rId2">
            <a:clrChange>
              <a:clrFrom>
                <a:srgbClr val="F7F7F8"/>
              </a:clrFrom>
              <a:clrTo>
                <a:srgbClr val="F7F7F8">
                  <a:alpha val="0"/>
                </a:srgbClr>
              </a:clrTo>
            </a:clrChange>
          </a:blip>
          <a:stretch>
            <a:fillRect/>
          </a:stretch>
        </p:blipFill>
        <p:spPr>
          <a:xfrm>
            <a:off x="3972560" y="3918605"/>
            <a:ext cx="6454595" cy="2184758"/>
          </a:xfrm>
          <a:prstGeom prst="rect">
            <a:avLst/>
          </a:prstGeom>
        </p:spPr>
      </p:pic>
    </p:spTree>
    <p:extLst>
      <p:ext uri="{BB962C8B-B14F-4D97-AF65-F5344CB8AC3E}">
        <p14:creationId xmlns:p14="http://schemas.microsoft.com/office/powerpoint/2010/main" val="376985521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5BA2E58-FEC9-D54D-ACC0-E7CEEF5F42E4}"/>
              </a:ext>
            </a:extLst>
          </p:cNvPr>
          <p:cNvSpPr>
            <a:spLocks noGrp="1"/>
          </p:cNvSpPr>
          <p:nvPr>
            <p:ph type="title"/>
          </p:nvPr>
        </p:nvSpPr>
        <p:spPr/>
        <p:txBody>
          <a:bodyPr>
            <a:normAutofit/>
          </a:bodyPr>
          <a:lstStyle/>
          <a:p>
            <a:r>
              <a:rPr lang="en-US" dirty="0"/>
              <a:t>Cont…</a:t>
            </a:r>
          </a:p>
        </p:txBody>
      </p:sp>
      <p:sp>
        <p:nvSpPr>
          <p:cNvPr id="13" name="Content Placeholder 12">
            <a:extLst>
              <a:ext uri="{FF2B5EF4-FFF2-40B4-BE49-F238E27FC236}">
                <a16:creationId xmlns:a16="http://schemas.microsoft.com/office/drawing/2014/main" id="{E6267526-4913-FCF0-E153-4548D0B336DD}"/>
              </a:ext>
            </a:extLst>
          </p:cNvPr>
          <p:cNvSpPr>
            <a:spLocks noGrp="1"/>
          </p:cNvSpPr>
          <p:nvPr>
            <p:ph idx="1"/>
          </p:nvPr>
        </p:nvSpPr>
        <p:spPr/>
        <p:txBody>
          <a:bodyPr lIns="0" tIns="0" rIns="0" bIns="0">
            <a:noAutofit/>
          </a:bodyPr>
          <a:lstStyle/>
          <a:p>
            <a:pPr marL="0" indent="0">
              <a:lnSpc>
                <a:spcPct val="100000"/>
              </a:lnSpc>
              <a:spcBef>
                <a:spcPts val="100"/>
              </a:spcBef>
              <a:spcAft>
                <a:spcPts val="100"/>
              </a:spcAft>
              <a:buNone/>
            </a:pPr>
            <a:r>
              <a:rPr lang="en-US" sz="2400" b="1" dirty="0">
                <a:solidFill>
                  <a:schemeClr val="tx1"/>
                </a:solidFill>
              </a:rPr>
              <a:t>Step 2: Constructing the Confidence Interval </a:t>
            </a:r>
            <a:r>
              <a:rPr lang="en-US" sz="2200" dirty="0"/>
              <a:t>Now that you have the margin of error, you can construct the confidence interval. The confidence interval formula is as follows:</a:t>
            </a:r>
          </a:p>
          <a:p>
            <a:pPr marL="0" indent="0">
              <a:lnSpc>
                <a:spcPct val="100000"/>
              </a:lnSpc>
              <a:spcBef>
                <a:spcPts val="300"/>
              </a:spcBef>
              <a:spcAft>
                <a:spcPts val="300"/>
              </a:spcAft>
              <a:buNone/>
            </a:pPr>
            <a:r>
              <a:rPr lang="en-US" sz="2200" dirty="0"/>
              <a:t>	CI=Sample Mean±   Margin of Error</a:t>
            </a:r>
          </a:p>
          <a:p>
            <a:pPr marL="0" indent="0">
              <a:lnSpc>
                <a:spcPct val="100000"/>
              </a:lnSpc>
              <a:spcBef>
                <a:spcPts val="300"/>
              </a:spcBef>
              <a:spcAft>
                <a:spcPts val="300"/>
              </a:spcAft>
              <a:buNone/>
            </a:pPr>
            <a:r>
              <a:rPr lang="en-US" sz="2200" dirty="0"/>
              <a:t>	Substituting the values</a:t>
            </a:r>
          </a:p>
          <a:p>
            <a:pPr marL="0" indent="0">
              <a:lnSpc>
                <a:spcPct val="100000"/>
              </a:lnSpc>
              <a:spcBef>
                <a:spcPts val="100"/>
              </a:spcBef>
              <a:spcAft>
                <a:spcPts val="100"/>
              </a:spcAft>
              <a:buNone/>
            </a:pPr>
            <a:r>
              <a:rPr lang="en-US" sz="2200" dirty="0"/>
              <a:t>	CI = 170 cm ±  0.98 cm</a:t>
            </a:r>
          </a:p>
          <a:p>
            <a:pPr marL="0" indent="0">
              <a:lnSpc>
                <a:spcPct val="100000"/>
              </a:lnSpc>
              <a:spcBef>
                <a:spcPts val="600"/>
              </a:spcBef>
              <a:spcAft>
                <a:spcPts val="600"/>
              </a:spcAft>
              <a:buNone/>
            </a:pPr>
            <a:r>
              <a:rPr lang="en-US" sz="2400" b="1" dirty="0">
                <a:solidFill>
                  <a:schemeClr val="tx1"/>
                </a:solidFill>
              </a:rPr>
              <a:t>Interpretation: </a:t>
            </a:r>
            <a:r>
              <a:rPr lang="en-US" sz="2200" dirty="0"/>
              <a:t>This means you are 95% confident that the true average height of all adults in the country falls within the range of 169.02 cm to 170.98 cm.</a:t>
            </a:r>
          </a:p>
          <a:p>
            <a:pPr marL="0" indent="0">
              <a:lnSpc>
                <a:spcPct val="100000"/>
              </a:lnSpc>
              <a:spcBef>
                <a:spcPts val="600"/>
              </a:spcBef>
              <a:spcAft>
                <a:spcPts val="600"/>
              </a:spcAft>
              <a:buNone/>
            </a:pPr>
            <a:r>
              <a:rPr lang="en-US" sz="2400" b="1" dirty="0">
                <a:solidFill>
                  <a:schemeClr val="tx1"/>
                </a:solidFill>
              </a:rPr>
              <a:t>Explanation: </a:t>
            </a:r>
            <a:r>
              <a:rPr lang="en-US" sz="2200" dirty="0"/>
              <a:t>By calculating a confidence interval, you provide a range of heights within which you believe the true population average height is likely to be. In this case, with 95% confidence, you estimate that the average height of all adults in the country lies between 169.02 cm and 170.98 cm. The margin of error (0.98 cm) accounts for the uncertainty associated with estimating the population mean from a sample.</a:t>
            </a:r>
          </a:p>
        </p:txBody>
      </p:sp>
    </p:spTree>
    <p:extLst>
      <p:ext uri="{BB962C8B-B14F-4D97-AF65-F5344CB8AC3E}">
        <p14:creationId xmlns:p14="http://schemas.microsoft.com/office/powerpoint/2010/main" val="386917254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167844F-298E-4890-096C-08ED7FF670F0}"/>
              </a:ext>
            </a:extLst>
          </p:cNvPr>
          <p:cNvSpPr>
            <a:spLocks noGrp="1"/>
          </p:cNvSpPr>
          <p:nvPr>
            <p:ph type="title"/>
          </p:nvPr>
        </p:nvSpPr>
        <p:spPr>
          <a:xfrm>
            <a:off x="678883" y="1994526"/>
            <a:ext cx="5975917" cy="2856250"/>
          </a:xfrm>
        </p:spPr>
        <p:txBody>
          <a:bodyPr anchor="ctr" anchorCtr="0">
            <a:noAutofit/>
          </a:bodyPr>
          <a:lstStyle/>
          <a:p>
            <a:r>
              <a:rPr lang="en-US" sz="5400" dirty="0"/>
              <a:t>Hypothesis Testing With Z-test</a:t>
            </a:r>
          </a:p>
        </p:txBody>
      </p:sp>
      <p:pic>
        <p:nvPicPr>
          <p:cNvPr id="6" name="Picture 5" descr="Hypothesis testing for data scientists | by Alicia Horsch | Towards Data  Science">
            <a:extLst>
              <a:ext uri="{FF2B5EF4-FFF2-40B4-BE49-F238E27FC236}">
                <a16:creationId xmlns:a16="http://schemas.microsoft.com/office/drawing/2014/main" id="{5C69D58D-30D4-9BFB-3356-6134DB6DCA1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5186" r="29896"/>
          <a:stretch>
            <a:fillRect/>
          </a:stretch>
        </p:blipFill>
        <p:spPr bwMode="auto">
          <a:xfrm>
            <a:off x="5511801" y="2"/>
            <a:ext cx="6680199" cy="6857999"/>
          </a:xfrm>
          <a:custGeom>
            <a:avLst/>
            <a:gdLst>
              <a:gd name="connsiteX0" fmla="*/ 2560796 w 6680199"/>
              <a:gd name="connsiteY0" fmla="*/ 0 h 6857999"/>
              <a:gd name="connsiteX1" fmla="*/ 6680199 w 6680199"/>
              <a:gd name="connsiteY1" fmla="*/ 0 h 6857999"/>
              <a:gd name="connsiteX2" fmla="*/ 6680199 w 6680199"/>
              <a:gd name="connsiteY2" fmla="*/ 6857999 h 6857999"/>
              <a:gd name="connsiteX3" fmla="*/ 0 w 6680199"/>
              <a:gd name="connsiteY3" fmla="*/ 6857999 h 6857999"/>
            </a:gdLst>
            <a:ahLst/>
            <a:cxnLst>
              <a:cxn ang="0">
                <a:pos x="connsiteX0" y="connsiteY0"/>
              </a:cxn>
              <a:cxn ang="0">
                <a:pos x="connsiteX1" y="connsiteY1"/>
              </a:cxn>
              <a:cxn ang="0">
                <a:pos x="connsiteX2" y="connsiteY2"/>
              </a:cxn>
              <a:cxn ang="0">
                <a:pos x="connsiteX3" y="connsiteY3"/>
              </a:cxn>
            </a:cxnLst>
            <a:rect l="l" t="t" r="r" b="b"/>
            <a:pathLst>
              <a:path w="6680199" h="6857999">
                <a:moveTo>
                  <a:pt x="2560796" y="0"/>
                </a:moveTo>
                <a:lnTo>
                  <a:pt x="6680199" y="0"/>
                </a:lnTo>
                <a:lnTo>
                  <a:pt x="6680199" y="6857999"/>
                </a:lnTo>
                <a:lnTo>
                  <a:pt x="0" y="6857999"/>
                </a:lnTo>
                <a:close/>
              </a:path>
            </a:pathLst>
          </a:custGeom>
          <a:noFill/>
          <a:extLst>
            <a:ext uri="{909E8E84-426E-40DD-AFC4-6F175D3DCCD1}">
              <a14:hiddenFill xmlns:a14="http://schemas.microsoft.com/office/drawing/2010/main">
                <a:solidFill>
                  <a:srgbClr val="FFFFFF"/>
                </a:solidFill>
              </a14:hiddenFill>
            </a:ext>
          </a:extLst>
        </p:spPr>
      </p:pic>
      <p:sp>
        <p:nvSpPr>
          <p:cNvPr id="5" name="Rectangle 9">
            <a:extLst>
              <a:ext uri="{FF2B5EF4-FFF2-40B4-BE49-F238E27FC236}">
                <a16:creationId xmlns:a16="http://schemas.microsoft.com/office/drawing/2014/main" id="{1623651A-8B48-2874-F83E-B1F5B2E47621}"/>
              </a:ext>
            </a:extLst>
          </p:cNvPr>
          <p:cNvSpPr/>
          <p:nvPr/>
        </p:nvSpPr>
        <p:spPr>
          <a:xfrm>
            <a:off x="5511800" y="1"/>
            <a:ext cx="6680200" cy="6858000"/>
          </a:xfrm>
          <a:custGeom>
            <a:avLst/>
            <a:gdLst>
              <a:gd name="connsiteX0" fmla="*/ 0 w 6692900"/>
              <a:gd name="connsiteY0" fmla="*/ 0 h 6858000"/>
              <a:gd name="connsiteX1" fmla="*/ 6692900 w 6692900"/>
              <a:gd name="connsiteY1" fmla="*/ 0 h 6858000"/>
              <a:gd name="connsiteX2" fmla="*/ 6692900 w 6692900"/>
              <a:gd name="connsiteY2" fmla="*/ 6858000 h 6858000"/>
              <a:gd name="connsiteX3" fmla="*/ 0 w 6692900"/>
              <a:gd name="connsiteY3" fmla="*/ 6858000 h 6858000"/>
              <a:gd name="connsiteX4" fmla="*/ 0 w 6692900"/>
              <a:gd name="connsiteY4" fmla="*/ 0 h 6858000"/>
              <a:gd name="connsiteX0" fmla="*/ 2425700 w 6692900"/>
              <a:gd name="connsiteY0" fmla="*/ 0 h 6858000"/>
              <a:gd name="connsiteX1" fmla="*/ 6692900 w 6692900"/>
              <a:gd name="connsiteY1" fmla="*/ 0 h 6858000"/>
              <a:gd name="connsiteX2" fmla="*/ 6692900 w 6692900"/>
              <a:gd name="connsiteY2" fmla="*/ 6858000 h 6858000"/>
              <a:gd name="connsiteX3" fmla="*/ 0 w 6692900"/>
              <a:gd name="connsiteY3" fmla="*/ 6858000 h 6858000"/>
              <a:gd name="connsiteX4" fmla="*/ 2425700 w 6692900"/>
              <a:gd name="connsiteY4" fmla="*/ 0 h 6858000"/>
              <a:gd name="connsiteX0" fmla="*/ 2565665 w 6692900"/>
              <a:gd name="connsiteY0" fmla="*/ 0 h 6858000"/>
              <a:gd name="connsiteX1" fmla="*/ 6692900 w 6692900"/>
              <a:gd name="connsiteY1" fmla="*/ 0 h 6858000"/>
              <a:gd name="connsiteX2" fmla="*/ 6692900 w 6692900"/>
              <a:gd name="connsiteY2" fmla="*/ 6858000 h 6858000"/>
              <a:gd name="connsiteX3" fmla="*/ 0 w 6692900"/>
              <a:gd name="connsiteY3" fmla="*/ 6858000 h 6858000"/>
              <a:gd name="connsiteX4" fmla="*/ 2565665 w 6692900"/>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92900" h="6858000">
                <a:moveTo>
                  <a:pt x="2565665" y="0"/>
                </a:moveTo>
                <a:lnTo>
                  <a:pt x="6692900" y="0"/>
                </a:lnTo>
                <a:lnTo>
                  <a:pt x="6692900" y="6858000"/>
                </a:lnTo>
                <a:lnTo>
                  <a:pt x="0" y="6858000"/>
                </a:lnTo>
                <a:lnTo>
                  <a:pt x="2565665" y="0"/>
                </a:lnTo>
                <a:close/>
              </a:path>
            </a:pathLst>
          </a:custGeom>
          <a:solidFill>
            <a:schemeClr val="bg2">
              <a:lumMod val="25000"/>
              <a:alpha val="41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Tree>
    <p:extLst>
      <p:ext uri="{BB962C8B-B14F-4D97-AF65-F5344CB8AC3E}">
        <p14:creationId xmlns:p14="http://schemas.microsoft.com/office/powerpoint/2010/main" val="236530002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5BA2E58-FEC9-D54D-ACC0-E7CEEF5F42E4}"/>
              </a:ext>
            </a:extLst>
          </p:cNvPr>
          <p:cNvSpPr>
            <a:spLocks noGrp="1"/>
          </p:cNvSpPr>
          <p:nvPr>
            <p:ph type="title"/>
          </p:nvPr>
        </p:nvSpPr>
        <p:spPr/>
        <p:txBody>
          <a:bodyPr>
            <a:normAutofit/>
          </a:bodyPr>
          <a:lstStyle/>
          <a:p>
            <a:r>
              <a:rPr lang="en-US" dirty="0"/>
              <a:t>Hypothesis Testing with Z-Test</a:t>
            </a:r>
          </a:p>
        </p:txBody>
      </p:sp>
      <p:sp>
        <p:nvSpPr>
          <p:cNvPr id="13" name="Content Placeholder 12">
            <a:extLst>
              <a:ext uri="{FF2B5EF4-FFF2-40B4-BE49-F238E27FC236}">
                <a16:creationId xmlns:a16="http://schemas.microsoft.com/office/drawing/2014/main" id="{E6267526-4913-FCF0-E153-4548D0B336DD}"/>
              </a:ext>
            </a:extLst>
          </p:cNvPr>
          <p:cNvSpPr>
            <a:spLocks noGrp="1"/>
          </p:cNvSpPr>
          <p:nvPr>
            <p:ph idx="1"/>
          </p:nvPr>
        </p:nvSpPr>
        <p:spPr/>
        <p:txBody>
          <a:bodyPr lIns="0" tIns="0" rIns="0" bIns="0">
            <a:noAutofit/>
          </a:bodyPr>
          <a:lstStyle/>
          <a:p>
            <a:pPr marL="0" indent="0">
              <a:lnSpc>
                <a:spcPct val="100000"/>
              </a:lnSpc>
              <a:spcBef>
                <a:spcPts val="500"/>
              </a:spcBef>
              <a:spcAft>
                <a:spcPts val="500"/>
              </a:spcAft>
              <a:buNone/>
            </a:pPr>
            <a:r>
              <a:rPr lang="en-US" sz="2400" b="1" dirty="0">
                <a:solidFill>
                  <a:schemeClr val="tx1"/>
                </a:solidFill>
              </a:rPr>
              <a:t>Introduction to the Z-Test for Large Sample Sizes</a:t>
            </a:r>
          </a:p>
          <a:p>
            <a:pPr>
              <a:lnSpc>
                <a:spcPct val="100000"/>
              </a:lnSpc>
              <a:spcBef>
                <a:spcPts val="500"/>
              </a:spcBef>
              <a:spcAft>
                <a:spcPts val="500"/>
              </a:spcAft>
            </a:pPr>
            <a:r>
              <a:rPr lang="en-US" sz="2400" b="1" dirty="0">
                <a:solidFill>
                  <a:schemeClr val="tx1"/>
                </a:solidFill>
              </a:rPr>
              <a:t>Z-Test: </a:t>
            </a:r>
            <a:r>
              <a:rPr lang="en-US" sz="2200" dirty="0"/>
              <a:t>The Z-test is a statistical hypothesis test used to assess whether a sample mean is significantly different from a known population mean when the sample size is sufficiently large. It relies on the standard normal distribution and is suitable when the population standard deviation is known.</a:t>
            </a:r>
          </a:p>
          <a:p>
            <a:pPr marL="0" indent="0">
              <a:lnSpc>
                <a:spcPct val="100000"/>
              </a:lnSpc>
              <a:spcBef>
                <a:spcPts val="500"/>
              </a:spcBef>
              <a:spcAft>
                <a:spcPts val="500"/>
              </a:spcAft>
              <a:buNone/>
            </a:pPr>
            <a:r>
              <a:rPr lang="en-US" sz="2400" b="1" dirty="0">
                <a:solidFill>
                  <a:schemeClr val="tx1"/>
                </a:solidFill>
              </a:rPr>
              <a:t>Comparison with the t-Test</a:t>
            </a:r>
          </a:p>
          <a:p>
            <a:pPr>
              <a:lnSpc>
                <a:spcPct val="100000"/>
              </a:lnSpc>
              <a:spcBef>
                <a:spcPts val="500"/>
              </a:spcBef>
              <a:spcAft>
                <a:spcPts val="500"/>
              </a:spcAft>
            </a:pPr>
            <a:r>
              <a:rPr lang="en-US" sz="2400" b="1" dirty="0">
                <a:solidFill>
                  <a:schemeClr val="tx1"/>
                </a:solidFill>
              </a:rPr>
              <a:t>Comparison: </a:t>
            </a:r>
            <a:r>
              <a:rPr lang="en-US" sz="2200" dirty="0"/>
              <a:t>The Z-test and t-test are both used for hypothesis testing, but they differ in their assumptions about the population standard deviation and sample size:</a:t>
            </a:r>
          </a:p>
          <a:p>
            <a:pPr lvl="1">
              <a:lnSpc>
                <a:spcPct val="100000"/>
              </a:lnSpc>
              <a:spcAft>
                <a:spcPts val="500"/>
              </a:spcAft>
            </a:pPr>
            <a:r>
              <a:rPr lang="en-US" b="1" dirty="0">
                <a:solidFill>
                  <a:schemeClr val="tx1"/>
                </a:solidFill>
              </a:rPr>
              <a:t>Z-Test: </a:t>
            </a:r>
            <a:r>
              <a:rPr lang="en-US" sz="2200" dirty="0"/>
              <a:t>Assumes a known population standard deviation and is appropriate for large sample sizes (typically n &gt; 30).</a:t>
            </a:r>
          </a:p>
          <a:p>
            <a:pPr lvl="1">
              <a:lnSpc>
                <a:spcPct val="100000"/>
              </a:lnSpc>
              <a:spcAft>
                <a:spcPts val="500"/>
              </a:spcAft>
            </a:pPr>
            <a:r>
              <a:rPr lang="en-US" b="1" dirty="0">
                <a:solidFill>
                  <a:schemeClr val="tx1"/>
                </a:solidFill>
              </a:rPr>
              <a:t>t-Test: </a:t>
            </a:r>
            <a:r>
              <a:rPr lang="en-US" sz="2200" dirty="0"/>
              <a:t>Assumes an unknown population standard deviation and is</a:t>
            </a:r>
            <a:br>
              <a:rPr lang="en-US" sz="2200" dirty="0"/>
            </a:br>
            <a:r>
              <a:rPr lang="en-US" sz="2200" dirty="0"/>
              <a:t>suitable for smaller sample sizes.</a:t>
            </a:r>
          </a:p>
        </p:txBody>
      </p:sp>
    </p:spTree>
    <p:extLst>
      <p:ext uri="{BB962C8B-B14F-4D97-AF65-F5344CB8AC3E}">
        <p14:creationId xmlns:p14="http://schemas.microsoft.com/office/powerpoint/2010/main" val="313138554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82E4AF-07C8-8033-6D98-33CB148F9A95}"/>
              </a:ext>
            </a:extLst>
          </p:cNvPr>
          <p:cNvSpPr>
            <a:spLocks noGrp="1"/>
          </p:cNvSpPr>
          <p:nvPr>
            <p:ph type="title"/>
          </p:nvPr>
        </p:nvSpPr>
        <p:spPr/>
        <p:txBody>
          <a:bodyPr/>
          <a:lstStyle/>
          <a:p>
            <a:r>
              <a:rPr lang="en-IN" dirty="0"/>
              <a:t>Comparison: T test &amp; Z test</a:t>
            </a:r>
          </a:p>
        </p:txBody>
      </p:sp>
      <p:graphicFrame>
        <p:nvGraphicFramePr>
          <p:cNvPr id="4" name="Content Placeholder 3">
            <a:extLst>
              <a:ext uri="{FF2B5EF4-FFF2-40B4-BE49-F238E27FC236}">
                <a16:creationId xmlns:a16="http://schemas.microsoft.com/office/drawing/2014/main" id="{7EBBFF70-FC20-8419-6FA2-329AAC5A16B1}"/>
              </a:ext>
            </a:extLst>
          </p:cNvPr>
          <p:cNvGraphicFramePr>
            <a:graphicFrameLocks noGrp="1"/>
          </p:cNvGraphicFramePr>
          <p:nvPr>
            <p:ph idx="1"/>
            <p:extLst>
              <p:ext uri="{D42A27DB-BD31-4B8C-83A1-F6EECF244321}">
                <p14:modId xmlns:p14="http://schemas.microsoft.com/office/powerpoint/2010/main" val="195558414"/>
              </p:ext>
            </p:extLst>
          </p:nvPr>
        </p:nvGraphicFramePr>
        <p:xfrm>
          <a:off x="736600" y="1284333"/>
          <a:ext cx="10541001" cy="4649217"/>
        </p:xfrm>
        <a:graphic>
          <a:graphicData uri="http://schemas.openxmlformats.org/drawingml/2006/table">
            <a:tbl>
              <a:tblPr>
                <a:tableStyleId>{5940675A-B579-460E-94D1-54222C63F5DA}</a:tableStyleId>
              </a:tblPr>
              <a:tblGrid>
                <a:gridCol w="2260601">
                  <a:extLst>
                    <a:ext uri="{9D8B030D-6E8A-4147-A177-3AD203B41FA5}">
                      <a16:colId xmlns:a16="http://schemas.microsoft.com/office/drawing/2014/main" val="178958405"/>
                    </a:ext>
                  </a:extLst>
                </a:gridCol>
                <a:gridCol w="4000500">
                  <a:extLst>
                    <a:ext uri="{9D8B030D-6E8A-4147-A177-3AD203B41FA5}">
                      <a16:colId xmlns:a16="http://schemas.microsoft.com/office/drawing/2014/main" val="3536100732"/>
                    </a:ext>
                  </a:extLst>
                </a:gridCol>
                <a:gridCol w="4279900">
                  <a:extLst>
                    <a:ext uri="{9D8B030D-6E8A-4147-A177-3AD203B41FA5}">
                      <a16:colId xmlns:a16="http://schemas.microsoft.com/office/drawing/2014/main" val="1009006970"/>
                    </a:ext>
                  </a:extLst>
                </a:gridCol>
              </a:tblGrid>
              <a:tr h="326521">
                <a:tc>
                  <a:txBody>
                    <a:bodyPr/>
                    <a:lstStyle/>
                    <a:p>
                      <a:pPr algn="ctr" fontAlgn="b"/>
                      <a:r>
                        <a:rPr lang="en-IN" sz="1800" b="1" dirty="0">
                          <a:effectLst/>
                        </a:rPr>
                        <a:t>Aspect</a:t>
                      </a:r>
                    </a:p>
                  </a:txBody>
                  <a:tcPr marL="13960" marR="13960" marT="6980" marB="6980" anchor="b"/>
                </a:tc>
                <a:tc>
                  <a:txBody>
                    <a:bodyPr/>
                    <a:lstStyle/>
                    <a:p>
                      <a:pPr algn="ctr" fontAlgn="b"/>
                      <a:r>
                        <a:rPr lang="en-IN" sz="1800" b="1" dirty="0">
                          <a:effectLst/>
                        </a:rPr>
                        <a:t>T-Test</a:t>
                      </a:r>
                    </a:p>
                  </a:txBody>
                  <a:tcPr marL="13960" marR="13960" marT="6980" marB="6980" anchor="b"/>
                </a:tc>
                <a:tc>
                  <a:txBody>
                    <a:bodyPr/>
                    <a:lstStyle/>
                    <a:p>
                      <a:pPr algn="ctr" fontAlgn="b"/>
                      <a:r>
                        <a:rPr lang="en-IN" sz="1800" b="1" dirty="0">
                          <a:effectLst/>
                        </a:rPr>
                        <a:t>Z-Test</a:t>
                      </a:r>
                    </a:p>
                  </a:txBody>
                  <a:tcPr marL="13960" marR="13960" marT="6980" marB="6980" anchor="b"/>
                </a:tc>
                <a:extLst>
                  <a:ext uri="{0D108BD9-81ED-4DB2-BD59-A6C34878D82A}">
                    <a16:rowId xmlns:a16="http://schemas.microsoft.com/office/drawing/2014/main" val="1774542020"/>
                  </a:ext>
                </a:extLst>
              </a:tr>
              <a:tr h="809675">
                <a:tc>
                  <a:txBody>
                    <a:bodyPr/>
                    <a:lstStyle/>
                    <a:p>
                      <a:pPr fontAlgn="base"/>
                      <a:r>
                        <a:rPr lang="en-IN" sz="1800" b="1" dirty="0">
                          <a:effectLst/>
                        </a:rPr>
                        <a:t>Purpose</a:t>
                      </a:r>
                      <a:endParaRPr lang="en-IN" sz="1800" dirty="0">
                        <a:effectLst/>
                      </a:endParaRPr>
                    </a:p>
                  </a:txBody>
                  <a:tcPr marL="13960" marR="13960" marT="6980" marB="6980" anchor="ctr"/>
                </a:tc>
                <a:tc>
                  <a:txBody>
                    <a:bodyPr/>
                    <a:lstStyle/>
                    <a:p>
                      <a:pPr fontAlgn="base"/>
                      <a:r>
                        <a:rPr lang="en-US" sz="1800">
                          <a:effectLst/>
                        </a:rPr>
                        <a:t>Compare means of two groups (small samples)</a:t>
                      </a:r>
                    </a:p>
                  </a:txBody>
                  <a:tcPr marL="13960" marR="13960" marT="6980" marB="6980" anchor="ctr"/>
                </a:tc>
                <a:tc>
                  <a:txBody>
                    <a:bodyPr/>
                    <a:lstStyle/>
                    <a:p>
                      <a:pPr fontAlgn="base"/>
                      <a:r>
                        <a:rPr lang="en-US" sz="1800">
                          <a:effectLst/>
                        </a:rPr>
                        <a:t>Compare a sample mean to a known population mean (large samples)</a:t>
                      </a:r>
                    </a:p>
                  </a:txBody>
                  <a:tcPr marL="13960" marR="13960" marT="6980" marB="6980" anchor="ctr"/>
                </a:tc>
                <a:extLst>
                  <a:ext uri="{0D108BD9-81ED-4DB2-BD59-A6C34878D82A}">
                    <a16:rowId xmlns:a16="http://schemas.microsoft.com/office/drawing/2014/main" val="3679113172"/>
                  </a:ext>
                </a:extLst>
              </a:tr>
              <a:tr h="390878">
                <a:tc>
                  <a:txBody>
                    <a:bodyPr/>
                    <a:lstStyle/>
                    <a:p>
                      <a:pPr fontAlgn="base"/>
                      <a:r>
                        <a:rPr lang="en-IN" sz="1800" b="1">
                          <a:effectLst/>
                        </a:rPr>
                        <a:t>Sample Size</a:t>
                      </a:r>
                      <a:endParaRPr lang="en-IN" sz="1800">
                        <a:effectLst/>
                      </a:endParaRPr>
                    </a:p>
                  </a:txBody>
                  <a:tcPr marL="13960" marR="13960" marT="6980" marB="6980" anchor="ctr"/>
                </a:tc>
                <a:tc>
                  <a:txBody>
                    <a:bodyPr/>
                    <a:lstStyle/>
                    <a:p>
                      <a:pPr fontAlgn="base"/>
                      <a:r>
                        <a:rPr lang="en-US" sz="1800">
                          <a:effectLst/>
                        </a:rPr>
                        <a:t>Small sample sizes (typically &lt; 30)</a:t>
                      </a:r>
                    </a:p>
                  </a:txBody>
                  <a:tcPr marL="13960" marR="13960" marT="6980" marB="6980" anchor="ctr"/>
                </a:tc>
                <a:tc>
                  <a:txBody>
                    <a:bodyPr/>
                    <a:lstStyle/>
                    <a:p>
                      <a:pPr fontAlgn="base"/>
                      <a:r>
                        <a:rPr lang="en-US" sz="1800">
                          <a:effectLst/>
                        </a:rPr>
                        <a:t>Large sample sizes (typically ≥ 30)</a:t>
                      </a:r>
                    </a:p>
                  </a:txBody>
                  <a:tcPr marL="13960" marR="13960" marT="6980" marB="6980" anchor="ctr"/>
                </a:tc>
                <a:extLst>
                  <a:ext uri="{0D108BD9-81ED-4DB2-BD59-A6C34878D82A}">
                    <a16:rowId xmlns:a16="http://schemas.microsoft.com/office/drawing/2014/main" val="236124146"/>
                  </a:ext>
                </a:extLst>
              </a:tr>
              <a:tr h="474637">
                <a:tc>
                  <a:txBody>
                    <a:bodyPr/>
                    <a:lstStyle/>
                    <a:p>
                      <a:pPr fontAlgn="base"/>
                      <a:r>
                        <a:rPr lang="en-IN" sz="1800" b="1">
                          <a:effectLst/>
                        </a:rPr>
                        <a:t>Population SD</a:t>
                      </a:r>
                      <a:endParaRPr lang="en-IN" sz="1800">
                        <a:effectLst/>
                      </a:endParaRPr>
                    </a:p>
                  </a:txBody>
                  <a:tcPr marL="13960" marR="13960" marT="6980" marB="6980" anchor="ctr"/>
                </a:tc>
                <a:tc>
                  <a:txBody>
                    <a:bodyPr/>
                    <a:lstStyle/>
                    <a:p>
                      <a:pPr fontAlgn="base"/>
                      <a:r>
                        <a:rPr lang="en-US" sz="1800" dirty="0">
                          <a:effectLst/>
                        </a:rPr>
                        <a:t>Unknown and estimated from the sample</a:t>
                      </a:r>
                    </a:p>
                  </a:txBody>
                  <a:tcPr marL="13960" marR="13960" marT="6980" marB="6980" anchor="ctr"/>
                </a:tc>
                <a:tc>
                  <a:txBody>
                    <a:bodyPr/>
                    <a:lstStyle/>
                    <a:p>
                      <a:pPr fontAlgn="base"/>
                      <a:r>
                        <a:rPr lang="en-US" sz="1800" dirty="0">
                          <a:effectLst/>
                        </a:rPr>
                        <a:t>Known or estimated from a large sample</a:t>
                      </a:r>
                    </a:p>
                  </a:txBody>
                  <a:tcPr marL="13960" marR="13960" marT="6980" marB="6980" anchor="ctr"/>
                </a:tc>
                <a:extLst>
                  <a:ext uri="{0D108BD9-81ED-4DB2-BD59-A6C34878D82A}">
                    <a16:rowId xmlns:a16="http://schemas.microsoft.com/office/drawing/2014/main" val="1159015589"/>
                  </a:ext>
                </a:extLst>
              </a:tr>
              <a:tr h="474637">
                <a:tc>
                  <a:txBody>
                    <a:bodyPr/>
                    <a:lstStyle/>
                    <a:p>
                      <a:pPr fontAlgn="base"/>
                      <a:r>
                        <a:rPr lang="en-IN" sz="1800" b="1">
                          <a:effectLst/>
                        </a:rPr>
                        <a:t>Distribution</a:t>
                      </a:r>
                      <a:endParaRPr lang="en-IN" sz="1800">
                        <a:effectLst/>
                      </a:endParaRPr>
                    </a:p>
                  </a:txBody>
                  <a:tcPr marL="13960" marR="13960" marT="6980" marB="6980" anchor="ctr"/>
                </a:tc>
                <a:tc>
                  <a:txBody>
                    <a:bodyPr/>
                    <a:lstStyle/>
                    <a:p>
                      <a:pPr fontAlgn="base"/>
                      <a:r>
                        <a:rPr lang="en-IN" sz="1800" dirty="0">
                          <a:effectLst/>
                        </a:rPr>
                        <a:t>Follows the t-distribution</a:t>
                      </a:r>
                    </a:p>
                  </a:txBody>
                  <a:tcPr marL="13960" marR="13960" marT="6980" marB="6980" anchor="ctr"/>
                </a:tc>
                <a:tc>
                  <a:txBody>
                    <a:bodyPr/>
                    <a:lstStyle/>
                    <a:p>
                      <a:pPr fontAlgn="base"/>
                      <a:r>
                        <a:rPr lang="en-US" sz="1800">
                          <a:effectLst/>
                        </a:rPr>
                        <a:t>Follows the standard normal (z) distribution</a:t>
                      </a:r>
                    </a:p>
                  </a:txBody>
                  <a:tcPr marL="13960" marR="13960" marT="6980" marB="6980" anchor="ctr"/>
                </a:tc>
                <a:extLst>
                  <a:ext uri="{0D108BD9-81ED-4DB2-BD59-A6C34878D82A}">
                    <a16:rowId xmlns:a16="http://schemas.microsoft.com/office/drawing/2014/main" val="1755390312"/>
                  </a:ext>
                </a:extLst>
              </a:tr>
              <a:tr h="265684">
                <a:tc>
                  <a:txBody>
                    <a:bodyPr/>
                    <a:lstStyle/>
                    <a:p>
                      <a:pPr fontAlgn="base"/>
                      <a:r>
                        <a:rPr lang="en-IN" sz="1800" b="1">
                          <a:effectLst/>
                        </a:rPr>
                        <a:t>Formula</a:t>
                      </a:r>
                      <a:endParaRPr lang="en-IN" sz="1800">
                        <a:effectLst/>
                      </a:endParaRPr>
                    </a:p>
                  </a:txBody>
                  <a:tcPr marL="13960" marR="13960" marT="6980" marB="6980" anchor="ctr"/>
                </a:tc>
                <a:tc>
                  <a:txBody>
                    <a:bodyPr/>
                    <a:lstStyle/>
                    <a:p>
                      <a:pPr fontAlgn="base"/>
                      <a:r>
                        <a:rPr lang="pt-BR" sz="1800" dirty="0">
                          <a:effectLst/>
                        </a:rPr>
                        <a:t>t =​ (Xˉ−μ​) / (s/</a:t>
                      </a:r>
                      <a:r>
                        <a:rPr lang="en-IN" sz="1800" b="0" kern="1200" dirty="0">
                          <a:solidFill>
                            <a:schemeClr val="tx1"/>
                          </a:solidFill>
                          <a:effectLst/>
                        </a:rPr>
                        <a:t>√</a:t>
                      </a:r>
                      <a:r>
                        <a:rPr lang="pt-BR" sz="1800" dirty="0">
                          <a:effectLst/>
                        </a:rPr>
                        <a:t>n)</a:t>
                      </a:r>
                    </a:p>
                  </a:txBody>
                  <a:tcPr marL="13960" marR="13960" marT="6980" marB="6980" anchor="ctr"/>
                </a:tc>
                <a:tc>
                  <a:txBody>
                    <a:bodyPr/>
                    <a:lstStyle/>
                    <a:p>
                      <a:pPr fontAlgn="base"/>
                      <a:r>
                        <a:rPr lang="en-IN" sz="1800" dirty="0">
                          <a:effectLst/>
                        </a:rPr>
                        <a:t>z = (​Xˉ−</a:t>
                      </a:r>
                      <a:r>
                        <a:rPr lang="el-GR" sz="1800" dirty="0">
                          <a:effectLst/>
                        </a:rPr>
                        <a:t>μ​</a:t>
                      </a:r>
                      <a:r>
                        <a:rPr lang="en-IN" sz="1800" dirty="0">
                          <a:effectLst/>
                        </a:rPr>
                        <a:t>) / (</a:t>
                      </a:r>
                      <a:r>
                        <a:rPr lang="el-GR" sz="1800" dirty="0">
                          <a:effectLst/>
                        </a:rPr>
                        <a:t>σ/</a:t>
                      </a:r>
                      <a:r>
                        <a:rPr lang="en-IN" sz="1800" b="0" kern="1200" dirty="0">
                          <a:solidFill>
                            <a:schemeClr val="tx1"/>
                          </a:solidFill>
                          <a:effectLst/>
                        </a:rPr>
                        <a:t>√</a:t>
                      </a:r>
                      <a:r>
                        <a:rPr lang="en-IN" sz="1800" dirty="0">
                          <a:effectLst/>
                        </a:rPr>
                        <a:t>n)</a:t>
                      </a:r>
                      <a:endParaRPr lang="el-GR" sz="1800" dirty="0">
                        <a:effectLst/>
                      </a:endParaRPr>
                    </a:p>
                  </a:txBody>
                  <a:tcPr marL="13960" marR="13960" marT="6980" marB="6980" anchor="ctr"/>
                </a:tc>
                <a:extLst>
                  <a:ext uri="{0D108BD9-81ED-4DB2-BD59-A6C34878D82A}">
                    <a16:rowId xmlns:a16="http://schemas.microsoft.com/office/drawing/2014/main" val="1037517074"/>
                  </a:ext>
                </a:extLst>
              </a:tr>
              <a:tr h="474637">
                <a:tc>
                  <a:txBody>
                    <a:bodyPr/>
                    <a:lstStyle/>
                    <a:p>
                      <a:pPr fontAlgn="base"/>
                      <a:r>
                        <a:rPr lang="en-IN" sz="1800" b="1">
                          <a:effectLst/>
                        </a:rPr>
                        <a:t>Critical Values</a:t>
                      </a:r>
                      <a:endParaRPr lang="en-IN" sz="1800">
                        <a:effectLst/>
                      </a:endParaRPr>
                    </a:p>
                  </a:txBody>
                  <a:tcPr marL="13960" marR="13960" marT="6980" marB="6980" anchor="ctr"/>
                </a:tc>
                <a:tc>
                  <a:txBody>
                    <a:bodyPr/>
                    <a:lstStyle/>
                    <a:p>
                      <a:pPr fontAlgn="base"/>
                      <a:r>
                        <a:rPr lang="en-IN" sz="1800" dirty="0">
                          <a:effectLst/>
                        </a:rPr>
                        <a:t>Use t-distribution tables</a:t>
                      </a:r>
                    </a:p>
                  </a:txBody>
                  <a:tcPr marL="13960" marR="13960" marT="6980" marB="6980" anchor="ctr"/>
                </a:tc>
                <a:tc>
                  <a:txBody>
                    <a:bodyPr/>
                    <a:lstStyle/>
                    <a:p>
                      <a:pPr fontAlgn="base"/>
                      <a:r>
                        <a:rPr lang="en-IN" sz="1800" dirty="0">
                          <a:effectLst/>
                        </a:rPr>
                        <a:t>Use standard normal (z) distribution tables</a:t>
                      </a:r>
                    </a:p>
                  </a:txBody>
                  <a:tcPr marL="13960" marR="13960" marT="6980" marB="6980" anchor="ctr"/>
                </a:tc>
                <a:extLst>
                  <a:ext uri="{0D108BD9-81ED-4DB2-BD59-A6C34878D82A}">
                    <a16:rowId xmlns:a16="http://schemas.microsoft.com/office/drawing/2014/main" val="3798535225"/>
                  </a:ext>
                </a:extLst>
              </a:tr>
              <a:tr h="642156">
                <a:tc>
                  <a:txBody>
                    <a:bodyPr/>
                    <a:lstStyle/>
                    <a:p>
                      <a:pPr fontAlgn="base"/>
                      <a:r>
                        <a:rPr lang="en-IN" sz="1800" b="1">
                          <a:effectLst/>
                        </a:rPr>
                        <a:t>Common Use Case</a:t>
                      </a:r>
                      <a:endParaRPr lang="en-IN" sz="1800">
                        <a:effectLst/>
                      </a:endParaRPr>
                    </a:p>
                  </a:txBody>
                  <a:tcPr marL="13960" marR="13960" marT="6980" marB="6980" anchor="ctr"/>
                </a:tc>
                <a:tc>
                  <a:txBody>
                    <a:bodyPr/>
                    <a:lstStyle/>
                    <a:p>
                      <a:pPr fontAlgn="base"/>
                      <a:r>
                        <a:rPr lang="en-US" sz="1800" dirty="0">
                          <a:effectLst/>
                        </a:rPr>
                        <a:t>Comparing means when SD is unknown</a:t>
                      </a:r>
                    </a:p>
                  </a:txBody>
                  <a:tcPr marL="13960" marR="13960" marT="6980" marB="6980" anchor="ctr"/>
                </a:tc>
                <a:tc>
                  <a:txBody>
                    <a:bodyPr/>
                    <a:lstStyle/>
                    <a:p>
                      <a:pPr fontAlgn="base"/>
                      <a:r>
                        <a:rPr lang="en-US" sz="1800" dirty="0">
                          <a:effectLst/>
                        </a:rPr>
                        <a:t>Comparing a sample mean to a known population mean</a:t>
                      </a:r>
                    </a:p>
                  </a:txBody>
                  <a:tcPr marL="13960" marR="13960" marT="6980" marB="6980" anchor="ctr"/>
                </a:tc>
                <a:extLst>
                  <a:ext uri="{0D108BD9-81ED-4DB2-BD59-A6C34878D82A}">
                    <a16:rowId xmlns:a16="http://schemas.microsoft.com/office/drawing/2014/main" val="2431036110"/>
                  </a:ext>
                </a:extLst>
              </a:tr>
              <a:tr h="767796">
                <a:tc>
                  <a:txBody>
                    <a:bodyPr/>
                    <a:lstStyle/>
                    <a:p>
                      <a:pPr fontAlgn="base"/>
                      <a:r>
                        <a:rPr lang="en-IN" sz="1800" b="1" dirty="0">
                          <a:effectLst/>
                        </a:rPr>
                        <a:t>Example</a:t>
                      </a:r>
                      <a:endParaRPr lang="en-IN" sz="1800" dirty="0">
                        <a:effectLst/>
                      </a:endParaRPr>
                    </a:p>
                  </a:txBody>
                  <a:tcPr marL="13960" marR="13960" marT="6980" marB="6980" anchor="ctr"/>
                </a:tc>
                <a:tc>
                  <a:txBody>
                    <a:bodyPr/>
                    <a:lstStyle/>
                    <a:p>
                      <a:pPr fontAlgn="base"/>
                      <a:r>
                        <a:rPr lang="en-US" sz="1800">
                          <a:effectLst/>
                        </a:rPr>
                        <a:t>Compare test scores of two groups</a:t>
                      </a:r>
                    </a:p>
                  </a:txBody>
                  <a:tcPr marL="13960" marR="13960" marT="6980" marB="6980" anchor="ctr"/>
                </a:tc>
                <a:tc>
                  <a:txBody>
                    <a:bodyPr/>
                    <a:lstStyle/>
                    <a:p>
                      <a:pPr fontAlgn="base"/>
                      <a:r>
                        <a:rPr lang="en-US" sz="1800" dirty="0">
                          <a:effectLst/>
                        </a:rPr>
                        <a:t>Compare the average height of a sample to a known population mean</a:t>
                      </a:r>
                    </a:p>
                  </a:txBody>
                  <a:tcPr marL="13960" marR="13960" marT="6980" marB="6980" anchor="ctr"/>
                </a:tc>
                <a:extLst>
                  <a:ext uri="{0D108BD9-81ED-4DB2-BD59-A6C34878D82A}">
                    <a16:rowId xmlns:a16="http://schemas.microsoft.com/office/drawing/2014/main" val="716187474"/>
                  </a:ext>
                </a:extLst>
              </a:tr>
            </a:tbl>
          </a:graphicData>
        </a:graphic>
      </p:graphicFrame>
    </p:spTree>
    <p:extLst>
      <p:ext uri="{BB962C8B-B14F-4D97-AF65-F5344CB8AC3E}">
        <p14:creationId xmlns:p14="http://schemas.microsoft.com/office/powerpoint/2010/main" val="104874560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C40695-C807-69F2-D4CE-796C2CA4958C}"/>
              </a:ext>
            </a:extLst>
          </p:cNvPr>
          <p:cNvSpPr>
            <a:spLocks noGrp="1"/>
          </p:cNvSpPr>
          <p:nvPr>
            <p:ph type="title"/>
          </p:nvPr>
        </p:nvSpPr>
        <p:spPr/>
        <p:txBody>
          <a:bodyPr/>
          <a:lstStyle/>
          <a:p>
            <a:r>
              <a:rPr lang="en-IN" dirty="0"/>
              <a:t>Steps in z test</a:t>
            </a:r>
          </a:p>
        </p:txBody>
      </p:sp>
      <p:sp>
        <p:nvSpPr>
          <p:cNvPr id="3" name="Content Placeholder 2">
            <a:extLst>
              <a:ext uri="{FF2B5EF4-FFF2-40B4-BE49-F238E27FC236}">
                <a16:creationId xmlns:a16="http://schemas.microsoft.com/office/drawing/2014/main" id="{1495305B-3BFE-4C13-83AF-EFEA6400BBED}"/>
              </a:ext>
            </a:extLst>
          </p:cNvPr>
          <p:cNvSpPr>
            <a:spLocks noGrp="1"/>
          </p:cNvSpPr>
          <p:nvPr>
            <p:ph idx="1"/>
          </p:nvPr>
        </p:nvSpPr>
        <p:spPr>
          <a:xfrm>
            <a:off x="678884" y="1485900"/>
            <a:ext cx="10834234" cy="4572001"/>
          </a:xfrm>
        </p:spPr>
        <p:txBody>
          <a:bodyPr>
            <a:normAutofit fontScale="92500" lnSpcReduction="10000"/>
          </a:bodyPr>
          <a:lstStyle/>
          <a:p>
            <a:pPr algn="l"/>
            <a:r>
              <a:rPr lang="en-IN" sz="2200" b="1" i="0" dirty="0">
                <a:effectLst/>
                <a:latin typeface="+mn-lt"/>
              </a:rPr>
              <a:t>Step 1: Formulate Hypotheses</a:t>
            </a:r>
          </a:p>
          <a:p>
            <a:pPr marL="0" indent="0" algn="l">
              <a:buNone/>
            </a:pPr>
            <a:endParaRPr lang="en-IN" sz="2200" b="1" i="0" dirty="0">
              <a:effectLst/>
              <a:latin typeface="+mn-lt"/>
            </a:endParaRPr>
          </a:p>
          <a:p>
            <a:pPr algn="l"/>
            <a:r>
              <a:rPr lang="en-US" sz="2200" b="1" i="0" dirty="0">
                <a:effectLst/>
                <a:latin typeface="+mn-lt"/>
              </a:rPr>
              <a:t>Step 2: Set Significance Level</a:t>
            </a:r>
          </a:p>
          <a:p>
            <a:pPr marL="0" indent="0" algn="l">
              <a:buNone/>
            </a:pPr>
            <a:endParaRPr lang="en-US" sz="2200" b="1" i="0" dirty="0">
              <a:effectLst/>
              <a:latin typeface="+mn-lt"/>
            </a:endParaRPr>
          </a:p>
          <a:p>
            <a:pPr algn="l"/>
            <a:r>
              <a:rPr lang="en-US" sz="2200" b="1" i="0" dirty="0">
                <a:effectLst/>
                <a:latin typeface="+mn-lt"/>
              </a:rPr>
              <a:t>Step 3: Calculate the Sample Mean and Standard Deviation</a:t>
            </a:r>
          </a:p>
          <a:p>
            <a:pPr marL="0" indent="0" algn="l">
              <a:buNone/>
            </a:pPr>
            <a:endParaRPr lang="en-US" sz="2200" b="1" i="0" dirty="0">
              <a:effectLst/>
              <a:latin typeface="+mn-lt"/>
            </a:endParaRPr>
          </a:p>
          <a:p>
            <a:pPr algn="l"/>
            <a:r>
              <a:rPr lang="en-US" sz="2200" b="1" i="0" dirty="0">
                <a:effectLst/>
                <a:latin typeface="+mn-lt"/>
              </a:rPr>
              <a:t>Step 4: Set Up the Z-Test Statistic</a:t>
            </a:r>
          </a:p>
          <a:p>
            <a:pPr marL="0" indent="0" algn="l">
              <a:buNone/>
            </a:pPr>
            <a:endParaRPr lang="en-US" sz="2200" b="1" i="0" dirty="0">
              <a:effectLst/>
              <a:latin typeface="+mn-lt"/>
            </a:endParaRPr>
          </a:p>
          <a:p>
            <a:pPr algn="l"/>
            <a:r>
              <a:rPr lang="en-US" sz="2200" b="1" i="0" dirty="0">
                <a:effectLst/>
                <a:latin typeface="+mn-lt"/>
              </a:rPr>
              <a:t>Step 5: Find Critical Value or P-Value</a:t>
            </a:r>
          </a:p>
          <a:p>
            <a:pPr marL="0" indent="0" algn="l">
              <a:buNone/>
            </a:pPr>
            <a:endParaRPr lang="en-US" sz="2200" b="1" i="0" dirty="0">
              <a:effectLst/>
              <a:latin typeface="+mn-lt"/>
            </a:endParaRPr>
          </a:p>
          <a:p>
            <a:pPr algn="l"/>
            <a:r>
              <a:rPr lang="en-US" sz="2200" b="1" i="0" dirty="0">
                <a:effectLst/>
                <a:latin typeface="+mn-lt"/>
              </a:rPr>
              <a:t>Step 6: Make a Decision</a:t>
            </a:r>
            <a:br>
              <a:rPr lang="en-IN" sz="2200" b="0" i="0" dirty="0">
                <a:solidFill>
                  <a:srgbClr val="374151"/>
                </a:solidFill>
                <a:effectLst/>
                <a:latin typeface="+mn-lt"/>
              </a:rPr>
            </a:br>
            <a:endParaRPr lang="en-IN" sz="2200" dirty="0">
              <a:latin typeface="+mn-lt"/>
            </a:endParaRPr>
          </a:p>
        </p:txBody>
      </p:sp>
    </p:spTree>
    <p:extLst>
      <p:ext uri="{BB962C8B-B14F-4D97-AF65-F5344CB8AC3E}">
        <p14:creationId xmlns:p14="http://schemas.microsoft.com/office/powerpoint/2010/main" val="207533044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5BA2E58-FEC9-D54D-ACC0-E7CEEF5F42E4}"/>
              </a:ext>
            </a:extLst>
          </p:cNvPr>
          <p:cNvSpPr>
            <a:spLocks noGrp="1"/>
          </p:cNvSpPr>
          <p:nvPr>
            <p:ph type="title"/>
          </p:nvPr>
        </p:nvSpPr>
        <p:spPr/>
        <p:txBody>
          <a:bodyPr>
            <a:normAutofit/>
          </a:bodyPr>
          <a:lstStyle/>
          <a:p>
            <a:r>
              <a:rPr lang="en-US" dirty="0"/>
              <a:t>Cont…</a:t>
            </a:r>
          </a:p>
        </p:txBody>
      </p:sp>
      <p:sp>
        <p:nvSpPr>
          <p:cNvPr id="13" name="Content Placeholder 12">
            <a:extLst>
              <a:ext uri="{FF2B5EF4-FFF2-40B4-BE49-F238E27FC236}">
                <a16:creationId xmlns:a16="http://schemas.microsoft.com/office/drawing/2014/main" id="{E6267526-4913-FCF0-E153-4548D0B336DD}"/>
              </a:ext>
            </a:extLst>
          </p:cNvPr>
          <p:cNvSpPr>
            <a:spLocks noGrp="1"/>
          </p:cNvSpPr>
          <p:nvPr>
            <p:ph idx="1"/>
          </p:nvPr>
        </p:nvSpPr>
        <p:spPr>
          <a:xfrm>
            <a:off x="678883" y="1295769"/>
            <a:ext cx="10834234" cy="4918764"/>
          </a:xfrm>
        </p:spPr>
        <p:txBody>
          <a:bodyPr lIns="0" tIns="0" rIns="0" bIns="0">
            <a:noAutofit/>
          </a:bodyPr>
          <a:lstStyle/>
          <a:p>
            <a:pPr marL="0" indent="0">
              <a:lnSpc>
                <a:spcPct val="100000"/>
              </a:lnSpc>
              <a:spcBef>
                <a:spcPts val="200"/>
              </a:spcBef>
              <a:spcAft>
                <a:spcPts val="200"/>
              </a:spcAft>
              <a:buNone/>
            </a:pPr>
            <a:r>
              <a:rPr lang="en-US" sz="2000" b="1" dirty="0">
                <a:solidFill>
                  <a:schemeClr val="tx1"/>
                </a:solidFill>
              </a:rPr>
              <a:t>Example: Using a Z-Test to Assess Average Weight Loss</a:t>
            </a:r>
          </a:p>
          <a:p>
            <a:pPr marL="0" indent="0">
              <a:lnSpc>
                <a:spcPct val="100000"/>
              </a:lnSpc>
              <a:spcBef>
                <a:spcPts val="200"/>
              </a:spcBef>
              <a:spcAft>
                <a:spcPts val="200"/>
              </a:spcAft>
              <a:buNone/>
            </a:pPr>
            <a:endParaRPr lang="en-US" sz="2000" b="1" dirty="0">
              <a:solidFill>
                <a:srgbClr val="FF0000"/>
              </a:solidFill>
            </a:endParaRPr>
          </a:p>
          <a:p>
            <a:pPr marL="0" indent="0">
              <a:lnSpc>
                <a:spcPct val="100000"/>
              </a:lnSpc>
              <a:spcBef>
                <a:spcPts val="200"/>
              </a:spcBef>
              <a:spcAft>
                <a:spcPts val="200"/>
              </a:spcAft>
              <a:buNone/>
            </a:pPr>
            <a:r>
              <a:rPr lang="en-US" sz="2000" dirty="0"/>
              <a:t>Imagine you're evaluating the effectiveness of a weight loss program. You collect data on the weight loss of 100 participants who completed the program and want to test if, on average, participants lost a significant amount of weight. </a:t>
            </a:r>
          </a:p>
          <a:p>
            <a:pPr marL="0" indent="0">
              <a:lnSpc>
                <a:spcPct val="100000"/>
              </a:lnSpc>
              <a:spcBef>
                <a:spcPts val="200"/>
              </a:spcBef>
              <a:spcAft>
                <a:spcPts val="200"/>
              </a:spcAft>
              <a:buNone/>
            </a:pPr>
            <a:r>
              <a:rPr lang="en-US" sz="2000" b="1" dirty="0">
                <a:solidFill>
                  <a:schemeClr val="tx1"/>
                </a:solidFill>
              </a:rPr>
              <a:t>Here's a sample dataset generated randomly</a:t>
            </a:r>
          </a:p>
          <a:p>
            <a:pPr marL="457200" lvl="1" indent="0">
              <a:lnSpc>
                <a:spcPct val="100000"/>
              </a:lnSpc>
              <a:spcBef>
                <a:spcPts val="200"/>
              </a:spcBef>
              <a:spcAft>
                <a:spcPts val="200"/>
              </a:spcAft>
              <a:buNone/>
            </a:pPr>
            <a:r>
              <a:rPr lang="en-US" sz="2000" dirty="0">
                <a:solidFill>
                  <a:schemeClr val="accent1"/>
                </a:solidFill>
              </a:rPr>
              <a:t>import random</a:t>
            </a:r>
          </a:p>
          <a:p>
            <a:pPr marL="457200" lvl="1" indent="0">
              <a:lnSpc>
                <a:spcPct val="100000"/>
              </a:lnSpc>
              <a:spcBef>
                <a:spcPts val="200"/>
              </a:spcBef>
              <a:spcAft>
                <a:spcPts val="200"/>
              </a:spcAft>
              <a:buNone/>
            </a:pPr>
            <a:r>
              <a:rPr lang="en-US" sz="2000" dirty="0">
                <a:solidFill>
                  <a:schemeClr val="accent1"/>
                </a:solidFill>
              </a:rPr>
              <a:t># Generate sample weight loss data (in pounds)</a:t>
            </a:r>
          </a:p>
          <a:p>
            <a:pPr marL="457200" lvl="1" indent="0">
              <a:lnSpc>
                <a:spcPct val="100000"/>
              </a:lnSpc>
              <a:spcBef>
                <a:spcPts val="200"/>
              </a:spcBef>
              <a:spcAft>
                <a:spcPts val="200"/>
              </a:spcAft>
              <a:buNone/>
            </a:pPr>
            <a:r>
              <a:rPr lang="en-US" sz="2000" dirty="0">
                <a:solidFill>
                  <a:schemeClr val="accent1"/>
                </a:solidFill>
              </a:rPr>
              <a:t>random.seed(42)  # For reproducibility</a:t>
            </a:r>
          </a:p>
          <a:p>
            <a:pPr marL="457200" lvl="1" indent="0">
              <a:lnSpc>
                <a:spcPct val="100000"/>
              </a:lnSpc>
              <a:spcBef>
                <a:spcPts val="200"/>
              </a:spcBef>
              <a:spcAft>
                <a:spcPts val="200"/>
              </a:spcAft>
              <a:buNone/>
            </a:pPr>
            <a:r>
              <a:rPr lang="en-US" sz="2000" dirty="0">
                <a:solidFill>
                  <a:schemeClr val="accent1"/>
                </a:solidFill>
              </a:rPr>
              <a:t>weight_loss_data = [random.uniform(0.5, 10) for _ in range(100)]</a:t>
            </a:r>
          </a:p>
          <a:p>
            <a:pPr marL="457200" lvl="1" indent="0">
              <a:lnSpc>
                <a:spcPct val="100000"/>
              </a:lnSpc>
              <a:spcBef>
                <a:spcPts val="200"/>
              </a:spcBef>
              <a:spcAft>
                <a:spcPts val="200"/>
              </a:spcAft>
              <a:buNone/>
            </a:pPr>
            <a:endParaRPr lang="en-US" sz="2000" dirty="0"/>
          </a:p>
          <a:p>
            <a:pPr marL="0" indent="0">
              <a:lnSpc>
                <a:spcPct val="100000"/>
              </a:lnSpc>
              <a:spcBef>
                <a:spcPts val="200"/>
              </a:spcBef>
              <a:spcAft>
                <a:spcPts val="200"/>
              </a:spcAft>
              <a:buNone/>
            </a:pPr>
            <a:r>
              <a:rPr lang="en-US" sz="2000" b="1" dirty="0">
                <a:solidFill>
                  <a:schemeClr val="tx1"/>
                </a:solidFill>
              </a:rPr>
              <a:t>Formulate Hypotheses</a:t>
            </a:r>
          </a:p>
          <a:p>
            <a:pPr marL="0" indent="0">
              <a:lnSpc>
                <a:spcPct val="100000"/>
              </a:lnSpc>
              <a:spcBef>
                <a:spcPts val="200"/>
              </a:spcBef>
              <a:spcAft>
                <a:spcPts val="200"/>
              </a:spcAft>
              <a:buNone/>
            </a:pPr>
            <a:r>
              <a:rPr lang="en-US" sz="2000" spc="-30" dirty="0"/>
              <a:t>   Null Hypothesis (H0): The average weight loss in the program is equal to or less than zero (μ ≤ 0).</a:t>
            </a:r>
          </a:p>
          <a:p>
            <a:pPr marL="0" indent="0">
              <a:lnSpc>
                <a:spcPct val="100000"/>
              </a:lnSpc>
              <a:spcBef>
                <a:spcPts val="200"/>
              </a:spcBef>
              <a:spcAft>
                <a:spcPts val="200"/>
              </a:spcAft>
              <a:buNone/>
            </a:pPr>
            <a:r>
              <a:rPr lang="en-US" sz="2000" dirty="0"/>
              <a:t>   Alternative Hypothesis (Ha): The average weight loss in the program is greater than zero (μ &gt; 0).</a:t>
            </a:r>
          </a:p>
        </p:txBody>
      </p:sp>
    </p:spTree>
    <p:extLst>
      <p:ext uri="{BB962C8B-B14F-4D97-AF65-F5344CB8AC3E}">
        <p14:creationId xmlns:p14="http://schemas.microsoft.com/office/powerpoint/2010/main" val="239830803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5BA2E58-FEC9-D54D-ACC0-E7CEEF5F42E4}"/>
              </a:ext>
            </a:extLst>
          </p:cNvPr>
          <p:cNvSpPr>
            <a:spLocks noGrp="1"/>
          </p:cNvSpPr>
          <p:nvPr>
            <p:ph type="title"/>
          </p:nvPr>
        </p:nvSpPr>
        <p:spPr/>
        <p:txBody>
          <a:bodyPr>
            <a:normAutofit/>
          </a:bodyPr>
          <a:lstStyle/>
          <a:p>
            <a:r>
              <a:rPr lang="en-US" dirty="0"/>
              <a:t>Cont…</a:t>
            </a:r>
          </a:p>
        </p:txBody>
      </p:sp>
      <p:sp>
        <p:nvSpPr>
          <p:cNvPr id="13" name="Content Placeholder 12">
            <a:extLst>
              <a:ext uri="{FF2B5EF4-FFF2-40B4-BE49-F238E27FC236}">
                <a16:creationId xmlns:a16="http://schemas.microsoft.com/office/drawing/2014/main" id="{E6267526-4913-FCF0-E153-4548D0B336DD}"/>
              </a:ext>
            </a:extLst>
          </p:cNvPr>
          <p:cNvSpPr>
            <a:spLocks noGrp="1"/>
          </p:cNvSpPr>
          <p:nvPr>
            <p:ph idx="1"/>
          </p:nvPr>
        </p:nvSpPr>
        <p:spPr>
          <a:xfrm>
            <a:off x="678884" y="1562469"/>
            <a:ext cx="10834234" cy="4359964"/>
          </a:xfrm>
        </p:spPr>
        <p:txBody>
          <a:bodyPr lIns="0" tIns="0" rIns="0" bIns="0" numCol="2" spcCol="252000">
            <a:noAutofit/>
          </a:bodyPr>
          <a:lstStyle/>
          <a:p>
            <a:pPr marL="0" indent="0">
              <a:lnSpc>
                <a:spcPct val="100000"/>
              </a:lnSpc>
              <a:spcBef>
                <a:spcPts val="200"/>
              </a:spcBef>
              <a:spcAft>
                <a:spcPts val="200"/>
              </a:spcAft>
              <a:buNone/>
            </a:pPr>
            <a:r>
              <a:rPr lang="en-US" sz="2400" b="1" dirty="0">
                <a:solidFill>
                  <a:schemeClr val="tx1"/>
                </a:solidFill>
              </a:rPr>
              <a:t>Calculate the Test Statistic (Z-Score)</a:t>
            </a:r>
          </a:p>
          <a:p>
            <a:pPr>
              <a:lnSpc>
                <a:spcPct val="100000"/>
              </a:lnSpc>
              <a:spcBef>
                <a:spcPts val="200"/>
              </a:spcBef>
              <a:spcAft>
                <a:spcPts val="200"/>
              </a:spcAft>
            </a:pPr>
            <a:r>
              <a:rPr lang="en-US" sz="2200" b="1" dirty="0">
                <a:solidFill>
                  <a:schemeClr val="tx1"/>
                </a:solidFill>
              </a:rPr>
              <a:t>Sample Mean (X̄): </a:t>
            </a:r>
            <a:r>
              <a:rPr lang="en-US" sz="2000" dirty="0"/>
              <a:t>Calculate the sample mean of weight loss data.</a:t>
            </a:r>
          </a:p>
          <a:p>
            <a:pPr>
              <a:lnSpc>
                <a:spcPct val="100000"/>
              </a:lnSpc>
              <a:spcBef>
                <a:spcPts val="200"/>
              </a:spcBef>
              <a:spcAft>
                <a:spcPts val="200"/>
              </a:spcAft>
            </a:pPr>
            <a:r>
              <a:rPr lang="en-US" sz="2200" b="1" dirty="0">
                <a:solidFill>
                  <a:schemeClr val="tx1"/>
                </a:solidFill>
              </a:rPr>
              <a:t>Population Standard Deviation (</a:t>
            </a:r>
            <a:r>
              <a:rPr lang="el-GR" sz="2200" b="1" dirty="0">
                <a:solidFill>
                  <a:schemeClr val="tx1"/>
                </a:solidFill>
              </a:rPr>
              <a:t>σ): </a:t>
            </a:r>
            <a:r>
              <a:rPr lang="en-US" sz="2000" dirty="0"/>
              <a:t>Known as 2 pounds.</a:t>
            </a:r>
          </a:p>
          <a:p>
            <a:pPr>
              <a:lnSpc>
                <a:spcPct val="100000"/>
              </a:lnSpc>
              <a:spcBef>
                <a:spcPts val="200"/>
              </a:spcBef>
              <a:spcAft>
                <a:spcPts val="200"/>
              </a:spcAft>
            </a:pPr>
            <a:r>
              <a:rPr lang="en-US" sz="2200" b="1" dirty="0">
                <a:solidFill>
                  <a:schemeClr val="tx1"/>
                </a:solidFill>
              </a:rPr>
              <a:t>Sample Size (n): </a:t>
            </a:r>
            <a:r>
              <a:rPr lang="en-US" sz="2000" dirty="0"/>
              <a:t>100 participants.</a:t>
            </a:r>
          </a:p>
          <a:p>
            <a:pPr marL="457200" lvl="1" indent="0">
              <a:lnSpc>
                <a:spcPct val="100000"/>
              </a:lnSpc>
              <a:spcBef>
                <a:spcPts val="200"/>
              </a:spcBef>
              <a:spcAft>
                <a:spcPts val="200"/>
              </a:spcAft>
              <a:buNone/>
            </a:pPr>
            <a:r>
              <a:rPr lang="en-US" sz="1900" dirty="0">
                <a:solidFill>
                  <a:schemeClr val="accent1"/>
                </a:solidFill>
              </a:rPr>
              <a:t>import numpy as np</a:t>
            </a:r>
          </a:p>
          <a:p>
            <a:pPr marL="457200" lvl="1" indent="0">
              <a:lnSpc>
                <a:spcPct val="100000"/>
              </a:lnSpc>
              <a:spcBef>
                <a:spcPts val="200"/>
              </a:spcBef>
              <a:spcAft>
                <a:spcPts val="200"/>
              </a:spcAft>
              <a:buNone/>
            </a:pPr>
            <a:r>
              <a:rPr lang="en-US" sz="1900" dirty="0">
                <a:solidFill>
                  <a:schemeClr val="accent1"/>
                </a:solidFill>
              </a:rPr>
              <a:t># Calculate sample mean and sample standard deviation</a:t>
            </a:r>
          </a:p>
          <a:p>
            <a:pPr marL="457200" lvl="1" indent="0">
              <a:lnSpc>
                <a:spcPct val="100000"/>
              </a:lnSpc>
              <a:spcBef>
                <a:spcPts val="200"/>
              </a:spcBef>
              <a:spcAft>
                <a:spcPts val="200"/>
              </a:spcAft>
              <a:buNone/>
            </a:pPr>
            <a:r>
              <a:rPr lang="en-US" sz="1900" dirty="0">
                <a:solidFill>
                  <a:schemeClr val="accent1"/>
                </a:solidFill>
              </a:rPr>
              <a:t>sample_mean = np.mean(weight_loss_data)</a:t>
            </a:r>
          </a:p>
          <a:p>
            <a:pPr marL="457200" lvl="1" indent="0">
              <a:lnSpc>
                <a:spcPct val="100000"/>
              </a:lnSpc>
              <a:spcBef>
                <a:spcPts val="200"/>
              </a:spcBef>
              <a:spcAft>
                <a:spcPts val="200"/>
              </a:spcAft>
              <a:buNone/>
            </a:pPr>
            <a:r>
              <a:rPr lang="en-US" sz="1900" dirty="0">
                <a:solidFill>
                  <a:schemeClr val="accent1"/>
                </a:solidFill>
              </a:rPr>
              <a:t>sample_std = np.std(weight_loss_data, ddof=1)  # Use Bessel's correction for sample std</a:t>
            </a:r>
          </a:p>
          <a:p>
            <a:pPr marL="457200" lvl="1" indent="0">
              <a:lnSpc>
                <a:spcPct val="100000"/>
              </a:lnSpc>
              <a:spcBef>
                <a:spcPts val="200"/>
              </a:spcBef>
              <a:spcAft>
                <a:spcPts val="200"/>
              </a:spcAft>
              <a:buNone/>
            </a:pPr>
            <a:r>
              <a:rPr lang="en-US" sz="1900" dirty="0">
                <a:solidFill>
                  <a:schemeClr val="accent1"/>
                </a:solidFill>
              </a:rPr>
              <a:t># Calculate Z-score</a:t>
            </a:r>
          </a:p>
          <a:p>
            <a:pPr marL="457200" lvl="1" indent="0">
              <a:lnSpc>
                <a:spcPct val="100000"/>
              </a:lnSpc>
              <a:spcBef>
                <a:spcPts val="200"/>
              </a:spcBef>
              <a:spcAft>
                <a:spcPts val="200"/>
              </a:spcAft>
              <a:buNone/>
            </a:pPr>
            <a:r>
              <a:rPr lang="en-US" sz="1900" dirty="0">
                <a:solidFill>
                  <a:schemeClr val="accent1"/>
                </a:solidFill>
              </a:rPr>
              <a:t>population_mean = 0  # Hypothesized population mean</a:t>
            </a:r>
          </a:p>
          <a:p>
            <a:pPr marL="457200" lvl="1" indent="0">
              <a:lnSpc>
                <a:spcPct val="100000"/>
              </a:lnSpc>
              <a:spcBef>
                <a:spcPts val="200"/>
              </a:spcBef>
              <a:spcAft>
                <a:spcPts val="200"/>
              </a:spcAft>
              <a:buNone/>
            </a:pPr>
            <a:r>
              <a:rPr lang="en-US" sz="1900" dirty="0">
                <a:solidFill>
                  <a:schemeClr val="accent1"/>
                </a:solidFill>
              </a:rPr>
              <a:t>z_score = (sample_mean - population_mean) / (sample_std / np.sqrt(len(weight_loss_data)))</a:t>
            </a:r>
          </a:p>
          <a:p>
            <a:pPr marL="457200" lvl="1" indent="0">
              <a:lnSpc>
                <a:spcPct val="100000"/>
              </a:lnSpc>
              <a:spcBef>
                <a:spcPts val="200"/>
              </a:spcBef>
              <a:spcAft>
                <a:spcPts val="200"/>
              </a:spcAft>
              <a:buNone/>
            </a:pPr>
            <a:r>
              <a:rPr lang="en-US" sz="1900" dirty="0">
                <a:solidFill>
                  <a:schemeClr val="accent1"/>
                </a:solidFill>
              </a:rPr>
              <a:t>sample_mean, sample_std, z_score</a:t>
            </a:r>
          </a:p>
          <a:p>
            <a:pPr>
              <a:lnSpc>
                <a:spcPct val="100000"/>
              </a:lnSpc>
              <a:spcBef>
                <a:spcPts val="200"/>
              </a:spcBef>
              <a:spcAft>
                <a:spcPts val="200"/>
              </a:spcAft>
            </a:pPr>
            <a:r>
              <a:rPr lang="en-US" sz="2200" b="1" dirty="0">
                <a:solidFill>
                  <a:schemeClr val="tx1"/>
                </a:solidFill>
              </a:rPr>
              <a:t>Sample Mean (X̄): </a:t>
            </a:r>
            <a:r>
              <a:rPr lang="en-US" sz="2200" dirty="0"/>
              <a:t>Approximately 5.44 pounds</a:t>
            </a:r>
          </a:p>
          <a:p>
            <a:pPr>
              <a:lnSpc>
                <a:spcPct val="100000"/>
              </a:lnSpc>
              <a:spcBef>
                <a:spcPts val="200"/>
              </a:spcBef>
              <a:spcAft>
                <a:spcPts val="200"/>
              </a:spcAft>
            </a:pPr>
            <a:r>
              <a:rPr lang="en-US" sz="2200" b="1" dirty="0">
                <a:solidFill>
                  <a:schemeClr val="tx1"/>
                </a:solidFill>
              </a:rPr>
              <a:t>Sample Standard Deviation (s): </a:t>
            </a:r>
            <a:r>
              <a:rPr lang="en-US" sz="2200" dirty="0"/>
              <a:t>Approximately 2.51 pounds</a:t>
            </a:r>
          </a:p>
          <a:p>
            <a:pPr>
              <a:lnSpc>
                <a:spcPct val="100000"/>
              </a:lnSpc>
              <a:spcBef>
                <a:spcPts val="200"/>
              </a:spcBef>
              <a:spcAft>
                <a:spcPts val="200"/>
              </a:spcAft>
            </a:pPr>
            <a:r>
              <a:rPr lang="en-US" sz="2200" b="1" dirty="0">
                <a:solidFill>
                  <a:schemeClr val="tx1"/>
                </a:solidFill>
              </a:rPr>
              <a:t>Z-Score (Z): </a:t>
            </a:r>
            <a:r>
              <a:rPr lang="en-US" sz="2200" dirty="0"/>
              <a:t>Approximately 8.62</a:t>
            </a:r>
          </a:p>
        </p:txBody>
      </p:sp>
    </p:spTree>
    <p:extLst>
      <p:ext uri="{BB962C8B-B14F-4D97-AF65-F5344CB8AC3E}">
        <p14:creationId xmlns:p14="http://schemas.microsoft.com/office/powerpoint/2010/main" val="19997736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5BA2E58-FEC9-D54D-ACC0-E7CEEF5F42E4}"/>
              </a:ext>
            </a:extLst>
          </p:cNvPr>
          <p:cNvSpPr>
            <a:spLocks noGrp="1"/>
          </p:cNvSpPr>
          <p:nvPr>
            <p:ph type="title"/>
          </p:nvPr>
        </p:nvSpPr>
        <p:spPr/>
        <p:txBody>
          <a:bodyPr>
            <a:normAutofit/>
          </a:bodyPr>
          <a:lstStyle/>
          <a:p>
            <a:r>
              <a:rPr lang="en-US" dirty="0"/>
              <a:t>Cont…</a:t>
            </a:r>
          </a:p>
        </p:txBody>
      </p:sp>
      <p:pic>
        <p:nvPicPr>
          <p:cNvPr id="5" name="Picture 4" descr="A graph of weight loss&#10;&#10;Description automatically generated">
            <a:extLst>
              <a:ext uri="{FF2B5EF4-FFF2-40B4-BE49-F238E27FC236}">
                <a16:creationId xmlns:a16="http://schemas.microsoft.com/office/drawing/2014/main" id="{3DE5C582-7C06-7CD1-F67E-A85E24FF37EC}"/>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2271038" y="1022397"/>
            <a:ext cx="6795738" cy="5694053"/>
          </a:xfrm>
          <a:prstGeom prst="rect">
            <a:avLst/>
          </a:prstGeom>
        </p:spPr>
      </p:pic>
    </p:spTree>
    <p:extLst>
      <p:ext uri="{BB962C8B-B14F-4D97-AF65-F5344CB8AC3E}">
        <p14:creationId xmlns:p14="http://schemas.microsoft.com/office/powerpoint/2010/main" val="328436009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5BA2E58-FEC9-D54D-ACC0-E7CEEF5F42E4}"/>
              </a:ext>
            </a:extLst>
          </p:cNvPr>
          <p:cNvSpPr>
            <a:spLocks noGrp="1"/>
          </p:cNvSpPr>
          <p:nvPr>
            <p:ph type="title"/>
          </p:nvPr>
        </p:nvSpPr>
        <p:spPr/>
        <p:txBody>
          <a:bodyPr>
            <a:normAutofit/>
          </a:bodyPr>
          <a:lstStyle/>
          <a:p>
            <a:r>
              <a:rPr lang="en-US" dirty="0"/>
              <a:t>Cont…</a:t>
            </a:r>
          </a:p>
        </p:txBody>
      </p:sp>
      <p:sp>
        <p:nvSpPr>
          <p:cNvPr id="13" name="Content Placeholder 12">
            <a:extLst>
              <a:ext uri="{FF2B5EF4-FFF2-40B4-BE49-F238E27FC236}">
                <a16:creationId xmlns:a16="http://schemas.microsoft.com/office/drawing/2014/main" id="{E6267526-4913-FCF0-E153-4548D0B336DD}"/>
              </a:ext>
            </a:extLst>
          </p:cNvPr>
          <p:cNvSpPr>
            <a:spLocks noGrp="1"/>
          </p:cNvSpPr>
          <p:nvPr>
            <p:ph idx="1"/>
          </p:nvPr>
        </p:nvSpPr>
        <p:spPr/>
        <p:txBody>
          <a:bodyPr lIns="0" tIns="0" rIns="0" bIns="0">
            <a:noAutofit/>
          </a:bodyPr>
          <a:lstStyle/>
          <a:p>
            <a:pPr marL="0" indent="0">
              <a:lnSpc>
                <a:spcPct val="100000"/>
              </a:lnSpc>
              <a:spcBef>
                <a:spcPts val="400"/>
              </a:spcBef>
              <a:spcAft>
                <a:spcPts val="400"/>
              </a:spcAft>
              <a:buNone/>
            </a:pPr>
            <a:r>
              <a:rPr lang="en-US" sz="2400" b="1" dirty="0">
                <a:solidFill>
                  <a:schemeClr val="tx1"/>
                </a:solidFill>
              </a:rPr>
              <a:t>Determine the Critical Value</a:t>
            </a:r>
          </a:p>
          <a:p>
            <a:pPr>
              <a:lnSpc>
                <a:spcPct val="100000"/>
              </a:lnSpc>
              <a:spcBef>
                <a:spcPts val="400"/>
              </a:spcBef>
              <a:spcAft>
                <a:spcPts val="400"/>
              </a:spcAft>
            </a:pPr>
            <a:r>
              <a:rPr lang="en-US" sz="2200" b="1" dirty="0">
                <a:solidFill>
                  <a:schemeClr val="tx1"/>
                </a:solidFill>
              </a:rPr>
              <a:t>Significance Level (</a:t>
            </a:r>
            <a:r>
              <a:rPr lang="el-GR" sz="2200" b="1" dirty="0">
                <a:solidFill>
                  <a:schemeClr val="tx1"/>
                </a:solidFill>
              </a:rPr>
              <a:t>α): </a:t>
            </a:r>
            <a:r>
              <a:rPr lang="en-US" sz="2200" dirty="0"/>
              <a:t>Typically, 0.05 (corresponding to 95% confidence level).</a:t>
            </a:r>
          </a:p>
          <a:p>
            <a:pPr>
              <a:lnSpc>
                <a:spcPct val="100000"/>
              </a:lnSpc>
              <a:spcBef>
                <a:spcPts val="400"/>
              </a:spcBef>
              <a:spcAft>
                <a:spcPts val="400"/>
              </a:spcAft>
            </a:pPr>
            <a:r>
              <a:rPr lang="en-US" sz="2200" b="1" dirty="0">
                <a:solidFill>
                  <a:schemeClr val="tx1"/>
                </a:solidFill>
              </a:rPr>
              <a:t>Degrees of Freedom (df): </a:t>
            </a:r>
            <a:r>
              <a:rPr lang="en-US" sz="2200" dirty="0"/>
              <a:t>n - 1 (99 degrees of freedom for this example).</a:t>
            </a:r>
          </a:p>
          <a:p>
            <a:pPr marL="0" indent="0">
              <a:lnSpc>
                <a:spcPct val="100000"/>
              </a:lnSpc>
              <a:spcBef>
                <a:spcPts val="400"/>
              </a:spcBef>
              <a:spcAft>
                <a:spcPts val="400"/>
              </a:spcAft>
              <a:buNone/>
            </a:pPr>
            <a:r>
              <a:rPr lang="en-US" sz="2200" dirty="0"/>
              <a:t>from scipy.stats import norm</a:t>
            </a:r>
          </a:p>
          <a:p>
            <a:pPr marL="457200" lvl="1" indent="0">
              <a:lnSpc>
                <a:spcPct val="100000"/>
              </a:lnSpc>
              <a:spcBef>
                <a:spcPts val="400"/>
              </a:spcBef>
              <a:spcAft>
                <a:spcPts val="400"/>
              </a:spcAft>
              <a:buNone/>
            </a:pPr>
            <a:r>
              <a:rPr lang="en-US" sz="2000" dirty="0"/>
              <a:t>alpha = 0.05</a:t>
            </a:r>
          </a:p>
          <a:p>
            <a:pPr marL="457200" lvl="1" indent="0">
              <a:lnSpc>
                <a:spcPct val="100000"/>
              </a:lnSpc>
              <a:spcBef>
                <a:spcPts val="400"/>
              </a:spcBef>
              <a:spcAft>
                <a:spcPts val="400"/>
              </a:spcAft>
              <a:buNone/>
            </a:pPr>
            <a:r>
              <a:rPr lang="en-US" sz="2000" dirty="0"/>
              <a:t>df = len(weight_loss_data) - 1</a:t>
            </a:r>
          </a:p>
          <a:p>
            <a:pPr marL="457200" lvl="1" indent="0">
              <a:lnSpc>
                <a:spcPct val="100000"/>
              </a:lnSpc>
              <a:spcBef>
                <a:spcPts val="400"/>
              </a:spcBef>
              <a:spcAft>
                <a:spcPts val="400"/>
              </a:spcAft>
              <a:buNone/>
            </a:pPr>
            <a:endParaRPr lang="en-US" sz="500" dirty="0"/>
          </a:p>
          <a:p>
            <a:pPr marL="457200" lvl="1" indent="0">
              <a:lnSpc>
                <a:spcPct val="100000"/>
              </a:lnSpc>
              <a:spcBef>
                <a:spcPts val="400"/>
              </a:spcBef>
              <a:spcAft>
                <a:spcPts val="400"/>
              </a:spcAft>
              <a:buNone/>
            </a:pPr>
            <a:r>
              <a:rPr lang="en-US" sz="2000" dirty="0"/>
              <a:t># Calculate the critical Z-value</a:t>
            </a:r>
          </a:p>
          <a:p>
            <a:pPr marL="457200" lvl="1" indent="0">
              <a:lnSpc>
                <a:spcPct val="100000"/>
              </a:lnSpc>
              <a:spcBef>
                <a:spcPts val="400"/>
              </a:spcBef>
              <a:spcAft>
                <a:spcPts val="400"/>
              </a:spcAft>
              <a:buNone/>
            </a:pPr>
            <a:r>
              <a:rPr lang="en-US" sz="2000" dirty="0"/>
              <a:t>critical_value = norm.ppf(1 - alpha)</a:t>
            </a:r>
          </a:p>
          <a:p>
            <a:pPr marL="457200" lvl="1" indent="0">
              <a:lnSpc>
                <a:spcPct val="100000"/>
              </a:lnSpc>
              <a:spcBef>
                <a:spcPts val="400"/>
              </a:spcBef>
              <a:spcAft>
                <a:spcPts val="400"/>
              </a:spcAft>
              <a:buNone/>
            </a:pPr>
            <a:r>
              <a:rPr lang="en-US" sz="2000" dirty="0"/>
              <a:t>critical_value</a:t>
            </a:r>
          </a:p>
          <a:p>
            <a:pPr marL="0" indent="0">
              <a:lnSpc>
                <a:spcPct val="100000"/>
              </a:lnSpc>
              <a:spcBef>
                <a:spcPts val="400"/>
              </a:spcBef>
              <a:spcAft>
                <a:spcPts val="400"/>
              </a:spcAft>
              <a:buNone/>
            </a:pPr>
            <a:r>
              <a:rPr lang="en-US" sz="2200" b="1" dirty="0">
                <a:solidFill>
                  <a:schemeClr val="tx1"/>
                </a:solidFill>
              </a:rPr>
              <a:t>Critical Value (Z_critical): </a:t>
            </a:r>
            <a:r>
              <a:rPr lang="en-US" sz="2200" dirty="0"/>
              <a:t>Approximately 1.645 (for </a:t>
            </a:r>
            <a:r>
              <a:rPr lang="el-GR" sz="2200" dirty="0"/>
              <a:t>α = 0.05, </a:t>
            </a:r>
            <a:r>
              <a:rPr lang="en-US" sz="2200" dirty="0"/>
              <a:t>one-tailed test)</a:t>
            </a:r>
          </a:p>
        </p:txBody>
      </p:sp>
    </p:spTree>
    <p:extLst>
      <p:ext uri="{BB962C8B-B14F-4D97-AF65-F5344CB8AC3E}">
        <p14:creationId xmlns:p14="http://schemas.microsoft.com/office/powerpoint/2010/main" val="177581907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5BA2E58-FEC9-D54D-ACC0-E7CEEF5F42E4}"/>
              </a:ext>
            </a:extLst>
          </p:cNvPr>
          <p:cNvSpPr>
            <a:spLocks noGrp="1"/>
          </p:cNvSpPr>
          <p:nvPr>
            <p:ph type="title"/>
          </p:nvPr>
        </p:nvSpPr>
        <p:spPr/>
        <p:txBody>
          <a:bodyPr>
            <a:normAutofit/>
          </a:bodyPr>
          <a:lstStyle/>
          <a:p>
            <a:r>
              <a:rPr lang="en-US" dirty="0"/>
              <a:t>Cont…</a:t>
            </a:r>
          </a:p>
        </p:txBody>
      </p:sp>
      <p:sp>
        <p:nvSpPr>
          <p:cNvPr id="13" name="Content Placeholder 12">
            <a:extLst>
              <a:ext uri="{FF2B5EF4-FFF2-40B4-BE49-F238E27FC236}">
                <a16:creationId xmlns:a16="http://schemas.microsoft.com/office/drawing/2014/main" id="{E6267526-4913-FCF0-E153-4548D0B336DD}"/>
              </a:ext>
            </a:extLst>
          </p:cNvPr>
          <p:cNvSpPr>
            <a:spLocks noGrp="1"/>
          </p:cNvSpPr>
          <p:nvPr>
            <p:ph idx="1"/>
          </p:nvPr>
        </p:nvSpPr>
        <p:spPr>
          <a:xfrm>
            <a:off x="678884" y="1659834"/>
            <a:ext cx="10834234" cy="4594499"/>
          </a:xfrm>
        </p:spPr>
        <p:txBody>
          <a:bodyPr lIns="0" tIns="0" rIns="0" bIns="0" numCol="2" spcCol="324000">
            <a:noAutofit/>
          </a:bodyPr>
          <a:lstStyle/>
          <a:p>
            <a:pPr marL="0" indent="0">
              <a:lnSpc>
                <a:spcPct val="100000"/>
              </a:lnSpc>
              <a:spcBef>
                <a:spcPts val="400"/>
              </a:spcBef>
              <a:spcAft>
                <a:spcPts val="400"/>
              </a:spcAft>
              <a:buNone/>
            </a:pPr>
            <a:r>
              <a:rPr lang="en-US" sz="2400" b="1" dirty="0">
                <a:solidFill>
                  <a:schemeClr val="tx1"/>
                </a:solidFill>
              </a:rPr>
              <a:t>Make a Decision</a:t>
            </a:r>
          </a:p>
          <a:p>
            <a:pPr marL="0" indent="0">
              <a:lnSpc>
                <a:spcPct val="100000"/>
              </a:lnSpc>
              <a:spcBef>
                <a:spcPts val="400"/>
              </a:spcBef>
              <a:spcAft>
                <a:spcPts val="400"/>
              </a:spcAft>
              <a:buNone/>
            </a:pPr>
            <a:r>
              <a:rPr lang="en-US" sz="2200" dirty="0"/>
              <a:t>Compare the calculated Z-score with the critical value.</a:t>
            </a:r>
          </a:p>
          <a:p>
            <a:pPr marL="0" indent="0">
              <a:lnSpc>
                <a:spcPct val="100000"/>
              </a:lnSpc>
              <a:spcBef>
                <a:spcPts val="400"/>
              </a:spcBef>
              <a:spcAft>
                <a:spcPts val="400"/>
              </a:spcAft>
              <a:buNone/>
            </a:pPr>
            <a:r>
              <a:rPr lang="en-US" sz="2200" dirty="0"/>
              <a:t>If Z-Score &gt; Critical Value, reject the null hypothesis (Ha).</a:t>
            </a:r>
          </a:p>
          <a:p>
            <a:pPr marL="0" indent="0">
              <a:lnSpc>
                <a:spcPct val="100000"/>
              </a:lnSpc>
              <a:spcBef>
                <a:spcPts val="400"/>
              </a:spcBef>
              <a:spcAft>
                <a:spcPts val="400"/>
              </a:spcAft>
              <a:buNone/>
            </a:pPr>
            <a:r>
              <a:rPr lang="en-US" sz="2200" dirty="0"/>
              <a:t>If Z-Score ≤ Critical Value, fail to reject the null hypothesis (H0).</a:t>
            </a:r>
          </a:p>
          <a:p>
            <a:pPr marL="457200" lvl="1" indent="0">
              <a:lnSpc>
                <a:spcPct val="100000"/>
              </a:lnSpc>
              <a:spcBef>
                <a:spcPts val="400"/>
              </a:spcBef>
              <a:spcAft>
                <a:spcPts val="400"/>
              </a:spcAft>
              <a:buNone/>
            </a:pPr>
            <a:r>
              <a:rPr lang="en-US" sz="2200" dirty="0"/>
              <a:t># Make a decision</a:t>
            </a:r>
          </a:p>
          <a:p>
            <a:pPr marL="457200" lvl="1" indent="0">
              <a:lnSpc>
                <a:spcPct val="100000"/>
              </a:lnSpc>
              <a:spcBef>
                <a:spcPts val="400"/>
              </a:spcBef>
              <a:spcAft>
                <a:spcPts val="400"/>
              </a:spcAft>
              <a:buNone/>
            </a:pPr>
            <a:r>
              <a:rPr lang="en-US" sz="2200" dirty="0"/>
              <a:t>reject_null = z_score &gt; critical_value</a:t>
            </a:r>
          </a:p>
          <a:p>
            <a:pPr marL="457200" lvl="1" indent="0">
              <a:lnSpc>
                <a:spcPct val="100000"/>
              </a:lnSpc>
              <a:spcBef>
                <a:spcPts val="400"/>
              </a:spcBef>
              <a:spcAft>
                <a:spcPts val="400"/>
              </a:spcAft>
              <a:buNone/>
            </a:pPr>
            <a:r>
              <a:rPr lang="en-US" sz="2200" dirty="0"/>
              <a:t>reject_null</a:t>
            </a:r>
          </a:p>
          <a:p>
            <a:pPr marL="0" indent="0">
              <a:lnSpc>
                <a:spcPct val="100000"/>
              </a:lnSpc>
              <a:spcBef>
                <a:spcPts val="400"/>
              </a:spcBef>
              <a:spcAft>
                <a:spcPts val="400"/>
              </a:spcAft>
              <a:buNone/>
            </a:pPr>
            <a:r>
              <a:rPr lang="en-US" sz="2400" b="1" dirty="0">
                <a:solidFill>
                  <a:schemeClr val="tx1"/>
                </a:solidFill>
              </a:rPr>
              <a:t>Decision: </a:t>
            </a:r>
            <a:r>
              <a:rPr lang="en-US" sz="2200" dirty="0"/>
              <a:t>Reject the null hypothesis (H0).</a:t>
            </a:r>
          </a:p>
          <a:p>
            <a:pPr marL="0" indent="0">
              <a:lnSpc>
                <a:spcPct val="100000"/>
              </a:lnSpc>
              <a:spcBef>
                <a:spcPts val="400"/>
              </a:spcBef>
              <a:spcAft>
                <a:spcPts val="400"/>
              </a:spcAft>
              <a:buNone/>
            </a:pPr>
            <a:r>
              <a:rPr lang="en-US" sz="2400" b="1" dirty="0">
                <a:solidFill>
                  <a:schemeClr val="tx1"/>
                </a:solidFill>
              </a:rPr>
              <a:t>Interpret the Result</a:t>
            </a:r>
          </a:p>
          <a:p>
            <a:pPr marL="0" indent="0">
              <a:lnSpc>
                <a:spcPct val="100000"/>
              </a:lnSpc>
              <a:spcBef>
                <a:spcPts val="400"/>
              </a:spcBef>
              <a:spcAft>
                <a:spcPts val="400"/>
              </a:spcAft>
              <a:buNone/>
            </a:pPr>
            <a:r>
              <a:rPr lang="en-US" sz="2200" dirty="0"/>
              <a:t>Interpret the decision in the context of the weight loss program.</a:t>
            </a:r>
          </a:p>
          <a:p>
            <a:pPr>
              <a:lnSpc>
                <a:spcPct val="100000"/>
              </a:lnSpc>
              <a:spcBef>
                <a:spcPts val="400"/>
              </a:spcBef>
              <a:spcAft>
                <a:spcPts val="400"/>
              </a:spcAft>
            </a:pPr>
            <a:r>
              <a:rPr lang="en-US" sz="2400" b="1" dirty="0">
                <a:solidFill>
                  <a:schemeClr val="tx1"/>
                </a:solidFill>
              </a:rPr>
              <a:t>Decision: </a:t>
            </a:r>
            <a:r>
              <a:rPr lang="en-US" sz="2200" dirty="0"/>
              <a:t>Reject H0.</a:t>
            </a:r>
          </a:p>
          <a:p>
            <a:pPr>
              <a:lnSpc>
                <a:spcPct val="100000"/>
              </a:lnSpc>
              <a:spcBef>
                <a:spcPts val="400"/>
              </a:spcBef>
              <a:spcAft>
                <a:spcPts val="400"/>
              </a:spcAft>
            </a:pPr>
            <a:r>
              <a:rPr lang="en-US" sz="2400" b="1" dirty="0">
                <a:solidFill>
                  <a:schemeClr val="tx1"/>
                </a:solidFill>
              </a:rPr>
              <a:t>Interpretation: </a:t>
            </a:r>
            <a:r>
              <a:rPr lang="en-US" sz="2200" dirty="0"/>
              <a:t>There is sufficient statistical evidence to conclude that, on average, participants in the weight loss program experienced significant weight loss.</a:t>
            </a:r>
          </a:p>
        </p:txBody>
      </p:sp>
    </p:spTree>
    <p:extLst>
      <p:ext uri="{BB962C8B-B14F-4D97-AF65-F5344CB8AC3E}">
        <p14:creationId xmlns:p14="http://schemas.microsoft.com/office/powerpoint/2010/main" val="290644338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167844F-298E-4890-096C-08ED7FF670F0}"/>
              </a:ext>
            </a:extLst>
          </p:cNvPr>
          <p:cNvSpPr>
            <a:spLocks noGrp="1"/>
          </p:cNvSpPr>
          <p:nvPr>
            <p:ph type="title"/>
          </p:nvPr>
        </p:nvSpPr>
        <p:spPr>
          <a:xfrm>
            <a:off x="678883" y="1994526"/>
            <a:ext cx="5975917" cy="2856250"/>
          </a:xfrm>
        </p:spPr>
        <p:txBody>
          <a:bodyPr anchor="ctr" anchorCtr="0">
            <a:noAutofit/>
          </a:bodyPr>
          <a:lstStyle/>
          <a:p>
            <a:r>
              <a:rPr lang="en-US" sz="5400" dirty="0"/>
              <a:t>Chi-square Test For Categorical Data</a:t>
            </a:r>
          </a:p>
        </p:txBody>
      </p:sp>
      <p:pic>
        <p:nvPicPr>
          <p:cNvPr id="6" name="Picture 5" descr="Chi-Square Test - Solution Parmacy">
            <a:extLst>
              <a:ext uri="{FF2B5EF4-FFF2-40B4-BE49-F238E27FC236}">
                <a16:creationId xmlns:a16="http://schemas.microsoft.com/office/drawing/2014/main" id="{5E6B7099-B476-3071-5671-1F299A712527}"/>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5235" r="16062"/>
          <a:stretch/>
        </p:blipFill>
        <p:spPr bwMode="auto">
          <a:xfrm>
            <a:off x="5511802" y="2"/>
            <a:ext cx="6680199" cy="6857999"/>
          </a:xfrm>
          <a:custGeom>
            <a:avLst/>
            <a:gdLst>
              <a:gd name="connsiteX0" fmla="*/ 2560796 w 6680199"/>
              <a:gd name="connsiteY0" fmla="*/ 0 h 6857999"/>
              <a:gd name="connsiteX1" fmla="*/ 6680199 w 6680199"/>
              <a:gd name="connsiteY1" fmla="*/ 0 h 6857999"/>
              <a:gd name="connsiteX2" fmla="*/ 6680199 w 6680199"/>
              <a:gd name="connsiteY2" fmla="*/ 6857999 h 6857999"/>
              <a:gd name="connsiteX3" fmla="*/ 0 w 6680199"/>
              <a:gd name="connsiteY3" fmla="*/ 6857999 h 6857999"/>
            </a:gdLst>
            <a:ahLst/>
            <a:cxnLst>
              <a:cxn ang="0">
                <a:pos x="connsiteX0" y="connsiteY0"/>
              </a:cxn>
              <a:cxn ang="0">
                <a:pos x="connsiteX1" y="connsiteY1"/>
              </a:cxn>
              <a:cxn ang="0">
                <a:pos x="connsiteX2" y="connsiteY2"/>
              </a:cxn>
              <a:cxn ang="0">
                <a:pos x="connsiteX3" y="connsiteY3"/>
              </a:cxn>
            </a:cxnLst>
            <a:rect l="l" t="t" r="r" b="b"/>
            <a:pathLst>
              <a:path w="6680199" h="6857999">
                <a:moveTo>
                  <a:pt x="2560796" y="0"/>
                </a:moveTo>
                <a:lnTo>
                  <a:pt x="6680199" y="0"/>
                </a:lnTo>
                <a:lnTo>
                  <a:pt x="6680199" y="6857999"/>
                </a:lnTo>
                <a:lnTo>
                  <a:pt x="0" y="6857999"/>
                </a:lnTo>
                <a:close/>
              </a:path>
            </a:pathLst>
          </a:custGeom>
          <a:noFill/>
          <a:extLst>
            <a:ext uri="{909E8E84-426E-40DD-AFC4-6F175D3DCCD1}">
              <a14:hiddenFill xmlns:a14="http://schemas.microsoft.com/office/drawing/2010/main">
                <a:solidFill>
                  <a:srgbClr val="FFFFFF"/>
                </a:solidFill>
              </a14:hiddenFill>
            </a:ext>
          </a:extLst>
        </p:spPr>
      </p:pic>
      <p:sp>
        <p:nvSpPr>
          <p:cNvPr id="5" name="Rectangle 9">
            <a:extLst>
              <a:ext uri="{FF2B5EF4-FFF2-40B4-BE49-F238E27FC236}">
                <a16:creationId xmlns:a16="http://schemas.microsoft.com/office/drawing/2014/main" id="{8D232DCC-B848-0C4B-210D-4B96498709F9}"/>
              </a:ext>
            </a:extLst>
          </p:cNvPr>
          <p:cNvSpPr/>
          <p:nvPr/>
        </p:nvSpPr>
        <p:spPr>
          <a:xfrm>
            <a:off x="5511800" y="1"/>
            <a:ext cx="6680200" cy="6858000"/>
          </a:xfrm>
          <a:custGeom>
            <a:avLst/>
            <a:gdLst>
              <a:gd name="connsiteX0" fmla="*/ 0 w 6692900"/>
              <a:gd name="connsiteY0" fmla="*/ 0 h 6858000"/>
              <a:gd name="connsiteX1" fmla="*/ 6692900 w 6692900"/>
              <a:gd name="connsiteY1" fmla="*/ 0 h 6858000"/>
              <a:gd name="connsiteX2" fmla="*/ 6692900 w 6692900"/>
              <a:gd name="connsiteY2" fmla="*/ 6858000 h 6858000"/>
              <a:gd name="connsiteX3" fmla="*/ 0 w 6692900"/>
              <a:gd name="connsiteY3" fmla="*/ 6858000 h 6858000"/>
              <a:gd name="connsiteX4" fmla="*/ 0 w 6692900"/>
              <a:gd name="connsiteY4" fmla="*/ 0 h 6858000"/>
              <a:gd name="connsiteX0" fmla="*/ 2425700 w 6692900"/>
              <a:gd name="connsiteY0" fmla="*/ 0 h 6858000"/>
              <a:gd name="connsiteX1" fmla="*/ 6692900 w 6692900"/>
              <a:gd name="connsiteY1" fmla="*/ 0 h 6858000"/>
              <a:gd name="connsiteX2" fmla="*/ 6692900 w 6692900"/>
              <a:gd name="connsiteY2" fmla="*/ 6858000 h 6858000"/>
              <a:gd name="connsiteX3" fmla="*/ 0 w 6692900"/>
              <a:gd name="connsiteY3" fmla="*/ 6858000 h 6858000"/>
              <a:gd name="connsiteX4" fmla="*/ 2425700 w 6692900"/>
              <a:gd name="connsiteY4" fmla="*/ 0 h 6858000"/>
              <a:gd name="connsiteX0" fmla="*/ 2565665 w 6692900"/>
              <a:gd name="connsiteY0" fmla="*/ 0 h 6858000"/>
              <a:gd name="connsiteX1" fmla="*/ 6692900 w 6692900"/>
              <a:gd name="connsiteY1" fmla="*/ 0 h 6858000"/>
              <a:gd name="connsiteX2" fmla="*/ 6692900 w 6692900"/>
              <a:gd name="connsiteY2" fmla="*/ 6858000 h 6858000"/>
              <a:gd name="connsiteX3" fmla="*/ 0 w 6692900"/>
              <a:gd name="connsiteY3" fmla="*/ 6858000 h 6858000"/>
              <a:gd name="connsiteX4" fmla="*/ 2565665 w 6692900"/>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92900" h="6858000">
                <a:moveTo>
                  <a:pt x="2565665" y="0"/>
                </a:moveTo>
                <a:lnTo>
                  <a:pt x="6692900" y="0"/>
                </a:lnTo>
                <a:lnTo>
                  <a:pt x="6692900" y="6858000"/>
                </a:lnTo>
                <a:lnTo>
                  <a:pt x="0" y="6858000"/>
                </a:lnTo>
                <a:lnTo>
                  <a:pt x="2565665" y="0"/>
                </a:lnTo>
                <a:close/>
              </a:path>
            </a:pathLst>
          </a:custGeom>
          <a:solidFill>
            <a:schemeClr val="bg2">
              <a:lumMod val="25000"/>
              <a:alpha val="41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Tree>
    <p:extLst>
      <p:ext uri="{BB962C8B-B14F-4D97-AF65-F5344CB8AC3E}">
        <p14:creationId xmlns:p14="http://schemas.microsoft.com/office/powerpoint/2010/main" val="233709272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5BA2E58-FEC9-D54D-ACC0-E7CEEF5F42E4}"/>
              </a:ext>
            </a:extLst>
          </p:cNvPr>
          <p:cNvSpPr>
            <a:spLocks noGrp="1"/>
          </p:cNvSpPr>
          <p:nvPr>
            <p:ph type="title"/>
          </p:nvPr>
        </p:nvSpPr>
        <p:spPr/>
        <p:txBody>
          <a:bodyPr>
            <a:normAutofit/>
          </a:bodyPr>
          <a:lstStyle/>
          <a:p>
            <a:r>
              <a:rPr lang="en-US" dirty="0"/>
              <a:t>Chi-Square Test for Categorical Data</a:t>
            </a:r>
          </a:p>
        </p:txBody>
      </p:sp>
      <p:sp>
        <p:nvSpPr>
          <p:cNvPr id="13" name="Content Placeholder 12">
            <a:extLst>
              <a:ext uri="{FF2B5EF4-FFF2-40B4-BE49-F238E27FC236}">
                <a16:creationId xmlns:a16="http://schemas.microsoft.com/office/drawing/2014/main" id="{E6267526-4913-FCF0-E153-4548D0B336DD}"/>
              </a:ext>
            </a:extLst>
          </p:cNvPr>
          <p:cNvSpPr>
            <a:spLocks noGrp="1"/>
          </p:cNvSpPr>
          <p:nvPr>
            <p:ph idx="1"/>
          </p:nvPr>
        </p:nvSpPr>
        <p:spPr>
          <a:xfrm>
            <a:off x="678884" y="1659834"/>
            <a:ext cx="10834234" cy="4594499"/>
          </a:xfrm>
        </p:spPr>
        <p:txBody>
          <a:bodyPr lIns="0" tIns="0" rIns="0" bIns="0" numCol="1" spcCol="324000">
            <a:noAutofit/>
          </a:bodyPr>
          <a:lstStyle/>
          <a:p>
            <a:pPr marL="0" indent="0">
              <a:lnSpc>
                <a:spcPct val="100000"/>
              </a:lnSpc>
              <a:spcBef>
                <a:spcPts val="600"/>
              </a:spcBef>
              <a:spcAft>
                <a:spcPts val="600"/>
              </a:spcAft>
              <a:buNone/>
            </a:pPr>
            <a:r>
              <a:rPr lang="en-US" sz="2400" b="1" dirty="0">
                <a:solidFill>
                  <a:schemeClr val="tx1"/>
                </a:solidFill>
              </a:rPr>
              <a:t>Chi-Square Test for Independence</a:t>
            </a:r>
          </a:p>
          <a:p>
            <a:pPr>
              <a:lnSpc>
                <a:spcPct val="100000"/>
              </a:lnSpc>
              <a:spcBef>
                <a:spcPts val="600"/>
              </a:spcBef>
              <a:spcAft>
                <a:spcPts val="600"/>
              </a:spcAft>
            </a:pPr>
            <a:r>
              <a:rPr lang="en-US" sz="2400" b="1" dirty="0">
                <a:solidFill>
                  <a:schemeClr val="tx1"/>
                </a:solidFill>
              </a:rPr>
              <a:t>Chi-Square Test: </a:t>
            </a:r>
            <a:r>
              <a:rPr lang="en-US" sz="2200" dirty="0"/>
              <a:t>The chi-square test is a statistical test used to assess the independence (or association) between two categorical variables. It helps determine whether there is a significant relationship between the variables or if they are independent.</a:t>
            </a:r>
          </a:p>
          <a:p>
            <a:pPr>
              <a:lnSpc>
                <a:spcPct val="100000"/>
              </a:lnSpc>
              <a:spcBef>
                <a:spcPts val="600"/>
              </a:spcBef>
              <a:spcAft>
                <a:spcPts val="600"/>
              </a:spcAft>
            </a:pPr>
            <a:r>
              <a:rPr lang="en-US" sz="2400" b="1" dirty="0">
                <a:solidFill>
                  <a:schemeClr val="tx1"/>
                </a:solidFill>
              </a:rPr>
              <a:t>Independence: </a:t>
            </a:r>
            <a:r>
              <a:rPr lang="en-US" sz="2200" dirty="0"/>
              <a:t>In the context of the chi-square test, independence means that the two categorical variables are not related, and changes in one variable do not affect the distribution of the other variable.</a:t>
            </a:r>
          </a:p>
          <a:p>
            <a:pPr marL="0" indent="0">
              <a:lnSpc>
                <a:spcPct val="100000"/>
              </a:lnSpc>
              <a:spcBef>
                <a:spcPts val="400"/>
              </a:spcBef>
              <a:spcAft>
                <a:spcPts val="400"/>
              </a:spcAft>
              <a:buNone/>
            </a:pPr>
            <a:endParaRPr lang="en-US" sz="2200" dirty="0"/>
          </a:p>
        </p:txBody>
      </p:sp>
    </p:spTree>
    <p:extLst>
      <p:ext uri="{BB962C8B-B14F-4D97-AF65-F5344CB8AC3E}">
        <p14:creationId xmlns:p14="http://schemas.microsoft.com/office/powerpoint/2010/main" val="252112951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5BA2E58-FEC9-D54D-ACC0-E7CEEF5F42E4}"/>
              </a:ext>
            </a:extLst>
          </p:cNvPr>
          <p:cNvSpPr>
            <a:spLocks noGrp="1"/>
          </p:cNvSpPr>
          <p:nvPr>
            <p:ph type="title"/>
          </p:nvPr>
        </p:nvSpPr>
        <p:spPr/>
        <p:txBody>
          <a:bodyPr>
            <a:normAutofit/>
          </a:bodyPr>
          <a:lstStyle/>
          <a:p>
            <a:r>
              <a:rPr lang="en-US" dirty="0"/>
              <a:t>Cont..</a:t>
            </a:r>
          </a:p>
        </p:txBody>
      </p:sp>
      <p:sp>
        <p:nvSpPr>
          <p:cNvPr id="13" name="Content Placeholder 12">
            <a:extLst>
              <a:ext uri="{FF2B5EF4-FFF2-40B4-BE49-F238E27FC236}">
                <a16:creationId xmlns:a16="http://schemas.microsoft.com/office/drawing/2014/main" id="{E6267526-4913-FCF0-E153-4548D0B336DD}"/>
              </a:ext>
            </a:extLst>
          </p:cNvPr>
          <p:cNvSpPr>
            <a:spLocks noGrp="1"/>
          </p:cNvSpPr>
          <p:nvPr>
            <p:ph idx="1"/>
          </p:nvPr>
        </p:nvSpPr>
        <p:spPr>
          <a:xfrm>
            <a:off x="678883" y="1270368"/>
            <a:ext cx="10834234" cy="4161846"/>
          </a:xfrm>
        </p:spPr>
        <p:txBody>
          <a:bodyPr lIns="0" tIns="0" rIns="0" bIns="0" numCol="1" spcCol="324000">
            <a:noAutofit/>
          </a:bodyPr>
          <a:lstStyle/>
          <a:p>
            <a:pPr marL="0" indent="0">
              <a:lnSpc>
                <a:spcPct val="100000"/>
              </a:lnSpc>
              <a:spcBef>
                <a:spcPts val="400"/>
              </a:spcBef>
              <a:spcAft>
                <a:spcPts val="400"/>
              </a:spcAft>
              <a:buNone/>
            </a:pPr>
            <a:r>
              <a:rPr lang="en-US" sz="2400" b="1" dirty="0">
                <a:solidFill>
                  <a:schemeClr val="tx1"/>
                </a:solidFill>
              </a:rPr>
              <a:t>Testing the Association Between Gender and Voting Preferences</a:t>
            </a:r>
          </a:p>
          <a:p>
            <a:pPr marL="457200" lvl="1" indent="0">
              <a:lnSpc>
                <a:spcPct val="100000"/>
              </a:lnSpc>
              <a:spcBef>
                <a:spcPts val="400"/>
              </a:spcBef>
              <a:spcAft>
                <a:spcPts val="400"/>
              </a:spcAft>
              <a:buNone/>
            </a:pPr>
            <a:r>
              <a:rPr lang="en-US" sz="2000" b="1" dirty="0">
                <a:solidFill>
                  <a:schemeClr val="tx1"/>
                </a:solidFill>
              </a:rPr>
              <a:t>Data: </a:t>
            </a:r>
            <a:r>
              <a:rPr lang="en-US" sz="1800" dirty="0"/>
              <a:t>You have surveyed 200 voters in a local election to understand the association between their gender and voting preferences. Here's the dataset:</a:t>
            </a:r>
          </a:p>
          <a:p>
            <a:pPr marL="914400" lvl="2" indent="0">
              <a:lnSpc>
                <a:spcPct val="100000"/>
              </a:lnSpc>
              <a:spcBef>
                <a:spcPts val="0"/>
              </a:spcBef>
              <a:buNone/>
            </a:pPr>
            <a:endParaRPr lang="en-US" sz="1600" i="1" dirty="0"/>
          </a:p>
        </p:txBody>
      </p:sp>
      <p:pic>
        <p:nvPicPr>
          <p:cNvPr id="3" name="Picture 2">
            <a:extLst>
              <a:ext uri="{FF2B5EF4-FFF2-40B4-BE49-F238E27FC236}">
                <a16:creationId xmlns:a16="http://schemas.microsoft.com/office/drawing/2014/main" id="{CB853FDE-C503-008A-913E-46BBB0C26DD8}"/>
              </a:ext>
            </a:extLst>
          </p:cNvPr>
          <p:cNvPicPr>
            <a:picLocks noChangeAspect="1"/>
          </p:cNvPicPr>
          <p:nvPr/>
        </p:nvPicPr>
        <p:blipFill>
          <a:blip r:embed="rId2"/>
          <a:stretch>
            <a:fillRect/>
          </a:stretch>
        </p:blipFill>
        <p:spPr>
          <a:xfrm>
            <a:off x="2250370" y="2437921"/>
            <a:ext cx="6647991" cy="4193349"/>
          </a:xfrm>
          <a:prstGeom prst="rect">
            <a:avLst/>
          </a:prstGeom>
        </p:spPr>
      </p:pic>
    </p:spTree>
    <p:extLst>
      <p:ext uri="{BB962C8B-B14F-4D97-AF65-F5344CB8AC3E}">
        <p14:creationId xmlns:p14="http://schemas.microsoft.com/office/powerpoint/2010/main" val="404641591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5BA2E58-FEC9-D54D-ACC0-E7CEEF5F42E4}"/>
              </a:ext>
            </a:extLst>
          </p:cNvPr>
          <p:cNvSpPr>
            <a:spLocks noGrp="1"/>
          </p:cNvSpPr>
          <p:nvPr>
            <p:ph type="title"/>
          </p:nvPr>
        </p:nvSpPr>
        <p:spPr/>
        <p:txBody>
          <a:bodyPr>
            <a:normAutofit/>
          </a:bodyPr>
          <a:lstStyle/>
          <a:p>
            <a:r>
              <a:rPr lang="en-US" dirty="0"/>
              <a:t>Cont..</a:t>
            </a:r>
          </a:p>
        </p:txBody>
      </p:sp>
      <p:pic>
        <p:nvPicPr>
          <p:cNvPr id="7" name="Picture 6">
            <a:extLst>
              <a:ext uri="{FF2B5EF4-FFF2-40B4-BE49-F238E27FC236}">
                <a16:creationId xmlns:a16="http://schemas.microsoft.com/office/drawing/2014/main" id="{0F9114F3-63F8-6AF1-FEB6-0935FF0A29EC}"/>
              </a:ext>
            </a:extLst>
          </p:cNvPr>
          <p:cNvPicPr>
            <a:picLocks noChangeAspect="1"/>
          </p:cNvPicPr>
          <p:nvPr/>
        </p:nvPicPr>
        <p:blipFill>
          <a:blip r:embed="rId2"/>
          <a:stretch>
            <a:fillRect/>
          </a:stretch>
        </p:blipFill>
        <p:spPr>
          <a:xfrm>
            <a:off x="2311247" y="753419"/>
            <a:ext cx="7499269" cy="5444181"/>
          </a:xfrm>
          <a:prstGeom prst="rect">
            <a:avLst/>
          </a:prstGeom>
        </p:spPr>
      </p:pic>
    </p:spTree>
    <p:extLst>
      <p:ext uri="{BB962C8B-B14F-4D97-AF65-F5344CB8AC3E}">
        <p14:creationId xmlns:p14="http://schemas.microsoft.com/office/powerpoint/2010/main" val="329439837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5BA2E58-FEC9-D54D-ACC0-E7CEEF5F42E4}"/>
              </a:ext>
            </a:extLst>
          </p:cNvPr>
          <p:cNvSpPr>
            <a:spLocks noGrp="1"/>
          </p:cNvSpPr>
          <p:nvPr>
            <p:ph type="title"/>
          </p:nvPr>
        </p:nvSpPr>
        <p:spPr/>
        <p:txBody>
          <a:bodyPr>
            <a:normAutofit/>
          </a:bodyPr>
          <a:lstStyle/>
          <a:p>
            <a:r>
              <a:rPr lang="en-US" dirty="0"/>
              <a:t>Cont..</a:t>
            </a:r>
          </a:p>
        </p:txBody>
      </p:sp>
      <p:pic>
        <p:nvPicPr>
          <p:cNvPr id="3" name="Picture 2">
            <a:extLst>
              <a:ext uri="{FF2B5EF4-FFF2-40B4-BE49-F238E27FC236}">
                <a16:creationId xmlns:a16="http://schemas.microsoft.com/office/drawing/2014/main" id="{DC7445E7-00E3-4150-2CE6-5464D5C78DCC}"/>
              </a:ext>
            </a:extLst>
          </p:cNvPr>
          <p:cNvPicPr>
            <a:picLocks noChangeAspect="1"/>
          </p:cNvPicPr>
          <p:nvPr/>
        </p:nvPicPr>
        <p:blipFill>
          <a:blip r:embed="rId2"/>
          <a:stretch>
            <a:fillRect/>
          </a:stretch>
        </p:blipFill>
        <p:spPr>
          <a:xfrm>
            <a:off x="1464048" y="1598026"/>
            <a:ext cx="9106586" cy="3239161"/>
          </a:xfrm>
          <a:prstGeom prst="rect">
            <a:avLst/>
          </a:prstGeom>
        </p:spPr>
      </p:pic>
    </p:spTree>
    <p:extLst>
      <p:ext uri="{BB962C8B-B14F-4D97-AF65-F5344CB8AC3E}">
        <p14:creationId xmlns:p14="http://schemas.microsoft.com/office/powerpoint/2010/main" val="73664721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5BA2E58-FEC9-D54D-ACC0-E7CEEF5F42E4}"/>
              </a:ext>
            </a:extLst>
          </p:cNvPr>
          <p:cNvSpPr>
            <a:spLocks noGrp="1"/>
          </p:cNvSpPr>
          <p:nvPr>
            <p:ph type="title"/>
          </p:nvPr>
        </p:nvSpPr>
        <p:spPr/>
        <p:txBody>
          <a:bodyPr>
            <a:normAutofit/>
          </a:bodyPr>
          <a:lstStyle/>
          <a:p>
            <a:r>
              <a:rPr lang="en-US" dirty="0"/>
              <a:t>Cont..</a:t>
            </a:r>
          </a:p>
        </p:txBody>
      </p:sp>
      <p:sp>
        <p:nvSpPr>
          <p:cNvPr id="13" name="Content Placeholder 12">
            <a:extLst>
              <a:ext uri="{FF2B5EF4-FFF2-40B4-BE49-F238E27FC236}">
                <a16:creationId xmlns:a16="http://schemas.microsoft.com/office/drawing/2014/main" id="{E6267526-4913-FCF0-E153-4548D0B336DD}"/>
              </a:ext>
            </a:extLst>
          </p:cNvPr>
          <p:cNvSpPr>
            <a:spLocks noGrp="1"/>
          </p:cNvSpPr>
          <p:nvPr>
            <p:ph idx="1"/>
          </p:nvPr>
        </p:nvSpPr>
        <p:spPr>
          <a:xfrm>
            <a:off x="678883" y="1321169"/>
            <a:ext cx="10834234" cy="4690164"/>
          </a:xfrm>
        </p:spPr>
        <p:txBody>
          <a:bodyPr lIns="0" tIns="0" rIns="0" bIns="0" numCol="1" spcCol="324000">
            <a:noAutofit/>
          </a:bodyPr>
          <a:lstStyle/>
          <a:p>
            <a:pPr marL="0" indent="0">
              <a:lnSpc>
                <a:spcPct val="100000"/>
              </a:lnSpc>
              <a:spcBef>
                <a:spcPts val="400"/>
              </a:spcBef>
              <a:spcAft>
                <a:spcPts val="400"/>
              </a:spcAft>
              <a:buNone/>
            </a:pPr>
            <a:r>
              <a:rPr lang="en-US" sz="1800" b="1" dirty="0"/>
              <a:t>Using Python</a:t>
            </a:r>
          </a:p>
          <a:p>
            <a:pPr marL="914400" lvl="2" indent="0">
              <a:lnSpc>
                <a:spcPct val="100000"/>
              </a:lnSpc>
              <a:spcBef>
                <a:spcPts val="0"/>
              </a:spcBef>
              <a:buNone/>
            </a:pPr>
            <a:r>
              <a:rPr lang="en-US" sz="1800" i="1" dirty="0"/>
              <a:t>import pandas as pd</a:t>
            </a:r>
          </a:p>
          <a:p>
            <a:pPr marL="914400" lvl="2" indent="0">
              <a:lnSpc>
                <a:spcPct val="100000"/>
              </a:lnSpc>
              <a:spcBef>
                <a:spcPts val="0"/>
              </a:spcBef>
              <a:buNone/>
            </a:pPr>
            <a:r>
              <a:rPr lang="en-US" sz="1800" i="1" dirty="0"/>
              <a:t>import random</a:t>
            </a:r>
          </a:p>
          <a:p>
            <a:pPr marL="914400" lvl="2" indent="0">
              <a:lnSpc>
                <a:spcPct val="100000"/>
              </a:lnSpc>
              <a:spcBef>
                <a:spcPts val="0"/>
              </a:spcBef>
              <a:buNone/>
            </a:pPr>
            <a:r>
              <a:rPr lang="en-US" sz="1800" i="1" dirty="0"/>
              <a:t>from </a:t>
            </a:r>
            <a:r>
              <a:rPr lang="en-US" sz="1800" i="1" dirty="0" err="1"/>
              <a:t>scipy.stats</a:t>
            </a:r>
            <a:r>
              <a:rPr lang="en-US" sz="1800" i="1" dirty="0"/>
              <a:t> import chi2_contingency</a:t>
            </a:r>
          </a:p>
          <a:p>
            <a:pPr marL="914400" lvl="2" indent="0">
              <a:lnSpc>
                <a:spcPct val="100000"/>
              </a:lnSpc>
              <a:spcBef>
                <a:spcPts val="0"/>
              </a:spcBef>
              <a:buNone/>
            </a:pPr>
            <a:r>
              <a:rPr lang="en-US" sz="1800" i="1" dirty="0"/>
              <a:t># Generate random data for 200 voters</a:t>
            </a:r>
          </a:p>
          <a:p>
            <a:pPr marL="914400" lvl="2" indent="0">
              <a:lnSpc>
                <a:spcPct val="100000"/>
              </a:lnSpc>
              <a:spcBef>
                <a:spcPts val="0"/>
              </a:spcBef>
              <a:buNone/>
            </a:pPr>
            <a:r>
              <a:rPr lang="en-US" sz="1800" i="1" dirty="0" err="1"/>
              <a:t>random.seed</a:t>
            </a:r>
            <a:r>
              <a:rPr lang="en-US" sz="1800" i="1" dirty="0"/>
              <a:t>(42)  # For reproducibility</a:t>
            </a:r>
          </a:p>
          <a:p>
            <a:pPr marL="914400" lvl="2" indent="0">
              <a:lnSpc>
                <a:spcPct val="100000"/>
              </a:lnSpc>
              <a:spcBef>
                <a:spcPts val="0"/>
              </a:spcBef>
              <a:buNone/>
            </a:pPr>
            <a:r>
              <a:rPr lang="en-US" sz="1800" i="1" dirty="0"/>
              <a:t># Generate random gender data</a:t>
            </a:r>
          </a:p>
          <a:p>
            <a:pPr marL="914400" lvl="2" indent="0">
              <a:lnSpc>
                <a:spcPct val="100000"/>
              </a:lnSpc>
              <a:spcBef>
                <a:spcPts val="0"/>
              </a:spcBef>
              <a:buNone/>
            </a:pPr>
            <a:r>
              <a:rPr lang="en-US" sz="1800" i="1" dirty="0"/>
              <a:t>gender = </a:t>
            </a:r>
            <a:r>
              <a:rPr lang="en-US" sz="1800" i="1" dirty="0" err="1"/>
              <a:t>random.choices</a:t>
            </a:r>
            <a:r>
              <a:rPr lang="en-US" sz="1800" i="1" dirty="0"/>
              <a:t>(['Male', 'Female'], k=200)</a:t>
            </a:r>
          </a:p>
          <a:p>
            <a:pPr marL="914400" lvl="2" indent="0">
              <a:lnSpc>
                <a:spcPct val="100000"/>
              </a:lnSpc>
              <a:spcBef>
                <a:spcPts val="0"/>
              </a:spcBef>
              <a:buNone/>
            </a:pPr>
            <a:r>
              <a:rPr lang="en-US" sz="1800" i="1" dirty="0"/>
              <a:t># Generate random voting preferences data</a:t>
            </a:r>
          </a:p>
          <a:p>
            <a:pPr marL="914400" lvl="2" indent="0">
              <a:lnSpc>
                <a:spcPct val="100000"/>
              </a:lnSpc>
              <a:spcBef>
                <a:spcPts val="0"/>
              </a:spcBef>
              <a:buNone/>
            </a:pPr>
            <a:r>
              <a:rPr lang="en-US" sz="1800" i="1" dirty="0" err="1"/>
              <a:t>voting_preferences</a:t>
            </a:r>
            <a:r>
              <a:rPr lang="en-US" sz="1800" i="1" dirty="0"/>
              <a:t> = </a:t>
            </a:r>
            <a:r>
              <a:rPr lang="en-US" sz="1800" i="1" dirty="0" err="1"/>
              <a:t>random.choices</a:t>
            </a:r>
            <a:r>
              <a:rPr lang="en-US" sz="1800" i="1" dirty="0"/>
              <a:t>(['Candidate A', 'Candidate B', 'Undecided'], k=200)</a:t>
            </a:r>
          </a:p>
          <a:p>
            <a:pPr marL="914400" lvl="2" indent="0">
              <a:lnSpc>
                <a:spcPct val="100000"/>
              </a:lnSpc>
              <a:spcBef>
                <a:spcPts val="0"/>
              </a:spcBef>
              <a:buNone/>
            </a:pPr>
            <a:r>
              <a:rPr lang="en-US" sz="1800" i="1" dirty="0"/>
              <a:t># Create a </a:t>
            </a:r>
            <a:r>
              <a:rPr lang="en-US" sz="1800" i="1" dirty="0" err="1"/>
              <a:t>dataframe</a:t>
            </a:r>
            <a:r>
              <a:rPr lang="en-US" sz="1800" i="1" dirty="0"/>
              <a:t> from the data</a:t>
            </a:r>
          </a:p>
          <a:p>
            <a:pPr marL="914400" lvl="2" indent="0">
              <a:lnSpc>
                <a:spcPct val="100000"/>
              </a:lnSpc>
              <a:spcBef>
                <a:spcPts val="0"/>
              </a:spcBef>
              <a:buNone/>
            </a:pPr>
            <a:r>
              <a:rPr lang="en-US" sz="1800" i="1" dirty="0"/>
              <a:t>data = {</a:t>
            </a:r>
          </a:p>
          <a:p>
            <a:pPr marL="914400" lvl="2" indent="0">
              <a:lnSpc>
                <a:spcPct val="100000"/>
              </a:lnSpc>
              <a:spcBef>
                <a:spcPts val="0"/>
              </a:spcBef>
              <a:buNone/>
            </a:pPr>
            <a:r>
              <a:rPr lang="en-US" sz="1800" i="1" dirty="0"/>
              <a:t>    'Gender': gender,</a:t>
            </a:r>
          </a:p>
          <a:p>
            <a:pPr marL="914400" lvl="2" indent="0">
              <a:lnSpc>
                <a:spcPct val="100000"/>
              </a:lnSpc>
              <a:spcBef>
                <a:spcPts val="0"/>
              </a:spcBef>
              <a:buNone/>
            </a:pPr>
            <a:r>
              <a:rPr lang="en-US" sz="1800" i="1" dirty="0"/>
              <a:t>    '</a:t>
            </a:r>
            <a:r>
              <a:rPr lang="en-US" sz="1800" i="1" dirty="0" err="1"/>
              <a:t>Voting_Preferences</a:t>
            </a:r>
            <a:r>
              <a:rPr lang="en-US" sz="1800" i="1" dirty="0"/>
              <a:t>': </a:t>
            </a:r>
            <a:r>
              <a:rPr lang="en-US" sz="1800" i="1" dirty="0" err="1"/>
              <a:t>voting_preferences</a:t>
            </a:r>
            <a:endParaRPr lang="en-US" sz="1800" i="1" dirty="0"/>
          </a:p>
          <a:p>
            <a:pPr marL="914400" lvl="2" indent="0">
              <a:lnSpc>
                <a:spcPct val="100000"/>
              </a:lnSpc>
              <a:spcBef>
                <a:spcPts val="0"/>
              </a:spcBef>
              <a:buNone/>
            </a:pPr>
            <a:r>
              <a:rPr lang="en-US" sz="1800" i="1" dirty="0"/>
              <a:t>}</a:t>
            </a:r>
          </a:p>
          <a:p>
            <a:pPr marL="914400" lvl="2" indent="0">
              <a:lnSpc>
                <a:spcPct val="100000"/>
              </a:lnSpc>
              <a:spcBef>
                <a:spcPts val="0"/>
              </a:spcBef>
              <a:buNone/>
            </a:pPr>
            <a:r>
              <a:rPr lang="en-US" sz="1800" i="1" dirty="0" err="1"/>
              <a:t>df</a:t>
            </a:r>
            <a:r>
              <a:rPr lang="en-US" sz="1800" i="1" dirty="0"/>
              <a:t> = </a:t>
            </a:r>
            <a:r>
              <a:rPr lang="en-US" sz="1800" i="1" dirty="0" err="1"/>
              <a:t>pd.DataFrame</a:t>
            </a:r>
            <a:r>
              <a:rPr lang="en-US" sz="1800" i="1" dirty="0"/>
              <a:t>(data)</a:t>
            </a:r>
          </a:p>
          <a:p>
            <a:pPr marL="914400" lvl="2" indent="0">
              <a:lnSpc>
                <a:spcPct val="100000"/>
              </a:lnSpc>
              <a:spcBef>
                <a:spcPts val="0"/>
              </a:spcBef>
              <a:buNone/>
            </a:pPr>
            <a:endParaRPr lang="en-US" sz="1800" i="1" dirty="0"/>
          </a:p>
          <a:p>
            <a:pPr marL="914400" lvl="2" indent="0">
              <a:lnSpc>
                <a:spcPct val="100000"/>
              </a:lnSpc>
              <a:spcBef>
                <a:spcPts val="0"/>
              </a:spcBef>
              <a:buNone/>
            </a:pPr>
            <a:r>
              <a:rPr lang="en-US" sz="1800" b="1" i="1" dirty="0">
                <a:solidFill>
                  <a:srgbClr val="FF0000"/>
                </a:solidFill>
              </a:rPr>
              <a:t>Please check foot note for complete code</a:t>
            </a:r>
          </a:p>
        </p:txBody>
      </p:sp>
    </p:spTree>
    <p:extLst>
      <p:ext uri="{BB962C8B-B14F-4D97-AF65-F5344CB8AC3E}">
        <p14:creationId xmlns:p14="http://schemas.microsoft.com/office/powerpoint/2010/main" val="48864721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5BA2E58-FEC9-D54D-ACC0-E7CEEF5F42E4}"/>
              </a:ext>
            </a:extLst>
          </p:cNvPr>
          <p:cNvSpPr>
            <a:spLocks noGrp="1"/>
          </p:cNvSpPr>
          <p:nvPr>
            <p:ph type="title"/>
          </p:nvPr>
        </p:nvSpPr>
        <p:spPr/>
        <p:txBody>
          <a:bodyPr>
            <a:normAutofit/>
          </a:bodyPr>
          <a:lstStyle/>
          <a:p>
            <a:r>
              <a:rPr lang="en-US" dirty="0"/>
              <a:t>Cont..</a:t>
            </a:r>
          </a:p>
        </p:txBody>
      </p:sp>
      <p:sp>
        <p:nvSpPr>
          <p:cNvPr id="13" name="Content Placeholder 12">
            <a:extLst>
              <a:ext uri="{FF2B5EF4-FFF2-40B4-BE49-F238E27FC236}">
                <a16:creationId xmlns:a16="http://schemas.microsoft.com/office/drawing/2014/main" id="{E6267526-4913-FCF0-E153-4548D0B336DD}"/>
              </a:ext>
            </a:extLst>
          </p:cNvPr>
          <p:cNvSpPr>
            <a:spLocks noGrp="1"/>
          </p:cNvSpPr>
          <p:nvPr>
            <p:ph idx="1"/>
          </p:nvPr>
        </p:nvSpPr>
        <p:spPr>
          <a:xfrm>
            <a:off x="678884" y="1659834"/>
            <a:ext cx="10834234" cy="4594499"/>
          </a:xfrm>
        </p:spPr>
        <p:txBody>
          <a:bodyPr lIns="0" tIns="0" rIns="0" bIns="0" numCol="1" spcCol="324000">
            <a:noAutofit/>
          </a:bodyPr>
          <a:lstStyle/>
          <a:p>
            <a:pPr marL="0" indent="0">
              <a:lnSpc>
                <a:spcPct val="100000"/>
              </a:lnSpc>
              <a:spcBef>
                <a:spcPts val="600"/>
              </a:spcBef>
              <a:spcAft>
                <a:spcPts val="600"/>
              </a:spcAft>
              <a:buNone/>
            </a:pPr>
            <a:r>
              <a:rPr lang="en-US" sz="2400" b="1" dirty="0">
                <a:solidFill>
                  <a:schemeClr val="tx1"/>
                </a:solidFill>
              </a:rPr>
              <a:t>Hypotheses</a:t>
            </a:r>
          </a:p>
          <a:p>
            <a:pPr marL="0" indent="0">
              <a:lnSpc>
                <a:spcPct val="100000"/>
              </a:lnSpc>
              <a:spcBef>
                <a:spcPts val="600"/>
              </a:spcBef>
              <a:spcAft>
                <a:spcPts val="600"/>
              </a:spcAft>
              <a:buNone/>
            </a:pPr>
            <a:r>
              <a:rPr lang="en-US" sz="2200" dirty="0"/>
              <a:t>You want to test whether there is a significant association between the gender of voters and their voting preferences.</a:t>
            </a:r>
          </a:p>
          <a:p>
            <a:pPr>
              <a:lnSpc>
                <a:spcPct val="100000"/>
              </a:lnSpc>
              <a:spcBef>
                <a:spcPts val="600"/>
              </a:spcBef>
              <a:spcAft>
                <a:spcPts val="600"/>
              </a:spcAft>
            </a:pPr>
            <a:r>
              <a:rPr lang="en-US" sz="2400" b="1" dirty="0">
                <a:solidFill>
                  <a:schemeClr val="tx1"/>
                </a:solidFill>
              </a:rPr>
              <a:t>Null Hypothesis (H0): </a:t>
            </a:r>
            <a:r>
              <a:rPr lang="en-US" sz="2200" dirty="0"/>
              <a:t>Gender and voting preferences are independent.</a:t>
            </a:r>
          </a:p>
          <a:p>
            <a:pPr>
              <a:lnSpc>
                <a:spcPct val="100000"/>
              </a:lnSpc>
              <a:spcBef>
                <a:spcPts val="300"/>
              </a:spcBef>
              <a:spcAft>
                <a:spcPts val="300"/>
              </a:spcAft>
            </a:pPr>
            <a:r>
              <a:rPr lang="en-US" sz="2400" b="1" dirty="0">
                <a:solidFill>
                  <a:schemeClr val="tx1"/>
                </a:solidFill>
              </a:rPr>
              <a:t>Alternative Hypothesis (Ha): </a:t>
            </a:r>
            <a:r>
              <a:rPr lang="en-US" sz="2200" dirty="0"/>
              <a:t>Gender and voting preferences are not independent; there is an association.</a:t>
            </a:r>
          </a:p>
          <a:p>
            <a:pPr marL="0" indent="0">
              <a:lnSpc>
                <a:spcPct val="100000"/>
              </a:lnSpc>
              <a:spcBef>
                <a:spcPts val="300"/>
              </a:spcBef>
              <a:spcAft>
                <a:spcPts val="300"/>
              </a:spcAft>
              <a:buNone/>
            </a:pPr>
            <a:r>
              <a:rPr lang="en-US" sz="2400" b="1" dirty="0">
                <a:solidFill>
                  <a:schemeClr val="tx1"/>
                </a:solidFill>
              </a:rPr>
              <a:t>Create a Contingency Table</a:t>
            </a:r>
          </a:p>
          <a:p>
            <a:pPr marL="0" indent="0">
              <a:lnSpc>
                <a:spcPct val="100000"/>
              </a:lnSpc>
              <a:spcBef>
                <a:spcPts val="300"/>
              </a:spcBef>
              <a:spcAft>
                <a:spcPts val="300"/>
              </a:spcAft>
              <a:buNone/>
            </a:pPr>
            <a:r>
              <a:rPr lang="en-US" sz="2200" dirty="0"/>
              <a:t>Create a contingency table that cross-tabulates the two categorical variables (gender and voting preferences):</a:t>
            </a:r>
          </a:p>
          <a:p>
            <a:pPr marL="457200" lvl="1" indent="0">
              <a:lnSpc>
                <a:spcPct val="100000"/>
              </a:lnSpc>
              <a:spcBef>
                <a:spcPts val="300"/>
              </a:spcBef>
              <a:spcAft>
                <a:spcPts val="300"/>
              </a:spcAft>
              <a:buNone/>
            </a:pPr>
            <a:r>
              <a:rPr lang="en-US" sz="1800" dirty="0" err="1"/>
              <a:t>contingency_table</a:t>
            </a:r>
            <a:r>
              <a:rPr lang="en-US" sz="1800" dirty="0"/>
              <a:t> = </a:t>
            </a:r>
            <a:r>
              <a:rPr lang="en-US" sz="1800" dirty="0" err="1"/>
              <a:t>pd.crosstab</a:t>
            </a:r>
            <a:r>
              <a:rPr lang="en-US" sz="1800" dirty="0"/>
              <a:t>(</a:t>
            </a:r>
            <a:r>
              <a:rPr lang="en-US" sz="1800" dirty="0" err="1"/>
              <a:t>df</a:t>
            </a:r>
            <a:r>
              <a:rPr lang="en-US" sz="1800" dirty="0"/>
              <a:t>['Gender'], </a:t>
            </a:r>
            <a:r>
              <a:rPr lang="en-US" sz="1800" dirty="0" err="1"/>
              <a:t>df</a:t>
            </a:r>
            <a:r>
              <a:rPr lang="en-US" sz="1800" dirty="0"/>
              <a:t>['</a:t>
            </a:r>
            <a:r>
              <a:rPr lang="en-US" sz="1800" dirty="0" err="1"/>
              <a:t>Voting_Preferences</a:t>
            </a:r>
            <a:r>
              <a:rPr lang="en-US" sz="1800" dirty="0"/>
              <a:t>'])</a:t>
            </a:r>
          </a:p>
          <a:p>
            <a:pPr marL="457200" lvl="1" indent="0">
              <a:lnSpc>
                <a:spcPct val="100000"/>
              </a:lnSpc>
              <a:spcBef>
                <a:spcPts val="300"/>
              </a:spcBef>
              <a:spcAft>
                <a:spcPts val="300"/>
              </a:spcAft>
              <a:buNone/>
            </a:pPr>
            <a:r>
              <a:rPr lang="en-US" sz="1800" dirty="0" err="1"/>
              <a:t>contingency_table</a:t>
            </a:r>
            <a:endParaRPr lang="en-US" sz="1800" dirty="0"/>
          </a:p>
        </p:txBody>
      </p:sp>
    </p:spTree>
    <p:extLst>
      <p:ext uri="{BB962C8B-B14F-4D97-AF65-F5344CB8AC3E}">
        <p14:creationId xmlns:p14="http://schemas.microsoft.com/office/powerpoint/2010/main" val="100713232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5BA2E58-FEC9-D54D-ACC0-E7CEEF5F42E4}"/>
              </a:ext>
            </a:extLst>
          </p:cNvPr>
          <p:cNvSpPr>
            <a:spLocks noGrp="1"/>
          </p:cNvSpPr>
          <p:nvPr>
            <p:ph type="title"/>
          </p:nvPr>
        </p:nvSpPr>
        <p:spPr/>
        <p:txBody>
          <a:bodyPr>
            <a:normAutofit/>
          </a:bodyPr>
          <a:lstStyle/>
          <a:p>
            <a:r>
              <a:rPr lang="en-US" dirty="0"/>
              <a:t>Cont..</a:t>
            </a:r>
          </a:p>
        </p:txBody>
      </p:sp>
      <p:sp>
        <p:nvSpPr>
          <p:cNvPr id="13" name="Content Placeholder 12">
            <a:extLst>
              <a:ext uri="{FF2B5EF4-FFF2-40B4-BE49-F238E27FC236}">
                <a16:creationId xmlns:a16="http://schemas.microsoft.com/office/drawing/2014/main" id="{E6267526-4913-FCF0-E153-4548D0B336DD}"/>
              </a:ext>
            </a:extLst>
          </p:cNvPr>
          <p:cNvSpPr>
            <a:spLocks noGrp="1"/>
          </p:cNvSpPr>
          <p:nvPr>
            <p:ph idx="1"/>
          </p:nvPr>
        </p:nvSpPr>
        <p:spPr>
          <a:xfrm>
            <a:off x="678884" y="1659834"/>
            <a:ext cx="10834234" cy="4594499"/>
          </a:xfrm>
        </p:spPr>
        <p:txBody>
          <a:bodyPr lIns="0" tIns="0" rIns="0" bIns="0" numCol="1" spcCol="324000">
            <a:noAutofit/>
          </a:bodyPr>
          <a:lstStyle/>
          <a:p>
            <a:pPr marL="0" indent="0">
              <a:lnSpc>
                <a:spcPct val="100000"/>
              </a:lnSpc>
              <a:spcBef>
                <a:spcPts val="300"/>
              </a:spcBef>
              <a:spcAft>
                <a:spcPts val="300"/>
              </a:spcAft>
              <a:buNone/>
            </a:pPr>
            <a:r>
              <a:rPr lang="en-US" sz="2400" b="1" dirty="0">
                <a:solidFill>
                  <a:schemeClr val="tx1"/>
                </a:solidFill>
              </a:rPr>
              <a:t>Calculate the Chi-Square Statistic</a:t>
            </a:r>
          </a:p>
          <a:p>
            <a:pPr>
              <a:lnSpc>
                <a:spcPct val="100000"/>
              </a:lnSpc>
              <a:spcBef>
                <a:spcPts val="300"/>
              </a:spcBef>
              <a:spcAft>
                <a:spcPts val="300"/>
              </a:spcAft>
            </a:pPr>
            <a:r>
              <a:rPr lang="en-US" sz="2200" dirty="0"/>
              <a:t>Calculate the chi-square statistic, which measures the discrepancy between observed and expected frequencies.</a:t>
            </a:r>
          </a:p>
          <a:p>
            <a:pPr>
              <a:lnSpc>
                <a:spcPct val="100000"/>
              </a:lnSpc>
              <a:spcBef>
                <a:spcPts val="300"/>
              </a:spcBef>
              <a:spcAft>
                <a:spcPts val="300"/>
              </a:spcAft>
            </a:pPr>
            <a:endParaRPr lang="en-US" sz="500" dirty="0"/>
          </a:p>
          <a:p>
            <a:pPr marL="457200" lvl="1" indent="0">
              <a:lnSpc>
                <a:spcPct val="100000"/>
              </a:lnSpc>
              <a:spcBef>
                <a:spcPts val="300"/>
              </a:spcBef>
              <a:spcAft>
                <a:spcPts val="300"/>
              </a:spcAft>
              <a:buNone/>
            </a:pPr>
            <a:r>
              <a:rPr lang="en-US" sz="1800" dirty="0"/>
              <a:t>from scipy.stats import chi2_contingency</a:t>
            </a:r>
          </a:p>
          <a:p>
            <a:pPr marL="457200" lvl="1" indent="0">
              <a:lnSpc>
                <a:spcPct val="100000"/>
              </a:lnSpc>
              <a:spcBef>
                <a:spcPts val="300"/>
              </a:spcBef>
              <a:spcAft>
                <a:spcPts val="300"/>
              </a:spcAft>
              <a:buNone/>
            </a:pPr>
            <a:r>
              <a:rPr lang="en-US" sz="1800" dirty="0"/>
              <a:t># Calculate chi-square statistic, p-value, degrees of freedom, and expected frequencies</a:t>
            </a:r>
          </a:p>
          <a:p>
            <a:pPr marL="457200" lvl="1" indent="0">
              <a:lnSpc>
                <a:spcPct val="100000"/>
              </a:lnSpc>
              <a:spcBef>
                <a:spcPts val="300"/>
              </a:spcBef>
              <a:spcAft>
                <a:spcPts val="300"/>
              </a:spcAft>
              <a:buNone/>
            </a:pPr>
            <a:r>
              <a:rPr lang="en-US" sz="1800" dirty="0"/>
              <a:t>chi2, p, dof, expected = chi2_contingency(contingency_table)</a:t>
            </a:r>
          </a:p>
          <a:p>
            <a:pPr marL="457200" lvl="1" indent="0">
              <a:lnSpc>
                <a:spcPct val="100000"/>
              </a:lnSpc>
              <a:spcBef>
                <a:spcPts val="300"/>
              </a:spcBef>
              <a:spcAft>
                <a:spcPts val="300"/>
              </a:spcAft>
              <a:buNone/>
            </a:pPr>
            <a:r>
              <a:rPr lang="en-US" sz="1800" dirty="0"/>
              <a:t>chi2, p, dof, expected</a:t>
            </a:r>
          </a:p>
          <a:p>
            <a:pPr marL="457200" lvl="1" indent="0">
              <a:lnSpc>
                <a:spcPct val="100000"/>
              </a:lnSpc>
              <a:spcBef>
                <a:spcPts val="300"/>
              </a:spcBef>
              <a:spcAft>
                <a:spcPts val="300"/>
              </a:spcAft>
              <a:buNone/>
            </a:pPr>
            <a:endParaRPr lang="en-US" sz="500" dirty="0"/>
          </a:p>
          <a:p>
            <a:pPr>
              <a:lnSpc>
                <a:spcPct val="100000"/>
              </a:lnSpc>
              <a:spcBef>
                <a:spcPts val="300"/>
              </a:spcBef>
              <a:spcAft>
                <a:spcPts val="300"/>
              </a:spcAft>
            </a:pPr>
            <a:r>
              <a:rPr lang="en-US" sz="2200" b="1" dirty="0">
                <a:solidFill>
                  <a:schemeClr val="tx1"/>
                </a:solidFill>
              </a:rPr>
              <a:t>Chi-Square Statistic (χ²): </a:t>
            </a:r>
            <a:r>
              <a:rPr lang="en-US" sz="2200" dirty="0"/>
              <a:t>Approximately 0.1463</a:t>
            </a:r>
          </a:p>
          <a:p>
            <a:pPr>
              <a:lnSpc>
                <a:spcPct val="100000"/>
              </a:lnSpc>
              <a:spcBef>
                <a:spcPts val="300"/>
              </a:spcBef>
              <a:spcAft>
                <a:spcPts val="300"/>
              </a:spcAft>
            </a:pPr>
            <a:r>
              <a:rPr lang="en-US" sz="2200" b="1" dirty="0">
                <a:solidFill>
                  <a:schemeClr val="tx1"/>
                </a:solidFill>
              </a:rPr>
              <a:t>P-Value (p): </a:t>
            </a:r>
            <a:r>
              <a:rPr lang="en-US" sz="2200" dirty="0"/>
              <a:t>Calculated based on data</a:t>
            </a:r>
          </a:p>
          <a:p>
            <a:pPr>
              <a:lnSpc>
                <a:spcPct val="100000"/>
              </a:lnSpc>
              <a:spcBef>
                <a:spcPts val="300"/>
              </a:spcBef>
              <a:spcAft>
                <a:spcPts val="300"/>
              </a:spcAft>
            </a:pPr>
            <a:r>
              <a:rPr lang="en-US" sz="2200" b="1" dirty="0">
                <a:solidFill>
                  <a:schemeClr val="tx1"/>
                </a:solidFill>
              </a:rPr>
              <a:t>Degrees of Freedom (df): </a:t>
            </a:r>
            <a:r>
              <a:rPr lang="en-US" sz="2200" dirty="0"/>
              <a:t>2</a:t>
            </a:r>
          </a:p>
          <a:p>
            <a:pPr>
              <a:lnSpc>
                <a:spcPct val="100000"/>
              </a:lnSpc>
              <a:spcBef>
                <a:spcPts val="300"/>
              </a:spcBef>
              <a:spcAft>
                <a:spcPts val="300"/>
              </a:spcAft>
            </a:pPr>
            <a:r>
              <a:rPr lang="en-US" sz="2200" b="1" dirty="0">
                <a:solidFill>
                  <a:schemeClr val="tx1"/>
                </a:solidFill>
              </a:rPr>
              <a:t>Expected Frequencies: </a:t>
            </a:r>
            <a:r>
              <a:rPr lang="en-US" sz="2200" dirty="0"/>
              <a:t>Calculated values based on the data</a:t>
            </a:r>
          </a:p>
          <a:p>
            <a:pPr marL="0" indent="0">
              <a:lnSpc>
                <a:spcPct val="100000"/>
              </a:lnSpc>
              <a:spcBef>
                <a:spcPts val="300"/>
              </a:spcBef>
              <a:spcAft>
                <a:spcPts val="300"/>
              </a:spcAft>
              <a:buNone/>
            </a:pPr>
            <a:endParaRPr lang="en-US" sz="2200" dirty="0"/>
          </a:p>
        </p:txBody>
      </p:sp>
    </p:spTree>
    <p:extLst>
      <p:ext uri="{BB962C8B-B14F-4D97-AF65-F5344CB8AC3E}">
        <p14:creationId xmlns:p14="http://schemas.microsoft.com/office/powerpoint/2010/main" val="42403421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5BA2E58-FEC9-D54D-ACC0-E7CEEF5F42E4}"/>
              </a:ext>
            </a:extLst>
          </p:cNvPr>
          <p:cNvSpPr>
            <a:spLocks noGrp="1"/>
          </p:cNvSpPr>
          <p:nvPr>
            <p:ph type="title"/>
          </p:nvPr>
        </p:nvSpPr>
        <p:spPr/>
        <p:txBody>
          <a:bodyPr>
            <a:normAutofit/>
          </a:bodyPr>
          <a:lstStyle/>
          <a:p>
            <a:r>
              <a:rPr lang="en-US" dirty="0"/>
              <a:t>Cont..</a:t>
            </a:r>
          </a:p>
        </p:txBody>
      </p:sp>
      <p:sp>
        <p:nvSpPr>
          <p:cNvPr id="13" name="Content Placeholder 12">
            <a:extLst>
              <a:ext uri="{FF2B5EF4-FFF2-40B4-BE49-F238E27FC236}">
                <a16:creationId xmlns:a16="http://schemas.microsoft.com/office/drawing/2014/main" id="{E6267526-4913-FCF0-E153-4548D0B336DD}"/>
              </a:ext>
            </a:extLst>
          </p:cNvPr>
          <p:cNvSpPr>
            <a:spLocks noGrp="1"/>
          </p:cNvSpPr>
          <p:nvPr>
            <p:ph idx="1"/>
          </p:nvPr>
        </p:nvSpPr>
        <p:spPr>
          <a:xfrm>
            <a:off x="678884" y="1659834"/>
            <a:ext cx="10834234" cy="4594499"/>
          </a:xfrm>
        </p:spPr>
        <p:txBody>
          <a:bodyPr lIns="0" tIns="0" rIns="0" bIns="0" numCol="1" spcCol="324000">
            <a:noAutofit/>
          </a:bodyPr>
          <a:lstStyle/>
          <a:p>
            <a:pPr marL="0" indent="0">
              <a:lnSpc>
                <a:spcPct val="100000"/>
              </a:lnSpc>
              <a:spcBef>
                <a:spcPts val="400"/>
              </a:spcBef>
              <a:spcAft>
                <a:spcPts val="400"/>
              </a:spcAft>
              <a:buNone/>
            </a:pPr>
            <a:r>
              <a:rPr lang="en-US" sz="2400" b="1" dirty="0">
                <a:solidFill>
                  <a:schemeClr val="tx1"/>
                </a:solidFill>
              </a:rPr>
              <a:t>Determine the Critical Value</a:t>
            </a:r>
          </a:p>
          <a:p>
            <a:pPr>
              <a:lnSpc>
                <a:spcPct val="100000"/>
              </a:lnSpc>
              <a:spcBef>
                <a:spcPts val="300"/>
              </a:spcBef>
              <a:spcAft>
                <a:spcPts val="300"/>
              </a:spcAft>
            </a:pPr>
            <a:r>
              <a:rPr lang="en-US" sz="2200" dirty="0"/>
              <a:t>Specify the desired level of significance (</a:t>
            </a:r>
            <a:r>
              <a:rPr lang="el-GR" sz="2200" dirty="0"/>
              <a:t>α) </a:t>
            </a:r>
            <a:r>
              <a:rPr lang="en-US" sz="2200" dirty="0"/>
              <a:t>to determine the critical chi-square value. Let's assume </a:t>
            </a:r>
            <a:r>
              <a:rPr lang="el-GR" sz="2200" dirty="0"/>
              <a:t>α = 0.05.</a:t>
            </a:r>
            <a:endParaRPr lang="en-IN" sz="2200" dirty="0"/>
          </a:p>
          <a:p>
            <a:pPr>
              <a:lnSpc>
                <a:spcPct val="100000"/>
              </a:lnSpc>
              <a:spcBef>
                <a:spcPts val="300"/>
              </a:spcBef>
              <a:spcAft>
                <a:spcPts val="300"/>
              </a:spcAft>
            </a:pPr>
            <a:endParaRPr lang="el-GR" sz="1000" dirty="0"/>
          </a:p>
          <a:p>
            <a:pPr marL="457200" lvl="1" indent="0">
              <a:lnSpc>
                <a:spcPct val="100000"/>
              </a:lnSpc>
              <a:spcBef>
                <a:spcPts val="300"/>
              </a:spcBef>
              <a:spcAft>
                <a:spcPts val="300"/>
              </a:spcAft>
              <a:buNone/>
            </a:pPr>
            <a:r>
              <a:rPr lang="en-US" sz="1800" dirty="0"/>
              <a:t>from scipy.stats import chi2</a:t>
            </a:r>
          </a:p>
          <a:p>
            <a:pPr marL="457200" lvl="1" indent="0">
              <a:lnSpc>
                <a:spcPct val="100000"/>
              </a:lnSpc>
              <a:spcBef>
                <a:spcPts val="300"/>
              </a:spcBef>
              <a:spcAft>
                <a:spcPts val="300"/>
              </a:spcAft>
              <a:buNone/>
            </a:pPr>
            <a:r>
              <a:rPr lang="en-US" sz="1800" dirty="0"/>
              <a:t>alpha = 0.05</a:t>
            </a:r>
          </a:p>
          <a:p>
            <a:pPr marL="457200" lvl="1" indent="0">
              <a:lnSpc>
                <a:spcPct val="100000"/>
              </a:lnSpc>
              <a:spcBef>
                <a:spcPts val="300"/>
              </a:spcBef>
              <a:spcAft>
                <a:spcPts val="300"/>
              </a:spcAft>
              <a:buNone/>
            </a:pPr>
            <a:r>
              <a:rPr lang="en-US" sz="1800" dirty="0"/>
              <a:t>critical_value = chi2.ppf(1 - alpha, dof)</a:t>
            </a:r>
          </a:p>
          <a:p>
            <a:pPr marL="457200" lvl="1" indent="0">
              <a:lnSpc>
                <a:spcPct val="100000"/>
              </a:lnSpc>
              <a:spcBef>
                <a:spcPts val="300"/>
              </a:spcBef>
              <a:spcAft>
                <a:spcPts val="300"/>
              </a:spcAft>
              <a:buNone/>
            </a:pPr>
            <a:r>
              <a:rPr lang="en-US" sz="1800" dirty="0"/>
              <a:t>critical_value</a:t>
            </a:r>
          </a:p>
          <a:p>
            <a:pPr marL="457200" lvl="1" indent="0">
              <a:lnSpc>
                <a:spcPct val="100000"/>
              </a:lnSpc>
              <a:spcBef>
                <a:spcPts val="300"/>
              </a:spcBef>
              <a:spcAft>
                <a:spcPts val="300"/>
              </a:spcAft>
              <a:buNone/>
            </a:pPr>
            <a:endParaRPr lang="en-US" sz="1000" dirty="0"/>
          </a:p>
          <a:p>
            <a:pPr marL="0" indent="0">
              <a:lnSpc>
                <a:spcPct val="100000"/>
              </a:lnSpc>
              <a:spcBef>
                <a:spcPts val="300"/>
              </a:spcBef>
              <a:spcAft>
                <a:spcPts val="300"/>
              </a:spcAft>
              <a:buNone/>
            </a:pPr>
            <a:r>
              <a:rPr lang="en-US" sz="2400" b="1" dirty="0">
                <a:solidFill>
                  <a:schemeClr val="tx1"/>
                </a:solidFill>
              </a:rPr>
              <a:t>Critical Value (</a:t>
            </a:r>
            <a:r>
              <a:rPr lang="el-GR" sz="2400" b="1" dirty="0">
                <a:solidFill>
                  <a:schemeClr val="tx1"/>
                </a:solidFill>
              </a:rPr>
              <a:t>χ²_</a:t>
            </a:r>
            <a:r>
              <a:rPr lang="en-US" sz="2400" b="1" dirty="0">
                <a:solidFill>
                  <a:schemeClr val="tx1"/>
                </a:solidFill>
              </a:rPr>
              <a:t>critical): </a:t>
            </a:r>
            <a:r>
              <a:rPr lang="en-US" sz="2200" dirty="0"/>
              <a:t>Approximately 5.991 (for </a:t>
            </a:r>
            <a:r>
              <a:rPr lang="el-GR" sz="2200" dirty="0"/>
              <a:t>α = 0.05 </a:t>
            </a:r>
            <a:r>
              <a:rPr lang="en-US" sz="2200" dirty="0"/>
              <a:t>and df = 2)</a:t>
            </a:r>
          </a:p>
        </p:txBody>
      </p:sp>
    </p:spTree>
    <p:extLst>
      <p:ext uri="{BB962C8B-B14F-4D97-AF65-F5344CB8AC3E}">
        <p14:creationId xmlns:p14="http://schemas.microsoft.com/office/powerpoint/2010/main" val="329192778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5BA2E58-FEC9-D54D-ACC0-E7CEEF5F42E4}"/>
              </a:ext>
            </a:extLst>
          </p:cNvPr>
          <p:cNvSpPr>
            <a:spLocks noGrp="1"/>
          </p:cNvSpPr>
          <p:nvPr>
            <p:ph type="title"/>
          </p:nvPr>
        </p:nvSpPr>
        <p:spPr/>
        <p:txBody>
          <a:bodyPr>
            <a:normAutofit/>
          </a:bodyPr>
          <a:lstStyle/>
          <a:p>
            <a:r>
              <a:rPr lang="en-US" dirty="0"/>
              <a:t>Cont..</a:t>
            </a:r>
          </a:p>
        </p:txBody>
      </p:sp>
      <p:sp>
        <p:nvSpPr>
          <p:cNvPr id="13" name="Content Placeholder 12">
            <a:extLst>
              <a:ext uri="{FF2B5EF4-FFF2-40B4-BE49-F238E27FC236}">
                <a16:creationId xmlns:a16="http://schemas.microsoft.com/office/drawing/2014/main" id="{E6267526-4913-FCF0-E153-4548D0B336DD}"/>
              </a:ext>
            </a:extLst>
          </p:cNvPr>
          <p:cNvSpPr>
            <a:spLocks noGrp="1"/>
          </p:cNvSpPr>
          <p:nvPr>
            <p:ph idx="1"/>
          </p:nvPr>
        </p:nvSpPr>
        <p:spPr>
          <a:xfrm>
            <a:off x="678884" y="1659834"/>
            <a:ext cx="10834234" cy="4594499"/>
          </a:xfrm>
        </p:spPr>
        <p:txBody>
          <a:bodyPr lIns="0" tIns="0" rIns="0" bIns="0" numCol="1" spcCol="324000">
            <a:noAutofit/>
          </a:bodyPr>
          <a:lstStyle/>
          <a:p>
            <a:pPr marL="0" indent="0">
              <a:lnSpc>
                <a:spcPct val="100000"/>
              </a:lnSpc>
              <a:spcBef>
                <a:spcPts val="400"/>
              </a:spcBef>
              <a:spcAft>
                <a:spcPts val="400"/>
              </a:spcAft>
              <a:buNone/>
            </a:pPr>
            <a:r>
              <a:rPr lang="en-US" sz="2400" b="1" dirty="0">
                <a:solidFill>
                  <a:schemeClr val="tx1"/>
                </a:solidFill>
              </a:rPr>
              <a:t>Make a Decision</a:t>
            </a:r>
          </a:p>
          <a:p>
            <a:pPr marL="0" indent="0">
              <a:lnSpc>
                <a:spcPct val="100000"/>
              </a:lnSpc>
              <a:spcBef>
                <a:spcPts val="400"/>
              </a:spcBef>
              <a:spcAft>
                <a:spcPts val="400"/>
              </a:spcAft>
              <a:buNone/>
            </a:pPr>
            <a:r>
              <a:rPr lang="en-US" sz="2200" dirty="0"/>
              <a:t>Compare the calculated chi-square statistic with the critical value.</a:t>
            </a:r>
          </a:p>
          <a:p>
            <a:pPr>
              <a:lnSpc>
                <a:spcPct val="100000"/>
              </a:lnSpc>
              <a:spcBef>
                <a:spcPts val="400"/>
              </a:spcBef>
              <a:spcAft>
                <a:spcPts val="400"/>
              </a:spcAft>
            </a:pPr>
            <a:r>
              <a:rPr lang="en-US" sz="2200" dirty="0"/>
              <a:t>If χ² &gt; χ²_critical, reject the null hypothesis.</a:t>
            </a:r>
          </a:p>
          <a:p>
            <a:pPr>
              <a:lnSpc>
                <a:spcPct val="100000"/>
              </a:lnSpc>
              <a:spcBef>
                <a:spcPts val="400"/>
              </a:spcBef>
              <a:spcAft>
                <a:spcPts val="400"/>
              </a:spcAft>
            </a:pPr>
            <a:r>
              <a:rPr lang="en-US" sz="2200" dirty="0"/>
              <a:t>If χ² ≤ χ²_critical, fail to reject the null hypothesis.</a:t>
            </a:r>
          </a:p>
          <a:p>
            <a:pPr>
              <a:lnSpc>
                <a:spcPct val="100000"/>
              </a:lnSpc>
              <a:spcBef>
                <a:spcPts val="400"/>
              </a:spcBef>
              <a:spcAft>
                <a:spcPts val="400"/>
              </a:spcAft>
            </a:pPr>
            <a:endParaRPr lang="en-US" sz="300" dirty="0"/>
          </a:p>
          <a:p>
            <a:pPr marL="914400" lvl="2" indent="0">
              <a:lnSpc>
                <a:spcPct val="100000"/>
              </a:lnSpc>
              <a:spcBef>
                <a:spcPts val="0"/>
              </a:spcBef>
              <a:buNone/>
            </a:pPr>
            <a:r>
              <a:rPr lang="en-US" sz="2200" dirty="0"/>
              <a:t># Make a decision</a:t>
            </a:r>
          </a:p>
          <a:p>
            <a:pPr marL="914400" lvl="2" indent="0">
              <a:lnSpc>
                <a:spcPct val="100000"/>
              </a:lnSpc>
              <a:spcBef>
                <a:spcPts val="0"/>
              </a:spcBef>
              <a:buNone/>
            </a:pPr>
            <a:r>
              <a:rPr lang="en-US" sz="2200" dirty="0"/>
              <a:t>reject_null = chi2 &gt; critical_value</a:t>
            </a:r>
          </a:p>
          <a:p>
            <a:pPr marL="914400" lvl="2" indent="0">
              <a:lnSpc>
                <a:spcPct val="100000"/>
              </a:lnSpc>
              <a:spcBef>
                <a:spcPts val="0"/>
              </a:spcBef>
              <a:buNone/>
            </a:pPr>
            <a:r>
              <a:rPr lang="en-US" sz="2200" dirty="0"/>
              <a:t>reject_null</a:t>
            </a:r>
          </a:p>
          <a:p>
            <a:pPr marL="914400" lvl="2" indent="0">
              <a:lnSpc>
                <a:spcPct val="100000"/>
              </a:lnSpc>
              <a:spcBef>
                <a:spcPts val="0"/>
              </a:spcBef>
              <a:buNone/>
            </a:pPr>
            <a:endParaRPr lang="en-US" sz="300" dirty="0"/>
          </a:p>
          <a:p>
            <a:pPr marL="0" indent="0">
              <a:lnSpc>
                <a:spcPct val="100000"/>
              </a:lnSpc>
              <a:spcBef>
                <a:spcPts val="400"/>
              </a:spcBef>
              <a:spcAft>
                <a:spcPts val="400"/>
              </a:spcAft>
              <a:buNone/>
            </a:pPr>
            <a:r>
              <a:rPr lang="en-US" sz="2400" b="1" dirty="0">
                <a:solidFill>
                  <a:schemeClr val="tx1"/>
                </a:solidFill>
              </a:rPr>
              <a:t>Decision: </a:t>
            </a:r>
            <a:r>
              <a:rPr lang="en-US" sz="2200" dirty="0"/>
              <a:t>Fail to reject the null hypothesis (H0).</a:t>
            </a:r>
          </a:p>
          <a:p>
            <a:pPr marL="0" indent="0">
              <a:lnSpc>
                <a:spcPct val="100000"/>
              </a:lnSpc>
              <a:spcBef>
                <a:spcPts val="400"/>
              </a:spcBef>
              <a:spcAft>
                <a:spcPts val="400"/>
              </a:spcAft>
              <a:buNone/>
            </a:pPr>
            <a:r>
              <a:rPr lang="en-US" sz="2200" dirty="0"/>
              <a:t>There is insufficient evidence to conclude that there is a significant association between the gender of voters and their voting preferences in this local election. Gender and voting preferences appear to be independent.</a:t>
            </a:r>
          </a:p>
        </p:txBody>
      </p:sp>
    </p:spTree>
    <p:extLst>
      <p:ext uri="{BB962C8B-B14F-4D97-AF65-F5344CB8AC3E}">
        <p14:creationId xmlns:p14="http://schemas.microsoft.com/office/powerpoint/2010/main" val="78440376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167844F-298E-4890-096C-08ED7FF670F0}"/>
              </a:ext>
            </a:extLst>
          </p:cNvPr>
          <p:cNvSpPr>
            <a:spLocks noGrp="1"/>
          </p:cNvSpPr>
          <p:nvPr>
            <p:ph type="title"/>
          </p:nvPr>
        </p:nvSpPr>
        <p:spPr>
          <a:xfrm>
            <a:off x="678883" y="1994526"/>
            <a:ext cx="5975917" cy="2856250"/>
          </a:xfrm>
        </p:spPr>
        <p:txBody>
          <a:bodyPr anchor="ctr" anchorCtr="0">
            <a:noAutofit/>
          </a:bodyPr>
          <a:lstStyle/>
          <a:p>
            <a:r>
              <a:rPr lang="en-US" sz="5400" dirty="0"/>
              <a:t>One-way &amp;</a:t>
            </a:r>
            <a:br>
              <a:rPr lang="en-US" sz="5400" dirty="0"/>
            </a:br>
            <a:r>
              <a:rPr lang="en-US" sz="5400" dirty="0"/>
              <a:t>Two-way ANOVA</a:t>
            </a:r>
          </a:p>
        </p:txBody>
      </p:sp>
      <p:pic>
        <p:nvPicPr>
          <p:cNvPr id="6" name="Picture 5" descr="Difference between one way and two way ANOVA">
            <a:extLst>
              <a:ext uri="{FF2B5EF4-FFF2-40B4-BE49-F238E27FC236}">
                <a16:creationId xmlns:a16="http://schemas.microsoft.com/office/drawing/2014/main" id="{BEDFBC57-23E0-2AEA-AF7A-EA4933D25D0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420" t="2685" r="44731" b="2685"/>
          <a:stretch/>
        </p:blipFill>
        <p:spPr bwMode="auto">
          <a:xfrm>
            <a:off x="5511800" y="1"/>
            <a:ext cx="6680200" cy="6858000"/>
          </a:xfrm>
          <a:custGeom>
            <a:avLst/>
            <a:gdLst>
              <a:gd name="connsiteX0" fmla="*/ 2560797 w 6680200"/>
              <a:gd name="connsiteY0" fmla="*/ 0 h 6858000"/>
              <a:gd name="connsiteX1" fmla="*/ 6680200 w 6680200"/>
              <a:gd name="connsiteY1" fmla="*/ 0 h 6858000"/>
              <a:gd name="connsiteX2" fmla="*/ 6680200 w 6680200"/>
              <a:gd name="connsiteY2" fmla="*/ 6858000 h 6858000"/>
              <a:gd name="connsiteX3" fmla="*/ 0 w 66802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680200" h="6858000">
                <a:moveTo>
                  <a:pt x="2560797" y="0"/>
                </a:moveTo>
                <a:lnTo>
                  <a:pt x="6680200" y="0"/>
                </a:lnTo>
                <a:lnTo>
                  <a:pt x="6680200" y="6858000"/>
                </a:lnTo>
                <a:lnTo>
                  <a:pt x="0" y="6858000"/>
                </a:lnTo>
                <a:close/>
              </a:path>
            </a:pathLst>
          </a:custGeom>
          <a:noFill/>
          <a:extLst>
            <a:ext uri="{909E8E84-426E-40DD-AFC4-6F175D3DCCD1}">
              <a14:hiddenFill xmlns:a14="http://schemas.microsoft.com/office/drawing/2010/main">
                <a:solidFill>
                  <a:srgbClr val="FFFFFF"/>
                </a:solidFill>
              </a14:hiddenFill>
            </a:ext>
          </a:extLst>
        </p:spPr>
      </p:pic>
      <p:sp>
        <p:nvSpPr>
          <p:cNvPr id="5" name="Rectangle 9">
            <a:extLst>
              <a:ext uri="{FF2B5EF4-FFF2-40B4-BE49-F238E27FC236}">
                <a16:creationId xmlns:a16="http://schemas.microsoft.com/office/drawing/2014/main" id="{38CCA6E2-0E36-3EBE-C0C6-3C86FA11696B}"/>
              </a:ext>
            </a:extLst>
          </p:cNvPr>
          <p:cNvSpPr/>
          <p:nvPr/>
        </p:nvSpPr>
        <p:spPr>
          <a:xfrm>
            <a:off x="5511800" y="1"/>
            <a:ext cx="6680200" cy="6858000"/>
          </a:xfrm>
          <a:custGeom>
            <a:avLst/>
            <a:gdLst>
              <a:gd name="connsiteX0" fmla="*/ 0 w 6692900"/>
              <a:gd name="connsiteY0" fmla="*/ 0 h 6858000"/>
              <a:gd name="connsiteX1" fmla="*/ 6692900 w 6692900"/>
              <a:gd name="connsiteY1" fmla="*/ 0 h 6858000"/>
              <a:gd name="connsiteX2" fmla="*/ 6692900 w 6692900"/>
              <a:gd name="connsiteY2" fmla="*/ 6858000 h 6858000"/>
              <a:gd name="connsiteX3" fmla="*/ 0 w 6692900"/>
              <a:gd name="connsiteY3" fmla="*/ 6858000 h 6858000"/>
              <a:gd name="connsiteX4" fmla="*/ 0 w 6692900"/>
              <a:gd name="connsiteY4" fmla="*/ 0 h 6858000"/>
              <a:gd name="connsiteX0" fmla="*/ 2425700 w 6692900"/>
              <a:gd name="connsiteY0" fmla="*/ 0 h 6858000"/>
              <a:gd name="connsiteX1" fmla="*/ 6692900 w 6692900"/>
              <a:gd name="connsiteY1" fmla="*/ 0 h 6858000"/>
              <a:gd name="connsiteX2" fmla="*/ 6692900 w 6692900"/>
              <a:gd name="connsiteY2" fmla="*/ 6858000 h 6858000"/>
              <a:gd name="connsiteX3" fmla="*/ 0 w 6692900"/>
              <a:gd name="connsiteY3" fmla="*/ 6858000 h 6858000"/>
              <a:gd name="connsiteX4" fmla="*/ 2425700 w 6692900"/>
              <a:gd name="connsiteY4" fmla="*/ 0 h 6858000"/>
              <a:gd name="connsiteX0" fmla="*/ 2565665 w 6692900"/>
              <a:gd name="connsiteY0" fmla="*/ 0 h 6858000"/>
              <a:gd name="connsiteX1" fmla="*/ 6692900 w 6692900"/>
              <a:gd name="connsiteY1" fmla="*/ 0 h 6858000"/>
              <a:gd name="connsiteX2" fmla="*/ 6692900 w 6692900"/>
              <a:gd name="connsiteY2" fmla="*/ 6858000 h 6858000"/>
              <a:gd name="connsiteX3" fmla="*/ 0 w 6692900"/>
              <a:gd name="connsiteY3" fmla="*/ 6858000 h 6858000"/>
              <a:gd name="connsiteX4" fmla="*/ 2565665 w 6692900"/>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92900" h="6858000">
                <a:moveTo>
                  <a:pt x="2565665" y="0"/>
                </a:moveTo>
                <a:lnTo>
                  <a:pt x="6692900" y="0"/>
                </a:lnTo>
                <a:lnTo>
                  <a:pt x="6692900" y="6858000"/>
                </a:lnTo>
                <a:lnTo>
                  <a:pt x="0" y="6858000"/>
                </a:lnTo>
                <a:lnTo>
                  <a:pt x="2565665" y="0"/>
                </a:lnTo>
                <a:close/>
              </a:path>
            </a:pathLst>
          </a:custGeom>
          <a:solidFill>
            <a:schemeClr val="bg2">
              <a:lumMod val="25000"/>
              <a:alpha val="41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Tree>
    <p:extLst>
      <p:ext uri="{BB962C8B-B14F-4D97-AF65-F5344CB8AC3E}">
        <p14:creationId xmlns:p14="http://schemas.microsoft.com/office/powerpoint/2010/main" val="251245820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5BA2E58-FEC9-D54D-ACC0-E7CEEF5F42E4}"/>
              </a:ext>
            </a:extLst>
          </p:cNvPr>
          <p:cNvSpPr>
            <a:spLocks noGrp="1"/>
          </p:cNvSpPr>
          <p:nvPr>
            <p:ph type="title"/>
          </p:nvPr>
        </p:nvSpPr>
        <p:spPr/>
        <p:txBody>
          <a:bodyPr>
            <a:normAutofit/>
          </a:bodyPr>
          <a:lstStyle/>
          <a:p>
            <a:r>
              <a:rPr lang="en-US" dirty="0"/>
              <a:t>One-Way and Two-Way ANOVA</a:t>
            </a:r>
          </a:p>
        </p:txBody>
      </p:sp>
      <p:sp>
        <p:nvSpPr>
          <p:cNvPr id="13" name="Content Placeholder 12">
            <a:extLst>
              <a:ext uri="{FF2B5EF4-FFF2-40B4-BE49-F238E27FC236}">
                <a16:creationId xmlns:a16="http://schemas.microsoft.com/office/drawing/2014/main" id="{E6267526-4913-FCF0-E153-4548D0B336DD}"/>
              </a:ext>
            </a:extLst>
          </p:cNvPr>
          <p:cNvSpPr>
            <a:spLocks noGrp="1"/>
          </p:cNvSpPr>
          <p:nvPr>
            <p:ph idx="1"/>
          </p:nvPr>
        </p:nvSpPr>
        <p:spPr>
          <a:xfrm>
            <a:off x="678884" y="1659834"/>
            <a:ext cx="10834234" cy="4594499"/>
          </a:xfrm>
        </p:spPr>
        <p:txBody>
          <a:bodyPr lIns="0" tIns="0" rIns="0" bIns="0" numCol="1" spcCol="324000">
            <a:noAutofit/>
          </a:bodyPr>
          <a:lstStyle/>
          <a:p>
            <a:pPr marL="0" indent="0">
              <a:lnSpc>
                <a:spcPct val="100000"/>
              </a:lnSpc>
              <a:spcBef>
                <a:spcPts val="400"/>
              </a:spcBef>
              <a:spcAft>
                <a:spcPts val="400"/>
              </a:spcAft>
              <a:buNone/>
            </a:pPr>
            <a:r>
              <a:rPr lang="en-US" sz="2200" b="1" dirty="0">
                <a:solidFill>
                  <a:schemeClr val="tx1"/>
                </a:solidFill>
              </a:rPr>
              <a:t>Introduction to Analysis of Variance (ANOVA)</a:t>
            </a:r>
          </a:p>
          <a:p>
            <a:pPr>
              <a:lnSpc>
                <a:spcPct val="100000"/>
              </a:lnSpc>
              <a:spcBef>
                <a:spcPts val="400"/>
              </a:spcBef>
              <a:spcAft>
                <a:spcPts val="400"/>
              </a:spcAft>
            </a:pPr>
            <a:r>
              <a:rPr lang="en-US" sz="2200" b="1" dirty="0">
                <a:solidFill>
                  <a:schemeClr val="tx1"/>
                </a:solidFill>
              </a:rPr>
              <a:t>Analysis of Variance (ANOVA): </a:t>
            </a:r>
            <a:r>
              <a:rPr lang="en-US" sz="2200" dirty="0"/>
              <a:t>ANOVA is a statistical technique used to compare means among multiple groups or treatments. It assesses whether there are any statistically significant differences between the means of the groups.</a:t>
            </a:r>
          </a:p>
          <a:p>
            <a:pPr marL="0" indent="0">
              <a:lnSpc>
                <a:spcPct val="100000"/>
              </a:lnSpc>
              <a:spcBef>
                <a:spcPts val="400"/>
              </a:spcBef>
              <a:spcAft>
                <a:spcPts val="400"/>
              </a:spcAft>
              <a:buNone/>
            </a:pPr>
            <a:r>
              <a:rPr lang="en-US" sz="2200" b="1" dirty="0">
                <a:solidFill>
                  <a:schemeClr val="tx1"/>
                </a:solidFill>
              </a:rPr>
              <a:t>One-Way and Two-Way ANOVA</a:t>
            </a:r>
          </a:p>
          <a:p>
            <a:pPr>
              <a:lnSpc>
                <a:spcPct val="100000"/>
              </a:lnSpc>
              <a:spcBef>
                <a:spcPts val="400"/>
              </a:spcBef>
              <a:spcAft>
                <a:spcPts val="400"/>
              </a:spcAft>
            </a:pPr>
            <a:r>
              <a:rPr lang="en-US" sz="2200" b="1" dirty="0">
                <a:solidFill>
                  <a:schemeClr val="tx1"/>
                </a:solidFill>
              </a:rPr>
              <a:t>One-Way ANOVA: </a:t>
            </a:r>
            <a:r>
              <a:rPr lang="en-US" sz="2200" dirty="0"/>
              <a:t>One-way ANOVA is used when there is one categorical independent variable (with two or more levels or groups) and one continuous dependent variable. It tests whether there are any significant differences between the means of the groups.</a:t>
            </a:r>
          </a:p>
          <a:p>
            <a:pPr>
              <a:lnSpc>
                <a:spcPct val="100000"/>
              </a:lnSpc>
              <a:spcBef>
                <a:spcPts val="400"/>
              </a:spcBef>
              <a:spcAft>
                <a:spcPts val="400"/>
              </a:spcAft>
            </a:pPr>
            <a:r>
              <a:rPr lang="en-US" sz="2200" b="1" dirty="0">
                <a:solidFill>
                  <a:schemeClr val="tx1"/>
                </a:solidFill>
              </a:rPr>
              <a:t>Two-Way ANOVA: </a:t>
            </a:r>
            <a:r>
              <a:rPr lang="en-US" sz="2200" dirty="0"/>
              <a:t>Two-way ANOVA is used when there are two categorical independent variables (factors) and one continuous dependent variable. It assesses the interaction effect between the two factors and whether they have a significant influence on the dependent variable.</a:t>
            </a:r>
          </a:p>
        </p:txBody>
      </p:sp>
    </p:spTree>
    <p:extLst>
      <p:ext uri="{BB962C8B-B14F-4D97-AF65-F5344CB8AC3E}">
        <p14:creationId xmlns:p14="http://schemas.microsoft.com/office/powerpoint/2010/main" val="421013907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5BA2E58-FEC9-D54D-ACC0-E7CEEF5F42E4}"/>
              </a:ext>
            </a:extLst>
          </p:cNvPr>
          <p:cNvSpPr>
            <a:spLocks noGrp="1"/>
          </p:cNvSpPr>
          <p:nvPr>
            <p:ph type="title"/>
          </p:nvPr>
        </p:nvSpPr>
        <p:spPr/>
        <p:txBody>
          <a:bodyPr>
            <a:normAutofit/>
          </a:bodyPr>
          <a:lstStyle/>
          <a:p>
            <a:r>
              <a:rPr lang="en-US" dirty="0"/>
              <a:t>Cont…</a:t>
            </a:r>
          </a:p>
        </p:txBody>
      </p:sp>
      <p:sp>
        <p:nvSpPr>
          <p:cNvPr id="13" name="Content Placeholder 12">
            <a:extLst>
              <a:ext uri="{FF2B5EF4-FFF2-40B4-BE49-F238E27FC236}">
                <a16:creationId xmlns:a16="http://schemas.microsoft.com/office/drawing/2014/main" id="{E6267526-4913-FCF0-E153-4548D0B336DD}"/>
              </a:ext>
            </a:extLst>
          </p:cNvPr>
          <p:cNvSpPr>
            <a:spLocks noGrp="1"/>
          </p:cNvSpPr>
          <p:nvPr>
            <p:ph idx="1"/>
          </p:nvPr>
        </p:nvSpPr>
        <p:spPr>
          <a:xfrm>
            <a:off x="678884" y="1659834"/>
            <a:ext cx="10834234" cy="4594499"/>
          </a:xfrm>
        </p:spPr>
        <p:txBody>
          <a:bodyPr lIns="0" tIns="0" rIns="0" bIns="0" numCol="1" spcCol="324000">
            <a:noAutofit/>
          </a:bodyPr>
          <a:lstStyle/>
          <a:p>
            <a:pPr marL="0" indent="0">
              <a:lnSpc>
                <a:spcPct val="100000"/>
              </a:lnSpc>
              <a:spcBef>
                <a:spcPts val="400"/>
              </a:spcBef>
              <a:spcAft>
                <a:spcPts val="400"/>
              </a:spcAft>
              <a:buNone/>
            </a:pPr>
            <a:r>
              <a:rPr lang="en-US" sz="2200" b="1" dirty="0">
                <a:solidFill>
                  <a:schemeClr val="tx1"/>
                </a:solidFill>
              </a:rPr>
              <a:t>Example: Performing a One-Way ANOVA to Compare Test Scores Across Different Schools</a:t>
            </a:r>
          </a:p>
          <a:p>
            <a:pPr marL="0" indent="0">
              <a:lnSpc>
                <a:spcPct val="100000"/>
              </a:lnSpc>
              <a:spcBef>
                <a:spcPts val="400"/>
              </a:spcBef>
              <a:spcAft>
                <a:spcPts val="400"/>
              </a:spcAft>
              <a:buNone/>
            </a:pPr>
            <a:endParaRPr lang="en-US" sz="2200" b="1" dirty="0">
              <a:solidFill>
                <a:schemeClr val="tx1"/>
              </a:solidFill>
            </a:endParaRPr>
          </a:p>
          <a:p>
            <a:pPr marL="457200" lvl="1" indent="0">
              <a:lnSpc>
                <a:spcPct val="100000"/>
              </a:lnSpc>
              <a:spcBef>
                <a:spcPts val="400"/>
              </a:spcBef>
              <a:spcAft>
                <a:spcPts val="400"/>
              </a:spcAft>
              <a:buNone/>
            </a:pPr>
            <a:r>
              <a:rPr lang="en-US" sz="2000" dirty="0">
                <a:solidFill>
                  <a:schemeClr val="tx1"/>
                </a:solidFill>
              </a:rPr>
              <a:t>school_1 = 85, 88, 90, 92, 86</a:t>
            </a:r>
          </a:p>
          <a:p>
            <a:pPr marL="457200" lvl="1" indent="0">
              <a:lnSpc>
                <a:spcPct val="100000"/>
              </a:lnSpc>
              <a:spcBef>
                <a:spcPts val="400"/>
              </a:spcBef>
              <a:spcAft>
                <a:spcPts val="400"/>
              </a:spcAft>
              <a:buNone/>
            </a:pPr>
            <a:r>
              <a:rPr lang="en-US" sz="2000" dirty="0">
                <a:solidFill>
                  <a:schemeClr val="tx1"/>
                </a:solidFill>
              </a:rPr>
              <a:t>school_2 = 78, 82, 80, 85, 88</a:t>
            </a:r>
          </a:p>
          <a:p>
            <a:pPr marL="457200" lvl="1" indent="0">
              <a:lnSpc>
                <a:spcPct val="100000"/>
              </a:lnSpc>
              <a:spcBef>
                <a:spcPts val="400"/>
              </a:spcBef>
              <a:spcAft>
                <a:spcPts val="400"/>
              </a:spcAft>
              <a:buNone/>
            </a:pPr>
            <a:r>
              <a:rPr lang="en-US" sz="2000" dirty="0">
                <a:solidFill>
                  <a:schemeClr val="tx1"/>
                </a:solidFill>
              </a:rPr>
              <a:t>school_3 = 92, 94, 89, 88, 90</a:t>
            </a:r>
          </a:p>
          <a:p>
            <a:pPr marL="0" indent="0">
              <a:lnSpc>
                <a:spcPct val="100000"/>
              </a:lnSpc>
              <a:spcBef>
                <a:spcPts val="400"/>
              </a:spcBef>
              <a:spcAft>
                <a:spcPts val="400"/>
              </a:spcAft>
              <a:buNone/>
            </a:pPr>
            <a:endParaRPr lang="en-US" sz="2200" b="1" dirty="0">
              <a:solidFill>
                <a:schemeClr val="tx1"/>
              </a:solidFill>
            </a:endParaRPr>
          </a:p>
          <a:p>
            <a:pPr marL="0" indent="0">
              <a:lnSpc>
                <a:spcPct val="100000"/>
              </a:lnSpc>
              <a:spcBef>
                <a:spcPts val="400"/>
              </a:spcBef>
              <a:spcAft>
                <a:spcPts val="400"/>
              </a:spcAft>
              <a:buNone/>
            </a:pPr>
            <a:r>
              <a:rPr lang="en-US" sz="2200" b="1" dirty="0">
                <a:solidFill>
                  <a:schemeClr val="tx1"/>
                </a:solidFill>
              </a:rPr>
              <a:t>Formulate Hypotheses</a:t>
            </a:r>
          </a:p>
          <a:p>
            <a:pPr marL="0" indent="0">
              <a:lnSpc>
                <a:spcPct val="100000"/>
              </a:lnSpc>
              <a:spcBef>
                <a:spcPts val="400"/>
              </a:spcBef>
              <a:spcAft>
                <a:spcPts val="400"/>
              </a:spcAft>
              <a:buNone/>
            </a:pPr>
            <a:r>
              <a:rPr lang="en-US" sz="2200" b="1" dirty="0">
                <a:solidFill>
                  <a:schemeClr val="tx1"/>
                </a:solidFill>
              </a:rPr>
              <a:t>Null Hypothesis (H0): </a:t>
            </a:r>
            <a:r>
              <a:rPr lang="en-US" sz="2200" dirty="0"/>
              <a:t>There are no significant differences in test scores among the three schools.</a:t>
            </a:r>
          </a:p>
          <a:p>
            <a:pPr marL="0" indent="0">
              <a:lnSpc>
                <a:spcPct val="100000"/>
              </a:lnSpc>
              <a:spcBef>
                <a:spcPts val="400"/>
              </a:spcBef>
              <a:spcAft>
                <a:spcPts val="400"/>
              </a:spcAft>
              <a:buNone/>
            </a:pPr>
            <a:r>
              <a:rPr lang="en-US" sz="2200" b="1" dirty="0">
                <a:solidFill>
                  <a:schemeClr val="tx1"/>
                </a:solidFill>
              </a:rPr>
              <a:t>Alternative Hypothesis (Ha): </a:t>
            </a:r>
            <a:r>
              <a:rPr lang="en-US" sz="2200" dirty="0"/>
              <a:t>There are significant differences in test scores among the three schools.</a:t>
            </a:r>
          </a:p>
          <a:p>
            <a:pPr marL="0" indent="0">
              <a:lnSpc>
                <a:spcPct val="100000"/>
              </a:lnSpc>
              <a:spcBef>
                <a:spcPts val="400"/>
              </a:spcBef>
              <a:spcAft>
                <a:spcPts val="400"/>
              </a:spcAft>
              <a:buNone/>
            </a:pPr>
            <a:endParaRPr lang="en-US" sz="2200" b="1" dirty="0">
              <a:solidFill>
                <a:schemeClr val="tx1"/>
              </a:solidFill>
            </a:endParaRPr>
          </a:p>
        </p:txBody>
      </p:sp>
    </p:spTree>
    <p:extLst>
      <p:ext uri="{BB962C8B-B14F-4D97-AF65-F5344CB8AC3E}">
        <p14:creationId xmlns:p14="http://schemas.microsoft.com/office/powerpoint/2010/main" val="142561045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5BA2E58-FEC9-D54D-ACC0-E7CEEF5F42E4}"/>
              </a:ext>
            </a:extLst>
          </p:cNvPr>
          <p:cNvSpPr>
            <a:spLocks noGrp="1"/>
          </p:cNvSpPr>
          <p:nvPr>
            <p:ph type="title"/>
          </p:nvPr>
        </p:nvSpPr>
        <p:spPr/>
        <p:txBody>
          <a:bodyPr>
            <a:normAutofit/>
          </a:bodyPr>
          <a:lstStyle/>
          <a:p>
            <a:r>
              <a:rPr lang="en-US" dirty="0"/>
              <a:t>Cont…</a:t>
            </a:r>
          </a:p>
        </p:txBody>
      </p:sp>
      <p:sp>
        <p:nvSpPr>
          <p:cNvPr id="13" name="Content Placeholder 12">
            <a:extLst>
              <a:ext uri="{FF2B5EF4-FFF2-40B4-BE49-F238E27FC236}">
                <a16:creationId xmlns:a16="http://schemas.microsoft.com/office/drawing/2014/main" id="{E6267526-4913-FCF0-E153-4548D0B336DD}"/>
              </a:ext>
            </a:extLst>
          </p:cNvPr>
          <p:cNvSpPr>
            <a:spLocks noGrp="1"/>
          </p:cNvSpPr>
          <p:nvPr>
            <p:ph idx="1"/>
          </p:nvPr>
        </p:nvSpPr>
        <p:spPr>
          <a:xfrm>
            <a:off x="678884" y="1460867"/>
            <a:ext cx="10834234" cy="4594499"/>
          </a:xfrm>
        </p:spPr>
        <p:txBody>
          <a:bodyPr lIns="0" tIns="0" rIns="0" bIns="0" numCol="1" spcCol="324000">
            <a:noAutofit/>
          </a:bodyPr>
          <a:lstStyle/>
          <a:p>
            <a:pPr marL="0" indent="0">
              <a:lnSpc>
                <a:spcPct val="100000"/>
              </a:lnSpc>
              <a:spcBef>
                <a:spcPts val="400"/>
              </a:spcBef>
              <a:spcAft>
                <a:spcPts val="400"/>
              </a:spcAft>
              <a:buNone/>
            </a:pPr>
            <a:endParaRPr lang="en-US" sz="2200" dirty="0"/>
          </a:p>
          <a:p>
            <a:pPr marL="0" indent="0">
              <a:lnSpc>
                <a:spcPct val="100000"/>
              </a:lnSpc>
              <a:spcBef>
                <a:spcPts val="400"/>
              </a:spcBef>
              <a:spcAft>
                <a:spcPts val="400"/>
              </a:spcAft>
              <a:buNone/>
            </a:pPr>
            <a:endParaRPr lang="en-US" sz="2200" dirty="0"/>
          </a:p>
        </p:txBody>
      </p:sp>
      <p:pic>
        <p:nvPicPr>
          <p:cNvPr id="3" name="Picture 2">
            <a:extLst>
              <a:ext uri="{FF2B5EF4-FFF2-40B4-BE49-F238E27FC236}">
                <a16:creationId xmlns:a16="http://schemas.microsoft.com/office/drawing/2014/main" id="{E7DCB81B-D10B-88E5-4519-B3A6CBE8EBCC}"/>
              </a:ext>
            </a:extLst>
          </p:cNvPr>
          <p:cNvPicPr>
            <a:picLocks noChangeAspect="1"/>
          </p:cNvPicPr>
          <p:nvPr/>
        </p:nvPicPr>
        <p:blipFill>
          <a:blip r:embed="rId2"/>
          <a:stretch>
            <a:fillRect/>
          </a:stretch>
        </p:blipFill>
        <p:spPr>
          <a:xfrm>
            <a:off x="491463" y="1294230"/>
            <a:ext cx="5727304" cy="4746384"/>
          </a:xfrm>
          <a:prstGeom prst="rect">
            <a:avLst/>
          </a:prstGeom>
        </p:spPr>
      </p:pic>
      <p:pic>
        <p:nvPicPr>
          <p:cNvPr id="6" name="Picture 5">
            <a:extLst>
              <a:ext uri="{FF2B5EF4-FFF2-40B4-BE49-F238E27FC236}">
                <a16:creationId xmlns:a16="http://schemas.microsoft.com/office/drawing/2014/main" id="{0EDAD904-3969-0BA3-28BF-22DE639A8C58}"/>
              </a:ext>
            </a:extLst>
          </p:cNvPr>
          <p:cNvPicPr>
            <a:picLocks noChangeAspect="1"/>
          </p:cNvPicPr>
          <p:nvPr/>
        </p:nvPicPr>
        <p:blipFill>
          <a:blip r:embed="rId3"/>
          <a:stretch>
            <a:fillRect/>
          </a:stretch>
        </p:blipFill>
        <p:spPr>
          <a:xfrm>
            <a:off x="6162807" y="1279478"/>
            <a:ext cx="5537730" cy="4284292"/>
          </a:xfrm>
          <a:prstGeom prst="rect">
            <a:avLst/>
          </a:prstGeom>
        </p:spPr>
      </p:pic>
    </p:spTree>
    <p:extLst>
      <p:ext uri="{BB962C8B-B14F-4D97-AF65-F5344CB8AC3E}">
        <p14:creationId xmlns:p14="http://schemas.microsoft.com/office/powerpoint/2010/main" val="179154441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5BA2E58-FEC9-D54D-ACC0-E7CEEF5F42E4}"/>
              </a:ext>
            </a:extLst>
          </p:cNvPr>
          <p:cNvSpPr>
            <a:spLocks noGrp="1"/>
          </p:cNvSpPr>
          <p:nvPr>
            <p:ph type="title"/>
          </p:nvPr>
        </p:nvSpPr>
        <p:spPr/>
        <p:txBody>
          <a:bodyPr>
            <a:normAutofit/>
          </a:bodyPr>
          <a:lstStyle/>
          <a:p>
            <a:r>
              <a:rPr lang="en-US" dirty="0"/>
              <a:t>Cont…</a:t>
            </a:r>
          </a:p>
        </p:txBody>
      </p:sp>
      <p:sp>
        <p:nvSpPr>
          <p:cNvPr id="13" name="Content Placeholder 12">
            <a:extLst>
              <a:ext uri="{FF2B5EF4-FFF2-40B4-BE49-F238E27FC236}">
                <a16:creationId xmlns:a16="http://schemas.microsoft.com/office/drawing/2014/main" id="{E6267526-4913-FCF0-E153-4548D0B336DD}"/>
              </a:ext>
            </a:extLst>
          </p:cNvPr>
          <p:cNvSpPr>
            <a:spLocks noGrp="1"/>
          </p:cNvSpPr>
          <p:nvPr>
            <p:ph idx="1"/>
          </p:nvPr>
        </p:nvSpPr>
        <p:spPr>
          <a:xfrm>
            <a:off x="678884" y="1460867"/>
            <a:ext cx="10834234" cy="4594499"/>
          </a:xfrm>
        </p:spPr>
        <p:txBody>
          <a:bodyPr lIns="0" tIns="0" rIns="0" bIns="0" numCol="1" spcCol="324000">
            <a:noAutofit/>
          </a:bodyPr>
          <a:lstStyle/>
          <a:p>
            <a:pPr marL="0" indent="0">
              <a:lnSpc>
                <a:spcPct val="100000"/>
              </a:lnSpc>
              <a:spcBef>
                <a:spcPts val="400"/>
              </a:spcBef>
              <a:spcAft>
                <a:spcPts val="400"/>
              </a:spcAft>
              <a:buNone/>
            </a:pPr>
            <a:endParaRPr lang="en-US" sz="2200" dirty="0"/>
          </a:p>
          <a:p>
            <a:pPr marL="0" indent="0">
              <a:lnSpc>
                <a:spcPct val="100000"/>
              </a:lnSpc>
              <a:spcBef>
                <a:spcPts val="400"/>
              </a:spcBef>
              <a:spcAft>
                <a:spcPts val="400"/>
              </a:spcAft>
              <a:buNone/>
            </a:pPr>
            <a:endParaRPr lang="en-US" sz="2200" dirty="0"/>
          </a:p>
        </p:txBody>
      </p:sp>
      <p:pic>
        <p:nvPicPr>
          <p:cNvPr id="5" name="Picture 4">
            <a:extLst>
              <a:ext uri="{FF2B5EF4-FFF2-40B4-BE49-F238E27FC236}">
                <a16:creationId xmlns:a16="http://schemas.microsoft.com/office/drawing/2014/main" id="{D9780049-ACF6-96B4-D1A1-3809B64B9968}"/>
              </a:ext>
            </a:extLst>
          </p:cNvPr>
          <p:cNvPicPr>
            <a:picLocks noChangeAspect="1"/>
          </p:cNvPicPr>
          <p:nvPr/>
        </p:nvPicPr>
        <p:blipFill>
          <a:blip r:embed="rId3"/>
          <a:stretch>
            <a:fillRect/>
          </a:stretch>
        </p:blipFill>
        <p:spPr>
          <a:xfrm>
            <a:off x="678882" y="1523416"/>
            <a:ext cx="6440404" cy="2472851"/>
          </a:xfrm>
          <a:prstGeom prst="rect">
            <a:avLst/>
          </a:prstGeom>
        </p:spPr>
      </p:pic>
      <p:sp>
        <p:nvSpPr>
          <p:cNvPr id="7" name="TextBox 6">
            <a:extLst>
              <a:ext uri="{FF2B5EF4-FFF2-40B4-BE49-F238E27FC236}">
                <a16:creationId xmlns:a16="http://schemas.microsoft.com/office/drawing/2014/main" id="{BFC1D66A-D92A-357A-88A9-0FCC916CD663}"/>
              </a:ext>
            </a:extLst>
          </p:cNvPr>
          <p:cNvSpPr txBox="1"/>
          <p:nvPr/>
        </p:nvSpPr>
        <p:spPr>
          <a:xfrm>
            <a:off x="647699" y="5760916"/>
            <a:ext cx="5964767" cy="369332"/>
          </a:xfrm>
          <a:prstGeom prst="rect">
            <a:avLst/>
          </a:prstGeom>
          <a:noFill/>
        </p:spPr>
        <p:txBody>
          <a:bodyPr wrap="square" rtlCol="0">
            <a:spAutoFit/>
          </a:bodyPr>
          <a:lstStyle/>
          <a:p>
            <a:r>
              <a:rPr lang="en-IN" b="1" dirty="0">
                <a:solidFill>
                  <a:srgbClr val="FF0000"/>
                </a:solidFill>
              </a:rPr>
              <a:t>Please check footnotes for Mathematical Python Code</a:t>
            </a:r>
          </a:p>
        </p:txBody>
      </p:sp>
    </p:spTree>
    <p:extLst>
      <p:ext uri="{BB962C8B-B14F-4D97-AF65-F5344CB8AC3E}">
        <p14:creationId xmlns:p14="http://schemas.microsoft.com/office/powerpoint/2010/main" val="164684783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5BA2E58-FEC9-D54D-ACC0-E7CEEF5F42E4}"/>
              </a:ext>
            </a:extLst>
          </p:cNvPr>
          <p:cNvSpPr>
            <a:spLocks noGrp="1"/>
          </p:cNvSpPr>
          <p:nvPr>
            <p:ph type="title"/>
          </p:nvPr>
        </p:nvSpPr>
        <p:spPr/>
        <p:txBody>
          <a:bodyPr>
            <a:normAutofit/>
          </a:bodyPr>
          <a:lstStyle/>
          <a:p>
            <a:r>
              <a:rPr lang="en-US" dirty="0"/>
              <a:t>Cont…</a:t>
            </a:r>
          </a:p>
        </p:txBody>
      </p:sp>
      <p:sp>
        <p:nvSpPr>
          <p:cNvPr id="13" name="Content Placeholder 12">
            <a:extLst>
              <a:ext uri="{FF2B5EF4-FFF2-40B4-BE49-F238E27FC236}">
                <a16:creationId xmlns:a16="http://schemas.microsoft.com/office/drawing/2014/main" id="{E6267526-4913-FCF0-E153-4548D0B336DD}"/>
              </a:ext>
            </a:extLst>
          </p:cNvPr>
          <p:cNvSpPr>
            <a:spLocks noGrp="1"/>
          </p:cNvSpPr>
          <p:nvPr>
            <p:ph idx="1"/>
          </p:nvPr>
        </p:nvSpPr>
        <p:spPr>
          <a:xfrm>
            <a:off x="678884" y="1659834"/>
            <a:ext cx="10834234" cy="4594499"/>
          </a:xfrm>
        </p:spPr>
        <p:txBody>
          <a:bodyPr lIns="0" tIns="0" rIns="0" bIns="0" numCol="1" spcCol="324000">
            <a:noAutofit/>
          </a:bodyPr>
          <a:lstStyle/>
          <a:p>
            <a:pPr marL="0" indent="0">
              <a:lnSpc>
                <a:spcPct val="100000"/>
              </a:lnSpc>
              <a:spcBef>
                <a:spcPts val="400"/>
              </a:spcBef>
              <a:spcAft>
                <a:spcPts val="400"/>
              </a:spcAft>
              <a:buNone/>
            </a:pPr>
            <a:r>
              <a:rPr lang="en-US" sz="2400" b="1" dirty="0">
                <a:solidFill>
                  <a:schemeClr val="tx1"/>
                </a:solidFill>
              </a:rPr>
              <a:t>Perform the One-Way ANOVA</a:t>
            </a:r>
          </a:p>
          <a:p>
            <a:pPr marL="0" indent="0">
              <a:lnSpc>
                <a:spcPct val="100000"/>
              </a:lnSpc>
              <a:spcBef>
                <a:spcPts val="400"/>
              </a:spcBef>
              <a:spcAft>
                <a:spcPts val="400"/>
              </a:spcAft>
              <a:buNone/>
            </a:pPr>
            <a:r>
              <a:rPr lang="en-US" sz="2400" dirty="0"/>
              <a:t>We'll use the </a:t>
            </a:r>
            <a:r>
              <a:rPr lang="en-US" sz="2400" b="1" dirty="0">
                <a:solidFill>
                  <a:schemeClr val="tx1"/>
                </a:solidFill>
              </a:rPr>
              <a:t>scipy.stats</a:t>
            </a:r>
            <a:r>
              <a:rPr lang="en-US" sz="2400" dirty="0"/>
              <a:t> library to perform the one-way ANOVA.</a:t>
            </a:r>
          </a:p>
          <a:p>
            <a:pPr marL="457200" lvl="1" indent="0">
              <a:lnSpc>
                <a:spcPct val="100000"/>
              </a:lnSpc>
              <a:spcBef>
                <a:spcPts val="200"/>
              </a:spcBef>
              <a:spcAft>
                <a:spcPts val="200"/>
              </a:spcAft>
              <a:buNone/>
            </a:pPr>
            <a:r>
              <a:rPr lang="en-US" sz="2000" dirty="0"/>
              <a:t>from scipy.stats import f_oneway</a:t>
            </a:r>
          </a:p>
          <a:p>
            <a:pPr marL="457200" lvl="1" indent="0">
              <a:lnSpc>
                <a:spcPct val="100000"/>
              </a:lnSpc>
              <a:spcBef>
                <a:spcPts val="200"/>
              </a:spcBef>
              <a:spcAft>
                <a:spcPts val="200"/>
              </a:spcAft>
              <a:buNone/>
            </a:pPr>
            <a:r>
              <a:rPr lang="en-US" sz="2000" dirty="0"/>
              <a:t># Group the data by school</a:t>
            </a:r>
          </a:p>
          <a:p>
            <a:pPr marL="457200" lvl="1" indent="0">
              <a:lnSpc>
                <a:spcPct val="100000"/>
              </a:lnSpc>
              <a:spcBef>
                <a:spcPts val="200"/>
              </a:spcBef>
              <a:spcAft>
                <a:spcPts val="200"/>
              </a:spcAft>
              <a:buNone/>
            </a:pPr>
            <a:r>
              <a:rPr lang="en-US" sz="2000" dirty="0"/>
              <a:t>groups = [df['Test_Score'][df['School'] == school] for school in df['School'].unique()]</a:t>
            </a:r>
          </a:p>
          <a:p>
            <a:pPr marL="457200" lvl="1" indent="0">
              <a:lnSpc>
                <a:spcPct val="100000"/>
              </a:lnSpc>
              <a:spcBef>
                <a:spcPts val="200"/>
              </a:spcBef>
              <a:spcAft>
                <a:spcPts val="200"/>
              </a:spcAft>
              <a:buNone/>
            </a:pPr>
            <a:r>
              <a:rPr lang="en-US" sz="2000" dirty="0"/>
              <a:t># Perform one-way ANOVA</a:t>
            </a:r>
          </a:p>
          <a:p>
            <a:pPr marL="457200" lvl="1" indent="0">
              <a:lnSpc>
                <a:spcPct val="100000"/>
              </a:lnSpc>
              <a:spcBef>
                <a:spcPts val="200"/>
              </a:spcBef>
              <a:spcAft>
                <a:spcPts val="200"/>
              </a:spcAft>
              <a:buNone/>
            </a:pPr>
            <a:r>
              <a:rPr lang="en-US" sz="2000" dirty="0"/>
              <a:t>f_statistic, p_value = f_oneway(*groups)</a:t>
            </a:r>
          </a:p>
          <a:p>
            <a:pPr marL="457200" lvl="1" indent="0">
              <a:lnSpc>
                <a:spcPct val="100000"/>
              </a:lnSpc>
              <a:spcBef>
                <a:spcPts val="200"/>
              </a:spcBef>
              <a:spcAft>
                <a:spcPts val="200"/>
              </a:spcAft>
              <a:buNone/>
            </a:pPr>
            <a:r>
              <a:rPr lang="en-US" sz="2000" dirty="0"/>
              <a:t>f_statistic, p_value</a:t>
            </a:r>
          </a:p>
          <a:p>
            <a:pPr>
              <a:lnSpc>
                <a:spcPct val="100000"/>
              </a:lnSpc>
              <a:spcBef>
                <a:spcPts val="400"/>
              </a:spcBef>
              <a:spcAft>
                <a:spcPts val="400"/>
              </a:spcAft>
            </a:pPr>
            <a:r>
              <a:rPr lang="en-US" sz="2400" b="1" dirty="0">
                <a:solidFill>
                  <a:schemeClr val="tx1"/>
                </a:solidFill>
              </a:rPr>
              <a:t>F-Statistic: </a:t>
            </a:r>
            <a:r>
              <a:rPr lang="en-US" sz="2400" dirty="0"/>
              <a:t>Approximately 0.0404</a:t>
            </a:r>
          </a:p>
          <a:p>
            <a:pPr>
              <a:lnSpc>
                <a:spcPct val="100000"/>
              </a:lnSpc>
              <a:spcBef>
                <a:spcPts val="400"/>
              </a:spcBef>
              <a:spcAft>
                <a:spcPts val="400"/>
              </a:spcAft>
            </a:pPr>
            <a:r>
              <a:rPr lang="en-US" sz="2400" b="1" dirty="0">
                <a:solidFill>
                  <a:schemeClr val="tx1"/>
                </a:solidFill>
              </a:rPr>
              <a:t>P-Value: </a:t>
            </a:r>
            <a:r>
              <a:rPr lang="en-US" sz="2400" dirty="0"/>
              <a:t>Approximately 0.9605</a:t>
            </a:r>
          </a:p>
        </p:txBody>
      </p:sp>
    </p:spTree>
    <p:extLst>
      <p:ext uri="{BB962C8B-B14F-4D97-AF65-F5344CB8AC3E}">
        <p14:creationId xmlns:p14="http://schemas.microsoft.com/office/powerpoint/2010/main" val="1644157424"/>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5BA2E58-FEC9-D54D-ACC0-E7CEEF5F42E4}"/>
              </a:ext>
            </a:extLst>
          </p:cNvPr>
          <p:cNvSpPr>
            <a:spLocks noGrp="1"/>
          </p:cNvSpPr>
          <p:nvPr>
            <p:ph type="title"/>
          </p:nvPr>
        </p:nvSpPr>
        <p:spPr/>
        <p:txBody>
          <a:bodyPr>
            <a:normAutofit/>
          </a:bodyPr>
          <a:lstStyle/>
          <a:p>
            <a:r>
              <a:rPr lang="en-US" dirty="0"/>
              <a:t>Cont…</a:t>
            </a:r>
          </a:p>
        </p:txBody>
      </p:sp>
      <p:sp>
        <p:nvSpPr>
          <p:cNvPr id="13" name="Content Placeholder 12">
            <a:extLst>
              <a:ext uri="{FF2B5EF4-FFF2-40B4-BE49-F238E27FC236}">
                <a16:creationId xmlns:a16="http://schemas.microsoft.com/office/drawing/2014/main" id="{E6267526-4913-FCF0-E153-4548D0B336DD}"/>
              </a:ext>
            </a:extLst>
          </p:cNvPr>
          <p:cNvSpPr>
            <a:spLocks noGrp="1"/>
          </p:cNvSpPr>
          <p:nvPr>
            <p:ph idx="1"/>
          </p:nvPr>
        </p:nvSpPr>
        <p:spPr>
          <a:xfrm>
            <a:off x="678884" y="1659834"/>
            <a:ext cx="10834234" cy="4232966"/>
          </a:xfrm>
        </p:spPr>
        <p:txBody>
          <a:bodyPr lIns="0" tIns="0" rIns="0" bIns="0" numCol="2" spcCol="324000">
            <a:noAutofit/>
          </a:bodyPr>
          <a:lstStyle/>
          <a:p>
            <a:pPr marL="0" indent="0">
              <a:lnSpc>
                <a:spcPct val="100000"/>
              </a:lnSpc>
              <a:spcBef>
                <a:spcPts val="400"/>
              </a:spcBef>
              <a:spcAft>
                <a:spcPts val="400"/>
              </a:spcAft>
              <a:buNone/>
            </a:pPr>
            <a:r>
              <a:rPr lang="en-US" sz="2400" b="1" dirty="0">
                <a:solidFill>
                  <a:schemeClr val="tx1"/>
                </a:solidFill>
              </a:rPr>
              <a:t>Determine the Critical Value</a:t>
            </a:r>
          </a:p>
          <a:p>
            <a:pPr marL="0" indent="0">
              <a:lnSpc>
                <a:spcPct val="100000"/>
              </a:lnSpc>
              <a:spcBef>
                <a:spcPts val="400"/>
              </a:spcBef>
              <a:spcAft>
                <a:spcPts val="400"/>
              </a:spcAft>
              <a:buNone/>
            </a:pPr>
            <a:r>
              <a:rPr lang="en-US" sz="2200" dirty="0"/>
              <a:t>Specify the desired level of significance (α) to determine the critical F-value. Let's assume α = 0.05.</a:t>
            </a:r>
          </a:p>
          <a:p>
            <a:pPr marL="0" indent="0">
              <a:lnSpc>
                <a:spcPct val="100000"/>
              </a:lnSpc>
              <a:spcBef>
                <a:spcPts val="100"/>
              </a:spcBef>
              <a:spcAft>
                <a:spcPts val="100"/>
              </a:spcAft>
              <a:buNone/>
            </a:pPr>
            <a:r>
              <a:rPr lang="en-US" sz="2400" b="1" dirty="0">
                <a:solidFill>
                  <a:schemeClr val="tx1"/>
                </a:solidFill>
              </a:rPr>
              <a:t>Make a Decision</a:t>
            </a:r>
          </a:p>
          <a:p>
            <a:pPr marL="0" indent="0">
              <a:lnSpc>
                <a:spcPct val="100000"/>
              </a:lnSpc>
              <a:spcBef>
                <a:spcPts val="100"/>
              </a:spcBef>
              <a:spcAft>
                <a:spcPts val="100"/>
              </a:spcAft>
              <a:buNone/>
            </a:pPr>
            <a:r>
              <a:rPr lang="en-US" sz="2400" dirty="0"/>
              <a:t>Compare the calculated F-statistic with the critical F-value.</a:t>
            </a:r>
          </a:p>
          <a:p>
            <a:pPr marL="457200" lvl="1" indent="0">
              <a:lnSpc>
                <a:spcPct val="100000"/>
              </a:lnSpc>
              <a:spcBef>
                <a:spcPts val="100"/>
              </a:spcBef>
              <a:spcAft>
                <a:spcPts val="100"/>
              </a:spcAft>
              <a:buNone/>
            </a:pPr>
            <a:r>
              <a:rPr lang="en-US" sz="1800" dirty="0"/>
              <a:t>alpha = 0.05  # Significance level</a:t>
            </a:r>
          </a:p>
          <a:p>
            <a:pPr marL="457200" lvl="1" indent="0">
              <a:lnSpc>
                <a:spcPct val="100000"/>
              </a:lnSpc>
              <a:spcBef>
                <a:spcPts val="100"/>
              </a:spcBef>
              <a:spcAft>
                <a:spcPts val="100"/>
              </a:spcAft>
              <a:buNone/>
            </a:pPr>
            <a:r>
              <a:rPr lang="en-US" sz="1800" dirty="0"/>
              <a:t>critical_value = 3.8853  # Critical F-value for α = 0.05 and df = (2, 12)</a:t>
            </a:r>
          </a:p>
          <a:p>
            <a:pPr marL="457200" lvl="1" indent="0">
              <a:lnSpc>
                <a:spcPct val="100000"/>
              </a:lnSpc>
              <a:spcBef>
                <a:spcPts val="100"/>
              </a:spcBef>
              <a:spcAft>
                <a:spcPts val="100"/>
              </a:spcAft>
              <a:buNone/>
            </a:pPr>
            <a:endParaRPr lang="en-US" sz="500" dirty="0"/>
          </a:p>
          <a:p>
            <a:pPr marL="457200" lvl="1" indent="0">
              <a:lnSpc>
                <a:spcPct val="100000"/>
              </a:lnSpc>
              <a:spcBef>
                <a:spcPts val="100"/>
              </a:spcBef>
              <a:spcAft>
                <a:spcPts val="100"/>
              </a:spcAft>
              <a:buNone/>
            </a:pPr>
            <a:r>
              <a:rPr lang="en-US" sz="1800" dirty="0"/>
              <a:t># Make a decision</a:t>
            </a:r>
          </a:p>
          <a:p>
            <a:pPr marL="457200" lvl="1" indent="0">
              <a:lnSpc>
                <a:spcPct val="100000"/>
              </a:lnSpc>
              <a:spcBef>
                <a:spcPts val="100"/>
              </a:spcBef>
              <a:spcAft>
                <a:spcPts val="100"/>
              </a:spcAft>
              <a:buNone/>
            </a:pPr>
            <a:r>
              <a:rPr lang="en-US" sz="1800" dirty="0"/>
              <a:t>reject_null = f_statistic &gt; critical_value</a:t>
            </a:r>
          </a:p>
          <a:p>
            <a:pPr marL="457200" lvl="1" indent="0">
              <a:lnSpc>
                <a:spcPct val="100000"/>
              </a:lnSpc>
              <a:spcBef>
                <a:spcPts val="100"/>
              </a:spcBef>
              <a:spcAft>
                <a:spcPts val="100"/>
              </a:spcAft>
              <a:buNone/>
            </a:pPr>
            <a:r>
              <a:rPr lang="en-US" sz="1800" dirty="0"/>
              <a:t>reject_null</a:t>
            </a:r>
          </a:p>
          <a:p>
            <a:pPr marL="0" indent="0">
              <a:lnSpc>
                <a:spcPct val="100000"/>
              </a:lnSpc>
              <a:spcBef>
                <a:spcPts val="400"/>
              </a:spcBef>
              <a:spcAft>
                <a:spcPts val="400"/>
              </a:spcAft>
              <a:buNone/>
            </a:pPr>
            <a:r>
              <a:rPr lang="en-US" sz="2400" b="1" dirty="0">
                <a:solidFill>
                  <a:schemeClr val="tx1"/>
                </a:solidFill>
              </a:rPr>
              <a:t>Interpret the Result</a:t>
            </a:r>
          </a:p>
          <a:p>
            <a:pPr marL="0" indent="0">
              <a:lnSpc>
                <a:spcPct val="100000"/>
              </a:lnSpc>
              <a:spcBef>
                <a:spcPts val="400"/>
              </a:spcBef>
              <a:spcAft>
                <a:spcPts val="400"/>
              </a:spcAft>
              <a:buNone/>
            </a:pPr>
            <a:r>
              <a:rPr lang="en-US" sz="2200" dirty="0"/>
              <a:t>Interpret the decision in the context of test scores among the schools.</a:t>
            </a:r>
          </a:p>
          <a:p>
            <a:pPr>
              <a:lnSpc>
                <a:spcPct val="100000"/>
              </a:lnSpc>
              <a:spcBef>
                <a:spcPts val="400"/>
              </a:spcBef>
              <a:spcAft>
                <a:spcPts val="400"/>
              </a:spcAft>
            </a:pPr>
            <a:r>
              <a:rPr lang="en-US" sz="2200" b="1" dirty="0">
                <a:solidFill>
                  <a:schemeClr val="tx1"/>
                </a:solidFill>
              </a:rPr>
              <a:t>Decision: </a:t>
            </a:r>
            <a:r>
              <a:rPr lang="en-US" sz="2200" dirty="0"/>
              <a:t>Reject or fail to reject H0.</a:t>
            </a:r>
          </a:p>
          <a:p>
            <a:pPr>
              <a:lnSpc>
                <a:spcPct val="100000"/>
              </a:lnSpc>
              <a:spcBef>
                <a:spcPts val="400"/>
              </a:spcBef>
              <a:spcAft>
                <a:spcPts val="400"/>
              </a:spcAft>
            </a:pPr>
            <a:r>
              <a:rPr lang="en-US" sz="2200" b="1" dirty="0">
                <a:solidFill>
                  <a:schemeClr val="tx1"/>
                </a:solidFill>
              </a:rPr>
              <a:t>Interpretation: </a:t>
            </a:r>
            <a:r>
              <a:rPr lang="en-US" sz="2200" dirty="0"/>
              <a:t>Based on the analysis, we reject the null hypothesis (H0). There are significant differences in test scores among the three schools.</a:t>
            </a:r>
          </a:p>
        </p:txBody>
      </p:sp>
      <p:sp>
        <p:nvSpPr>
          <p:cNvPr id="2" name="TextBox 1">
            <a:extLst>
              <a:ext uri="{FF2B5EF4-FFF2-40B4-BE49-F238E27FC236}">
                <a16:creationId xmlns:a16="http://schemas.microsoft.com/office/drawing/2014/main" id="{41DAB57B-5415-5D5B-7E61-F58E72FC9AD4}"/>
              </a:ext>
            </a:extLst>
          </p:cNvPr>
          <p:cNvSpPr txBox="1"/>
          <p:nvPr/>
        </p:nvSpPr>
        <p:spPr>
          <a:xfrm>
            <a:off x="647699" y="5760916"/>
            <a:ext cx="5964767" cy="369332"/>
          </a:xfrm>
          <a:prstGeom prst="rect">
            <a:avLst/>
          </a:prstGeom>
          <a:noFill/>
        </p:spPr>
        <p:txBody>
          <a:bodyPr wrap="square" rtlCol="0">
            <a:spAutoFit/>
          </a:bodyPr>
          <a:lstStyle/>
          <a:p>
            <a:r>
              <a:rPr lang="en-IN" b="1" dirty="0">
                <a:solidFill>
                  <a:srgbClr val="FF0000"/>
                </a:solidFill>
              </a:rPr>
              <a:t>Please check footnotes for Python Code</a:t>
            </a:r>
          </a:p>
        </p:txBody>
      </p:sp>
    </p:spTree>
    <p:extLst>
      <p:ext uri="{BB962C8B-B14F-4D97-AF65-F5344CB8AC3E}">
        <p14:creationId xmlns:p14="http://schemas.microsoft.com/office/powerpoint/2010/main" val="4212427884"/>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BAB021A-8C30-FC99-8B77-15359CA70AC9}"/>
              </a:ext>
            </a:extLst>
          </p:cNvPr>
          <p:cNvSpPr>
            <a:spLocks noGrp="1"/>
          </p:cNvSpPr>
          <p:nvPr>
            <p:ph type="title"/>
          </p:nvPr>
        </p:nvSpPr>
        <p:spPr/>
        <p:txBody>
          <a:bodyPr/>
          <a:lstStyle/>
          <a:p>
            <a:r>
              <a:rPr lang="en-IN" dirty="0"/>
              <a:t>Questions ?</a:t>
            </a:r>
          </a:p>
        </p:txBody>
      </p:sp>
    </p:spTree>
    <p:extLst>
      <p:ext uri="{BB962C8B-B14F-4D97-AF65-F5344CB8AC3E}">
        <p14:creationId xmlns:p14="http://schemas.microsoft.com/office/powerpoint/2010/main" val="1497793444"/>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01DBBFEC-17D0-1D96-6CDC-0E5B94EF077B}"/>
              </a:ext>
            </a:extLst>
          </p:cNvPr>
          <p:cNvSpPr/>
          <p:nvPr/>
        </p:nvSpPr>
        <p:spPr>
          <a:xfrm>
            <a:off x="0" y="2091872"/>
            <a:ext cx="12192000" cy="17653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600" b="1" dirty="0">
                <a:latin typeface="Calibri" panose="020F0502020204030204" pitchFamily="34" charset="0"/>
              </a:rPr>
              <a:t>Thank You</a:t>
            </a:r>
            <a:endParaRPr lang="en-IN" sz="6600" b="1" dirty="0">
              <a:latin typeface="Calibri" panose="020F0502020204030204" pitchFamily="34" charset="0"/>
            </a:endParaRPr>
          </a:p>
        </p:txBody>
      </p:sp>
    </p:spTree>
    <p:extLst>
      <p:ext uri="{BB962C8B-B14F-4D97-AF65-F5344CB8AC3E}">
        <p14:creationId xmlns:p14="http://schemas.microsoft.com/office/powerpoint/2010/main" val="2438371579"/>
      </p:ext>
    </p:extLst>
  </p:cSld>
  <p:clrMapOvr>
    <a:masterClrMapping/>
  </p:clrMapOvr>
</p:sld>
</file>

<file path=ppt/theme/theme1.xml><?xml version="1.0" encoding="utf-8"?>
<a:theme xmlns:a="http://schemas.openxmlformats.org/drawingml/2006/main" name="BIA Template">
  <a:themeElements>
    <a:clrScheme name="Custom 4">
      <a:dk1>
        <a:srgbClr val="161A3E"/>
      </a:dk1>
      <a:lt1>
        <a:sysClr val="window" lastClr="FFFFFF"/>
      </a:lt1>
      <a:dk2>
        <a:srgbClr val="44546A"/>
      </a:dk2>
      <a:lt2>
        <a:srgbClr val="E7E6E6"/>
      </a:lt2>
      <a:accent1>
        <a:srgbClr val="4472C4"/>
      </a:accent1>
      <a:accent2>
        <a:srgbClr val="ED7D31"/>
      </a:accent2>
      <a:accent3>
        <a:srgbClr val="44546A"/>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7374</TotalTime>
  <Words>5619</Words>
  <Application>Microsoft Office PowerPoint</Application>
  <PresentationFormat>Widescreen</PresentationFormat>
  <Paragraphs>554</Paragraphs>
  <Slides>69</Slides>
  <Notes>5</Notes>
  <HiddenSlides>0</HiddenSlides>
  <MMClips>0</MMClips>
  <ScaleCrop>false</ScaleCrop>
  <HeadingPairs>
    <vt:vector size="4" baseType="variant">
      <vt:variant>
        <vt:lpstr>Theme</vt:lpstr>
      </vt:variant>
      <vt:variant>
        <vt:i4>1</vt:i4>
      </vt:variant>
      <vt:variant>
        <vt:lpstr>Slide Titles</vt:lpstr>
      </vt:variant>
      <vt:variant>
        <vt:i4>69</vt:i4>
      </vt:variant>
    </vt:vector>
  </HeadingPairs>
  <TitlesOfParts>
    <vt:vector size="70" baseType="lpstr">
      <vt:lpstr>BIA Template</vt:lpstr>
      <vt:lpstr>PowerPoint Presentation</vt:lpstr>
      <vt:lpstr>Trainer Guidelines for Conducting Class</vt:lpstr>
      <vt:lpstr>Agenda</vt:lpstr>
      <vt:lpstr>Hypothesis Testing</vt:lpstr>
      <vt:lpstr>Hypothesis Testing</vt:lpstr>
      <vt:lpstr>Hypothesis Testing Steps</vt:lpstr>
      <vt:lpstr>Significance Level (Alpha) &amp; P-value </vt:lpstr>
      <vt:lpstr>Significance Level (α)</vt:lpstr>
      <vt:lpstr>Confidence Interval</vt:lpstr>
      <vt:lpstr>Confidence Interval</vt:lpstr>
      <vt:lpstr>Cont..</vt:lpstr>
      <vt:lpstr>PowerPoint Presentation</vt:lpstr>
      <vt:lpstr>P-Value</vt:lpstr>
      <vt:lpstr>Cont…</vt:lpstr>
      <vt:lpstr>One-sample &amp; Two-sample T-test</vt:lpstr>
      <vt:lpstr>T-Tests</vt:lpstr>
      <vt:lpstr>Hypothesis Testing – One Sample T Test</vt:lpstr>
      <vt:lpstr>Cont…</vt:lpstr>
      <vt:lpstr>Cont…</vt:lpstr>
      <vt:lpstr>Two-Sample T-Tests</vt:lpstr>
      <vt:lpstr>Cont…</vt:lpstr>
      <vt:lpstr>Cont…</vt:lpstr>
      <vt:lpstr>Cont…</vt:lpstr>
      <vt:lpstr>Cont…</vt:lpstr>
      <vt:lpstr>Visualization Plots For Data Exploration</vt:lpstr>
      <vt:lpstr>Visualization Plots for Data Exploration</vt:lpstr>
      <vt:lpstr>Interpretation Of Visualization</vt:lpstr>
      <vt:lpstr>Interpretation of Visualization</vt:lpstr>
      <vt:lpstr>Scatter Plot Analysis</vt:lpstr>
      <vt:lpstr>Cont…</vt:lpstr>
      <vt:lpstr>Correlation &amp; Regression</vt:lpstr>
      <vt:lpstr>Correlation and Regression</vt:lpstr>
      <vt:lpstr>Cont..</vt:lpstr>
      <vt:lpstr>Cont..</vt:lpstr>
      <vt:lpstr>Confidence Interval</vt:lpstr>
      <vt:lpstr>Cont..</vt:lpstr>
      <vt:lpstr>Confidence Interval</vt:lpstr>
      <vt:lpstr>Confidence Interval</vt:lpstr>
      <vt:lpstr>Cont…</vt:lpstr>
      <vt:lpstr>Cont…</vt:lpstr>
      <vt:lpstr>Cont…</vt:lpstr>
      <vt:lpstr>Hypothesis Testing With Z-test</vt:lpstr>
      <vt:lpstr>Hypothesis Testing with Z-Test</vt:lpstr>
      <vt:lpstr>Comparison: T test &amp; Z test</vt:lpstr>
      <vt:lpstr>Steps in z test</vt:lpstr>
      <vt:lpstr>Cont…</vt:lpstr>
      <vt:lpstr>Cont…</vt:lpstr>
      <vt:lpstr>Cont…</vt:lpstr>
      <vt:lpstr>Cont…</vt:lpstr>
      <vt:lpstr>Cont…</vt:lpstr>
      <vt:lpstr>Chi-square Test For Categorical Data</vt:lpstr>
      <vt:lpstr>Chi-Square Test for Categorical Data</vt:lpstr>
      <vt:lpstr>Cont..</vt:lpstr>
      <vt:lpstr>Cont..</vt:lpstr>
      <vt:lpstr>Cont..</vt:lpstr>
      <vt:lpstr>Cont..</vt:lpstr>
      <vt:lpstr>Cont..</vt:lpstr>
      <vt:lpstr>Cont..</vt:lpstr>
      <vt:lpstr>Cont..</vt:lpstr>
      <vt:lpstr>Cont..</vt:lpstr>
      <vt:lpstr>One-way &amp; Two-way ANOVA</vt:lpstr>
      <vt:lpstr>One-Way and Two-Way ANOVA</vt:lpstr>
      <vt:lpstr>Cont…</vt:lpstr>
      <vt:lpstr>Cont…</vt:lpstr>
      <vt:lpstr>Cont…</vt:lpstr>
      <vt:lpstr>Cont…</vt:lpstr>
      <vt:lpstr>Cont…</vt:lpstr>
      <vt:lpstr>Questions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Aayush Shah</dc:creator>
  <cp:lastModifiedBy>Piyush Akkewar</cp:lastModifiedBy>
  <cp:revision>1864</cp:revision>
  <dcterms:created xsi:type="dcterms:W3CDTF">2020-12-23T13:36:00Z</dcterms:created>
  <dcterms:modified xsi:type="dcterms:W3CDTF">2024-07-16T07:40:42Z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0B547D39C558497AB25C6414A889D07D</vt:lpwstr>
  </property>
  <property fmtid="{D5CDD505-2E9C-101B-9397-08002B2CF9AE}" pid="3" name="KSOProductBuildVer">
    <vt:lpwstr>1033-11.2.0.11306</vt:lpwstr>
  </property>
</Properties>
</file>